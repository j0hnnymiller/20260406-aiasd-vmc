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3"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 id="318" r:id="rId63"/>
    <p:sldId id="319" r:id="rId64"/>
    <p:sldId id="320" r:id="rId65"/>
    <p:sldId id="321" r:id="rId66"/>
    <p:sldId id="322" r:id="rId67"/>
    <p:sldId id="323" r:id="rId68"/>
    <p:sldId id="324" r:id="rId69"/>
    <p:sldId id="325" r:id="rId70"/>
    <p:sldId id="326" r:id="rId71"/>
    <p:sldId id="327" r:id="rId72"/>
    <p:sldId id="328" r:id="rId73"/>
    <p:sldId id="329" r:id="rId74"/>
    <p:sldId id="330" r:id="rId75"/>
    <p:sldId id="331" r:id="rId76"/>
    <p:sldId id="332" r:id="rId77"/>
    <p:sldId id="333" r:id="rId78"/>
    <p:sldId id="334" r:id="rId7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8B12"/>
    <a:srgbClr val="8E1416"/>
    <a:srgbClr val="922123"/>
    <a:srgbClr val="AA8200"/>
    <a:srgbClr val="DEAA00"/>
    <a:srgbClr val="007FB1"/>
    <a:srgbClr val="38955A"/>
    <a:srgbClr val="920000"/>
    <a:srgbClr val="212121"/>
    <a:srgbClr val="2C4D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18543FF-A4CD-4440-8B17-DB3F72A8B2EA}" v="3" dt="2026-04-09T17:08:14.57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07" autoAdjust="0"/>
    <p:restoredTop sz="63597" autoAdjust="0"/>
  </p:normalViewPr>
  <p:slideViewPr>
    <p:cSldViewPr snapToGrid="0" showGuides="1">
      <p:cViewPr varScale="1">
        <p:scale>
          <a:sx n="111" d="100"/>
          <a:sy n="111" d="100"/>
        </p:scale>
        <p:origin x="1844" y="72"/>
      </p:cViewPr>
      <p:guideLst/>
    </p:cSldViewPr>
  </p:slideViewPr>
  <p:outlineViewPr>
    <p:cViewPr>
      <p:scale>
        <a:sx n="33" d="100"/>
        <a:sy n="33" d="100"/>
      </p:scale>
      <p:origin x="0" y="-16152"/>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85"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86"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Miller" userId="70e70d2d-fa72-4952-98cf-67858fa4ef7a" providerId="ADAL" clId="{3C0F8D48-B805-4732-975A-89F26263F015}"/>
    <pc:docChg chg="custSel delSld modSld">
      <pc:chgData name="John Miller" userId="70e70d2d-fa72-4952-98cf-67858fa4ef7a" providerId="ADAL" clId="{3C0F8D48-B805-4732-975A-89F26263F015}" dt="2026-04-09T21:39:10.447" v="72" actId="729"/>
      <pc:docMkLst>
        <pc:docMk/>
      </pc:docMkLst>
      <pc:sldChg chg="modSp mod">
        <pc:chgData name="John Miller" userId="70e70d2d-fa72-4952-98cf-67858fa4ef7a" providerId="ADAL" clId="{3C0F8D48-B805-4732-975A-89F26263F015}" dt="2026-04-09T16:53:38.588" v="0" actId="12"/>
        <pc:sldMkLst>
          <pc:docMk/>
          <pc:sldMk cId="0" sldId="264"/>
        </pc:sldMkLst>
        <pc:spChg chg="mod">
          <ac:chgData name="John Miller" userId="70e70d2d-fa72-4952-98cf-67858fa4ef7a" providerId="ADAL" clId="{3C0F8D48-B805-4732-975A-89F26263F015}" dt="2026-04-09T16:53:38.588" v="0" actId="12"/>
          <ac:spMkLst>
            <pc:docMk/>
            <pc:sldMk cId="0" sldId="264"/>
            <ac:spMk id="3" creationId="{00000000-0000-0000-0000-000000000000}"/>
          </ac:spMkLst>
        </pc:spChg>
      </pc:sldChg>
      <pc:sldChg chg="modSp mod">
        <pc:chgData name="John Miller" userId="70e70d2d-fa72-4952-98cf-67858fa4ef7a" providerId="ADAL" clId="{3C0F8D48-B805-4732-975A-89F26263F015}" dt="2026-04-09T16:53:52.510" v="1" actId="114"/>
        <pc:sldMkLst>
          <pc:docMk/>
          <pc:sldMk cId="0" sldId="265"/>
        </pc:sldMkLst>
        <pc:spChg chg="mod">
          <ac:chgData name="John Miller" userId="70e70d2d-fa72-4952-98cf-67858fa4ef7a" providerId="ADAL" clId="{3C0F8D48-B805-4732-975A-89F26263F015}" dt="2026-04-09T16:53:52.510" v="1" actId="114"/>
          <ac:spMkLst>
            <pc:docMk/>
            <pc:sldMk cId="0" sldId="265"/>
            <ac:spMk id="3" creationId="{00000000-0000-0000-0000-000000000000}"/>
          </ac:spMkLst>
        </pc:spChg>
      </pc:sldChg>
      <pc:sldChg chg="modSp mod">
        <pc:chgData name="John Miller" userId="70e70d2d-fa72-4952-98cf-67858fa4ef7a" providerId="ADAL" clId="{3C0F8D48-B805-4732-975A-89F26263F015}" dt="2026-04-09T16:54:42.726" v="3" actId="27636"/>
        <pc:sldMkLst>
          <pc:docMk/>
          <pc:sldMk cId="0" sldId="267"/>
        </pc:sldMkLst>
        <pc:spChg chg="mod">
          <ac:chgData name="John Miller" userId="70e70d2d-fa72-4952-98cf-67858fa4ef7a" providerId="ADAL" clId="{3C0F8D48-B805-4732-975A-89F26263F015}" dt="2026-04-09T16:54:42.726" v="3" actId="27636"/>
          <ac:spMkLst>
            <pc:docMk/>
            <pc:sldMk cId="0" sldId="267"/>
            <ac:spMk id="3" creationId="{00000000-0000-0000-0000-000000000000}"/>
          </ac:spMkLst>
        </pc:spChg>
      </pc:sldChg>
      <pc:sldChg chg="modSp mod">
        <pc:chgData name="John Miller" userId="70e70d2d-fa72-4952-98cf-67858fa4ef7a" providerId="ADAL" clId="{3C0F8D48-B805-4732-975A-89F26263F015}" dt="2026-04-09T16:55:21.082" v="6" actId="114"/>
        <pc:sldMkLst>
          <pc:docMk/>
          <pc:sldMk cId="0" sldId="270"/>
        </pc:sldMkLst>
        <pc:spChg chg="mod">
          <ac:chgData name="John Miller" userId="70e70d2d-fa72-4952-98cf-67858fa4ef7a" providerId="ADAL" clId="{3C0F8D48-B805-4732-975A-89F26263F015}" dt="2026-04-09T16:55:21.082" v="6" actId="114"/>
          <ac:spMkLst>
            <pc:docMk/>
            <pc:sldMk cId="0" sldId="270"/>
            <ac:spMk id="3" creationId="{00000000-0000-0000-0000-000000000000}"/>
          </ac:spMkLst>
        </pc:spChg>
      </pc:sldChg>
      <pc:sldChg chg="addSp modSp mod modClrScheme chgLayout">
        <pc:chgData name="John Miller" userId="70e70d2d-fa72-4952-98cf-67858fa4ef7a" providerId="ADAL" clId="{3C0F8D48-B805-4732-975A-89F26263F015}" dt="2026-04-09T16:57:15.949" v="23" actId="404"/>
        <pc:sldMkLst>
          <pc:docMk/>
          <pc:sldMk cId="0" sldId="276"/>
        </pc:sldMkLst>
        <pc:spChg chg="mod ord">
          <ac:chgData name="John Miller" userId="70e70d2d-fa72-4952-98cf-67858fa4ef7a" providerId="ADAL" clId="{3C0F8D48-B805-4732-975A-89F26263F015}" dt="2026-04-09T16:56:36.334" v="7" actId="700"/>
          <ac:spMkLst>
            <pc:docMk/>
            <pc:sldMk cId="0" sldId="276"/>
            <ac:spMk id="2" creationId="{00000000-0000-0000-0000-000000000000}"/>
          </ac:spMkLst>
        </pc:spChg>
        <pc:spChg chg="mod ord">
          <ac:chgData name="John Miller" userId="70e70d2d-fa72-4952-98cf-67858fa4ef7a" providerId="ADAL" clId="{3C0F8D48-B805-4732-975A-89F26263F015}" dt="2026-04-09T16:57:10.573" v="20" actId="27636"/>
          <ac:spMkLst>
            <pc:docMk/>
            <pc:sldMk cId="0" sldId="276"/>
            <ac:spMk id="3" creationId="{00000000-0000-0000-0000-000000000000}"/>
          </ac:spMkLst>
        </pc:spChg>
        <pc:spChg chg="add mod ord">
          <ac:chgData name="John Miller" userId="70e70d2d-fa72-4952-98cf-67858fa4ef7a" providerId="ADAL" clId="{3C0F8D48-B805-4732-975A-89F26263F015}" dt="2026-04-09T16:57:15.949" v="23" actId="404"/>
          <ac:spMkLst>
            <pc:docMk/>
            <pc:sldMk cId="0" sldId="276"/>
            <ac:spMk id="4" creationId="{69CF654B-CEFD-A723-97FB-9880C9357832}"/>
          </ac:spMkLst>
        </pc:spChg>
      </pc:sldChg>
      <pc:sldChg chg="modSp mod">
        <pc:chgData name="John Miller" userId="70e70d2d-fa72-4952-98cf-67858fa4ef7a" providerId="ADAL" clId="{3C0F8D48-B805-4732-975A-89F26263F015}" dt="2026-04-09T16:58:07.428" v="29" actId="27636"/>
        <pc:sldMkLst>
          <pc:docMk/>
          <pc:sldMk cId="0" sldId="287"/>
        </pc:sldMkLst>
        <pc:spChg chg="mod">
          <ac:chgData name="John Miller" userId="70e70d2d-fa72-4952-98cf-67858fa4ef7a" providerId="ADAL" clId="{3C0F8D48-B805-4732-975A-89F26263F015}" dt="2026-04-09T16:58:07.428" v="29" actId="27636"/>
          <ac:spMkLst>
            <pc:docMk/>
            <pc:sldMk cId="0" sldId="287"/>
            <ac:spMk id="3" creationId="{00000000-0000-0000-0000-000000000000}"/>
          </ac:spMkLst>
        </pc:spChg>
      </pc:sldChg>
      <pc:sldChg chg="modSp del mod modClrScheme chgLayout">
        <pc:chgData name="John Miller" userId="70e70d2d-fa72-4952-98cf-67858fa4ef7a" providerId="ADAL" clId="{3C0F8D48-B805-4732-975A-89F26263F015}" dt="2026-04-09T16:59:43.705" v="33" actId="2696"/>
        <pc:sldMkLst>
          <pc:docMk/>
          <pc:sldMk cId="0" sldId="289"/>
        </pc:sldMkLst>
        <pc:spChg chg="mod">
          <ac:chgData name="John Miller" userId="70e70d2d-fa72-4952-98cf-67858fa4ef7a" providerId="ADAL" clId="{3C0F8D48-B805-4732-975A-89F26263F015}" dt="2026-04-09T16:59:02.944" v="30" actId="26606"/>
          <ac:spMkLst>
            <pc:docMk/>
            <pc:sldMk cId="0" sldId="289"/>
            <ac:spMk id="2" creationId="{00000000-0000-0000-0000-000000000000}"/>
          </ac:spMkLst>
        </pc:spChg>
        <pc:spChg chg="mod">
          <ac:chgData name="John Miller" userId="70e70d2d-fa72-4952-98cf-67858fa4ef7a" providerId="ADAL" clId="{3C0F8D48-B805-4732-975A-89F26263F015}" dt="2026-04-09T16:59:02.944" v="30" actId="26606"/>
          <ac:spMkLst>
            <pc:docMk/>
            <pc:sldMk cId="0" sldId="289"/>
            <ac:spMk id="3" creationId="{00000000-0000-0000-0000-000000000000}"/>
          </ac:spMkLst>
        </pc:spChg>
        <pc:picChg chg="mod">
          <ac:chgData name="John Miller" userId="70e70d2d-fa72-4952-98cf-67858fa4ef7a" providerId="ADAL" clId="{3C0F8D48-B805-4732-975A-89F26263F015}" dt="2026-04-09T16:59:14.135" v="32" actId="1076"/>
          <ac:picMkLst>
            <pc:docMk/>
            <pc:sldMk cId="0" sldId="289"/>
            <ac:picMk id="4" creationId="{00000000-0000-0000-0000-000000000000}"/>
          </ac:picMkLst>
        </pc:picChg>
      </pc:sldChg>
      <pc:sldChg chg="modSp mod">
        <pc:chgData name="John Miller" userId="70e70d2d-fa72-4952-98cf-67858fa4ef7a" providerId="ADAL" clId="{3C0F8D48-B805-4732-975A-89F26263F015}" dt="2026-04-09T17:00:17.327" v="43" actId="404"/>
        <pc:sldMkLst>
          <pc:docMk/>
          <pc:sldMk cId="0" sldId="291"/>
        </pc:sldMkLst>
        <pc:spChg chg="mod">
          <ac:chgData name="John Miller" userId="70e70d2d-fa72-4952-98cf-67858fa4ef7a" providerId="ADAL" clId="{3C0F8D48-B805-4732-975A-89F26263F015}" dt="2026-04-09T17:00:17.327" v="43" actId="404"/>
          <ac:spMkLst>
            <pc:docMk/>
            <pc:sldMk cId="0" sldId="291"/>
            <ac:spMk id="3" creationId="{00000000-0000-0000-0000-000000000000}"/>
          </ac:spMkLst>
        </pc:spChg>
      </pc:sldChg>
      <pc:sldChg chg="modSp mod">
        <pc:chgData name="John Miller" userId="70e70d2d-fa72-4952-98cf-67858fa4ef7a" providerId="ADAL" clId="{3C0F8D48-B805-4732-975A-89F26263F015}" dt="2026-04-09T17:01:55.146" v="45" actId="404"/>
        <pc:sldMkLst>
          <pc:docMk/>
          <pc:sldMk cId="0" sldId="300"/>
        </pc:sldMkLst>
        <pc:spChg chg="mod">
          <ac:chgData name="John Miller" userId="70e70d2d-fa72-4952-98cf-67858fa4ef7a" providerId="ADAL" clId="{3C0F8D48-B805-4732-975A-89F26263F015}" dt="2026-04-09T17:01:55.146" v="45" actId="404"/>
          <ac:spMkLst>
            <pc:docMk/>
            <pc:sldMk cId="0" sldId="300"/>
            <ac:spMk id="4" creationId="{00000000-0000-0000-0000-000000000000}"/>
          </ac:spMkLst>
        </pc:spChg>
      </pc:sldChg>
      <pc:sldChg chg="modSp mod modClrScheme chgLayout">
        <pc:chgData name="John Miller" userId="70e70d2d-fa72-4952-98cf-67858fa4ef7a" providerId="ADAL" clId="{3C0F8D48-B805-4732-975A-89F26263F015}" dt="2026-04-09T17:03:58.283" v="46" actId="26606"/>
        <pc:sldMkLst>
          <pc:docMk/>
          <pc:sldMk cId="0" sldId="308"/>
        </pc:sldMkLst>
        <pc:spChg chg="mod">
          <ac:chgData name="John Miller" userId="70e70d2d-fa72-4952-98cf-67858fa4ef7a" providerId="ADAL" clId="{3C0F8D48-B805-4732-975A-89F26263F015}" dt="2026-04-09T17:03:58.283" v="46" actId="26606"/>
          <ac:spMkLst>
            <pc:docMk/>
            <pc:sldMk cId="0" sldId="308"/>
            <ac:spMk id="2" creationId="{00000000-0000-0000-0000-000000000000}"/>
          </ac:spMkLst>
        </pc:spChg>
        <pc:spChg chg="mod">
          <ac:chgData name="John Miller" userId="70e70d2d-fa72-4952-98cf-67858fa4ef7a" providerId="ADAL" clId="{3C0F8D48-B805-4732-975A-89F26263F015}" dt="2026-04-09T17:03:58.283" v="46" actId="26606"/>
          <ac:spMkLst>
            <pc:docMk/>
            <pc:sldMk cId="0" sldId="308"/>
            <ac:spMk id="3" creationId="{00000000-0000-0000-0000-000000000000}"/>
          </ac:spMkLst>
        </pc:spChg>
        <pc:picChg chg="mod">
          <ac:chgData name="John Miller" userId="70e70d2d-fa72-4952-98cf-67858fa4ef7a" providerId="ADAL" clId="{3C0F8D48-B805-4732-975A-89F26263F015}" dt="2026-04-09T17:03:58.283" v="46" actId="26606"/>
          <ac:picMkLst>
            <pc:docMk/>
            <pc:sldMk cId="0" sldId="308"/>
            <ac:picMk id="4" creationId="{00000000-0000-0000-0000-000000000000}"/>
          </ac:picMkLst>
        </pc:picChg>
      </pc:sldChg>
      <pc:sldChg chg="modSp mod">
        <pc:chgData name="John Miller" userId="70e70d2d-fa72-4952-98cf-67858fa4ef7a" providerId="ADAL" clId="{3C0F8D48-B805-4732-975A-89F26263F015}" dt="2026-04-09T17:04:36.874" v="49" actId="403"/>
        <pc:sldMkLst>
          <pc:docMk/>
          <pc:sldMk cId="0" sldId="310"/>
        </pc:sldMkLst>
        <pc:graphicFrameChg chg="modGraphic">
          <ac:chgData name="John Miller" userId="70e70d2d-fa72-4952-98cf-67858fa4ef7a" providerId="ADAL" clId="{3C0F8D48-B805-4732-975A-89F26263F015}" dt="2026-04-09T17:04:36.874" v="49" actId="403"/>
          <ac:graphicFrameMkLst>
            <pc:docMk/>
            <pc:sldMk cId="0" sldId="310"/>
            <ac:graphicFrameMk id="3" creationId="{00000000-0000-0000-0000-000000000000}"/>
          </ac:graphicFrameMkLst>
        </pc:graphicFrameChg>
      </pc:sldChg>
      <pc:sldChg chg="modSp mod modClrScheme chgLayout">
        <pc:chgData name="John Miller" userId="70e70d2d-fa72-4952-98cf-67858fa4ef7a" providerId="ADAL" clId="{3C0F8D48-B805-4732-975A-89F26263F015}" dt="2026-04-09T17:04:53.550" v="52" actId="1076"/>
        <pc:sldMkLst>
          <pc:docMk/>
          <pc:sldMk cId="0" sldId="311"/>
        </pc:sldMkLst>
        <pc:spChg chg="mod">
          <ac:chgData name="John Miller" userId="70e70d2d-fa72-4952-98cf-67858fa4ef7a" providerId="ADAL" clId="{3C0F8D48-B805-4732-975A-89F26263F015}" dt="2026-04-09T17:04:43.722" v="50" actId="26606"/>
          <ac:spMkLst>
            <pc:docMk/>
            <pc:sldMk cId="0" sldId="311"/>
            <ac:spMk id="2" creationId="{00000000-0000-0000-0000-000000000000}"/>
          </ac:spMkLst>
        </pc:spChg>
        <pc:spChg chg="mod">
          <ac:chgData name="John Miller" userId="70e70d2d-fa72-4952-98cf-67858fa4ef7a" providerId="ADAL" clId="{3C0F8D48-B805-4732-975A-89F26263F015}" dt="2026-04-09T17:04:43.722" v="50" actId="26606"/>
          <ac:spMkLst>
            <pc:docMk/>
            <pc:sldMk cId="0" sldId="311"/>
            <ac:spMk id="3" creationId="{00000000-0000-0000-0000-000000000000}"/>
          </ac:spMkLst>
        </pc:spChg>
        <pc:picChg chg="mod">
          <ac:chgData name="John Miller" userId="70e70d2d-fa72-4952-98cf-67858fa4ef7a" providerId="ADAL" clId="{3C0F8D48-B805-4732-975A-89F26263F015}" dt="2026-04-09T17:04:53.550" v="52" actId="1076"/>
          <ac:picMkLst>
            <pc:docMk/>
            <pc:sldMk cId="0" sldId="311"/>
            <ac:picMk id="4" creationId="{00000000-0000-0000-0000-000000000000}"/>
          </ac:picMkLst>
        </pc:picChg>
      </pc:sldChg>
      <pc:sldChg chg="modSp mod">
        <pc:chgData name="John Miller" userId="70e70d2d-fa72-4952-98cf-67858fa4ef7a" providerId="ADAL" clId="{3C0F8D48-B805-4732-975A-89F26263F015}" dt="2026-04-09T17:05:45.889" v="54" actId="404"/>
        <pc:sldMkLst>
          <pc:docMk/>
          <pc:sldMk cId="0" sldId="318"/>
        </pc:sldMkLst>
        <pc:spChg chg="mod">
          <ac:chgData name="John Miller" userId="70e70d2d-fa72-4952-98cf-67858fa4ef7a" providerId="ADAL" clId="{3C0F8D48-B805-4732-975A-89F26263F015}" dt="2026-04-09T17:05:45.889" v="54" actId="404"/>
          <ac:spMkLst>
            <pc:docMk/>
            <pc:sldMk cId="0" sldId="318"/>
            <ac:spMk id="4" creationId="{00000000-0000-0000-0000-000000000000}"/>
          </ac:spMkLst>
        </pc:spChg>
      </pc:sldChg>
      <pc:sldChg chg="modSp mod modShow">
        <pc:chgData name="John Miller" userId="70e70d2d-fa72-4952-98cf-67858fa4ef7a" providerId="ADAL" clId="{3C0F8D48-B805-4732-975A-89F26263F015}" dt="2026-04-09T21:38:57.539" v="70" actId="729"/>
        <pc:sldMkLst>
          <pc:docMk/>
          <pc:sldMk cId="0" sldId="320"/>
        </pc:sldMkLst>
        <pc:spChg chg="mod">
          <ac:chgData name="John Miller" userId="70e70d2d-fa72-4952-98cf-67858fa4ef7a" providerId="ADAL" clId="{3C0F8D48-B805-4732-975A-89F26263F015}" dt="2026-04-09T17:06:47.500" v="60" actId="27636"/>
          <ac:spMkLst>
            <pc:docMk/>
            <pc:sldMk cId="0" sldId="320"/>
            <ac:spMk id="3" creationId="{00000000-0000-0000-0000-000000000000}"/>
          </ac:spMkLst>
        </pc:spChg>
        <pc:spChg chg="mod">
          <ac:chgData name="John Miller" userId="70e70d2d-fa72-4952-98cf-67858fa4ef7a" providerId="ADAL" clId="{3C0F8D48-B805-4732-975A-89F26263F015}" dt="2026-04-09T17:07:01.951" v="64" actId="404"/>
          <ac:spMkLst>
            <pc:docMk/>
            <pc:sldMk cId="0" sldId="320"/>
            <ac:spMk id="4" creationId="{00000000-0000-0000-0000-000000000000}"/>
          </ac:spMkLst>
        </pc:spChg>
      </pc:sldChg>
      <pc:sldChg chg="mod modShow">
        <pc:chgData name="John Miller" userId="70e70d2d-fa72-4952-98cf-67858fa4ef7a" providerId="ADAL" clId="{3C0F8D48-B805-4732-975A-89F26263F015}" dt="2026-04-09T21:39:07.939" v="71" actId="729"/>
        <pc:sldMkLst>
          <pc:docMk/>
          <pc:sldMk cId="0" sldId="321"/>
        </pc:sldMkLst>
      </pc:sldChg>
      <pc:sldChg chg="addSp modSp mod modClrScheme modShow chgLayout">
        <pc:chgData name="John Miller" userId="70e70d2d-fa72-4952-98cf-67858fa4ef7a" providerId="ADAL" clId="{3C0F8D48-B805-4732-975A-89F26263F015}" dt="2026-04-09T21:39:10.447" v="72" actId="729"/>
        <pc:sldMkLst>
          <pc:docMk/>
          <pc:sldMk cId="0" sldId="322"/>
        </pc:sldMkLst>
        <pc:spChg chg="mod ord">
          <ac:chgData name="John Miller" userId="70e70d2d-fa72-4952-98cf-67858fa4ef7a" providerId="ADAL" clId="{3C0F8D48-B805-4732-975A-89F26263F015}" dt="2026-04-09T17:08:02.687" v="65" actId="700"/>
          <ac:spMkLst>
            <pc:docMk/>
            <pc:sldMk cId="0" sldId="322"/>
            <ac:spMk id="2" creationId="{00000000-0000-0000-0000-000000000000}"/>
          </ac:spMkLst>
        </pc:spChg>
        <pc:spChg chg="mod ord">
          <ac:chgData name="John Miller" userId="70e70d2d-fa72-4952-98cf-67858fa4ef7a" providerId="ADAL" clId="{3C0F8D48-B805-4732-975A-89F26263F015}" dt="2026-04-09T17:08:18.957" v="69" actId="27636"/>
          <ac:spMkLst>
            <pc:docMk/>
            <pc:sldMk cId="0" sldId="322"/>
            <ac:spMk id="3" creationId="{00000000-0000-0000-0000-000000000000}"/>
          </ac:spMkLst>
        </pc:spChg>
        <pc:spChg chg="add mod ord">
          <ac:chgData name="John Miller" userId="70e70d2d-fa72-4952-98cf-67858fa4ef7a" providerId="ADAL" clId="{3C0F8D48-B805-4732-975A-89F26263F015}" dt="2026-04-09T17:08:14.688" v="68" actId="27636"/>
          <ac:spMkLst>
            <pc:docMk/>
            <pc:sldMk cId="0" sldId="322"/>
            <ac:spMk id="4" creationId="{0F41B419-4B3C-2CE9-2CA4-681886925C3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87355B-E5B2-6E48-8859-C40F7DC7FE0C}" type="datetimeFigureOut">
              <a:rPr lang="en-US" smtClean="0"/>
              <a:t>4/9/2026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31DA66-BB00-F84C-BB6F-3E6E140CFF70}" type="slidenum">
              <a:rPr lang="en-US" smtClean="0"/>
              <a:t>‹#›</a:t>
            </a:fld>
            <a:endParaRPr lang="en-US"/>
          </a:p>
        </p:txBody>
      </p:sp>
    </p:spTree>
    <p:extLst>
      <p:ext uri="{BB962C8B-B14F-4D97-AF65-F5344CB8AC3E}">
        <p14:creationId xmlns:p14="http://schemas.microsoft.com/office/powerpoint/2010/main" val="62274501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Welcome everyone back to the session. Take a moment to let people settle in before diving into content. Acknowledge that it's great to see everyone back and express enthusiasm for the session ahead.</a:t>
            </a:r>
          </a:p>
          <a:p>
            <a:endParaRPr/>
          </a:p>
          <a:p>
            <a:r>
              <a:t>Key talking points:</a:t>
            </a:r>
          </a:p>
          <a:p>
            <a:endParaRPr/>
          </a:p>
          <a:p>
            <a:r>
              <a:t>- Remind attendees of the previous session's topics briefly</a:t>
            </a:r>
          </a:p>
          <a:p>
            <a:r>
              <a:t>- Emphasize that questions are encouraged at any point — not just at the end</a:t>
            </a:r>
          </a:p>
          <a:p>
            <a:r>
              <a:t>- Set a positive, inclusive tone for the session</a:t>
            </a:r>
          </a:p>
          <a:p>
            <a:r>
              <a:t>- If this is after a break, give people 30 seconds to get re-focused</a:t>
            </a:r>
          </a:p>
          <a:p>
            <a:endParaRPr/>
          </a:p>
          <a:p>
            <a:r>
              <a:t>Transition: "Let's pick up right where we left off..."</a:t>
            </a:r>
          </a:p>
          <a:p>
            <a:endParaRPr/>
          </a:p>
          <a:p>
            <a:r>
              <a:t>---</a:t>
            </a:r>
          </a:p>
          <a:p>
            <a:endParaRPr/>
          </a:p>
          <a:p>
            <a:r>
              <a:t>Source: slides\marp\welcome-back.deck.md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slides\marp\ai-practitioner-resources.deck.md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Try this in quick chat:</a:t>
            </a:r>
          </a:p>
          <a:p>
            <a:endParaRPr/>
          </a:p>
          <a:p>
            <a:r>
              <a:t>- "what are three definitions of legacy code?"</a:t>
            </a:r>
          </a:p>
          <a:p>
            <a:r>
              <a:t>- "what are 10 definitions of legacy code?"</a:t>
            </a:r>
          </a:p>
          <a:p>
            <a:r>
              <a:t>- "what are 25 definitions of legacy code?"</a:t>
            </a:r>
          </a:p>
          <a:p>
            <a:endParaRPr/>
          </a:p>
          <a:p>
            <a:r>
              <a:t>Ask the audience: "Who recognizes these definitions in their work?"</a:t>
            </a:r>
          </a:p>
          <a:p>
            <a:endParaRPr/>
          </a:p>
          <a:p>
            <a:r>
              <a:t>Encourage discussion about their experiences with legacy code. This primes the audience to think critically about the term rather than accepting a single definition. The variety of answers from AI prompts demonstrates that the concept is genuinely contested. (~2 minutes)</a:t>
            </a:r>
          </a:p>
          <a:p>
            <a:endParaRPr/>
          </a:p>
          <a:p>
            <a:r>
              <a:t>---</a:t>
            </a:r>
          </a:p>
          <a:p>
            <a:endParaRPr/>
          </a:p>
          <a:p>
            <a:r>
              <a:t>Source: slides\marp\understanding-legacy-code.deck.md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greenfield characteristics: new code, clear patterns, modern tooling, no accumulated debt. The key insight is that greenfield is the starting point, not a permanent state. Ask: how many in the room are working on a truly greenfield project right now? The answer is usually "very few." Evergreen is the rare exception — code that has been actively maintained to resist decay. Most production code falls somewhere on the spectrum between "recently greenfield" and "deeply legacy." (~1.5 minutes)</a:t>
            </a:r>
          </a:p>
          <a:p>
            <a:endParaRPr/>
          </a:p>
          <a:p>
            <a:r>
              <a:t>---</a:t>
            </a:r>
          </a:p>
          <a:p>
            <a:endParaRPr/>
          </a:p>
          <a:p>
            <a:r>
              <a:t>Source: slides\marp\understanding-legacy-code.deck.md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Discuss each driver of decay with a brief example. Technology: the framework you chose in 2015 is now unmaintained. Practices: the team that wrote this used a different style guide. People: the original authors left and took context with them. Business rules: the logic was correct for the old pricing model, not the new one. Workflows: the CI/CD pipeline changed but the code assumptions didn't. Architecture: microservices replaced the monolith but some code was never migrated. The point: code doesn't degrade because developers did something wrong — it degrades because the world around it changed. (~2 minutes)</a:t>
            </a:r>
          </a:p>
          <a:p>
            <a:endParaRPr/>
          </a:p>
          <a:p>
            <a:r>
              <a:t>---</a:t>
            </a:r>
          </a:p>
          <a:p>
            <a:endParaRPr/>
          </a:p>
          <a:p>
            <a:r>
              <a:t>Source: slides\marp\understanding-legacy-code.deck.md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Describe evergreen goals: maintainability, minimal debt, and consistent patterns that still align with modern practices. The defining characteristic is that evergreen code is intentional — it doesn't happen by accident. Teams invest in keeping it current. The quote on the slide is the ultimate test: if you'd make the same decisions today, the code is evergreen. If you'd do it differently, it has started to decay. Use this as a reflective question for the audience: can they point to any part of their codebase that passes this test? (~2 minutes)</a:t>
            </a:r>
          </a:p>
          <a:p>
            <a:endParaRPr/>
          </a:p>
          <a:p>
            <a:r>
              <a:t>---</a:t>
            </a:r>
          </a:p>
          <a:p>
            <a:endParaRPr/>
          </a:p>
          <a:p>
            <a:r>
              <a:t>Source: slides\marp\understanding-legacy-code.deck.md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Introduce this module as a practical guide to modifying brownfield systems safely. Emphasize that the goal is not speed — it's controlled, observable, reversible change. Feature flags, test suites, and production-safe practices form the backbone of safe modernization.</a:t>
            </a:r>
          </a:p>
          <a:p>
            <a:endParaRPr dirty="0"/>
          </a:p>
          <a:p>
            <a:r>
              <a:rPr dirty="0"/>
              <a:t>---</a:t>
            </a:r>
          </a:p>
          <a:p>
            <a:endParaRPr dirty="0"/>
          </a:p>
          <a:p>
            <a:r>
              <a:rPr dirty="0"/>
              <a:t>Source: slides\marp\safe-brownfield-coding.deck.md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sets the stage: AI doesn't replace engineering discipline — it amplifies it.</a:t>
            </a:r>
          </a:p>
          <a:p>
            <a:endParaRPr/>
          </a:p>
          <a:p>
            <a:r>
              <a:t>Before we let AI touch a brownfield system, we need guardrails.</a:t>
            </a:r>
          </a:p>
          <a:p>
            <a:endParaRPr/>
          </a:p>
          <a:p>
            <a:r>
              <a:t>These safety measures aren't optional; they're what make AI-assisted development sustainable and safe.</a:t>
            </a:r>
          </a:p>
          <a:p>
            <a:endParaRPr/>
          </a:p>
          <a:p>
            <a:r>
              <a:t>Think of them as the foundation that keeps modernization from turning into accidental rewrites or regressions.</a:t>
            </a:r>
          </a:p>
          <a:p>
            <a:endParaRPr/>
          </a:p>
          <a:p>
            <a:r>
              <a:t>---</a:t>
            </a:r>
          </a:p>
          <a:p>
            <a:endParaRPr/>
          </a:p>
          <a:p>
            <a:r>
              <a:t>Source: slides\marp\safe-brownfield-coding.deck.md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can produce large changes quickly.</a:t>
            </a:r>
          </a:p>
          <a:p>
            <a:endParaRPr/>
          </a:p>
          <a:p>
            <a:r>
              <a:t>That's powerful — and dangerous without rollback.</a:t>
            </a:r>
          </a:p>
          <a:p>
            <a:endParaRPr/>
          </a:p>
          <a:p>
            <a:r>
              <a:t>Branches, frequent commits, and archives give you a safety net.</a:t>
            </a:r>
          </a:p>
          <a:p>
            <a:endParaRPr/>
          </a:p>
          <a:p>
            <a:r>
              <a:t>The goal is simple: no AI-generated change should ever put you in a position where you can't easily go back.</a:t>
            </a:r>
          </a:p>
          <a:p>
            <a:endParaRPr/>
          </a:p>
          <a:p>
            <a:r>
              <a:t>Rollback confidence is what enables experimentation</a:t>
            </a:r>
          </a:p>
          <a:p>
            <a:endParaRPr/>
          </a:p>
          <a:p>
            <a:r>
              <a:t>---</a:t>
            </a:r>
          </a:p>
          <a:p>
            <a:endParaRPr/>
          </a:p>
          <a:p>
            <a:r>
              <a:t>Source: slides\marp\safe-brownfield-coding.deck.md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can help generate tests, but you need a baseline first.</a:t>
            </a:r>
          </a:p>
          <a:p>
            <a:endParaRPr/>
          </a:p>
          <a:p>
            <a:r>
              <a:t>Without a reliable test suite, you're flying blind.</a:t>
            </a:r>
          </a:p>
          <a:p>
            <a:endParaRPr/>
          </a:p>
          <a:p>
            <a:r>
              <a:t>The goal isn't 100% coverage — it's meaningful coverage.</a:t>
            </a:r>
          </a:p>
          <a:p>
            <a:endParaRPr/>
          </a:p>
          <a:p>
            <a:r>
              <a:t>Tests should give you confidence that AI-generated changes behave the same as before unless intentionally modified.</a:t>
            </a:r>
          </a:p>
          <a:p>
            <a:endParaRPr/>
          </a:p>
          <a:p>
            <a:r>
              <a:t>This is what makes modernization safe instead of risky</a:t>
            </a:r>
          </a:p>
          <a:p>
            <a:endParaRPr/>
          </a:p>
          <a:p>
            <a:r>
              <a:t>---</a:t>
            </a:r>
          </a:p>
          <a:p>
            <a:endParaRPr/>
          </a:p>
          <a:p>
            <a:r>
              <a:t>Source: slides\marp\safe-brownfield-coding.deck.md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is fast, but it's not authoritative.</a:t>
            </a:r>
          </a:p>
          <a:p>
            <a:endParaRPr/>
          </a:p>
          <a:p>
            <a:r>
              <a:t>Every change needs review — not because AI is untrustworthy, but because context matters.</a:t>
            </a:r>
          </a:p>
          <a:p>
            <a:endParaRPr/>
          </a:p>
          <a:p>
            <a:r>
              <a:t>Humans validate intent, architecture, and alignment with business rules.</a:t>
            </a:r>
          </a:p>
          <a:p>
            <a:endParaRPr/>
          </a:p>
          <a:p>
            <a:r>
              <a:t>Automated checks enforce consistency.</a:t>
            </a:r>
          </a:p>
          <a:p>
            <a:endParaRPr/>
          </a:p>
          <a:p>
            <a:r>
              <a:t>Together, they create a multi-layered review process that keeps quality high.</a:t>
            </a:r>
          </a:p>
          <a:p>
            <a:endParaRPr/>
          </a:p>
          <a:p>
            <a:r>
              <a:t>---</a:t>
            </a:r>
          </a:p>
          <a:p>
            <a:endParaRPr/>
          </a:p>
          <a:p>
            <a:r>
              <a:t>Source: slides\marp\safe-brownfield-coding.deck.md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Incrementalism is the antidote to brownfield fear.</a:t>
            </a:r>
          </a:p>
          <a:p>
            <a:endParaRPr/>
          </a:p>
          <a:p>
            <a:r>
              <a:t>AI makes it tempting to modernize huge sections at once, but that's where risk spikes.</a:t>
            </a:r>
          </a:p>
          <a:p>
            <a:endParaRPr/>
          </a:p>
          <a:p>
            <a:r>
              <a:t>Instead, treat modernization as a series of controlled, reversible steps.</a:t>
            </a:r>
          </a:p>
          <a:p>
            <a:endParaRPr/>
          </a:p>
          <a:p>
            <a:r>
              <a:t>Each step builds confidence.</a:t>
            </a:r>
          </a:p>
          <a:p>
            <a:endParaRPr/>
          </a:p>
          <a:p>
            <a:r>
              <a:t>Each step is testable.</a:t>
            </a:r>
          </a:p>
          <a:p>
            <a:endParaRPr/>
          </a:p>
          <a:p>
            <a:r>
              <a:t>Each step is safe.</a:t>
            </a:r>
          </a:p>
          <a:p>
            <a:endParaRPr/>
          </a:p>
          <a:p>
            <a:r>
              <a:t>This is how evergreen systems emerge.</a:t>
            </a:r>
          </a:p>
          <a:p>
            <a:endParaRPr/>
          </a:p>
          <a:p>
            <a:r>
              <a:t>---</a:t>
            </a:r>
          </a:p>
          <a:p>
            <a:endParaRPr/>
          </a:p>
          <a:p>
            <a:r>
              <a:t>Source: slides\marp\safe-brownfield-coding.deck.md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tends to produce large outputs unless constrained.</a:t>
            </a:r>
          </a:p>
          <a:p>
            <a:endParaRPr/>
          </a:p>
          <a:p>
            <a:r>
              <a:t>Your job is to keep the scope tight.</a:t>
            </a:r>
          </a:p>
          <a:p>
            <a:endParaRPr/>
          </a:p>
          <a:p>
            <a:r>
              <a:t>Small change sets are easier to understand, easier to test, and easier to roll back.</a:t>
            </a:r>
          </a:p>
          <a:p>
            <a:endParaRPr/>
          </a:p>
          <a:p>
            <a:r>
              <a:t>They also reduce cognitive load for reviewers.</a:t>
            </a:r>
          </a:p>
          <a:p>
            <a:endParaRPr/>
          </a:p>
          <a:p>
            <a:r>
              <a:t>This is how you maintain control while still benefiting from AI's speed</a:t>
            </a:r>
          </a:p>
          <a:p>
            <a:endParaRPr/>
          </a:p>
          <a:p>
            <a:r>
              <a:t>---</a:t>
            </a:r>
          </a:p>
          <a:p>
            <a:endParaRPr/>
          </a:p>
          <a:p>
            <a:r>
              <a:t>Source: slides\marp\safe-brownfield-coding.deck.md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module as the backbone of safe AI-assisted development. Safety nets ensure that modernization efforts do not destabilize working systems. Emphasize that brownfield systems deserve respect, and safety nets are how we honor that reality.</a:t>
            </a:r>
          </a:p>
          <a:p>
            <a:endParaRPr/>
          </a:p>
          <a:p>
            <a:r>
              <a:t>---</a:t>
            </a:r>
          </a:p>
          <a:p>
            <a:endParaRPr/>
          </a:p>
          <a:p>
            <a:r>
              <a:t>Source: slides\marp\safe-brownfield-coding.deck.md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 that brownfield systems are valuable assets, not liabilities. Protection means minimizing risk, maintaining continuity, and ensuring that modernization is deliberate rather than accidental.</a:t>
            </a:r>
          </a:p>
          <a:p>
            <a:endParaRPr/>
          </a:p>
          <a:p>
            <a:r>
              <a:t>---</a:t>
            </a:r>
          </a:p>
          <a:p>
            <a:endParaRPr/>
          </a:p>
          <a:p>
            <a:r>
              <a:t>Source: slides\marp\safe-brownfield-coding.deck.md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code reviews are not replacements for human reviews — they are accelerators. They help catch issues early and provide a second set of eyes that never gets tired.</a:t>
            </a:r>
          </a:p>
          <a:p>
            <a:endParaRPr/>
          </a:p>
          <a:p>
            <a:r>
              <a:t>---</a:t>
            </a:r>
          </a:p>
          <a:p>
            <a:endParaRPr/>
          </a:p>
          <a:p>
            <a:r>
              <a:t>Source: slides\marp\safe-brownfield-coding.deck.md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Humans bring judgment, domain knowledge, and intuition — things AI cannot replicate. The combination of AI and human review creates a multi-layered safety net.</a:t>
            </a:r>
          </a:p>
          <a:p>
            <a:endParaRPr/>
          </a:p>
          <a:p>
            <a:r>
              <a:t>---</a:t>
            </a:r>
          </a:p>
          <a:p>
            <a:endParaRPr/>
          </a:p>
          <a:p>
            <a:r>
              <a:t>Source: slides\marp\safe-brownfield-coding.deck.md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Test automation is the ultimate safety net. Without tests, AI-assisted development becomes guesswork. With tests, it becomes a controlled, predictable process.</a:t>
            </a:r>
          </a:p>
          <a:p>
            <a:endParaRPr/>
          </a:p>
          <a:p>
            <a:r>
              <a:t>---</a:t>
            </a:r>
          </a:p>
          <a:p>
            <a:endParaRPr/>
          </a:p>
          <a:p>
            <a:r>
              <a:t>Source: slides\marp\safe-brownfield-coding.deck.md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~00:20</a:t>
            </a:r>
          </a:p>
          <a:p>
            <a:endParaRPr dirty="0"/>
          </a:p>
          <a:p>
            <a:r>
              <a:rPr dirty="0"/>
              <a:t>This exercise is the capstone of the combined module. Students apply all three sections simultaneously: they audit a real codebase, use AI to find gaps, and produce a concrete list of improvements. The partner validation step is important — it simulates the human-in-the-loop review process and often surfaces things one person missed. Debrief questions: what was missing that surprised you? How did AI's assessment of the safety nets compare to your own? What would you prioritize first? Encourage students to bring their findings back to their teams.</a:t>
            </a:r>
          </a:p>
          <a:p>
            <a:endParaRPr dirty="0"/>
          </a:p>
          <a:p>
            <a:r>
              <a:rPr dirty="0"/>
              <a:t>---</a:t>
            </a:r>
          </a:p>
          <a:p>
            <a:endParaRPr dirty="0"/>
          </a:p>
          <a:p>
            <a:r>
              <a:rPr dirty="0"/>
              <a:t>Source: slides\marp\exercise\exercise-building-the-safety-nets.deck.md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slides\marp\ai-implementation-workflow.deck.md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Use this slide to orient the audience to the flow of the segment. Explain that the process starts before any code is written, because the first step is to see what the AI thinks the problem is and how it plans to solve it. Emphasize that the four topics form a natural sequence and that skipping the early review steps usually creates rework later.</a:t>
            </a:r>
          </a:p>
          <a:p>
            <a:endParaRPr/>
          </a:p>
          <a:p>
            <a:r>
              <a:t>---</a:t>
            </a:r>
          </a:p>
          <a:p>
            <a:endParaRPr/>
          </a:p>
          <a:p>
            <a:r>
              <a:t>Source: slides\marp\ai-implementation-workflow.deck.md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Explain that the best first prompt is not "implement this now" but "propose implementation to address the issue." That gives you a chance to inspect the AI's understanding before it starts changing files, which is especially useful on brownfield systems. Point out that the human role here is not passive approval; it is active review for scope, assumptions, and missing details.</a:t>
            </a:r>
          </a:p>
          <a:p>
            <a:endParaRPr/>
          </a:p>
          <a:p>
            <a:r>
              <a:t>---</a:t>
            </a:r>
          </a:p>
          <a:p>
            <a:endParaRPr/>
          </a:p>
          <a:p>
            <a:r>
              <a:t>Source: slides\marp\ai-implementation-workflow.deck.md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Walk through the idea that a proposal can be directionally right and still incomplete. Use the JWT example to show how an AI may understand the main bug but miss adjacent work, such as removing a related GitHub integration or updating dependent configuration. Once the proposal is complete, you can explicitly authorize execution with something like "go ahead with the implementation" and preserve that plan for later reference, even from another machine.</a:t>
            </a:r>
          </a:p>
          <a:p>
            <a:endParaRPr/>
          </a:p>
          <a:p>
            <a:r>
              <a:t>---</a:t>
            </a:r>
          </a:p>
          <a:p>
            <a:endParaRPr/>
          </a:p>
          <a:p>
            <a:r>
              <a:t>Source: slides\marp\ai-implementation-workflow.deck.md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Close by previewing the next teaching move: comparing multiple implementations instead of accepting the first reasonable answer. Explain that once students know how to get and approve one implementation, the next maturity step is evaluating alternatives for trade-offs like simplicity, safety, and maintainability. This sets up a useful bridge to the next topic while reinforcing that AI can generate options, but humans still choose among them.</a:t>
            </a:r>
          </a:p>
          <a:p>
            <a:endParaRPr/>
          </a:p>
          <a:p>
            <a:r>
              <a:t>---</a:t>
            </a:r>
          </a:p>
          <a:p>
            <a:endParaRPr/>
          </a:p>
          <a:p>
            <a:r>
              <a:t>Source: slides\marp\ai-implementation-workflow.deck.md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slides\marp\effective-prompts-for-technical-debt.deck.md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~00:09</a:t>
            </a:r>
          </a:p>
          <a:p>
            <a:endParaRPr/>
          </a:p>
          <a:p>
            <a:r>
              <a:t>Open by explaining that technical debt work often fails because requests are too vague. This section shows how to convert cleanup ideas into structured prompts that can be executed, tracked, and reviewed. Emphasize that the topic is not just prompt wording; it is also about how prompts connect to GitHub issues and Copilot workflows. Set expectations that the audience will leave with a repeatable pattern they can apply immediately. (~1 minute)</a:t>
            </a:r>
          </a:p>
          <a:p>
            <a:endParaRPr/>
          </a:p>
          <a:p>
            <a:r>
              <a:t>---</a:t>
            </a:r>
          </a:p>
          <a:p>
            <a:endParaRPr/>
          </a:p>
          <a:p>
            <a:r>
              <a:t>Source: slides\marp\effective-prompts-for-technical-debt.deck.md</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each component as part of a checklist, not as optional advice. The key message is that a good prompt reduces ambiguity before implementation starts. Highlight that provenance and documentation are easy to forget when teams focus only on code, so they need to be called out explicitly in the request. Frame this slide as the minimum contract between the requester and the AI assistant. (~1.5 minutes)</a:t>
            </a:r>
          </a:p>
          <a:p>
            <a:endParaRPr/>
          </a:p>
          <a:p>
            <a:r>
              <a:t>---</a:t>
            </a:r>
          </a:p>
          <a:p>
            <a:endParaRPr/>
          </a:p>
          <a:p>
            <a:r>
              <a:t>Source: slides\marp\effective-prompts-for-technical-debt.deck.md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business-value slide. Explain that structured prompts reduce rework because they front-load clarity on tests, docs, and guardrails. Connect this to team scalability: if multiple people or multiple models work on similar debt items, consistent prompt structure produces more predictable outputs. Use the quote as the memorable takeaway for why investing in the prompt upfront saves time later. (~1 minute)</a:t>
            </a:r>
          </a:p>
          <a:p>
            <a:endParaRPr/>
          </a:p>
          <a:p>
            <a:r>
              <a:t>---</a:t>
            </a:r>
          </a:p>
          <a:p>
            <a:endParaRPr/>
          </a:p>
          <a:p>
            <a:r>
              <a:t>Source: slides\marp\effective-prompts-for-technical-debt.deck.md</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 this as the first automation step after prompt authoring. The audience should understand that Copilot can bridge from local artifact or prompt text into the GitHub issue system, but repository targeting must be explicit. Stress the practical lesson from the demo: natural language is often not enough when multiple repositories are in play. Encourage attendees to always state the full repository name to avoid misrouting work. (~1.25 minutes)</a:t>
            </a:r>
          </a:p>
          <a:p>
            <a:endParaRPr/>
          </a:p>
          <a:p>
            <a:r>
              <a:t>---</a:t>
            </a:r>
          </a:p>
          <a:p>
            <a:endParaRPr/>
          </a:p>
          <a:p>
            <a:r>
              <a:t>Source: slides\marp\effective-prompts-for-technical-debt.deck.md</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Describe this as the jump from assisted drafting to autonomous execution. The value is not just code generation; it is the full workflow of branch creation, progress updates, and PR delivery. Be clear that this is a paid capability and that organizational placement matters for enterprise scenarios. This helps the audience distinguish between what everyone can do and what requires higher-tier licensing. (~1.25 minutes)</a:t>
            </a:r>
          </a:p>
          <a:p>
            <a:endParaRPr dirty="0"/>
          </a:p>
          <a:p>
            <a:r>
              <a:rPr dirty="0"/>
              <a:t>---</a:t>
            </a:r>
          </a:p>
          <a:p>
            <a:endParaRPr dirty="0"/>
          </a:p>
          <a:p>
            <a:r>
              <a:rPr dirty="0"/>
              <a:t>Source: slides\marp\effective-prompts-for-technical-debt.deck.md</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Give the audience a concrete artifact they can copy into their own workflow. Explain that the template is intentionally simple because its power comes from completeness, not clever phrasing. Encourage them to tailor the constraints and validation sections based on the type of debt item, such as refactoring, security cleanup, or test hardening. Close by connecting the template back to the earlier benefits: clarity, consistency, and reduced manual follow-up. (~1 minute)</a:t>
            </a:r>
          </a:p>
          <a:p>
            <a:endParaRPr/>
          </a:p>
          <a:p>
            <a:r>
              <a:t>---</a:t>
            </a:r>
          </a:p>
          <a:p>
            <a:endParaRPr/>
          </a:p>
          <a:p>
            <a:r>
              <a:t>Source: slides\marp\effective-prompts-for-technical-debt.deck.md</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by tying prompt quality to execution quality. The audience should leave with the idea that technical debt management is not just about identifying problems; it is about packaging them so AI and GitHub workflows can act on them reliably. Re-emphasize the two most practical habits: always include validation and always specify the exact repository. End with a suggested next step: take one existing debt item and rewrite it using the template from the previous slide. (~1 minute)</a:t>
            </a:r>
          </a:p>
          <a:p>
            <a:endParaRPr/>
          </a:p>
          <a:p>
            <a:r>
              <a:t>---</a:t>
            </a:r>
          </a:p>
          <a:p>
            <a:endParaRPr/>
          </a:p>
          <a:p>
            <a:r>
              <a:t>Source: slides\marp\effective-prompts-for-technical-debt.deck.md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slides\marp\conformance-and-gap-analysis.deck.md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module as the bridge between architectural intent and real code. Conformance analysis ensures that AI-assisted and human-written code stays aligned with the rules defined in instruction files. This is how teams maintain evergreen quality in brownfield systems.</a:t>
            </a:r>
          </a:p>
          <a:p>
            <a:endParaRPr/>
          </a:p>
          <a:p>
            <a:r>
              <a:t>---</a:t>
            </a:r>
          </a:p>
          <a:p>
            <a:endParaRPr/>
          </a:p>
          <a:p>
            <a:r>
              <a:t>Source: slides\marp\conformance-and-gap-analysis.deck.md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Instruction files define the “north star” for your codebase. Conformance checks ensure that every change — AI-generated or human — aligns with those rules. This is essential for maintaining predictability in brownfield systems.</a:t>
            </a:r>
          </a:p>
          <a:p>
            <a:endParaRPr/>
          </a:p>
          <a:p>
            <a:r>
              <a:t>---</a:t>
            </a:r>
          </a:p>
          <a:p>
            <a:endParaRPr/>
          </a:p>
          <a:p>
            <a:r>
              <a:t>Source: slides\marp\conformance-and-gap-analysis.deck.md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Automation accelerates the conformance workflow. Instead of manually writing issues, AI can draft them instantly, leaving humans to validate and prioritize.</a:t>
            </a:r>
          </a:p>
          <a:p>
            <a:endParaRPr/>
          </a:p>
          <a:p>
            <a:r>
              <a:t>---</a:t>
            </a:r>
          </a:p>
          <a:p>
            <a:endParaRPr/>
          </a:p>
          <a:p>
            <a:r>
              <a:t>Source: slides\marp\conformance-and-gap-analysis.deck.md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all technical debt is equal. Prioritization ensures that teams focus on the highest-value remediation work first, rather than chasing low-impact issues.</a:t>
            </a:r>
          </a:p>
          <a:p>
            <a:endParaRPr/>
          </a:p>
          <a:p>
            <a:r>
              <a:t>---</a:t>
            </a:r>
          </a:p>
          <a:p>
            <a:endParaRPr/>
          </a:p>
          <a:p>
            <a:r>
              <a:t>Source: slides\marp\conformance-and-gap-analysis.deck.md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Remediation plans turn issues into action. They provide clarity, reduce risk, and ensure that modernization work is incremental and reversible.</a:t>
            </a:r>
          </a:p>
          <a:p>
            <a:endParaRPr dirty="0"/>
          </a:p>
          <a:p>
            <a:r>
              <a:rPr dirty="0"/>
              <a:t>---</a:t>
            </a:r>
          </a:p>
          <a:p>
            <a:endParaRPr dirty="0"/>
          </a:p>
          <a:p>
            <a:r>
              <a:rPr dirty="0"/>
              <a:t>Source: slides\marp\conformance-and-gap-analysis.deck.md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Author requirement docs, then use Copilot to generate scaffolding and validate alignment.</a:t>
            </a:r>
          </a:p>
          <a:p>
            <a:endParaRPr/>
          </a:p>
          <a:p>
            <a:r>
              <a:t>---</a:t>
            </a:r>
          </a:p>
          <a:p>
            <a:endParaRPr/>
          </a:p>
          <a:p>
            <a:r>
              <a:t>Source: slides\marp\exercise\exercise-create-project-requirement.deck.md</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This exercise helps participants move from analysis to execution. The goal is to build modernization plans that are safe, thoughtful, and aligned with evergreen principles.</a:t>
            </a:r>
          </a:p>
          <a:p>
            <a:endParaRPr/>
          </a:p>
          <a:p>
            <a:r>
              <a:t>---</a:t>
            </a:r>
          </a:p>
          <a:p>
            <a:endParaRPr/>
          </a:p>
          <a:p>
            <a:r>
              <a:t>Source: slides\marp\exercise\exercise-create-an-implementation-plan.deck.md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slides\marp\building-a-backlog.deck.md</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module as the bridge between analysis and action. Once AI identifies risks, gaps, and modernization opportunities, teams need a structured backlog to manage the work. Emphasize that backlog creation is not just administrative — it is a core governance mechanism for safe AI-assisted modernization.</a:t>
            </a:r>
          </a:p>
          <a:p>
            <a:endParaRPr/>
          </a:p>
          <a:p>
            <a:r>
              <a:t>---</a:t>
            </a:r>
          </a:p>
          <a:p>
            <a:endParaRPr/>
          </a:p>
          <a:p>
            <a:r>
              <a:t>Source: slides\marp\building-a-backlog.deck.md</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Explain that AI excels at scanning large brownfield systems and surfacing hotspots. This reduces the manual effort required to understand legacy code and helps teams focus on the highest-impact areas first.</a:t>
            </a:r>
          </a:p>
          <a:p>
            <a:endParaRPr dirty="0"/>
          </a:p>
          <a:p>
            <a:r>
              <a:rPr dirty="0"/>
              <a:t>---</a:t>
            </a:r>
          </a:p>
          <a:p>
            <a:endParaRPr dirty="0"/>
          </a:p>
          <a:p>
            <a:r>
              <a:rPr dirty="0"/>
              <a:t>Source: slides\marp\building-a-backlog.deck.md</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Highlight that automation doesn't replace human judgment — it accelerates it. Humans still validate, refine, and prioritize issues, but AI handles the heavy lifting of drafting them.</a:t>
            </a:r>
          </a:p>
          <a:p>
            <a:endParaRPr/>
          </a:p>
          <a:p>
            <a:r>
              <a:t>---</a:t>
            </a:r>
          </a:p>
          <a:p>
            <a:endParaRPr/>
          </a:p>
          <a:p>
            <a:r>
              <a:t>Source: slides\marp\building-a-backlog.deck.md</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Encourage participants to treat this as a real backlog-building session. The goal is not volume — it's clarity and actionability. Reinforce that a well-structured backlog is the foundation for safe, incremental modernization.</a:t>
            </a:r>
          </a:p>
          <a:p>
            <a:endParaRPr/>
          </a:p>
          <a:p>
            <a:r>
              <a:t>---</a:t>
            </a:r>
          </a:p>
          <a:p>
            <a:endParaRPr/>
          </a:p>
          <a:p>
            <a:r>
              <a:t>Source: slides\marp\exercise\exercise-building-the-backlog.deck.md</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slides\marp\implementation-plan-prioritization.deck.md</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~00:01</a:t>
            </a:r>
          </a:p>
          <a:p>
            <a:endParaRPr dirty="0"/>
          </a:p>
          <a:p>
            <a:r>
              <a:rPr dirty="0"/>
              <a:t>Open with the reality that most brownfield codebases have a mixture of these issues lurking beneath the surface, and they are often invisible until something breaks. The key insight is that these are not surprising findings — they are predictable. AI can surface them quickly through a structured audit, and once visible they can be prioritized and addressed systematically.</a:t>
            </a:r>
          </a:p>
          <a:p>
            <a:endParaRPr dirty="0"/>
          </a:p>
          <a:p>
            <a:r>
              <a:rPr dirty="0"/>
              <a:t>---</a:t>
            </a:r>
          </a:p>
          <a:p>
            <a:endParaRPr dirty="0"/>
          </a:p>
          <a:p>
            <a:r>
              <a:rPr dirty="0"/>
              <a:t>Source: slides\marp\implementation-plan-prioritization.deck.md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Explain that the impact/effort matrix is a practical tool for turning a long debt backlog into an ordered action plan. When you ask AI to populate this matrix it needs context about your system, team size, and risk appetite, so the quality of the prompt matters. The quadrant model helps teams stop arguing about priority and start acting on clear categories.</a:t>
            </a:r>
          </a:p>
          <a:p>
            <a:endParaRPr/>
          </a:p>
          <a:p>
            <a:r>
              <a:t>---</a:t>
            </a:r>
          </a:p>
          <a:p>
            <a:endParaRPr/>
          </a:p>
          <a:p>
            <a:r>
              <a:t>Source: slides\marp\implementation-plan-prioritization.deck.md</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Make the point that hidden debt is far more dangerous than visible debt. When the team can see what exists, estimate effort, and assign priorities, the problem feels solvable rather than overwhelming. AI accelerates this process dramatically because it can scan large codebases, generate issue descriptions, propose remediation steps, and even draft acceptance criteria in minutes.</a:t>
            </a:r>
          </a:p>
          <a:p>
            <a:endParaRPr/>
          </a:p>
          <a:p>
            <a:r>
              <a:t>---</a:t>
            </a:r>
          </a:p>
          <a:p>
            <a:endParaRPr/>
          </a:p>
          <a:p>
            <a:r>
              <a:t>Source: slides\marp\implementation-plan-prioritization.deck.md</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Introduce "Phase Zero" as a deliberate pre-sprint focused entirely on security hygiene before any feature work begins. The ROI calculation is asymmetric: the cost of rotating a secret is near zero, while the cost of a breach is unbounded. Teams that skip Phase Zero often pay for it later in incident response, customer trust damage, and regulatory consequences.</a:t>
            </a:r>
          </a:p>
          <a:p>
            <a:endParaRPr/>
          </a:p>
          <a:p>
            <a:r>
              <a:t>---</a:t>
            </a:r>
          </a:p>
          <a:p>
            <a:endParaRPr/>
          </a:p>
          <a:p>
            <a:r>
              <a:t>Source: slides\marp\implementation-plan-prioritization.deck.md</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Frame Evergreen not as a destination you reach once but as an operating mode where the system continuously improves. The compounding effect is real: once secrets are rotated, HTTPS is enforced, and CI is in place, subsequent changes are safer and faster to make. AI-assisted development accelerates the journey to Evergreen by making audit, prioritization, and remediation faster at every stage.</a:t>
            </a:r>
          </a:p>
          <a:p>
            <a:endParaRPr/>
          </a:p>
          <a:p>
            <a:r>
              <a:t>---</a:t>
            </a:r>
          </a:p>
          <a:p>
            <a:endParaRPr/>
          </a:p>
          <a:p>
            <a:r>
              <a:t>Source: slides\marp\implementation-plan-prioritization.deck.md</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slides\marp\addressing-technical-debt.deck.md</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module as the moment where AI becomes an active contributor to modernization. Technical debt is inevitable in brownfield systems, but AI can help teams address it safely, incrementally, and with strong guardrails.</a:t>
            </a:r>
          </a:p>
          <a:p>
            <a:endParaRPr/>
          </a:p>
          <a:p>
            <a:r>
              <a:t>---</a:t>
            </a:r>
          </a:p>
          <a:p>
            <a:endParaRPr/>
          </a:p>
          <a:p>
            <a:r>
              <a:t>Source: slides\marp\addressing-technical-debt.deck.md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Copilot responds best to structured, high-signal prompts. The more explicit the constraints, the safer and more predictable the remediation.</a:t>
            </a:r>
          </a:p>
          <a:p>
            <a:endParaRPr/>
          </a:p>
          <a:p>
            <a:r>
              <a:t>---</a:t>
            </a:r>
          </a:p>
          <a:p>
            <a:endParaRPr/>
          </a:p>
          <a:p>
            <a:r>
              <a:t>Source: slides\marp\addressing-technical-debt.deck.md</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Assigning issues to Copilot formalizes the workflow. It treats Copilot like a junior developer who receives tasks, produces drafts, and awaits review.</a:t>
            </a:r>
          </a:p>
          <a:p>
            <a:endParaRPr/>
          </a:p>
          <a:p>
            <a:r>
              <a:t>---</a:t>
            </a:r>
          </a:p>
          <a:p>
            <a:endParaRPr/>
          </a:p>
          <a:p>
            <a:r>
              <a:t>Source: slides\marp\addressing-technical-debt.deck.md</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**Overview**  When you assign an issue to GitHub Copilot on GitHub.com, Copilot behaves like a managed junior developer. It doesn't magically “solve” the issue — it follows a structured workflow grounded in the issue description and repository context.</a:t>
            </a:r>
          </a:p>
          <a:p>
            <a:r>
              <a:t>**Reads the Issue and Context**  Copilot parses the issue body, labels, linked discussions, and any referenced files. The quality and specificity of the issue strongly influence the quality of the output.</a:t>
            </a:r>
          </a:p>
          <a:p>
            <a:r>
              <a:t>**Generates a Work Plan**  Copilot drafts an implementation plan. This may include steps, architectural notes, or a breakdown of required changes. It uses repository code, patterns, and conventions to stay consistent.</a:t>
            </a:r>
          </a:p>
          <a:p>
            <a:r>
              <a:t>**Creates or Updates Pull Requests**  Copilot opens a PR with proposed changes. These changes often include code, tests, and documentation updates. It may also update an existing PR if the issue is already in progress.</a:t>
            </a:r>
          </a:p>
          <a:p>
            <a:r>
              <a:t>**Responds to Feedback**  When maintainers leave comments, Copilot can revise the PR. It treats comments as instructions, similar to how a junior developer would respond to review notes.</a:t>
            </a:r>
          </a:p>
          <a:p>
            <a:r>
              <a:t>**Maintains Traceability**  Copilot links the PR back to the issue, references commits properly, and ensures the work is tracked through GitHub's normal workflow. This supports auditability and provenance — something you and I both care about deeply.</a:t>
            </a:r>
          </a:p>
          <a:p>
            <a:r>
              <a:t>**Key Takeaway**  Copilot doesn't replace engineering judgment. It accelerates the mechanical parts of implementation while relying on humans for direction, review, and acceptance.</a:t>
            </a:r>
          </a:p>
          <a:p>
            <a:endParaRPr/>
          </a:p>
          <a:p>
            <a:r>
              <a:t>---</a:t>
            </a:r>
          </a:p>
          <a:p>
            <a:endParaRPr/>
          </a:p>
          <a:p>
            <a:r>
              <a:t>Source: slides\marp\addressing-technical-debt.deck.md</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Participants experience the leverage of meta prompts and see how AI can accelerate documentation.</a:t>
            </a:r>
          </a:p>
          <a:p>
            <a:endParaRPr/>
          </a:p>
          <a:p>
            <a:r>
              <a:t>Prompts:</a:t>
            </a:r>
          </a:p>
          <a:p>
            <a:endParaRPr/>
          </a:p>
          <a:p>
            <a:r>
              <a:t>Create instruction files for the backend technologies</a:t>
            </a:r>
          </a:p>
          <a:p>
            <a:endParaRPr/>
          </a:p>
          <a:p>
            <a:r>
              <a:t>Create instruction files for the front-end technologies</a:t>
            </a:r>
          </a:p>
          <a:p>
            <a:endParaRPr/>
          </a:p>
          <a:p>
            <a:r>
              <a:t>Create instruction files for the front-end technologies</a:t>
            </a:r>
          </a:p>
          <a:p>
            <a:endParaRPr/>
          </a:p>
          <a:p>
            <a:r>
              <a:t>---</a:t>
            </a:r>
          </a:p>
          <a:p>
            <a:endParaRPr/>
          </a:p>
          <a:p>
            <a:r>
              <a:t>Source: slides\marp\exercise\exercise-generate-instruction-files.deck.md</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~00:15</a:t>
            </a:r>
          </a:p>
          <a:p>
            <a:endParaRPr dirty="0"/>
          </a:p>
          <a:p>
            <a:r>
              <a:rPr dirty="0"/>
              <a:t>Encourage participants to treat this as a real backlog-building session. The goal is clarity and actionability, not volume.</a:t>
            </a:r>
          </a:p>
          <a:p>
            <a:endParaRPr dirty="0"/>
          </a:p>
          <a:p>
            <a:r>
              <a:rPr dirty="0"/>
              <a:t>---</a:t>
            </a:r>
          </a:p>
          <a:p>
            <a:endParaRPr dirty="0"/>
          </a:p>
          <a:p>
            <a:r>
              <a:rPr dirty="0"/>
              <a:t>Source: slides\marp\exercise\exercise-generate-issues-to-make-the-codebase-evergreen.deck.md</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~00:10</a:t>
            </a:r>
          </a:p>
          <a:p>
            <a:endParaRPr dirty="0"/>
          </a:p>
          <a:p>
            <a:r>
              <a:rPr dirty="0"/>
              <a:t>This exercise reinforces the importance of guardrails and helps participants practice applying them to real code.</a:t>
            </a:r>
          </a:p>
          <a:p>
            <a:endParaRPr dirty="0"/>
          </a:p>
          <a:p>
            <a:r>
              <a:rPr dirty="0"/>
              <a:t>---</a:t>
            </a:r>
          </a:p>
          <a:p>
            <a:endParaRPr dirty="0"/>
          </a:p>
          <a:p>
            <a:r>
              <a:rPr dirty="0"/>
              <a:t>Source: slides\marp\exercise\exercise-identifying-code-outside-the-guardrails.deck.md</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slides\marp\exercise\exercise-code-quality-analysis.deck.md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~00:20</a:t>
            </a:r>
          </a:p>
          <a:p>
            <a:endParaRPr dirty="0"/>
          </a:p>
          <a:p>
            <a:endParaRPr dirty="0"/>
          </a:p>
          <a:p>
            <a:r>
              <a:rPr dirty="0"/>
              <a:t>**Prerequisites:** Access to the full workspace, AI chat enabled, and search tools available.</a:t>
            </a:r>
          </a:p>
          <a:p>
            <a:endParaRPr dirty="0"/>
          </a:p>
          <a:p>
            <a:r>
              <a:rPr dirty="0"/>
              <a:t>### Objectives</a:t>
            </a:r>
          </a:p>
          <a:p>
            <a:endParaRPr dirty="0"/>
          </a:p>
          <a:p>
            <a:r>
              <a:rPr dirty="0"/>
              <a:t>- Find and document non-evergreen code and content patterns.</a:t>
            </a:r>
          </a:p>
          <a:p>
            <a:r>
              <a:rPr dirty="0"/>
              <a:t>- Use AI plus direct file evidence to avoid false positives.</a:t>
            </a:r>
          </a:p>
          <a:p>
            <a:r>
              <a:rPr dirty="0"/>
              <a:t>- Convert findings into evergreen improvement actions.</a:t>
            </a:r>
          </a:p>
          <a:p>
            <a:endParaRPr dirty="0"/>
          </a:p>
          <a:p>
            <a:r>
              <a:rPr dirty="0"/>
              <a:t>### Suggested Prompt</a:t>
            </a:r>
          </a:p>
          <a:p>
            <a:endParaRPr dirty="0"/>
          </a:p>
          <a:p>
            <a:r>
              <a:rPr dirty="0"/>
              <a:t>Analyze the workspace for code or content that is not evergreen. Focus on date-coupled content, draft artifacts, placeholders like &lt;auto&gt; or &lt;timestamp&gt;, duplicated instructions, and unstable naming. Return findings as: file, reason, risk, and evergreen fix.</a:t>
            </a:r>
          </a:p>
          <a:p>
            <a:endParaRPr dirty="0"/>
          </a:p>
          <a:p>
            <a:r>
              <a:rPr dirty="0"/>
              <a:t>### Suggested Hunt Areas</a:t>
            </a:r>
          </a:p>
          <a:p>
            <a:endParaRPr dirty="0"/>
          </a:p>
          <a:p>
            <a:r>
              <a:rPr dirty="0"/>
              <a:t>- Slides with draft naming patterns and temporary outputs.</a:t>
            </a:r>
          </a:p>
          <a:p>
            <a:r>
              <a:rPr dirty="0"/>
              <a:t>- Prompt and instruction files containing placeholder metadata.</a:t>
            </a:r>
          </a:p>
          <a:p>
            <a:r>
              <a:rPr dirty="0"/>
              <a:t>- Repeated policy content that can drift over time.</a:t>
            </a:r>
          </a:p>
          <a:p>
            <a:endParaRPr dirty="0"/>
          </a:p>
          <a:p>
            <a:r>
              <a:rPr dirty="0"/>
              <a:t>### Activities</a:t>
            </a:r>
          </a:p>
          <a:p>
            <a:endParaRPr dirty="0"/>
          </a:p>
          <a:p>
            <a:r>
              <a:rPr dirty="0"/>
              <a:t>- Step 1: Run your AI scan and collect raw findings.</a:t>
            </a:r>
          </a:p>
          <a:p>
            <a:r>
              <a:rPr dirty="0"/>
              <a:t>- Step 2: Verify each result against an actual file and exact snippet.</a:t>
            </a:r>
          </a:p>
          <a:p>
            <a:r>
              <a:rPr dirty="0"/>
              <a:t>- Step 3: Prioritize top 3 findings by impact and effort.</a:t>
            </a:r>
          </a:p>
          <a:p>
            <a:r>
              <a:rPr dirty="0"/>
              <a:t>- Step 4: Draft evergreen replacements and share with the group.</a:t>
            </a:r>
          </a:p>
          <a:p>
            <a:endParaRPr dirty="0"/>
          </a:p>
          <a:p>
            <a:r>
              <a:rPr dirty="0"/>
              <a:t>### Success Criteria</a:t>
            </a:r>
          </a:p>
          <a:p>
            <a:endParaRPr dirty="0"/>
          </a:p>
          <a:p>
            <a:r>
              <a:rPr dirty="0"/>
              <a:t>- At least 8 validated findings.</a:t>
            </a:r>
          </a:p>
          <a:p>
            <a:r>
              <a:rPr dirty="0"/>
              <a:t>- At least 3 high-impact evergreen refactors proposed.</a:t>
            </a:r>
          </a:p>
          <a:p>
            <a:r>
              <a:rPr dirty="0"/>
              <a:t>- Clear justification connecting each fix to maintainability and future reuse.</a:t>
            </a:r>
          </a:p>
          <a:p>
            <a:endParaRPr dirty="0"/>
          </a:p>
          <a:p>
            <a:r>
              <a:rPr dirty="0"/>
              <a:t>---</a:t>
            </a:r>
          </a:p>
          <a:p>
            <a:endParaRPr dirty="0"/>
          </a:p>
          <a:p>
            <a:r>
              <a:rPr dirty="0"/>
              <a:t>Source: slides\marp\exercise\exercise-code-quality-analysis.deck.md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slides\marp\exercise\exercise-addressing-technical-debt-with-copilot.deck.md</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Use this first exercise to make participants slow down and specify the work before they ask for code. Encourage them to choose a small but real technical debt item from their own system, because realistic context exposes whether the prompt includes enough architecture, testing, and documentation guidance to keep the change safe. During the review step, ask them to inspect whether Copilot stayed incremental, respected the stated constraints, and requested or updated tests instead of only proposing a code edit. Transition by explaining that a strong prompt is useful, but durable team workflows usually need the same clarity captured in a structured issue.</a:t>
            </a:r>
          </a:p>
          <a:p>
            <a:endParaRPr/>
          </a:p>
          <a:p>
            <a:r>
              <a:t>---</a:t>
            </a:r>
          </a:p>
          <a:p>
            <a:endParaRPr/>
          </a:p>
          <a:p>
            <a:r>
              <a:t>Source: slides\marp\exercise\exercise-addressing-technical-debt-with-copilot.deck.md</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Frame this exercise as the handoff from ad hoc prompting to a repeatable engineering process. Participants should write the issue as if they were briefing a junior developer: the title should be specific, the problem statement should identify impact and risk, and the acceptance criteria should make review straightforward and testable. When they evaluate Copilot's draft, focus on whether the output follows the issue rather than whether it merely looks polished, because a clean-looking response can still drift from the requested scope. Transition by noting that once the issue is strong, teams can delegate larger units of work with more confidence, as long as they keep the plan reviewable and reversible.</a:t>
            </a:r>
          </a:p>
          <a:p>
            <a:endParaRPr/>
          </a:p>
          <a:p>
            <a:r>
              <a:t>---</a:t>
            </a:r>
          </a:p>
          <a:p>
            <a:endParaRPr/>
          </a:p>
          <a:p>
            <a:r>
              <a:t>Source: slides\marp\exercise\exercise-addressing-technical-debt-with-copilot.deck.md</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r>
              <a:t>This final exercise is about controlled delegation, not blind trust. Ask participants to evaluate the output in layers: first the analysis, then the proposed sequence of changes, then whether the generated edits remain small enough to review and roll back safely. If Copilot skips tests, documentation, or architecture rules, treat that as a signal that the delegation prompt still needs sharper boundaries or missing context. Close by reinforcing that Copilot can accelerate larger remediation efforts, but humans remain responsible for approving the plan, spotting risk, and deciding whether the generated work is actually ready to merge.</a:t>
            </a:r>
          </a:p>
          <a:p>
            <a:endParaRPr/>
          </a:p>
          <a:p>
            <a:r>
              <a:t>---</a:t>
            </a:r>
          </a:p>
          <a:p>
            <a:endParaRPr/>
          </a:p>
          <a:p>
            <a:r>
              <a:t>Source: slides\marp\exercise\exercise-addressing-technical-debt-with-copilot.deck.md</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slides\marp\multi-model-implementation-comparison.deck.md</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module as a way to help teams understand how different AI models behave when given the same task. Emphasize that multi-model comparison is a powerful guardrail: it reduces hallucinations, improves quality, and helps teams choose the right model for the right job.</a:t>
            </a:r>
          </a:p>
          <a:p>
            <a:endParaRPr/>
          </a:p>
          <a:p>
            <a:r>
              <a:t>---</a:t>
            </a:r>
          </a:p>
          <a:p>
            <a:endParaRPr/>
          </a:p>
          <a:p>
            <a:r>
              <a:t>Source: slides\marp\multi-model-implementation-comparison.deck.md</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no single model is perfect. Using multiple models gives teams a broader perspective and helps catch errors or blind spots that one model alone might miss.</a:t>
            </a:r>
          </a:p>
          <a:p>
            <a:endParaRPr/>
          </a:p>
          <a:p>
            <a:r>
              <a:t>---</a:t>
            </a:r>
          </a:p>
          <a:p>
            <a:endParaRPr/>
          </a:p>
          <a:p>
            <a:r>
              <a:t>Source: slides\marp\multi-model-implementation-comparison.deck.md</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Encourage participants to treat model outputs like multiple drafts from different engineers. The goal is not to pick a winner — it's to synthesize the best ideas.</a:t>
            </a:r>
          </a:p>
          <a:p>
            <a:endParaRPr/>
          </a:p>
          <a:p>
            <a:r>
              <a:t>---</a:t>
            </a:r>
          </a:p>
          <a:p>
            <a:endParaRPr/>
          </a:p>
          <a:p>
            <a:r>
              <a:t>Source: slides\marp\multi-model-implementation-comparison.deck.md</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 that risk assessment is essential in brownfield systems. Even if a model produces elegant code, it may be too risky without proper guardrails.</a:t>
            </a:r>
          </a:p>
          <a:p>
            <a:endParaRPr/>
          </a:p>
          <a:p>
            <a:r>
              <a:t>---</a:t>
            </a:r>
          </a:p>
          <a:p>
            <a:endParaRPr/>
          </a:p>
          <a:p>
            <a:r>
              <a:t>Source: slides\marp\multi-model-implementation-comparison.deck.md</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Encourage participants to choose a real example from their brownfield system. The goal is clarity and safety, not complexity.</a:t>
            </a:r>
          </a:p>
          <a:p>
            <a:endParaRPr/>
          </a:p>
          <a:p>
            <a:r>
              <a:t>---</a:t>
            </a:r>
          </a:p>
          <a:p>
            <a:endParaRPr/>
          </a:p>
          <a:p>
            <a:r>
              <a:t>Source: slides\marp\exercise\exercise-prompt-copilot-to-address-technical-debt.deck.md</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r>
              <a:t>Encourage participants to think like reviewers comparing multiple PRs. The goal is to understand model behavior, not to pick a favorite.</a:t>
            </a:r>
          </a:p>
          <a:p>
            <a:endParaRPr/>
          </a:p>
          <a:p>
            <a:r>
              <a:t>---</a:t>
            </a:r>
          </a:p>
          <a:p>
            <a:endParaRPr/>
          </a:p>
          <a:p>
            <a:r>
              <a:t>Source: slides\marp\exercise\exercise-prompt-multiple-models-to-address-technical-debt.deck.md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524000" y="2759384"/>
            <a:ext cx="9144000" cy="1891556"/>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524000" y="4952326"/>
            <a:ext cx="9144000" cy="132507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4294437" y="1238105"/>
            <a:ext cx="3578217" cy="1288157"/>
          </a:xfrm>
          <a:prstGeom prst="rect">
            <a:avLst/>
          </a:prstGeom>
          <a:ln>
            <a:noFill/>
          </a:ln>
          <a:effectLst/>
        </p:spPr>
      </p:pic>
    </p:spTree>
    <p:extLst>
      <p:ext uri="{BB962C8B-B14F-4D97-AF65-F5344CB8AC3E}">
        <p14:creationId xmlns:p14="http://schemas.microsoft.com/office/powerpoint/2010/main" val="374273472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0587407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2282959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318506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2"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4978330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631556" y="2644564"/>
            <a:ext cx="8928887" cy="1568871"/>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520210162"/>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9545636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900113" y="2433638"/>
            <a:ext cx="10391774" cy="3790950"/>
          </a:xfrm>
        </p:spPr>
        <p:txBody>
          <a:bodyPr/>
          <a:lstStyle/>
          <a:p>
            <a:endParaRPr lang="en-US"/>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900113" y="1444625"/>
            <a:ext cx="10391774" cy="649288"/>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182745761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71134239"/>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Tree>
    <p:extLst>
      <p:ext uri="{BB962C8B-B14F-4D97-AF65-F5344CB8AC3E}">
        <p14:creationId xmlns:p14="http://schemas.microsoft.com/office/powerpoint/2010/main" val="435387362"/>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833480" y="1051965"/>
            <a:ext cx="9831823" cy="313932"/>
          </a:xfrm>
        </p:spPr>
        <p:txBody>
          <a:bodyPr>
            <a:spAutoFit/>
          </a:bodyPr>
          <a:lstStyle>
            <a:lvl1pPr marL="0" indent="0">
              <a:buFontTx/>
              <a:buNone/>
              <a:defRPr sz="1600">
                <a:latin typeface="Victor Mono" pitchFamily="49" charset="0"/>
              </a:defRPr>
            </a:lvl1pPr>
            <a:lvl2pPr marL="457200" indent="0">
              <a:buFontTx/>
              <a:buNone/>
              <a:defRPr>
                <a:latin typeface="Victor Mono" pitchFamily="49" charset="0"/>
              </a:defRPr>
            </a:lvl2pPr>
            <a:lvl3pPr marL="914400" indent="0">
              <a:buFontTx/>
              <a:buNone/>
              <a:defRPr>
                <a:latin typeface="Victor Mono" pitchFamily="49" charset="0"/>
              </a:defRPr>
            </a:lvl3pPr>
            <a:lvl4pPr marL="1371600" indent="0">
              <a:buFontTx/>
              <a:buNone/>
              <a:defRPr>
                <a:latin typeface="Victor Mono" pitchFamily="49" charset="0"/>
              </a:defRPr>
            </a:lvl4pPr>
            <a:lvl5pPr marL="18288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8760912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Centered Two 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631556" y="2429000"/>
            <a:ext cx="8928887" cy="1200000"/>
          </a:xfrm>
        </p:spPr>
        <p:txBody>
          <a:bodyPr/>
          <a:lstStyle>
            <a:lvl1pPr algn="ctr">
              <a:defRPr/>
            </a:lvl1pPr>
          </a:lstStyle>
          <a:p>
            <a:r>
              <a:rPr lang="en-US"/>
              <a:t>Click to edit Master title style</a:t>
            </a:r>
            <a:endParaRPr lang="en-US" dirty="0"/>
          </a:p>
        </p:txBody>
      </p:sp>
      <p:sp>
        <p:nvSpPr>
          <p:cNvPr id="3" name="Subtitle 2"/>
          <p:cNvSpPr>
            <a:spLocks noGrp="1"/>
          </p:cNvSpPr>
          <p:nvPr>
            <p:ph type="subTitle" idx="1"/>
          </p:nvPr>
        </p:nvSpPr>
        <p:spPr>
          <a:xfrm>
            <a:off x="1631556" y="3829000"/>
            <a:ext cx="8928887" cy="600000"/>
          </a:xfrm>
        </p:spPr>
        <p:txBody>
          <a:bodyPr/>
          <a:lstStyle>
            <a:lvl1pPr algn="ctr">
              <a:defRPr/>
            </a:lvl1pPr>
          </a:lstStyle>
          <a:p>
            <a:r>
              <a:rPr lang="en-US"/>
              <a:t>Click to edit Master subtitle style</a:t>
            </a:r>
          </a:p>
        </p:txBody>
      </p:sp>
    </p:spTree>
    <p:extLst>
      <p:ext uri="{BB962C8B-B14F-4D97-AF65-F5344CB8AC3E}">
        <p14:creationId xmlns:p14="http://schemas.microsoft.com/office/powerpoint/2010/main" val="52021016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userDrawn="1"/>
        </p:nvPicPr>
        <p:blipFill>
          <a:blip r:embed="rId14">
            <a:alphaModFix amt="20000"/>
          </a:blip>
          <a:srcRect l="301" t="5222" r="713" b="10945"/>
          <a:stretch/>
        </p:blipFill>
        <p:spPr>
          <a:xfrm>
            <a:off x="0" y="-1"/>
            <a:ext cx="12192000" cy="68580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838200" y="365126"/>
            <a:ext cx="8928887" cy="70302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838200" y="1461483"/>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CD6163BC-C951-C17F-421A-4AD743EDDB29}"/>
              </a:ext>
            </a:extLst>
          </p:cNvPr>
          <p:cNvPicPr>
            <a:picLocks noChangeAspect="1"/>
          </p:cNvPicPr>
          <p:nvPr userDrawn="1"/>
        </p:nvPicPr>
        <p:blipFill>
          <a:blip r:embed="rId15"/>
          <a:srcRect/>
          <a:stretch/>
        </p:blipFill>
        <p:spPr>
          <a:xfrm>
            <a:off x="10016117" y="424540"/>
            <a:ext cx="1783676" cy="643610"/>
          </a:xfrm>
          <a:prstGeom prst="rect">
            <a:avLst/>
          </a:prstGeom>
          <a:ln>
            <a:noFill/>
          </a:ln>
          <a:effectLst/>
        </p:spPr>
      </p:pic>
    </p:spTree>
    <p:extLst>
      <p:ext uri="{BB962C8B-B14F-4D97-AF65-F5344CB8AC3E}">
        <p14:creationId xmlns:p14="http://schemas.microsoft.com/office/powerpoint/2010/main" val="2005844286"/>
      </p:ext>
    </p:extLst>
  </p:cSld>
  <p:clrMap bg1="lt1" tx1="dk1" bg2="lt2" tx2="dk2" accent1="accent1" accent2="accent2" accent3="accent3" accent4="accent4" accent5="accent5" accent6="accent6" hlink="hlink" folHlink="folHlink"/>
  <p:sldLayoutIdLst>
    <p:sldLayoutId id="2147483744" r:id="rId1"/>
    <p:sldLayoutId id="2147483745" r:id="rId2"/>
    <p:sldLayoutId id="2147483797" r:id="rId3"/>
    <p:sldLayoutId id="2147483746" r:id="rId4"/>
    <p:sldLayoutId id="2147483784" r:id="rId5"/>
    <p:sldLayoutId id="2147483747" r:id="rId6"/>
    <p:sldLayoutId id="2147483748" r:id="rId7"/>
    <p:sldLayoutId id="2147483792" r:id="rId8"/>
    <p:sldLayoutId id="2147483749" r:id="rId9"/>
    <p:sldLayoutId id="2147483750" r:id="rId10"/>
    <p:sldLayoutId id="2147483751" r:id="rId11"/>
    <p:sldLayoutId id="2147483798" r:id="rId12"/>
  </p:sldLayoutIdLst>
  <p:transition>
    <p:fade/>
  </p:transition>
  <p:txStyles>
    <p:titleStyle>
      <a:lvl1pPr algn="l" defTabSz="914400" rtl="0" eaLnBrk="1" latinLnBrk="0" hangingPunct="1">
        <a:lnSpc>
          <a:spcPct val="90000"/>
        </a:lnSpc>
        <a:spcBef>
          <a:spcPct val="0"/>
        </a:spcBef>
        <a:buNone/>
        <a:defRPr sz="44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The Return of the Prompter</a:t>
            </a:r>
          </a:p>
        </p:txBody>
      </p:sp>
      <p:sp>
        <p:nvSpPr>
          <p:cNvPr id="3" name="Content Placeholder 2"/>
          <p:cNvSpPr>
            <a:spLocks noGrp="1"/>
          </p:cNvSpPr>
          <p:nvPr>
            <p:ph idx="1"/>
          </p:nvPr>
        </p:nvSpPr>
        <p:spPr/>
        <p:txBody>
          <a:bodyPr wrap="square">
            <a:normAutofit/>
          </a:bodyPr>
          <a:lstStyle/>
          <a:p>
            <a:r>
              <a:rPr sz="2800" b="0" i="0" u="none"/>
              <a:t>Ready to continue where we left off</a:t>
            </a:r>
            <a:endParaRPr sz="2800" b="0" i="0">
              <a:latin typeface="Arial"/>
            </a:endParaRPr>
          </a:p>
          <a:p>
            <a:r>
              <a:rPr sz="2800" b="0" i="0" u="none"/>
              <a:t>Today's session builds on what we've covered</a:t>
            </a:r>
            <a:endParaRPr sz="2800" b="0" i="0">
              <a:latin typeface="Arial"/>
            </a:endParaRPr>
          </a:p>
          <a:p>
            <a:r>
              <a:rPr sz="2800" b="0" i="0" u="none"/>
              <a:t>We're all in this together — participation welcome</a:t>
            </a:r>
            <a:endParaRPr sz="2800" b="0" i="0">
              <a:latin typeface="Arial"/>
            </a:endParaRPr>
          </a:p>
          <a:p>
            <a:r>
              <a:rPr sz="2800" b="0" i="0" u="none"/>
              <a:t>Questions are always welcome — ask anytime!</a:t>
            </a:r>
            <a:endParaRPr sz="2800" b="0" i="0">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r>
              <a:rPr b="0" i="0" u="none"/>
              <a:t>Intro</a:t>
            </a:r>
          </a:p>
          <a:p>
            <a:r>
              <a:rPr b="1" i="0" u="none"/>
              <a:t>▶ AI Practitioner Resources</a:t>
            </a:r>
          </a:p>
          <a:p>
            <a:r>
              <a:rPr b="0" i="0" u="none"/>
              <a:t>Brownfield Software Development</a:t>
            </a:r>
          </a:p>
          <a:p>
            <a:r>
              <a:rPr b="0" i="0" u="none"/>
              <a:t>AI Implementation Workflow</a:t>
            </a:r>
          </a:p>
          <a:p>
            <a:r>
              <a:rPr b="0" i="0" u="none"/>
              <a:t>Building a Backlog</a:t>
            </a:r>
          </a:p>
          <a:p>
            <a:r>
              <a:rPr b="0" i="0" u="none"/>
              <a:t>Addressing Technical Debt</a:t>
            </a:r>
          </a:p>
          <a:p>
            <a:r>
              <a:rPr b="0" i="0" u="none"/>
              <a:t>Multi-Implementation Comparison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The AI Practitioner's Cheat Sheet</a:t>
            </a:r>
          </a:p>
        </p:txBody>
      </p:sp>
      <p:sp>
        <p:nvSpPr>
          <p:cNvPr id="3" name="Content Placeholder 2"/>
          <p:cNvSpPr>
            <a:spLocks noGrp="1"/>
          </p:cNvSpPr>
          <p:nvPr>
            <p:ph idx="1"/>
          </p:nvPr>
        </p:nvSpPr>
        <p:spPr/>
        <p:txBody>
          <a:bodyPr wrap="square">
            <a:normAutofit/>
          </a:bodyPr>
          <a:lstStyle/>
          <a:p>
            <a:pPr>
              <a:buNone/>
            </a:pPr>
            <a:r>
              <a:rPr sz="2800" b="0" i="0" u="none"/>
              <a:t>AI Practitioner Resources</a:t>
            </a:r>
            <a:endParaRPr sz="2800" b="0" i="0">
              <a:latin typeface="Arial"/>
            </a:endParaRPr>
          </a:p>
          <a:p>
            <a:pPr lvl="1"/>
            <a:r>
              <a:rPr sz="2800" b="0" i="0" u="none"/>
              <a:t>https://ai-resources.codemag.com</a:t>
            </a:r>
            <a:endParaRPr sz="2800" b="0" i="0">
              <a:latin typeface="Arial"/>
            </a:endParaRPr>
          </a:p>
          <a:p>
            <a:pPr lvl="1"/>
            <a:r>
              <a:rPr sz="2800" b="0" i="0" u="none"/>
              <a:t>AI curated collection of resources for AI-assisted software development</a:t>
            </a:r>
            <a:endParaRPr sz="2800" b="0" i="0">
              <a:latin typeface="Arial"/>
            </a:endParaRPr>
          </a:p>
          <a:p>
            <a:pPr lvl="1"/>
            <a:r>
              <a:rPr sz="2800" b="0" i="0" u="none"/>
              <a:t>AI-first</a:t>
            </a:r>
            <a:endParaRPr sz="2800" b="0" i="0">
              <a:latin typeface="Arial"/>
            </a:endParaRPr>
          </a:p>
          <a:p>
            <a:pPr lvl="1"/>
            <a:r>
              <a:rPr sz="2800" b="0" i="0" u="none"/>
              <a:t>Prompt-first</a:t>
            </a:r>
            <a:endParaRPr sz="2800" b="0" i="0">
              <a:latin typeface="Arial"/>
            </a:endParaRPr>
          </a:p>
          <a:p>
            <a:pPr lvl="1"/>
            <a:r>
              <a:rPr sz="2800" b="0" i="0" u="none"/>
              <a:t>Prompt-only</a:t>
            </a:r>
            <a:endParaRPr sz="2800" b="0" i="0">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r>
              <a:rPr b="0" i="0" u="none"/>
              <a:t>Intro</a:t>
            </a:r>
          </a:p>
          <a:p>
            <a:r>
              <a:rPr b="0" i="0" u="none"/>
              <a:t>AI Practitioner Resources</a:t>
            </a:r>
          </a:p>
          <a:p>
            <a:r>
              <a:rPr b="1" i="0" u="none"/>
              <a:t>▶ Brownfield Software Development</a:t>
            </a:r>
          </a:p>
          <a:p>
            <a:r>
              <a:rPr b="0" i="0" u="none"/>
              <a:t>AI Implementation Workflow</a:t>
            </a:r>
          </a:p>
          <a:p>
            <a:r>
              <a:rPr b="0" i="0" u="none"/>
              <a:t>Building a Backlog</a:t>
            </a:r>
          </a:p>
          <a:p>
            <a:r>
              <a:rPr b="0" i="0" u="none"/>
              <a:t>Addressing Technical Debt</a:t>
            </a:r>
          </a:p>
          <a:p>
            <a:r>
              <a:rPr b="0" i="0" u="none"/>
              <a:t>Multi-Implementation Comparison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Legacy Code Deserves Respect</a:t>
            </a:r>
          </a:p>
        </p:txBody>
      </p:sp>
      <p:sp>
        <p:nvSpPr>
          <p:cNvPr id="3" name="Content Placeholder 2"/>
          <p:cNvSpPr>
            <a:spLocks noGrp="1"/>
          </p:cNvSpPr>
          <p:nvPr>
            <p:ph idx="1"/>
          </p:nvPr>
        </p:nvSpPr>
        <p:spPr/>
        <p:txBody>
          <a:bodyPr wrap="square">
            <a:normAutofit/>
          </a:bodyPr>
          <a:lstStyle/>
          <a:p>
            <a:r>
              <a:rPr sz="2800" b="0" i="0" u="none"/>
              <a:t>No universally accepted definition</a:t>
            </a:r>
            <a:endParaRPr sz="2800" b="0" i="0">
              <a:latin typeface="Arial"/>
            </a:endParaRPr>
          </a:p>
          <a:p>
            <a:r>
              <a:rPr sz="2800" b="0" i="0" u="none"/>
              <a:t>Easier to define what is not legacy code</a:t>
            </a:r>
            <a:endParaRPr sz="2800" b="0" i="0">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What is Not Legacy Code</a:t>
            </a:r>
          </a:p>
        </p:txBody>
      </p:sp>
      <p:sp>
        <p:nvSpPr>
          <p:cNvPr id="3" name="Content Placeholder 2"/>
          <p:cNvSpPr>
            <a:spLocks noGrp="1"/>
          </p:cNvSpPr>
          <p:nvPr>
            <p:ph idx="1"/>
          </p:nvPr>
        </p:nvSpPr>
        <p:spPr/>
        <p:txBody>
          <a:bodyPr wrap="square">
            <a:normAutofit/>
          </a:bodyPr>
          <a:lstStyle/>
          <a:p>
            <a:r>
              <a:rPr sz="2800" b="0" i="0" u="none"/>
              <a:t>All codebases start as greenfield</a:t>
            </a:r>
            <a:endParaRPr sz="2800" b="0" i="0">
              <a:latin typeface="Arial"/>
            </a:endParaRPr>
          </a:p>
          <a:p>
            <a:r>
              <a:rPr sz="2800" b="0" i="0" u="none"/>
              <a:t>Few codebases are evergreen</a:t>
            </a:r>
            <a:endParaRPr sz="2800" b="0" i="0">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Codebases Degrade Over Time</a:t>
            </a:r>
          </a:p>
        </p:txBody>
      </p:sp>
      <p:sp>
        <p:nvSpPr>
          <p:cNvPr id="3" name="Content Placeholder 2"/>
          <p:cNvSpPr>
            <a:spLocks noGrp="1"/>
          </p:cNvSpPr>
          <p:nvPr>
            <p:ph idx="1"/>
          </p:nvPr>
        </p:nvSpPr>
        <p:spPr/>
        <p:txBody>
          <a:bodyPr wrap="square">
            <a:noAutofit/>
          </a:bodyPr>
          <a:lstStyle/>
          <a:p>
            <a:pPr>
              <a:buNone/>
            </a:pPr>
            <a:r>
              <a:rPr sz="2750" b="0" i="0" u="none"/>
              <a:t>Due to changes in:</a:t>
            </a:r>
            <a:endParaRPr sz="2750" b="0" i="0">
              <a:latin typeface="Arial"/>
            </a:endParaRPr>
          </a:p>
          <a:p>
            <a:pPr>
              <a:buNone/>
            </a:pPr>
            <a:endParaRPr sz="2750" b="0" i="0">
              <a:latin typeface="Arial"/>
            </a:endParaRPr>
          </a:p>
          <a:p>
            <a:r>
              <a:rPr sz="2750" b="0" i="0" u="none"/>
              <a:t>Technology</a:t>
            </a:r>
            <a:endParaRPr sz="2750" b="0" i="0">
              <a:latin typeface="Arial"/>
            </a:endParaRPr>
          </a:p>
          <a:p>
            <a:r>
              <a:rPr sz="2750" b="0" i="0" u="none"/>
              <a:t>Practices</a:t>
            </a:r>
            <a:endParaRPr sz="2750" b="0" i="0">
              <a:latin typeface="Arial"/>
            </a:endParaRPr>
          </a:p>
          <a:p>
            <a:r>
              <a:rPr sz="2750" b="0" i="0" u="none"/>
              <a:t>People</a:t>
            </a:r>
            <a:endParaRPr sz="2750" b="0" i="0">
              <a:latin typeface="Arial"/>
            </a:endParaRPr>
          </a:p>
          <a:p>
            <a:r>
              <a:rPr sz="2750" b="0" i="0" u="none"/>
              <a:t>Business rules</a:t>
            </a:r>
            <a:endParaRPr sz="2750" b="0" i="0">
              <a:latin typeface="Arial"/>
            </a:endParaRPr>
          </a:p>
          <a:p>
            <a:r>
              <a:rPr sz="2750" b="0" i="0" u="none"/>
              <a:t>Workflows</a:t>
            </a:r>
            <a:endParaRPr sz="2750" b="0" i="0">
              <a:latin typeface="Arial"/>
            </a:endParaRPr>
          </a:p>
          <a:p>
            <a:r>
              <a:rPr sz="2750" b="0" i="0" u="none"/>
              <a:t>Architecture</a:t>
            </a:r>
            <a:endParaRPr sz="2750" b="0" i="0">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What is Evergreen Code</a:t>
            </a:r>
          </a:p>
        </p:txBody>
      </p:sp>
      <p:sp>
        <p:nvSpPr>
          <p:cNvPr id="3" name="Content Placeholder 2"/>
          <p:cNvSpPr>
            <a:spLocks noGrp="1"/>
          </p:cNvSpPr>
          <p:nvPr>
            <p:ph idx="1"/>
          </p:nvPr>
        </p:nvSpPr>
        <p:spPr/>
        <p:txBody>
          <a:bodyPr wrap="square">
            <a:normAutofit/>
          </a:bodyPr>
          <a:lstStyle/>
          <a:p>
            <a:r>
              <a:rPr sz="2800" b="0" i="0" u="none"/>
              <a:t>Evergreen code actively resists technical debt</a:t>
            </a:r>
            <a:endParaRPr sz="2800" b="0" i="0">
              <a:latin typeface="Arial"/>
            </a:endParaRPr>
          </a:p>
          <a:p>
            <a:r>
              <a:rPr sz="2800" b="0" i="0" u="none"/>
              <a:t>Evergreen ≠ Legacy; everything else is</a:t>
            </a:r>
            <a:endParaRPr sz="2800" b="0" i="0">
              <a:latin typeface="Arial"/>
            </a:endParaRPr>
          </a:p>
          <a:p>
            <a:r>
              <a:rPr sz="2800" b="0" i="0" u="none"/>
              <a:t>Evergreen is the goal</a:t>
            </a:r>
            <a:endParaRPr sz="2800" b="0" i="0">
              <a:latin typeface="Arial"/>
            </a:endParaRPr>
          </a:p>
          <a:p>
            <a:pPr lvl="1"/>
            <a:r>
              <a:rPr sz="2800" b="0" i="0" u="none"/>
              <a:t>"If we were to write it all over again, it would turn out just like it is"</a:t>
            </a:r>
            <a:endParaRPr sz="2800" b="0" i="0">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4100" b="0" i="0" u="none"/>
              <a:t>Don't Break Production. Use a Flag.</a:t>
            </a:r>
          </a:p>
        </p:txBody>
      </p:sp>
      <p:sp>
        <p:nvSpPr>
          <p:cNvPr id="3" name="Content Placeholder 2"/>
          <p:cNvSpPr>
            <a:spLocks noGrp="1"/>
          </p:cNvSpPr>
          <p:nvPr>
            <p:ph idx="1"/>
          </p:nvPr>
        </p:nvSpPr>
        <p:spPr/>
        <p:txBody>
          <a:bodyPr wrap="square">
            <a:normAutofit/>
          </a:bodyPr>
          <a:lstStyle/>
          <a:p>
            <a:r>
              <a:rPr sz="2800" b="0" i="0" u="none" dirty="0"/>
              <a:t>Using feature flags to minimize risk</a:t>
            </a:r>
            <a:endParaRPr sz="2800" b="0" i="0" dirty="0">
              <a:latin typeface="Arial"/>
            </a:endParaRPr>
          </a:p>
          <a:p>
            <a:r>
              <a:rPr sz="2800" b="0" i="0" u="none" dirty="0"/>
              <a:t>As-Is and To-Be test suites</a:t>
            </a:r>
            <a:endParaRPr sz="2800" b="0" i="0" dirty="0">
              <a:latin typeface="Arial"/>
            </a:endParaRPr>
          </a:p>
          <a:p>
            <a:r>
              <a:rPr sz="2800" b="0" i="0" u="none" dirty="0"/>
              <a:t>Testing in production</a:t>
            </a:r>
            <a:endParaRPr sz="2800" b="0" i="0" dirty="0">
              <a:latin typeface="Arial"/>
            </a:endParaRPr>
          </a:p>
          <a:p>
            <a:r>
              <a:rPr sz="2800" b="0" i="0" u="none" dirty="0"/>
              <a:t>Retiring feature flags</a:t>
            </a:r>
            <a:endParaRPr sz="2800" b="0" i="0" dirty="0">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Essential Safety Measures</a:t>
            </a:r>
          </a:p>
        </p:txBody>
      </p:sp>
      <p:sp>
        <p:nvSpPr>
          <p:cNvPr id="3" name="Content Placeholder 2"/>
          <p:cNvSpPr>
            <a:spLocks noGrp="1"/>
          </p:cNvSpPr>
          <p:nvPr>
            <p:ph idx="1"/>
          </p:nvPr>
        </p:nvSpPr>
        <p:spPr/>
        <p:txBody>
          <a:bodyPr wrap="square">
            <a:normAutofit/>
          </a:bodyPr>
          <a:lstStyle/>
          <a:p>
            <a:r>
              <a:rPr sz="2800" b="0" i="0" u="none" dirty="0"/>
              <a:t>AI accelerates development, but it also accelerates mistakes</a:t>
            </a:r>
            <a:endParaRPr sz="2800" b="0" i="0" dirty="0">
              <a:latin typeface="Arial"/>
            </a:endParaRPr>
          </a:p>
          <a:p>
            <a:r>
              <a:rPr sz="2800" b="0" i="0" u="none" dirty="0"/>
              <a:t>Strong safety nets must be in place before introducing AI into a brownfield codebase</a:t>
            </a:r>
            <a:endParaRPr sz="2800" b="0" i="0" dirty="0">
              <a:latin typeface="Arial"/>
            </a:endParaRPr>
          </a:p>
          <a:p>
            <a:pPr>
              <a:buNone/>
            </a:pPr>
            <a:endParaRPr sz="2800" b="0" i="0" dirty="0">
              <a:latin typeface="Arial"/>
            </a:endParaRPr>
          </a:p>
          <a:p>
            <a:pPr>
              <a:buNone/>
            </a:pPr>
            <a:r>
              <a:rPr sz="2800" b="0" i="1" u="none" dirty="0"/>
              <a:t>These practices reduce risk, increase confidence, and protect production systems</a:t>
            </a:r>
            <a:endParaRPr sz="2800" b="0" i="1" dirty="0">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Backup &amp; Rollback Strategies</a:t>
            </a:r>
          </a:p>
        </p:txBody>
      </p:sp>
      <p:sp>
        <p:nvSpPr>
          <p:cNvPr id="3" name="Content Placeholder 2"/>
          <p:cNvSpPr>
            <a:spLocks noGrp="1"/>
          </p:cNvSpPr>
          <p:nvPr>
            <p:ph idx="1"/>
          </p:nvPr>
        </p:nvSpPr>
        <p:spPr/>
        <p:txBody>
          <a:bodyPr wrap="square">
            <a:normAutofit/>
          </a:bodyPr>
          <a:lstStyle/>
          <a:p>
            <a:r>
              <a:rPr sz="2800" b="0" i="0" u="none"/>
              <a:t>Use branching strategies that isolate AI-generated changes</a:t>
            </a:r>
            <a:endParaRPr sz="2800" b="0" i="0">
              <a:latin typeface="Arial"/>
            </a:endParaRPr>
          </a:p>
          <a:p>
            <a:r>
              <a:rPr sz="2800" b="0" i="0" u="none"/>
              <a:t>Commit early and often to create natural rollback points</a:t>
            </a:r>
            <a:endParaRPr sz="2800" b="0" i="0">
              <a:latin typeface="Arial"/>
            </a:endParaRPr>
          </a:p>
          <a:p>
            <a:r>
              <a:rPr sz="2800" b="0" i="0" u="none"/>
              <a:t>Archive snapshots of critical modules before modernization</a:t>
            </a:r>
            <a:endParaRPr sz="2800" b="0" i="0">
              <a:latin typeface="Arial"/>
            </a:endParaRPr>
          </a:p>
          <a:p>
            <a:r>
              <a:rPr sz="2800" b="0" i="0" u="none"/>
              <a:t>Ensure you can revert any AI-assisted change without drama</a:t>
            </a:r>
            <a:endParaRPr sz="2800" b="0" i="0">
              <a:latin typeface="Arial"/>
            </a:endParaRPr>
          </a:p>
          <a:p>
            <a:r>
              <a:rPr sz="2800" b="0" i="0" u="none"/>
              <a:t>Use feature flags to separate release from deployment</a:t>
            </a:r>
            <a:endParaRPr sz="2800" b="0" i="0">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Confidence Frameworks</a:t>
            </a:r>
          </a:p>
        </p:txBody>
      </p:sp>
      <p:sp>
        <p:nvSpPr>
          <p:cNvPr id="3" name="Content Placeholder 2"/>
          <p:cNvSpPr>
            <a:spLocks noGrp="1"/>
          </p:cNvSpPr>
          <p:nvPr>
            <p:ph idx="1"/>
          </p:nvPr>
        </p:nvSpPr>
        <p:spPr/>
        <p:txBody>
          <a:bodyPr wrap="square">
            <a:normAutofit lnSpcReduction="10000"/>
          </a:bodyPr>
          <a:lstStyle/>
          <a:p>
            <a:r>
              <a:rPr sz="2800" b="0" i="0" u="none" dirty="0"/>
              <a:t>Strong tests are the backbone of safe AI-assisted refactoring</a:t>
            </a:r>
            <a:endParaRPr sz="2800" b="0" i="0" dirty="0">
              <a:latin typeface="Arial"/>
            </a:endParaRPr>
          </a:p>
          <a:p>
            <a:r>
              <a:rPr sz="3200" b="0" i="0" u="none" dirty="0"/>
              <a:t>Unit, integration, and behavioral tests validate AI output</a:t>
            </a:r>
            <a:endParaRPr sz="3200" b="0" i="0" dirty="0">
              <a:latin typeface="Arial"/>
            </a:endParaRPr>
          </a:p>
          <a:p>
            <a:r>
              <a:rPr sz="3200" b="0" i="0" u="none" dirty="0"/>
              <a:t>Coverage matters less than signal quality</a:t>
            </a:r>
            <a:endParaRPr sz="3200" b="0" i="0" dirty="0">
              <a:latin typeface="Arial"/>
            </a:endParaRPr>
          </a:p>
          <a:p>
            <a:r>
              <a:rPr sz="3200" b="0" i="0" u="none" dirty="0"/>
              <a:t>Tests should detect regressions, not just assert happy paths</a:t>
            </a:r>
            <a:endParaRPr sz="3200" b="0" i="0" dirty="0">
              <a:latin typeface="Arial"/>
            </a:endParaRPr>
          </a:p>
          <a:p>
            <a:r>
              <a:rPr sz="3200" b="0" i="0" u="none" dirty="0"/>
              <a:t>If all of the test automation passes, how confident are you to deploy to production?</a:t>
            </a:r>
            <a:endParaRPr sz="3200" b="0" i="0" dirty="0">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Change Review Processes</a:t>
            </a:r>
          </a:p>
        </p:txBody>
      </p:sp>
      <p:sp>
        <p:nvSpPr>
          <p:cNvPr id="3" name="Content Placeholder 2"/>
          <p:cNvSpPr>
            <a:spLocks noGrp="1"/>
          </p:cNvSpPr>
          <p:nvPr>
            <p:ph idx="1"/>
          </p:nvPr>
        </p:nvSpPr>
        <p:spPr/>
        <p:txBody>
          <a:bodyPr wrap="square">
            <a:normAutofit/>
          </a:bodyPr>
          <a:lstStyle/>
          <a:p>
            <a:r>
              <a:rPr sz="2800" b="0" i="0" u="none"/>
              <a:t>Use human-in-the-loop validation for correctness and intent</a:t>
            </a:r>
            <a:endParaRPr sz="2800" b="0" i="0">
              <a:latin typeface="Arial"/>
            </a:endParaRPr>
          </a:p>
          <a:p>
            <a:r>
              <a:rPr sz="2800" b="0" i="0" u="none"/>
              <a:t>Require architectural review for structural changes</a:t>
            </a:r>
            <a:endParaRPr sz="2800" b="0" i="0">
              <a:latin typeface="Arial"/>
            </a:endParaRPr>
          </a:p>
          <a:p>
            <a:r>
              <a:rPr sz="2800" b="0" i="0" u="none"/>
              <a:t>Enforce standards through linters, static analysis, and policy checks</a:t>
            </a:r>
            <a:endParaRPr sz="2800" b="0" i="0">
              <a:latin typeface="Arial"/>
            </a:endParaRPr>
          </a:p>
          <a:p>
            <a:r>
              <a:rPr sz="2800" b="0" i="0" u="none"/>
              <a:t>Leverage AI to reduce the review burden</a:t>
            </a:r>
            <a:endParaRPr sz="2800" b="0" i="0">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4250" b="0" i="0" u="none"/>
              <a:t>Incremental Change Methodology</a:t>
            </a:r>
          </a:p>
        </p:txBody>
      </p:sp>
      <p:sp>
        <p:nvSpPr>
          <p:cNvPr id="3" name="Content Placeholder 2"/>
          <p:cNvSpPr>
            <a:spLocks noGrp="1"/>
          </p:cNvSpPr>
          <p:nvPr>
            <p:ph idx="1"/>
          </p:nvPr>
        </p:nvSpPr>
        <p:spPr/>
        <p:txBody>
          <a:bodyPr wrap="square">
            <a:normAutofit/>
          </a:bodyPr>
          <a:lstStyle/>
          <a:p>
            <a:r>
              <a:rPr sz="2800" b="0" i="0" u="none"/>
              <a:t>Break modernization into small, safe, reversible steps</a:t>
            </a:r>
            <a:endParaRPr sz="2800" b="0" i="0">
              <a:latin typeface="Arial"/>
            </a:endParaRPr>
          </a:p>
          <a:p>
            <a:r>
              <a:rPr sz="2800" b="0" i="0" u="none"/>
              <a:t>Avoid “big bang” refactors – they're brittle and risky</a:t>
            </a:r>
            <a:endParaRPr sz="2800" b="0" i="0">
              <a:latin typeface="Arial"/>
            </a:endParaRPr>
          </a:p>
          <a:p>
            <a:r>
              <a:rPr sz="2800" b="0" i="0" u="none"/>
              <a:t>Use iterative loops: propose → validate → refine → commit</a:t>
            </a:r>
            <a:endParaRPr sz="2800" b="0" i="0">
              <a:latin typeface="Arial"/>
            </a:endParaRPr>
          </a:p>
          <a:p>
            <a:r>
              <a:rPr sz="2800" b="0" i="0" u="none"/>
              <a:t>Let AI assist with each step rather than entire subsystems at once</a:t>
            </a:r>
            <a:endParaRPr sz="2800" b="0" i="0">
              <a:latin typeface="Arial"/>
            </a:endParaRPr>
          </a:p>
          <a:p>
            <a:pPr>
              <a:buNone/>
            </a:pPr>
            <a:endParaRPr sz="2800" b="0" i="0">
              <a:latin typeface="Arial"/>
            </a:endParaRPr>
          </a:p>
          <a:p>
            <a:pPr>
              <a:buNone/>
            </a:pPr>
            <a:r>
              <a:rPr sz="2800" b="0" i="0" u="none"/>
              <a:t>Working Effectively with Legacy Code | Hacker News Books</a:t>
            </a:r>
            <a:endParaRPr sz="2800" b="0" i="0">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Keeping Change Sets Small</a:t>
            </a:r>
          </a:p>
        </p:txBody>
      </p:sp>
      <p:sp>
        <p:nvSpPr>
          <p:cNvPr id="3" name="Content Placeholder 2"/>
          <p:cNvSpPr>
            <a:spLocks noGrp="1"/>
          </p:cNvSpPr>
          <p:nvPr>
            <p:ph idx="1"/>
          </p:nvPr>
        </p:nvSpPr>
        <p:spPr/>
        <p:txBody>
          <a:bodyPr wrap="square">
            <a:normAutofit/>
          </a:bodyPr>
          <a:lstStyle/>
          <a:p>
            <a:r>
              <a:rPr sz="2800" b="0" i="0" u="none" dirty="0"/>
              <a:t>Small diffs are easier to review and validate</a:t>
            </a:r>
            <a:endParaRPr sz="2800" b="0" i="0" dirty="0">
              <a:latin typeface="Arial"/>
            </a:endParaRPr>
          </a:p>
          <a:p>
            <a:r>
              <a:rPr sz="2800" b="0" i="0" u="none" dirty="0"/>
              <a:t>Small changes reduce merge conflicts and regression risk</a:t>
            </a:r>
            <a:endParaRPr sz="2800" b="0" i="0" dirty="0">
              <a:latin typeface="Arial"/>
            </a:endParaRPr>
          </a:p>
          <a:p>
            <a:r>
              <a:rPr sz="2800" b="0" i="0" u="none" dirty="0"/>
              <a:t>AI should be instructed to limit scope intentionally</a:t>
            </a:r>
            <a:endParaRPr sz="2800" b="0" i="0" dirty="0">
              <a:latin typeface="Arial"/>
            </a:endParaRPr>
          </a:p>
          <a:p>
            <a:r>
              <a:rPr sz="2800" b="0" i="0" u="none" dirty="0"/>
              <a:t>Small changes accumulate into large improvements over time</a:t>
            </a:r>
            <a:endParaRPr sz="2800" b="0" i="0" dirty="0">
              <a:latin typeface="Arial"/>
            </a:endParaRPr>
          </a:p>
          <a:p>
            <a:endParaRPr lang="en-US" sz="2800" b="0" i="0" u="none" dirty="0"/>
          </a:p>
          <a:p>
            <a:pPr marL="0" indent="0">
              <a:buNone/>
            </a:pPr>
            <a:r>
              <a:rPr sz="2800" b="0" i="1" u="none" dirty="0"/>
              <a:t>Beware: AI can produce huge amounts of code quickly</a:t>
            </a:r>
            <a:endParaRPr sz="2800" b="0" i="1" dirty="0">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Building Safety Nets</a:t>
            </a:r>
          </a:p>
        </p:txBody>
      </p:sp>
      <p:sp>
        <p:nvSpPr>
          <p:cNvPr id="3" name="Content Placeholder 2"/>
          <p:cNvSpPr>
            <a:spLocks noGrp="1"/>
          </p:cNvSpPr>
          <p:nvPr>
            <p:ph idx="1"/>
          </p:nvPr>
        </p:nvSpPr>
        <p:spPr/>
        <p:txBody>
          <a:bodyPr wrap="square">
            <a:normAutofit/>
          </a:bodyPr>
          <a:lstStyle/>
          <a:p>
            <a:r>
              <a:rPr sz="2800" b="0" i="0" u="none"/>
              <a:t>Protecting brownfield codebases</a:t>
            </a:r>
            <a:endParaRPr sz="2800" b="0" i="0">
              <a:latin typeface="Arial"/>
            </a:endParaRPr>
          </a:p>
          <a:p>
            <a:r>
              <a:rPr sz="2800" b="0" i="0" u="none"/>
              <a:t>Leveraging AI code reviews</a:t>
            </a:r>
            <a:endParaRPr sz="2800" b="0" i="0">
              <a:latin typeface="Arial"/>
            </a:endParaRPr>
          </a:p>
          <a:p>
            <a:r>
              <a:rPr sz="2800" b="0" i="0" u="none"/>
              <a:t>Effective human code reviews</a:t>
            </a:r>
            <a:endParaRPr sz="2800" b="0" i="0">
              <a:latin typeface="Arial"/>
            </a:endParaRPr>
          </a:p>
          <a:p>
            <a:r>
              <a:rPr sz="2800" b="0" i="0" u="none"/>
              <a:t>The role of test automation</a:t>
            </a:r>
            <a:endParaRPr sz="2800" b="0" i="0">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Protecting Brownfield Codebases</a:t>
            </a:r>
          </a:p>
        </p:txBody>
      </p:sp>
      <p:sp>
        <p:nvSpPr>
          <p:cNvPr id="3" name="Content Placeholder 2"/>
          <p:cNvSpPr>
            <a:spLocks noGrp="1"/>
          </p:cNvSpPr>
          <p:nvPr>
            <p:ph idx="1"/>
          </p:nvPr>
        </p:nvSpPr>
        <p:spPr/>
        <p:txBody>
          <a:bodyPr wrap="square">
            <a:noAutofit/>
          </a:bodyPr>
          <a:lstStyle/>
          <a:p>
            <a:pPr>
              <a:buNone/>
            </a:pPr>
            <a:r>
              <a:rPr sz="2050" b="0" i="0" u="none"/>
              <a:t>Key Practices</a:t>
            </a:r>
            <a:endParaRPr sz="2050" b="0" i="0">
              <a:latin typeface="Arial"/>
            </a:endParaRPr>
          </a:p>
          <a:p>
            <a:pPr lvl="1"/>
            <a:r>
              <a:rPr sz="2050" b="0" i="0" u="none"/>
              <a:t>Preserve existing behavior unless intentionally changed</a:t>
            </a:r>
            <a:endParaRPr sz="2050" b="0" i="0">
              <a:latin typeface="Arial"/>
            </a:endParaRPr>
          </a:p>
          <a:p>
            <a:pPr lvl="1"/>
            <a:r>
              <a:rPr sz="2050" b="0" i="0" u="none"/>
              <a:t>Avoid large, risky refactors</a:t>
            </a:r>
            <a:endParaRPr sz="2050" b="0" i="0">
              <a:latin typeface="Arial"/>
            </a:endParaRPr>
          </a:p>
          <a:p>
            <a:pPr lvl="1"/>
            <a:r>
              <a:rPr sz="2050" b="0" i="0" u="none"/>
              <a:t>Use incremental modernization</a:t>
            </a:r>
            <a:endParaRPr sz="2050" b="0" i="0">
              <a:latin typeface="Arial"/>
            </a:endParaRPr>
          </a:p>
          <a:p>
            <a:pPr lvl="1"/>
            <a:r>
              <a:rPr sz="2050" b="0" i="0" u="none"/>
              <a:t>Maintain architectural boundaries</a:t>
            </a:r>
            <a:endParaRPr sz="2050" b="0" i="0">
              <a:latin typeface="Arial"/>
            </a:endParaRPr>
          </a:p>
          <a:p>
            <a:pPr lvl="1"/>
            <a:r>
              <a:rPr sz="2050" b="0" i="0" u="none"/>
              <a:t>Document every AI-assisted change</a:t>
            </a:r>
            <a:endParaRPr sz="2050" b="0" i="0">
              <a:latin typeface="Arial"/>
            </a:endParaRPr>
          </a:p>
          <a:p>
            <a:pPr>
              <a:buNone/>
            </a:pPr>
            <a:endParaRPr sz="2050" b="0" i="0">
              <a:latin typeface="Arial"/>
            </a:endParaRPr>
          </a:p>
          <a:p>
            <a:pPr>
              <a:buNone/>
            </a:pPr>
            <a:r>
              <a:rPr sz="2050" b="0" i="0" u="none"/>
              <a:t>Why it matters</a:t>
            </a:r>
            <a:endParaRPr sz="2050" b="0" i="0">
              <a:latin typeface="Arial"/>
            </a:endParaRPr>
          </a:p>
          <a:p>
            <a:pPr lvl="1"/>
            <a:r>
              <a:rPr sz="2050" b="0" i="0" u="none"/>
              <a:t>Brownfield systems run the business</a:t>
            </a:r>
            <a:endParaRPr sz="2050" b="0" i="0">
              <a:latin typeface="Arial"/>
            </a:endParaRPr>
          </a:p>
          <a:p>
            <a:pPr lvl="1"/>
            <a:r>
              <a:rPr sz="2050" b="0" i="0" u="none"/>
              <a:t>Stability is more important than novelty</a:t>
            </a:r>
            <a:endParaRPr sz="2050" b="0" i="0">
              <a:latin typeface="Arial"/>
            </a:endParaRPr>
          </a:p>
          <a:p>
            <a:pPr lvl="1"/>
            <a:r>
              <a:rPr sz="2050" b="0" i="0" u="none"/>
              <a:t>Safety nets reduce fear and increase confidence</a:t>
            </a:r>
            <a:endParaRPr sz="2050" b="0" i="0">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Leveraging AI Code Reviews</a:t>
            </a:r>
          </a:p>
        </p:txBody>
      </p:sp>
      <p:sp>
        <p:nvSpPr>
          <p:cNvPr id="3" name="Content Placeholder 2"/>
          <p:cNvSpPr>
            <a:spLocks noGrp="1"/>
          </p:cNvSpPr>
          <p:nvPr>
            <p:ph idx="1"/>
          </p:nvPr>
        </p:nvSpPr>
        <p:spPr/>
        <p:txBody>
          <a:bodyPr wrap="square">
            <a:noAutofit/>
          </a:bodyPr>
          <a:lstStyle/>
          <a:p>
            <a:pPr>
              <a:buNone/>
            </a:pPr>
            <a:r>
              <a:rPr sz="2050" b="0" i="0" u="none"/>
              <a:t>AI can assist by:</a:t>
            </a:r>
            <a:endParaRPr sz="2050" b="0" i="0">
              <a:latin typeface="Arial"/>
            </a:endParaRPr>
          </a:p>
          <a:p>
            <a:pPr lvl="1"/>
            <a:r>
              <a:rPr sz="2050" b="0" i="0" u="none"/>
              <a:t>Highlighting risky changes</a:t>
            </a:r>
            <a:endParaRPr sz="2050" b="0" i="0">
              <a:latin typeface="Arial"/>
            </a:endParaRPr>
          </a:p>
          <a:p>
            <a:pPr lvl="1"/>
            <a:r>
              <a:rPr sz="2050" b="0" i="0" u="none"/>
              <a:t>Detecting missing tests</a:t>
            </a:r>
            <a:endParaRPr sz="2050" b="0" i="0">
              <a:latin typeface="Arial"/>
            </a:endParaRPr>
          </a:p>
          <a:p>
            <a:pPr lvl="1"/>
            <a:r>
              <a:rPr sz="2050" b="0" i="0" u="none"/>
              <a:t>Identifying architectural violations</a:t>
            </a:r>
            <a:endParaRPr sz="2050" b="0" i="0">
              <a:latin typeface="Arial"/>
            </a:endParaRPr>
          </a:p>
          <a:p>
            <a:pPr lvl="1"/>
            <a:r>
              <a:rPr sz="2050" b="0" i="0" u="none"/>
              <a:t>Suggesting safer alternatives</a:t>
            </a:r>
            <a:endParaRPr sz="2050" b="0" i="0">
              <a:latin typeface="Arial"/>
            </a:endParaRPr>
          </a:p>
          <a:p>
            <a:pPr lvl="1"/>
            <a:r>
              <a:rPr sz="2050" b="0" i="0" u="none"/>
              <a:t>Surfacing potential regressions</a:t>
            </a:r>
            <a:endParaRPr sz="2050" b="0" i="0">
              <a:latin typeface="Arial"/>
            </a:endParaRPr>
          </a:p>
          <a:p>
            <a:pPr>
              <a:buNone/>
            </a:pPr>
            <a:endParaRPr sz="2050" b="0" i="0">
              <a:latin typeface="Arial"/>
            </a:endParaRPr>
          </a:p>
          <a:p>
            <a:pPr>
              <a:buNone/>
            </a:pPr>
            <a:r>
              <a:rPr sz="2050" b="0" i="0" u="none"/>
              <a:t>Benefits</a:t>
            </a:r>
            <a:endParaRPr sz="2050" b="0" i="0">
              <a:latin typeface="Arial"/>
            </a:endParaRPr>
          </a:p>
          <a:p>
            <a:pPr lvl="1"/>
            <a:r>
              <a:rPr sz="2050" b="0" i="0" u="none"/>
              <a:t>Faster feedback loops</a:t>
            </a:r>
            <a:endParaRPr sz="2050" b="0" i="0">
              <a:latin typeface="Arial"/>
            </a:endParaRPr>
          </a:p>
          <a:p>
            <a:pPr lvl="1"/>
            <a:r>
              <a:rPr sz="2050" b="0" i="0" u="none"/>
              <a:t>More consistent review quality</a:t>
            </a:r>
            <a:endParaRPr sz="2050" b="0" i="0">
              <a:latin typeface="Arial"/>
            </a:endParaRPr>
          </a:p>
          <a:p>
            <a:pPr lvl="1"/>
            <a:r>
              <a:rPr sz="2050" b="0" i="0" u="none"/>
              <a:t>Early detection of drift</a:t>
            </a:r>
            <a:endParaRPr sz="2050" b="0" i="0">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Effective Human Code Reviews</a:t>
            </a:r>
          </a:p>
        </p:txBody>
      </p:sp>
      <p:sp>
        <p:nvSpPr>
          <p:cNvPr id="3" name="Content Placeholder 2"/>
          <p:cNvSpPr>
            <a:spLocks noGrp="1"/>
          </p:cNvSpPr>
          <p:nvPr>
            <p:ph idx="1"/>
          </p:nvPr>
        </p:nvSpPr>
        <p:spPr/>
        <p:txBody>
          <a:bodyPr wrap="square">
            <a:noAutofit/>
          </a:bodyPr>
          <a:lstStyle/>
          <a:p>
            <a:pPr>
              <a:buNone/>
            </a:pPr>
            <a:r>
              <a:rPr sz="2400" b="0" i="0" u="none"/>
              <a:t>Human reviewers focus on:</a:t>
            </a:r>
            <a:endParaRPr sz="2400" b="0" i="0">
              <a:latin typeface="Arial"/>
            </a:endParaRPr>
          </a:p>
          <a:p>
            <a:pPr lvl="1"/>
            <a:r>
              <a:rPr b="0" i="0" u="none"/>
              <a:t>Intent and correctness</a:t>
            </a:r>
            <a:endParaRPr b="0" i="0">
              <a:latin typeface="Arial"/>
            </a:endParaRPr>
          </a:p>
          <a:p>
            <a:pPr lvl="1"/>
            <a:r>
              <a:rPr b="0" i="0" u="none"/>
              <a:t>Architectural alignment</a:t>
            </a:r>
            <a:endParaRPr b="0" i="0">
              <a:latin typeface="Arial"/>
            </a:endParaRPr>
          </a:p>
          <a:p>
            <a:pPr lvl="1"/>
            <a:r>
              <a:rPr b="0" i="0" u="none"/>
              <a:t>Business logic validation</a:t>
            </a:r>
            <a:endParaRPr b="0" i="0">
              <a:latin typeface="Arial"/>
            </a:endParaRPr>
          </a:p>
          <a:p>
            <a:pPr lvl="1"/>
            <a:r>
              <a:rPr b="0" i="0" u="none"/>
              <a:t>Risk assessment</a:t>
            </a:r>
            <a:endParaRPr b="0" i="0">
              <a:latin typeface="Arial"/>
            </a:endParaRPr>
          </a:p>
          <a:p>
            <a:pPr lvl="1"/>
            <a:r>
              <a:rPr b="0" i="0" u="none"/>
              <a:t>Ensuring changes are incremental and reversible</a:t>
            </a:r>
            <a:endParaRPr b="0" i="0">
              <a:latin typeface="Arial"/>
            </a:endParaRPr>
          </a:p>
          <a:p>
            <a:pPr lvl="1"/>
            <a:r>
              <a:rPr b="0" i="0" u="none"/>
              <a:t>Best practices</a:t>
            </a:r>
            <a:endParaRPr b="0" i="0">
              <a:latin typeface="Arial"/>
            </a:endParaRPr>
          </a:p>
          <a:p>
            <a:pPr lvl="1"/>
            <a:r>
              <a:rPr b="0" i="0" u="none"/>
              <a:t>Review small change sets</a:t>
            </a:r>
            <a:endParaRPr b="0" i="0">
              <a:latin typeface="Arial"/>
            </a:endParaRPr>
          </a:p>
          <a:p>
            <a:pPr lvl="1"/>
            <a:r>
              <a:rPr b="0" i="0" u="none"/>
              <a:t>Ask for context when missing</a:t>
            </a:r>
            <a:endParaRPr b="0" i="0">
              <a:latin typeface="Arial"/>
            </a:endParaRPr>
          </a:p>
          <a:p>
            <a:pPr lvl="1"/>
            <a:r>
              <a:rPr b="0" i="0" u="none"/>
              <a:t>Validate AI-generated code with skepticism and curiosity</a:t>
            </a:r>
            <a:endParaRPr b="0" i="0">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The Role of Test Automation</a:t>
            </a:r>
          </a:p>
        </p:txBody>
      </p:sp>
      <p:sp>
        <p:nvSpPr>
          <p:cNvPr id="3" name="Content Placeholder 2"/>
          <p:cNvSpPr>
            <a:spLocks noGrp="1"/>
          </p:cNvSpPr>
          <p:nvPr>
            <p:ph idx="1"/>
          </p:nvPr>
        </p:nvSpPr>
        <p:spPr/>
        <p:txBody>
          <a:bodyPr wrap="square">
            <a:noAutofit/>
          </a:bodyPr>
          <a:lstStyle/>
          <a:p>
            <a:pPr>
              <a:buNone/>
            </a:pPr>
            <a:r>
              <a:rPr sz="2050" b="0" i="0" u="none"/>
              <a:t>Test automation provides:</a:t>
            </a:r>
            <a:endParaRPr sz="2050" b="0" i="0">
              <a:latin typeface="Arial"/>
            </a:endParaRPr>
          </a:p>
          <a:p>
            <a:pPr lvl="1"/>
            <a:r>
              <a:rPr sz="2050" b="0" i="0" u="none"/>
              <a:t>Behavioral guarantees</a:t>
            </a:r>
            <a:endParaRPr sz="2050" b="0" i="0">
              <a:latin typeface="Arial"/>
            </a:endParaRPr>
          </a:p>
          <a:p>
            <a:pPr lvl="1"/>
            <a:r>
              <a:rPr sz="2050" b="0" i="0" u="none"/>
              <a:t>Regression detection</a:t>
            </a:r>
            <a:endParaRPr sz="2050" b="0" i="0">
              <a:latin typeface="Arial"/>
            </a:endParaRPr>
          </a:p>
          <a:p>
            <a:pPr lvl="1"/>
            <a:r>
              <a:rPr sz="2050" b="0" i="0" u="none"/>
              <a:t>Confidence for modernization</a:t>
            </a:r>
            <a:endParaRPr sz="2050" b="0" i="0">
              <a:latin typeface="Arial"/>
            </a:endParaRPr>
          </a:p>
          <a:p>
            <a:pPr lvl="1"/>
            <a:r>
              <a:rPr sz="2050" b="0" i="0" u="none"/>
              <a:t>Guardrails for AI-assisted refactoring</a:t>
            </a:r>
            <a:endParaRPr sz="2050" b="0" i="0">
              <a:latin typeface="Arial"/>
            </a:endParaRPr>
          </a:p>
          <a:p>
            <a:pPr>
              <a:buNone/>
            </a:pPr>
            <a:endParaRPr sz="2050" b="0" i="0">
              <a:latin typeface="Arial"/>
            </a:endParaRPr>
          </a:p>
          <a:p>
            <a:pPr>
              <a:buNone/>
            </a:pPr>
            <a:r>
              <a:rPr sz="2050" b="0" i="0" u="none"/>
              <a:t>Types of tests</a:t>
            </a:r>
            <a:endParaRPr sz="2050" b="0" i="0">
              <a:latin typeface="Arial"/>
            </a:endParaRPr>
          </a:p>
          <a:p>
            <a:pPr lvl="1"/>
            <a:r>
              <a:rPr sz="2050" b="0" i="0" u="none"/>
              <a:t>Unit tests</a:t>
            </a:r>
            <a:endParaRPr sz="2050" b="0" i="0">
              <a:latin typeface="Arial"/>
            </a:endParaRPr>
          </a:p>
          <a:p>
            <a:pPr lvl="1"/>
            <a:r>
              <a:rPr sz="2050" b="0" i="0" u="none"/>
              <a:t>Integration tests</a:t>
            </a:r>
            <a:endParaRPr sz="2050" b="0" i="0">
              <a:latin typeface="Arial"/>
            </a:endParaRPr>
          </a:p>
          <a:p>
            <a:pPr lvl="1"/>
            <a:r>
              <a:rPr sz="2050" b="0" i="0" u="none"/>
              <a:t>End-to-end tests</a:t>
            </a:r>
            <a:endParaRPr sz="2050" b="0" i="0">
              <a:latin typeface="Arial"/>
            </a:endParaRPr>
          </a:p>
          <a:p>
            <a:pPr lvl="1"/>
            <a:r>
              <a:rPr sz="2050" b="0" i="0" u="none"/>
              <a:t>Snapshot and contract tests</a:t>
            </a:r>
            <a:endParaRPr sz="2050" b="0" i="0">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4350" b="0" i="0" u="none"/>
              <a:t>Exercise: Building the Safety Nets</a:t>
            </a:r>
          </a:p>
        </p:txBody>
      </p:sp>
      <p:sp>
        <p:nvSpPr>
          <p:cNvPr id="3" name="Content Placeholder 2"/>
          <p:cNvSpPr>
            <a:spLocks noGrp="1"/>
          </p:cNvSpPr>
          <p:nvPr>
            <p:ph sz="half" idx="1"/>
          </p:nvPr>
        </p:nvSpPr>
        <p:spPr/>
        <p:txBody>
          <a:bodyPr wrap="square">
            <a:normAutofit lnSpcReduction="10000"/>
          </a:bodyPr>
          <a:lstStyle/>
          <a:p>
            <a:pPr>
              <a:buNone/>
            </a:pPr>
            <a:r>
              <a:rPr sz="1400" b="0" i="0" u="none" dirty="0"/>
              <a:t>Objectives</a:t>
            </a:r>
            <a:endParaRPr sz="1400" b="0" i="0" dirty="0">
              <a:latin typeface="Arial"/>
            </a:endParaRPr>
          </a:p>
          <a:p>
            <a:pPr>
              <a:buNone/>
            </a:pPr>
            <a:endParaRPr sz="1400" b="0" i="0" dirty="0">
              <a:latin typeface="Arial"/>
            </a:endParaRPr>
          </a:p>
          <a:p>
            <a:r>
              <a:rPr sz="1400" b="0" i="0" u="none" dirty="0"/>
              <a:t>Identify missing safety nets in a brownfield system</a:t>
            </a:r>
            <a:endParaRPr sz="1400" b="0" i="0" dirty="0">
              <a:latin typeface="Arial"/>
            </a:endParaRPr>
          </a:p>
          <a:p>
            <a:r>
              <a:rPr sz="1400" b="0" i="0" u="none" dirty="0"/>
              <a:t>Strengthen protection using AI and human review practices</a:t>
            </a:r>
            <a:endParaRPr sz="1400" b="0" i="0" dirty="0">
              <a:latin typeface="Arial"/>
            </a:endParaRPr>
          </a:p>
          <a:p>
            <a:r>
              <a:rPr sz="1400" b="0" i="0" u="none" dirty="0"/>
              <a:t>Apply test automation principles</a:t>
            </a:r>
            <a:endParaRPr sz="1400" b="0" i="0" dirty="0">
              <a:latin typeface="Arial"/>
            </a:endParaRPr>
          </a:p>
          <a:p>
            <a:r>
              <a:rPr sz="1400" b="0" i="0" u="none" dirty="0"/>
              <a:t>Produce actionable improvements</a:t>
            </a:r>
            <a:endParaRPr sz="1400" b="0" i="0" dirty="0">
              <a:latin typeface="Arial"/>
            </a:endParaRPr>
          </a:p>
          <a:p>
            <a:pPr>
              <a:buNone/>
            </a:pPr>
            <a:endParaRPr sz="1400" b="0" i="0" dirty="0">
              <a:latin typeface="Arial"/>
            </a:endParaRPr>
          </a:p>
          <a:p>
            <a:pPr>
              <a:buNone/>
            </a:pPr>
            <a:r>
              <a:rPr sz="1400" b="0" i="0" u="none" dirty="0"/>
              <a:t>Activities</a:t>
            </a:r>
            <a:endParaRPr sz="1400" b="0" i="0" dirty="0">
              <a:latin typeface="Arial"/>
            </a:endParaRPr>
          </a:p>
          <a:p>
            <a:pPr>
              <a:buNone/>
            </a:pPr>
            <a:endParaRPr sz="1400" b="0" i="0" dirty="0">
              <a:latin typeface="Arial"/>
            </a:endParaRPr>
          </a:p>
          <a:p>
            <a:pPr>
              <a:buNone/>
            </a:pPr>
            <a:r>
              <a:rPr sz="1400" b="0" i="0" u="none" dirty="0"/>
              <a:t>1. Select a brownfield module or file</a:t>
            </a:r>
            <a:endParaRPr sz="1400" b="0" i="0" dirty="0">
              <a:latin typeface="Arial"/>
            </a:endParaRPr>
          </a:p>
          <a:p>
            <a:pPr>
              <a:buNone/>
            </a:pPr>
            <a:r>
              <a:rPr sz="1400" b="0" i="0" u="none" dirty="0"/>
              <a:t>2. Identify existing safety nets (tests, reviews, documentation)</a:t>
            </a:r>
            <a:endParaRPr sz="1400" b="0" i="0" dirty="0">
              <a:latin typeface="Arial"/>
            </a:endParaRPr>
          </a:p>
          <a:p>
            <a:pPr>
              <a:buNone/>
            </a:pPr>
            <a:r>
              <a:rPr sz="1400" b="0" i="0" u="none" dirty="0"/>
              <a:t>3. Ask AI to identify missing or weak safety nets</a:t>
            </a:r>
            <a:endParaRPr sz="1400" b="0" i="0" dirty="0">
              <a:latin typeface="Arial"/>
            </a:endParaRPr>
          </a:p>
        </p:txBody>
      </p:sp>
      <p:sp>
        <p:nvSpPr>
          <p:cNvPr id="4" name="Content Placeholder 3">
            <a:extLst>
              <a:ext uri="{FF2B5EF4-FFF2-40B4-BE49-F238E27FC236}">
                <a16:creationId xmlns:a16="http://schemas.microsoft.com/office/drawing/2014/main" id="{69CF654B-CEFD-A723-97FB-9880C9357832}"/>
              </a:ext>
            </a:extLst>
          </p:cNvPr>
          <p:cNvSpPr>
            <a:spLocks noGrp="1"/>
          </p:cNvSpPr>
          <p:nvPr>
            <p:ph sz="half" idx="2"/>
          </p:nvPr>
        </p:nvSpPr>
        <p:spPr/>
        <p:txBody>
          <a:bodyPr>
            <a:normAutofit lnSpcReduction="10000"/>
          </a:bodyPr>
          <a:lstStyle/>
          <a:p>
            <a:pPr>
              <a:buNone/>
            </a:pPr>
            <a:r>
              <a:rPr lang="en-US" sz="1600" dirty="0"/>
              <a:t>4. Strengthen by adding tests, drafting review checklists, documenting architectural constraints</a:t>
            </a:r>
            <a:endParaRPr lang="en-US" sz="1600" dirty="0">
              <a:latin typeface="Arial"/>
            </a:endParaRPr>
          </a:p>
          <a:p>
            <a:pPr>
              <a:buNone/>
            </a:pPr>
            <a:r>
              <a:rPr lang="en-US" sz="1600" dirty="0"/>
              <a:t>5. Share findings with a partner for validation</a:t>
            </a:r>
            <a:endParaRPr lang="en-US" sz="1600" dirty="0">
              <a:latin typeface="Arial"/>
            </a:endParaRPr>
          </a:p>
          <a:p>
            <a:pPr>
              <a:buNone/>
            </a:pPr>
            <a:endParaRPr lang="en-US" sz="1600" dirty="0">
              <a:latin typeface="Arial"/>
            </a:endParaRPr>
          </a:p>
          <a:p>
            <a:pPr>
              <a:buNone/>
            </a:pPr>
            <a:r>
              <a:rPr lang="en-US" sz="1600" dirty="0"/>
              <a:t>Success Criteria: missing nets identified, improvements are safe and incremental, coverage or clarity improved, review and documentation guardrails are strengthened</a:t>
            </a:r>
            <a:endParaRPr lang="en-US" sz="1600" dirty="0">
              <a:latin typeface="Arial"/>
            </a:endParaRPr>
          </a:p>
          <a:p>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r>
              <a:rPr b="0" i="0" u="none"/>
              <a:t>Intro</a:t>
            </a:r>
          </a:p>
          <a:p>
            <a:r>
              <a:rPr b="0" i="0" u="none"/>
              <a:t>AI Practitioner Resources</a:t>
            </a:r>
          </a:p>
          <a:p>
            <a:r>
              <a:rPr b="0" i="0" u="none"/>
              <a:t>Brownfield Software Development</a:t>
            </a:r>
          </a:p>
          <a:p>
            <a:r>
              <a:rPr b="1" i="0" u="none"/>
              <a:t>▶ AI Implementation Workflow</a:t>
            </a:r>
          </a:p>
          <a:p>
            <a:r>
              <a:rPr b="0" i="0" u="none"/>
              <a:t>Building a Backlog</a:t>
            </a:r>
          </a:p>
          <a:p>
            <a:r>
              <a:rPr b="0" i="0" u="none"/>
              <a:t>Addressing Technical Debt</a:t>
            </a:r>
          </a:p>
          <a:p>
            <a:r>
              <a:rPr b="0" i="0" u="none"/>
              <a:t>Multi-Implementation Comparison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AI Implementation Workflow</a:t>
            </a:r>
          </a:p>
        </p:txBody>
      </p:sp>
      <p:sp>
        <p:nvSpPr>
          <p:cNvPr id="3" name="Subtitle 2"/>
          <p:cNvSpPr>
            <a:spLocks noGrp="1"/>
          </p:cNvSpPr>
          <p:nvPr>
            <p:ph type="subTitle" idx="1"/>
          </p:nvPr>
        </p:nvSpPr>
        <p:spPr/>
        <p:txBody>
          <a:bodyPr wrap="square">
            <a:normAutofit/>
          </a:bodyPr>
          <a:lstStyle/>
          <a:p>
            <a:pPr>
              <a:buNone/>
            </a:pPr>
            <a:r>
              <a:rPr b="0" i="0" u="none"/>
              <a:t>Don't Let the AI Drive Before You Check the Mirrors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AI Implementation Workflow</a:t>
            </a:r>
          </a:p>
        </p:txBody>
      </p:sp>
      <p:sp>
        <p:nvSpPr>
          <p:cNvPr id="3" name="Content Placeholder 2"/>
          <p:cNvSpPr>
            <a:spLocks noGrp="1"/>
          </p:cNvSpPr>
          <p:nvPr>
            <p:ph idx="1"/>
          </p:nvPr>
        </p:nvSpPr>
        <p:spPr/>
        <p:txBody>
          <a:bodyPr wrap="square">
            <a:normAutofit/>
          </a:bodyPr>
          <a:lstStyle/>
          <a:p>
            <a:r>
              <a:rPr sz="2800" b="0" i="0" u="none"/>
              <a:t>Getting AI implementation proposals</a:t>
            </a:r>
            <a:endParaRPr sz="2800" b="0" i="0">
              <a:latin typeface="Arial"/>
            </a:endParaRPr>
          </a:p>
          <a:p>
            <a:r>
              <a:rPr sz="2800" b="0" i="0" u="none"/>
              <a:t>Verifying AI understanding of issues</a:t>
            </a:r>
            <a:endParaRPr sz="2800" b="0" i="0">
              <a:latin typeface="Arial"/>
            </a:endParaRPr>
          </a:p>
          <a:p>
            <a:r>
              <a:rPr sz="2800" b="0" i="0" u="none"/>
              <a:t>Starting implementation execution</a:t>
            </a:r>
            <a:endParaRPr sz="2800" b="0" i="0">
              <a:latin typeface="Arial"/>
            </a:endParaRPr>
          </a:p>
          <a:p>
            <a:r>
              <a:rPr sz="2800" b="0" i="0" u="none"/>
              <a:t>Implementation monitoring</a:t>
            </a:r>
            <a:endParaRPr sz="2800" b="0" i="0">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800" b="0" i="0" u="none"/>
              <a:t>Best Practice: Request a Proposal First</a:t>
            </a:r>
          </a:p>
        </p:txBody>
      </p:sp>
      <p:sp>
        <p:nvSpPr>
          <p:cNvPr id="3" name="Content Placeholder 2"/>
          <p:cNvSpPr>
            <a:spLocks noGrp="1"/>
          </p:cNvSpPr>
          <p:nvPr>
            <p:ph idx="1"/>
          </p:nvPr>
        </p:nvSpPr>
        <p:spPr/>
        <p:txBody>
          <a:bodyPr wrap="square">
            <a:noAutofit/>
          </a:bodyPr>
          <a:lstStyle/>
          <a:p>
            <a:pPr>
              <a:buNone/>
            </a:pPr>
            <a:r>
              <a:rPr sz="2600" b="0" i="0" u="none"/>
              <a:t>1. Request Proposal First</a:t>
            </a:r>
            <a:endParaRPr sz="2600" b="0" i="0">
              <a:latin typeface="Arial"/>
            </a:endParaRPr>
          </a:p>
          <a:p>
            <a:pPr lvl="1"/>
            <a:r>
              <a:rPr sz="2600" b="0" i="0" u="none"/>
              <a:t>"Propose implementation to address issue"</a:t>
            </a:r>
            <a:endParaRPr sz="2600" b="0" i="0">
              <a:latin typeface="Arial"/>
            </a:endParaRPr>
          </a:p>
          <a:p>
            <a:pPr lvl="1"/>
            <a:r>
              <a:rPr sz="2600" b="0" i="0" u="none"/>
              <a:t>Review what AI thinks it will do</a:t>
            </a:r>
            <a:endParaRPr sz="2600" b="0" i="0">
              <a:latin typeface="Arial"/>
            </a:endParaRPr>
          </a:p>
          <a:p>
            <a:pPr lvl="1"/>
            <a:r>
              <a:rPr sz="2600" b="0" i="0" u="none"/>
              <a:t>Verify understanding before execution</a:t>
            </a:r>
            <a:endParaRPr sz="2600" b="0" i="0">
              <a:latin typeface="Arial"/>
            </a:endParaRPr>
          </a:p>
          <a:p>
            <a:pPr>
              <a:buNone/>
            </a:pPr>
            <a:endParaRPr sz="2600" b="0" i="0">
              <a:latin typeface="Arial"/>
            </a:endParaRPr>
          </a:p>
          <a:p>
            <a:pPr>
              <a:buNone/>
            </a:pPr>
            <a:r>
              <a:rPr sz="2600" b="0" i="0" u="none"/>
              <a:t>2. Review Proposed Fix</a:t>
            </a:r>
            <a:endParaRPr sz="2600" b="0" i="0">
              <a:latin typeface="Arial"/>
            </a:endParaRPr>
          </a:p>
          <a:p>
            <a:pPr lvl="1"/>
            <a:r>
              <a:rPr sz="2600" b="0" i="0" u="none"/>
              <a:t>AI reads issue description</a:t>
            </a:r>
            <a:endParaRPr sz="2600" b="0" i="0">
              <a:latin typeface="Arial"/>
            </a:endParaRPr>
          </a:p>
          <a:p>
            <a:pPr lvl="1"/>
            <a:r>
              <a:rPr sz="2600" b="0" i="0" u="none"/>
              <a:t>AI proposes specific fix</a:t>
            </a:r>
            <a:endParaRPr sz="2600" b="0" i="0">
              <a:latin typeface="Arial"/>
            </a:endParaRPr>
          </a:p>
          <a:p>
            <a:pPr lvl="1"/>
            <a:r>
              <a:rPr sz="2600" b="0" i="0" u="none"/>
              <a:t>Human reviews for completeness</a:t>
            </a:r>
            <a:endParaRPr sz="2600" b="0" i="0">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Identify Gaps Before Execution</a:t>
            </a:r>
          </a:p>
        </p:txBody>
      </p:sp>
      <p:sp>
        <p:nvSpPr>
          <p:cNvPr id="3" name="Content Placeholder 2"/>
          <p:cNvSpPr>
            <a:spLocks noGrp="1"/>
          </p:cNvSpPr>
          <p:nvPr>
            <p:ph idx="1"/>
          </p:nvPr>
        </p:nvSpPr>
        <p:spPr/>
        <p:txBody>
          <a:bodyPr wrap="square">
            <a:normAutofit/>
          </a:bodyPr>
          <a:lstStyle/>
          <a:p>
            <a:pPr>
              <a:buNone/>
            </a:pPr>
            <a:r>
              <a:rPr sz="2800" b="0" i="0" u="none"/>
              <a:t>3. Identify Gaps</a:t>
            </a:r>
            <a:endParaRPr sz="2800" b="0" i="0">
              <a:latin typeface="Arial"/>
            </a:endParaRPr>
          </a:p>
          <a:p>
            <a:pPr lvl="1"/>
            <a:r>
              <a:rPr sz="2800" b="0" i="0" u="none"/>
              <a:t>Check for missing steps</a:t>
            </a:r>
            <a:endParaRPr sz="2800" b="0" i="0">
              <a:latin typeface="Arial"/>
            </a:endParaRPr>
          </a:p>
          <a:p>
            <a:pPr lvl="1"/>
            <a:r>
              <a:rPr sz="2800" b="0" i="0" u="none"/>
              <a:t>Add requirements before proceeding</a:t>
            </a:r>
            <a:endParaRPr sz="2800" b="0" i="0">
              <a:latin typeface="Arial"/>
            </a:endParaRPr>
          </a:p>
          <a:p>
            <a:pPr>
              <a:buNone/>
            </a:pPr>
            <a:endParaRPr sz="2800" b="0" i="0">
              <a:latin typeface="Arial"/>
            </a:endParaRPr>
          </a:p>
          <a:p>
            <a:pPr>
              <a:buNone/>
            </a:pPr>
            <a:r>
              <a:rPr sz="2800" b="0" i="0" u="none"/>
              <a:t>4. Proceed with Implementation</a:t>
            </a:r>
            <a:endParaRPr sz="2800" b="0" i="0">
              <a:latin typeface="Arial"/>
            </a:endParaRPr>
          </a:p>
          <a:p>
            <a:pPr lvl="1"/>
            <a:r>
              <a:rPr sz="2800" b="0" i="0" u="none"/>
              <a:t>"Go ahead with the implementation"</a:t>
            </a:r>
            <a:endParaRPr sz="2800" b="0" i="0">
              <a:latin typeface="Arial"/>
            </a:endParaRPr>
          </a:p>
          <a:p>
            <a:pPr lvl="1"/>
            <a:r>
              <a:rPr sz="2800" b="0" i="0" u="none"/>
              <a:t>Can reference conversation on different machine later</a:t>
            </a:r>
            <a:endParaRPr sz="2800" b="0" i="0">
              <a:latin typeface="Arial"/>
            </a:endParaRPr>
          </a:p>
          <a:p>
            <a:pPr lvl="1"/>
            <a:r>
              <a:rPr sz="2800" b="0" i="0" u="none"/>
              <a:t>Save implementation plan as reference</a:t>
            </a:r>
            <a:endParaRPr sz="2800" b="0" i="0">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4100" b="0" i="0" u="none"/>
              <a:t>Compare Multiple Implementations</a:t>
            </a:r>
          </a:p>
        </p:txBody>
      </p:sp>
      <p:sp>
        <p:nvSpPr>
          <p:cNvPr id="3" name="Content Placeholder 2"/>
          <p:cNvSpPr>
            <a:spLocks noGrp="1"/>
          </p:cNvSpPr>
          <p:nvPr>
            <p:ph idx="1"/>
          </p:nvPr>
        </p:nvSpPr>
        <p:spPr/>
        <p:txBody>
          <a:bodyPr wrap="square">
            <a:normAutofit/>
          </a:bodyPr>
          <a:lstStyle/>
          <a:p>
            <a:r>
              <a:rPr sz="2800" b="0" i="0" u="none"/>
              <a:t>Evaluate pros and cons of different approaches</a:t>
            </a:r>
            <a:endParaRPr sz="2800" b="0" i="0">
              <a:latin typeface="Arial"/>
            </a:endParaRPr>
          </a:p>
          <a:p>
            <a:r>
              <a:rPr sz="2800" b="0" i="0" u="none"/>
              <a:t>Compare different solutions to the same problem</a:t>
            </a:r>
            <a:endParaRPr sz="2800" b="0" i="0">
              <a:latin typeface="Arial"/>
            </a:endParaRPr>
          </a:p>
          <a:p>
            <a:r>
              <a:rPr sz="2800" b="0" i="0" u="none"/>
              <a:t>Find and assess alternatives before choosing</a:t>
            </a:r>
            <a:endParaRPr sz="2800" b="0" i="0">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4000" b="0" i="0" u="none"/>
              <a:t>Effective Prompts for Technical Debt</a:t>
            </a:r>
          </a:p>
        </p:txBody>
      </p:sp>
      <p:sp>
        <p:nvSpPr>
          <p:cNvPr id="3" name="Subtitle 2"/>
          <p:cNvSpPr>
            <a:spLocks noGrp="1"/>
          </p:cNvSpPr>
          <p:nvPr>
            <p:ph type="subTitle" idx="1"/>
          </p:nvPr>
        </p:nvSpPr>
        <p:spPr/>
        <p:txBody>
          <a:bodyPr wrap="square">
            <a:normAutofit/>
          </a:bodyPr>
          <a:lstStyle/>
          <a:p>
            <a:pPr>
              <a:buNone/>
            </a:pPr>
            <a:r>
              <a:rPr b="0" i="0" u="none"/>
              <a:t>The Art of Complaining Productively to Your AI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4000" b="0" i="0" u="none"/>
              <a:t>Effective Prompts for Technical Debt</a:t>
            </a:r>
          </a:p>
        </p:txBody>
      </p:sp>
      <p:sp>
        <p:nvSpPr>
          <p:cNvPr id="3" name="Content Placeholder 2"/>
          <p:cNvSpPr>
            <a:spLocks noGrp="1"/>
          </p:cNvSpPr>
          <p:nvPr>
            <p:ph idx="1"/>
          </p:nvPr>
        </p:nvSpPr>
        <p:spPr/>
        <p:txBody>
          <a:bodyPr wrap="square">
            <a:normAutofit/>
          </a:bodyPr>
          <a:lstStyle/>
          <a:p>
            <a:r>
              <a:rPr sz="2800" b="0" i="0" u="none"/>
              <a:t>Focus: prompts, issues, and Copilot workflow</a:t>
            </a:r>
            <a:endParaRPr sz="2800" b="0" i="0">
              <a:latin typeface="Arial"/>
            </a:endParaRPr>
          </a:p>
          <a:p>
            <a:r>
              <a:rPr sz="2800" b="0" i="0" u="none"/>
              <a:t>Goal: turn vague cleanup into executable work</a:t>
            </a:r>
            <a:endParaRPr sz="2800" b="0" i="0">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100" b="0" i="0" u="none"/>
              <a:t>What a Strong Technical Debt Prompt Includes</a:t>
            </a:r>
          </a:p>
        </p:txBody>
      </p:sp>
      <p:sp>
        <p:nvSpPr>
          <p:cNvPr id="3" name="Content Placeholder 2"/>
          <p:cNvSpPr>
            <a:spLocks noGrp="1"/>
          </p:cNvSpPr>
          <p:nvPr>
            <p:ph idx="1"/>
          </p:nvPr>
        </p:nvSpPr>
        <p:spPr/>
        <p:txBody>
          <a:bodyPr wrap="square">
            <a:noAutofit/>
          </a:bodyPr>
          <a:lstStyle/>
          <a:p>
            <a:pPr>
              <a:buNone/>
            </a:pPr>
            <a:r>
              <a:rPr sz="2450" b="0" i="0" u="none"/>
              <a:t>Every prompt should define the work clearly</a:t>
            </a:r>
            <a:endParaRPr sz="2450" b="0" i="0">
              <a:latin typeface="Arial"/>
            </a:endParaRPr>
          </a:p>
          <a:p>
            <a:pPr>
              <a:buNone/>
            </a:pPr>
            <a:endParaRPr sz="2450" b="0" i="0">
              <a:latin typeface="Arial"/>
            </a:endParaRPr>
          </a:p>
          <a:p>
            <a:r>
              <a:rPr sz="2450" b="0" i="0" u="none"/>
              <a:t>Debt description - the concrete problem to fix</a:t>
            </a:r>
            <a:endParaRPr sz="2450" b="0" i="0">
              <a:latin typeface="Arial"/>
            </a:endParaRPr>
          </a:p>
          <a:p>
            <a:r>
              <a:rPr sz="2450" b="0" i="0" u="none"/>
              <a:t>Constraints - architecture, guardrails, and non-negotiables</a:t>
            </a:r>
            <a:endParaRPr sz="2450" b="0" i="0">
              <a:latin typeface="Arial"/>
            </a:endParaRPr>
          </a:p>
          <a:p>
            <a:r>
              <a:rPr sz="2450" b="0" i="0" u="none"/>
              <a:t>Expected outcome - what success looks like</a:t>
            </a:r>
            <a:endParaRPr sz="2450" b="0" i="0">
              <a:latin typeface="Arial"/>
            </a:endParaRPr>
          </a:p>
          <a:p>
            <a:r>
              <a:rPr sz="2450" b="0" i="0" u="none"/>
              <a:t>Test updates - how validation must change</a:t>
            </a:r>
            <a:endParaRPr sz="2450" b="0" i="0">
              <a:latin typeface="Arial"/>
            </a:endParaRPr>
          </a:p>
          <a:p>
            <a:r>
              <a:rPr sz="2450" b="0" i="0" u="none"/>
              <a:t>Documentation updates - what artifacts must be refreshed</a:t>
            </a:r>
            <a:endParaRPr sz="2450" b="0" i="0">
              <a:latin typeface="Arial"/>
            </a:endParaRPr>
          </a:p>
          <a:p>
            <a:r>
              <a:rPr sz="2450" b="0" i="0" u="none"/>
              <a:t>Provenance requirements - what must be logged beyond instructions</a:t>
            </a:r>
            <a:endParaRPr sz="2450" b="0" i="0">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Why Structured Prompts Matter</a:t>
            </a:r>
          </a:p>
        </p:txBody>
      </p:sp>
      <p:sp>
        <p:nvSpPr>
          <p:cNvPr id="3" name="Content Placeholder 2"/>
          <p:cNvSpPr>
            <a:spLocks noGrp="1"/>
          </p:cNvSpPr>
          <p:nvPr>
            <p:ph idx="1"/>
          </p:nvPr>
        </p:nvSpPr>
        <p:spPr/>
        <p:txBody>
          <a:bodyPr wrap="square">
            <a:noAutofit/>
          </a:bodyPr>
          <a:lstStyle/>
          <a:p>
            <a:pPr>
              <a:buNone/>
            </a:pPr>
            <a:r>
              <a:rPr sz="2650" b="0" i="0" u="none"/>
              <a:t>Better prompts create better remediation workflows</a:t>
            </a:r>
            <a:endParaRPr sz="2650" b="0" i="0">
              <a:latin typeface="Arial"/>
            </a:endParaRPr>
          </a:p>
          <a:p>
            <a:pPr>
              <a:buNone/>
            </a:pPr>
            <a:endParaRPr sz="2650" b="0" i="0">
              <a:latin typeface="Arial"/>
            </a:endParaRPr>
          </a:p>
          <a:p>
            <a:r>
              <a:rPr sz="2650" b="0" i="0" u="none"/>
              <a:t>Faster remediation because the target is explicit</a:t>
            </a:r>
            <a:endParaRPr sz="2650" b="0" i="0">
              <a:latin typeface="Arial"/>
            </a:endParaRPr>
          </a:p>
          <a:p>
            <a:r>
              <a:rPr sz="2650" b="0" i="0" u="none"/>
              <a:t>More consistent fixes across contributors and sessions</a:t>
            </a:r>
            <a:endParaRPr sz="2650" b="0" i="0">
              <a:latin typeface="Arial"/>
            </a:endParaRPr>
          </a:p>
          <a:p>
            <a:r>
              <a:rPr sz="2650" b="0" i="0" u="none"/>
              <a:t>Less manual follow-up after the first prompt</a:t>
            </a:r>
            <a:endParaRPr sz="2650" b="0" i="0">
              <a:latin typeface="Arial"/>
            </a:endParaRPr>
          </a:p>
          <a:p>
            <a:r>
              <a:rPr sz="2650" b="0" i="0" u="none"/>
              <a:t>A standardized approach for recurring debt categories</a:t>
            </a:r>
            <a:endParaRPr sz="2650" b="0" i="0">
              <a:latin typeface="Arial"/>
            </a:endParaRPr>
          </a:p>
          <a:p>
            <a:pPr>
              <a:buNone/>
            </a:pPr>
            <a:endParaRPr sz="2650" b="0" i="0">
              <a:latin typeface="Arial"/>
            </a:endParaRPr>
          </a:p>
          <a:p>
            <a:pPr>
              <a:buNone/>
            </a:pPr>
            <a:r>
              <a:rPr sz="2650" b="0" i="0" u="none"/>
              <a:t>Better prompt quality means less cleanup after the cleanup work</a:t>
            </a:r>
            <a:endParaRPr sz="2650" b="0" i="0">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500" b="0" i="0" u="none"/>
              <a:t>GitHub Integration - Direct Issue Creation</a:t>
            </a:r>
          </a:p>
        </p:txBody>
      </p:sp>
      <p:sp>
        <p:nvSpPr>
          <p:cNvPr id="3" name="Content Placeholder 2"/>
          <p:cNvSpPr>
            <a:spLocks noGrp="1"/>
          </p:cNvSpPr>
          <p:nvPr>
            <p:ph idx="1"/>
          </p:nvPr>
        </p:nvSpPr>
        <p:spPr/>
        <p:txBody>
          <a:bodyPr wrap="square">
            <a:normAutofit fontScale="92500"/>
          </a:bodyPr>
          <a:lstStyle/>
          <a:p>
            <a:pPr>
              <a:buNone/>
            </a:pPr>
            <a:r>
              <a:rPr sz="3600" b="0" i="0" u="none" dirty="0"/>
              <a:t>Copilot can help move prompt content into GitHub issues</a:t>
            </a:r>
            <a:endParaRPr sz="3600" b="0" i="0" dirty="0">
              <a:latin typeface="Consolas"/>
            </a:endParaRPr>
          </a:p>
          <a:p>
            <a:pPr>
              <a:buNone/>
            </a:pPr>
            <a:endParaRPr sz="3600" b="0" i="0" dirty="0">
              <a:latin typeface="Consolas"/>
            </a:endParaRPr>
          </a:p>
          <a:p>
            <a:r>
              <a:rPr sz="3600" b="0" i="0" u="none" dirty="0"/>
              <a:t>Example command: </a:t>
            </a:r>
            <a:r>
              <a:rPr sz="3600" b="0" i="0" u="none" dirty="0">
                <a:latin typeface="Consolas"/>
              </a:rPr>
              <a:t>"Post issue #6 to the GitHub owner/repository-name"</a:t>
            </a:r>
            <a:endParaRPr sz="3600" b="0" i="0" dirty="0">
              <a:latin typeface="Consolas"/>
            </a:endParaRPr>
          </a:p>
          <a:p>
            <a:r>
              <a:rPr sz="3600" b="0" i="0" u="none" dirty="0"/>
              <a:t>Copilot can create the issue directly in GitHub</a:t>
            </a:r>
            <a:endParaRPr sz="3600" b="0" i="0" dirty="0">
              <a:latin typeface="Consolas"/>
            </a:endParaRPr>
          </a:p>
          <a:p>
            <a:r>
              <a:rPr sz="3600" b="0" i="0" u="none" dirty="0"/>
              <a:t>Labels, assignees, and metadata can be included</a:t>
            </a:r>
            <a:endParaRPr sz="3600" b="0" i="0" dirty="0">
              <a:latin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Assigning an Issue to @copilot</a:t>
            </a:r>
          </a:p>
        </p:txBody>
      </p:sp>
      <p:sp>
        <p:nvSpPr>
          <p:cNvPr id="3" name="Content Placeholder 2"/>
          <p:cNvSpPr>
            <a:spLocks noGrp="1"/>
          </p:cNvSpPr>
          <p:nvPr>
            <p:ph idx="1"/>
          </p:nvPr>
        </p:nvSpPr>
        <p:spPr/>
        <p:txBody>
          <a:bodyPr wrap="square">
            <a:noAutofit/>
          </a:bodyPr>
          <a:lstStyle/>
          <a:p>
            <a:pPr>
              <a:buNone/>
            </a:pPr>
            <a:r>
              <a:rPr sz="1400" b="0" i="0" u="none"/>
              <a:t>Paid plan workflow for autonomous implementation</a:t>
            </a:r>
            <a:endParaRPr sz="1400" b="0" i="0">
              <a:latin typeface="Consolas"/>
            </a:endParaRPr>
          </a:p>
          <a:p>
            <a:pPr>
              <a:buNone/>
            </a:pPr>
            <a:endParaRPr sz="1400" b="0" i="0">
              <a:latin typeface="Consolas"/>
            </a:endParaRPr>
          </a:p>
          <a:p>
            <a:pPr>
              <a:buNone/>
            </a:pPr>
            <a:r>
              <a:rPr sz="1400" b="0" i="0" u="none"/>
              <a:t>1. Create the issue in GitHub</a:t>
            </a:r>
            <a:endParaRPr sz="1400" b="0" i="0">
              <a:latin typeface="Consolas"/>
            </a:endParaRPr>
          </a:p>
          <a:p>
            <a:pPr>
              <a:buNone/>
            </a:pPr>
            <a:r>
              <a:rPr sz="1400" b="0" i="0" u="none"/>
              <a:t>2. Assign the issue to </a:t>
            </a:r>
            <a:r>
              <a:rPr sz="1400" b="0" i="0" u="none">
                <a:latin typeface="Consolas"/>
              </a:rPr>
              <a:t>@copilot</a:t>
            </a:r>
            <a:endParaRPr sz="1400" b="0" i="0">
              <a:latin typeface="Consolas"/>
            </a:endParaRPr>
          </a:p>
          <a:p>
            <a:pPr>
              <a:buNone/>
            </a:pPr>
            <a:r>
              <a:rPr sz="1400" b="0" i="0" u="none"/>
              <a:t>3. Copilot creates a work-in-progress branch</a:t>
            </a:r>
            <a:endParaRPr sz="1400" b="0" i="0">
              <a:latin typeface="Consolas"/>
            </a:endParaRPr>
          </a:p>
          <a:p>
            <a:pPr>
              <a:buNone/>
            </a:pPr>
            <a:r>
              <a:rPr sz="1400" b="0" i="0" u="none"/>
              <a:t>4. Copilot implements the requested solution</a:t>
            </a:r>
            <a:endParaRPr sz="1400" b="0" i="0">
              <a:latin typeface="Consolas"/>
            </a:endParaRPr>
          </a:p>
          <a:p>
            <a:pPr>
              <a:buNone/>
            </a:pPr>
            <a:r>
              <a:rPr sz="1400" b="0" i="0" u="none"/>
              <a:t>5. Notifications report ongoing progress</a:t>
            </a:r>
            <a:endParaRPr sz="1400" b="0" i="0">
              <a:latin typeface="Consolas"/>
            </a:endParaRPr>
          </a:p>
          <a:p>
            <a:pPr>
              <a:buNone/>
            </a:pPr>
            <a:r>
              <a:rPr sz="1400" b="0" i="0" u="none"/>
              <a:t>6. Copilot opens a pull request when complete</a:t>
            </a:r>
            <a:endParaRPr sz="1400" b="0" i="0">
              <a:latin typeface="Consolas"/>
            </a:endParaRPr>
          </a:p>
          <a:p>
            <a:pPr>
              <a:buNone/>
            </a:pPr>
            <a:endParaRPr sz="1400" b="0" i="0">
              <a:latin typeface="Consolas"/>
            </a:endParaRPr>
          </a:p>
          <a:p>
            <a:pPr>
              <a:buNone/>
            </a:pPr>
            <a:r>
              <a:rPr sz="1400" b="0" i="0" u="none"/>
              <a:t>Requirements</a:t>
            </a:r>
            <a:endParaRPr sz="1400" b="0" i="0">
              <a:latin typeface="Consolas"/>
            </a:endParaRPr>
          </a:p>
          <a:p>
            <a:pPr>
              <a:buNone/>
            </a:pPr>
            <a:endParaRPr sz="1400" b="0" i="0">
              <a:latin typeface="Consolas"/>
            </a:endParaRPr>
          </a:p>
          <a:p>
            <a:r>
              <a:rPr sz="1400" b="0" i="0" u="none"/>
              <a:t>Enterprise license or Pro Plus subscription</a:t>
            </a:r>
            <a:endParaRPr sz="1400" b="0" i="0">
              <a:latin typeface="Consolas"/>
            </a:endParaRPr>
          </a:p>
          <a:p>
            <a:r>
              <a:rPr sz="1400" b="0" i="0" u="none"/>
              <a:t>Enterprise workflow requires the repository in the correct org</a:t>
            </a:r>
            <a:endParaRPr sz="1400" b="0" i="0">
              <a:latin typeface="Consola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150" b="0" i="0" u="none"/>
              <a:t>Reusable Prompt Template for Technical Debt</a:t>
            </a:r>
          </a:p>
        </p:txBody>
      </p:sp>
      <p:sp>
        <p:nvSpPr>
          <p:cNvPr id="3" name="Content Placeholder 2"/>
          <p:cNvSpPr>
            <a:spLocks noGrp="1"/>
          </p:cNvSpPr>
          <p:nvPr>
            <p:ph idx="1"/>
          </p:nvPr>
        </p:nvSpPr>
        <p:spPr/>
        <p:txBody>
          <a:bodyPr wrap="square">
            <a:normAutofit/>
          </a:bodyPr>
          <a:lstStyle/>
          <a:p>
            <a:pPr>
              <a:buNone/>
            </a:pPr>
            <a:r>
              <a:rPr sz="1800" b="0" i="0" u="none"/>
              <a:t>Use a structure like this for repeatable results</a:t>
            </a:r>
            <a:endParaRPr sz="1800" b="0" i="0">
              <a:latin typeface="Consolas"/>
            </a:endParaRPr>
          </a:p>
          <a:p>
            <a:pPr>
              <a:buNone/>
            </a:pPr>
            <a:endParaRPr sz="1800" b="0" i="0">
              <a:latin typeface="Consolas"/>
            </a:endParaRPr>
          </a:p>
          <a:p>
            <a:pPr>
              <a:buNone/>
            </a:pPr>
            <a:r>
              <a:rPr sz="1800" b="0" i="0">
                <a:latin typeface="Consolas"/>
              </a:rPr>
              <a:t>Fix the following technical debt: [describe the problem].</a:t>
            </a:r>
          </a:p>
          <a:p>
            <a:pPr>
              <a:buNone/>
            </a:pPr>
            <a:r>
              <a:rPr sz="1800" b="0" i="0">
                <a:latin typeface="Consolas"/>
              </a:rPr>
              <a:t>Constraints: [architecture rules, guardrails, scope limits].</a:t>
            </a:r>
          </a:p>
          <a:p>
            <a:pPr>
              <a:buNone/>
            </a:pPr>
            <a:r>
              <a:rPr sz="1800" b="0" i="0">
                <a:latin typeface="Consolas"/>
              </a:rPr>
              <a:t>Expected outcome: [what should be true when done].</a:t>
            </a:r>
          </a:p>
          <a:p>
            <a:pPr>
              <a:buNone/>
            </a:pPr>
            <a:r>
              <a:rPr sz="1800" b="0" i="0">
                <a:latin typeface="Consolas"/>
              </a:rPr>
              <a:t>Tests to update: [unit, integration, regression, CI expectations].</a:t>
            </a:r>
          </a:p>
          <a:p>
            <a:pPr>
              <a:buNone/>
            </a:pPr>
            <a:r>
              <a:rPr sz="1800" b="0" i="0">
                <a:latin typeface="Consolas"/>
              </a:rPr>
              <a:t>Documentation to update: [README, docs, comments, diagrams].</a:t>
            </a:r>
          </a:p>
          <a:p>
            <a:pPr>
              <a:buNone/>
            </a:pPr>
            <a:r>
              <a:rPr sz="1800" b="0" i="0">
                <a:latin typeface="Consolas"/>
              </a:rPr>
              <a:t>Provenance required: [logs, metadata, linked artifacts].</a:t>
            </a:r>
          </a:p>
          <a:p>
            <a:pPr>
              <a:buNone/>
            </a:pPr>
            <a:endParaRPr sz="1800" b="0" i="0">
              <a:latin typeface="Consolas"/>
            </a:endParaRPr>
          </a:p>
          <a:p>
            <a:r>
              <a:rPr sz="1800" b="0" i="0" u="none"/>
              <a:t>Treat this as a starting template, then specialize by debt type</a:t>
            </a:r>
            <a:endParaRPr sz="1800" b="0" i="0">
              <a:latin typeface="Consola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Key Takeaways</a:t>
            </a:r>
          </a:p>
        </p:txBody>
      </p:sp>
      <p:sp>
        <p:nvSpPr>
          <p:cNvPr id="3" name="Content Placeholder 2"/>
          <p:cNvSpPr>
            <a:spLocks noGrp="1"/>
          </p:cNvSpPr>
          <p:nvPr>
            <p:ph idx="1"/>
          </p:nvPr>
        </p:nvSpPr>
        <p:spPr/>
        <p:txBody>
          <a:bodyPr wrap="square">
            <a:normAutofit/>
          </a:bodyPr>
          <a:lstStyle/>
          <a:p>
            <a:r>
              <a:rPr sz="3200" b="0" i="0" u="none" dirty="0"/>
              <a:t>Strong prompts define the debt, constraints, outcomes, tests, docs, and provenance</a:t>
            </a:r>
            <a:endParaRPr sz="3200" b="0" i="0" dirty="0">
              <a:latin typeface="Consolas"/>
            </a:endParaRPr>
          </a:p>
          <a:p>
            <a:r>
              <a:rPr sz="3200" b="0" i="0" u="none" dirty="0"/>
              <a:t>Assigning to </a:t>
            </a:r>
            <a:r>
              <a:rPr sz="3200" b="0" i="0" u="none" dirty="0">
                <a:latin typeface="Consolas"/>
              </a:rPr>
              <a:t>@copilot</a:t>
            </a:r>
            <a:r>
              <a:rPr sz="3200" b="0" i="0" u="none" dirty="0"/>
              <a:t> can automate branch, progress, and PR creation</a:t>
            </a:r>
            <a:endParaRPr sz="3200" b="0" i="0" dirty="0">
              <a:latin typeface="Consolas"/>
            </a:endParaRPr>
          </a:p>
          <a:p>
            <a:r>
              <a:rPr sz="3200" b="0" i="0" u="none" dirty="0"/>
              <a:t>Technical debt becomes easier to manage when prompts and issues work together</a:t>
            </a:r>
            <a:endParaRPr sz="3200" b="0" i="0" dirty="0">
              <a:latin typeface="Consolas"/>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r>
              <a:rPr b="0" i="0" u="none"/>
              <a:t>Intro</a:t>
            </a:r>
          </a:p>
          <a:p>
            <a:r>
              <a:rPr b="0" i="0" u="none"/>
              <a:t>AI Practitioner Resources</a:t>
            </a:r>
          </a:p>
          <a:p>
            <a:r>
              <a:rPr b="0" i="0" u="none"/>
              <a:t>Brownfield Software Development</a:t>
            </a:r>
          </a:p>
          <a:p>
            <a:r>
              <a:rPr b="0" i="0" u="none"/>
              <a:t>AI Implementation Workflow</a:t>
            </a:r>
          </a:p>
          <a:p>
            <a:r>
              <a:rPr b="1" i="0" u="none"/>
              <a:t>▶ Building a Backlog</a:t>
            </a:r>
          </a:p>
          <a:p>
            <a:r>
              <a:rPr b="0" i="0" u="none"/>
              <a:t>Addressing Technical Debt</a:t>
            </a:r>
          </a:p>
          <a:p>
            <a:r>
              <a:rPr b="0" i="0" u="none"/>
              <a:t>Multi-Implementation Comparison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Conformance and Gap Analysis</a:t>
            </a:r>
          </a:p>
        </p:txBody>
      </p:sp>
      <p:sp>
        <p:nvSpPr>
          <p:cNvPr id="3" name="Subtitle 2"/>
          <p:cNvSpPr>
            <a:spLocks noGrp="1"/>
          </p:cNvSpPr>
          <p:nvPr>
            <p:ph type="subTitle" idx="1"/>
          </p:nvPr>
        </p:nvSpPr>
        <p:spPr/>
        <p:txBody>
          <a:bodyPr wrap="square">
            <a:normAutofit/>
          </a:bodyPr>
          <a:lstStyle/>
          <a:p>
            <a:pPr>
              <a:buNone/>
            </a:pPr>
            <a:r>
              <a:rPr b="0" i="0" u="none"/>
              <a:t>The Architectural Rules Lawyer Is In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Conformance &amp; Gap Analysis</a:t>
            </a:r>
          </a:p>
        </p:txBody>
      </p:sp>
      <p:sp>
        <p:nvSpPr>
          <p:cNvPr id="3" name="Content Placeholder 2"/>
          <p:cNvSpPr>
            <a:spLocks noGrp="1"/>
          </p:cNvSpPr>
          <p:nvPr>
            <p:ph idx="1"/>
          </p:nvPr>
        </p:nvSpPr>
        <p:spPr/>
        <p:txBody>
          <a:bodyPr wrap="square">
            <a:normAutofit/>
          </a:bodyPr>
          <a:lstStyle/>
          <a:p>
            <a:r>
              <a:rPr sz="2800" b="0" i="0" u="none"/>
              <a:t>Comparing implementations against instruction files</a:t>
            </a:r>
            <a:endParaRPr sz="2800" b="0" i="0">
              <a:latin typeface="Arial"/>
            </a:endParaRPr>
          </a:p>
          <a:p>
            <a:r>
              <a:rPr sz="2800" b="0" i="0" u="none"/>
              <a:t>Automated issue generation from conformance gaps</a:t>
            </a:r>
            <a:endParaRPr sz="2800" b="0" i="0">
              <a:latin typeface="Arial"/>
            </a:endParaRPr>
          </a:p>
          <a:p>
            <a:r>
              <a:rPr sz="2800" b="0" i="0" u="none"/>
              <a:t>Prioritizing technical debt remediation</a:t>
            </a:r>
            <a:endParaRPr sz="2800" b="0" i="0">
              <a:latin typeface="Arial"/>
            </a:endParaRPr>
          </a:p>
          <a:p>
            <a:r>
              <a:rPr sz="2800" b="0" i="0" u="none"/>
              <a:t>Creating actionable remediation plans</a:t>
            </a:r>
            <a:endParaRPr sz="2800" b="0" i="0">
              <a:latin typeface="Arial"/>
            </a:endParaRPr>
          </a:p>
          <a:p>
            <a:r>
              <a:rPr sz="2800" b="0" i="0" u="none"/>
              <a:t>Exercises for hands-on practice</a:t>
            </a:r>
            <a:endParaRPr sz="2800" b="0" i="0">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2700" b="0" i="0" u="none"/>
              <a:t>Comparing Implementations Against Instruction Files</a:t>
            </a:r>
          </a:p>
        </p:txBody>
      </p:sp>
      <p:sp>
        <p:nvSpPr>
          <p:cNvPr id="3" name="Content Placeholder 2"/>
          <p:cNvSpPr>
            <a:spLocks noGrp="1"/>
          </p:cNvSpPr>
          <p:nvPr>
            <p:ph idx="1"/>
          </p:nvPr>
        </p:nvSpPr>
        <p:spPr/>
        <p:txBody>
          <a:bodyPr wrap="square">
            <a:noAutofit/>
          </a:bodyPr>
          <a:lstStyle/>
          <a:p>
            <a:pPr>
              <a:buNone/>
            </a:pPr>
            <a:r>
              <a:rPr sz="1750" b="0" i="0" u="none"/>
              <a:t>What to compare</a:t>
            </a:r>
            <a:endParaRPr sz="1750" b="0" i="0">
              <a:latin typeface="Arial"/>
            </a:endParaRPr>
          </a:p>
          <a:p>
            <a:r>
              <a:rPr sz="1750" b="0" i="0" u="none"/>
              <a:t>Coding standards</a:t>
            </a:r>
            <a:endParaRPr sz="1750" b="0" i="0">
              <a:latin typeface="Arial"/>
            </a:endParaRPr>
          </a:p>
          <a:p>
            <a:r>
              <a:rPr sz="1750" b="0" i="0" u="none"/>
              <a:t>Architectural boundaries</a:t>
            </a:r>
            <a:endParaRPr sz="1750" b="0" i="0">
              <a:latin typeface="Arial"/>
            </a:endParaRPr>
          </a:p>
          <a:p>
            <a:r>
              <a:rPr sz="1750" b="0" i="0" u="none"/>
              <a:t>Allowed/disallowed patterns</a:t>
            </a:r>
            <a:endParaRPr sz="1750" b="0" i="0">
              <a:latin typeface="Arial"/>
            </a:endParaRPr>
          </a:p>
          <a:p>
            <a:r>
              <a:rPr sz="1750" b="0" i="0" u="none"/>
              <a:t>Domain rules</a:t>
            </a:r>
            <a:endParaRPr sz="1750" b="0" i="0">
              <a:latin typeface="Arial"/>
            </a:endParaRPr>
          </a:p>
          <a:p>
            <a:r>
              <a:rPr sz="1750" b="0" i="0" u="none"/>
              <a:t>Documentation and provenance requirements</a:t>
            </a:r>
            <a:endParaRPr sz="1750" b="0" i="0">
              <a:latin typeface="Arial"/>
            </a:endParaRPr>
          </a:p>
          <a:p>
            <a:pPr>
              <a:buNone/>
            </a:pPr>
            <a:endParaRPr sz="1750" b="0" i="0">
              <a:latin typeface="Arial"/>
            </a:endParaRPr>
          </a:p>
          <a:p>
            <a:pPr>
              <a:buNone/>
            </a:pPr>
            <a:r>
              <a:rPr sz="1750" b="0" i="0" u="none"/>
              <a:t>Why it matters</a:t>
            </a:r>
            <a:endParaRPr sz="1750" b="0" i="0">
              <a:latin typeface="Arial"/>
            </a:endParaRPr>
          </a:p>
          <a:p>
            <a:r>
              <a:rPr sz="1750" b="0" i="0" u="none"/>
              <a:t>Prevents drift</a:t>
            </a:r>
            <a:endParaRPr sz="1750" b="0" i="0">
              <a:latin typeface="Arial"/>
            </a:endParaRPr>
          </a:p>
          <a:p>
            <a:r>
              <a:rPr sz="1750" b="0" i="0" u="none"/>
              <a:t>Ensures consistency</a:t>
            </a:r>
            <a:endParaRPr sz="1750" b="0" i="0">
              <a:latin typeface="Arial"/>
            </a:endParaRPr>
          </a:p>
          <a:p>
            <a:r>
              <a:rPr sz="1750" b="0" i="0" u="none"/>
              <a:t>Enables safe modernization</a:t>
            </a:r>
            <a:endParaRPr sz="1750" b="0" i="0">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2650" b="0" i="0" u="none"/>
              <a:t>Automated Issue Generation From Conformance Gaps</a:t>
            </a:r>
          </a:p>
        </p:txBody>
      </p:sp>
      <p:sp>
        <p:nvSpPr>
          <p:cNvPr id="3" name="Content Placeholder 2"/>
          <p:cNvSpPr>
            <a:spLocks noGrp="1"/>
          </p:cNvSpPr>
          <p:nvPr>
            <p:ph idx="1"/>
          </p:nvPr>
        </p:nvSpPr>
        <p:spPr/>
        <p:txBody>
          <a:bodyPr wrap="square">
            <a:noAutofit/>
          </a:bodyPr>
          <a:lstStyle/>
          <a:p>
            <a:pPr>
              <a:buNone/>
            </a:pPr>
            <a:r>
              <a:rPr sz="1550" b="0" i="0" u="none"/>
              <a:t>AI can generate:</a:t>
            </a:r>
            <a:endParaRPr sz="1550" b="0" i="0">
              <a:latin typeface="Arial"/>
            </a:endParaRPr>
          </a:p>
          <a:p>
            <a:r>
              <a:rPr sz="1550" b="0" i="0" u="none"/>
              <a:t>Issue titles</a:t>
            </a:r>
            <a:endParaRPr sz="1550" b="0" i="0">
              <a:latin typeface="Arial"/>
            </a:endParaRPr>
          </a:p>
          <a:p>
            <a:r>
              <a:rPr sz="1550" b="0" i="0" u="none"/>
              <a:t>Detailed descriptions</a:t>
            </a:r>
            <a:endParaRPr sz="1550" b="0" i="0">
              <a:latin typeface="Arial"/>
            </a:endParaRPr>
          </a:p>
          <a:p>
            <a:r>
              <a:rPr sz="1550" b="0" i="0" u="none"/>
              <a:t>Violated rules</a:t>
            </a:r>
            <a:endParaRPr sz="1550" b="0" i="0">
              <a:latin typeface="Arial"/>
            </a:endParaRPr>
          </a:p>
          <a:p>
            <a:r>
              <a:rPr sz="1550" b="0" i="0" u="none"/>
              <a:t>Suggested fixes</a:t>
            </a:r>
            <a:endParaRPr sz="1550" b="0" i="0">
              <a:latin typeface="Arial"/>
            </a:endParaRPr>
          </a:p>
          <a:p>
            <a:r>
              <a:rPr sz="1550" b="0" i="0" u="none"/>
              <a:t>Acceptance criteria</a:t>
            </a:r>
            <a:endParaRPr sz="1550" b="0" i="0">
              <a:latin typeface="Arial"/>
            </a:endParaRPr>
          </a:p>
          <a:p>
            <a:r>
              <a:rPr sz="1550" b="0" i="0" u="none"/>
              <a:t>Provenance metadata</a:t>
            </a:r>
            <a:endParaRPr sz="1550" b="0" i="0">
              <a:latin typeface="Arial"/>
            </a:endParaRPr>
          </a:p>
          <a:p>
            <a:pPr>
              <a:buNone/>
            </a:pPr>
            <a:endParaRPr sz="1550" b="0" i="0">
              <a:latin typeface="Arial"/>
            </a:endParaRPr>
          </a:p>
          <a:p>
            <a:pPr>
              <a:buNone/>
            </a:pPr>
            <a:r>
              <a:rPr sz="1550" b="0" i="0" u="none"/>
              <a:t>Benefits</a:t>
            </a:r>
            <a:endParaRPr sz="1550" b="0" i="0">
              <a:latin typeface="Arial"/>
            </a:endParaRPr>
          </a:p>
          <a:p>
            <a:r>
              <a:rPr sz="1550" b="0" i="0" u="none"/>
              <a:t>Faster backlog creation</a:t>
            </a:r>
            <a:endParaRPr sz="1550" b="0" i="0">
              <a:latin typeface="Arial"/>
            </a:endParaRPr>
          </a:p>
          <a:p>
            <a:r>
              <a:rPr sz="1550" b="0" i="0" u="none"/>
              <a:t>Consistent issue structure</a:t>
            </a:r>
            <a:endParaRPr sz="1550" b="0" i="0">
              <a:latin typeface="Arial"/>
            </a:endParaRPr>
          </a:p>
          <a:p>
            <a:r>
              <a:rPr sz="1550" b="0" i="0" u="none"/>
              <a:t>Reduced manual review effort</a:t>
            </a:r>
            <a:endParaRPr sz="1550" b="0" i="0">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700" b="0" i="0" u="none"/>
              <a:t>Prioritizing Technical Debt Remediation</a:t>
            </a:r>
          </a:p>
        </p:txBody>
      </p:sp>
      <p:sp>
        <p:nvSpPr>
          <p:cNvPr id="3" name="Content Placeholder 2"/>
          <p:cNvSpPr>
            <a:spLocks noGrp="1"/>
          </p:cNvSpPr>
          <p:nvPr>
            <p:ph idx="1"/>
          </p:nvPr>
        </p:nvSpPr>
        <p:spPr/>
        <p:txBody>
          <a:bodyPr wrap="square">
            <a:noAutofit/>
          </a:bodyPr>
          <a:lstStyle/>
          <a:p>
            <a:pPr>
              <a:buNone/>
            </a:pPr>
            <a:r>
              <a:rPr sz="1750" b="0" i="0" u="none"/>
              <a:t>Prioritization factors</a:t>
            </a:r>
            <a:endParaRPr sz="1750" b="0" i="0">
              <a:latin typeface="Arial"/>
            </a:endParaRPr>
          </a:p>
          <a:p>
            <a:r>
              <a:rPr sz="1750" b="0" i="0" u="none"/>
              <a:t>Risk to stability</a:t>
            </a:r>
            <a:endParaRPr sz="1750" b="0" i="0">
              <a:latin typeface="Arial"/>
            </a:endParaRPr>
          </a:p>
          <a:p>
            <a:r>
              <a:rPr sz="1750" b="0" i="0" u="none"/>
              <a:t>Frequency of use</a:t>
            </a:r>
            <a:endParaRPr sz="1750" b="0" i="0">
              <a:latin typeface="Arial"/>
            </a:endParaRPr>
          </a:p>
          <a:p>
            <a:r>
              <a:rPr sz="1750" b="0" i="0" u="none"/>
              <a:t>Security implications</a:t>
            </a:r>
            <a:endParaRPr sz="1750" b="0" i="0">
              <a:latin typeface="Arial"/>
            </a:endParaRPr>
          </a:p>
          <a:p>
            <a:r>
              <a:rPr sz="1750" b="0" i="0" u="none"/>
              <a:t>Architectural importance</a:t>
            </a:r>
            <a:endParaRPr sz="1750" b="0" i="0">
              <a:latin typeface="Arial"/>
            </a:endParaRPr>
          </a:p>
          <a:p>
            <a:r>
              <a:rPr sz="1750" b="0" i="0" u="none"/>
              <a:t>Effort vs. impact</a:t>
            </a:r>
            <a:endParaRPr sz="1750" b="0" i="0">
              <a:latin typeface="Arial"/>
            </a:endParaRPr>
          </a:p>
          <a:p>
            <a:pPr>
              <a:buNone/>
            </a:pPr>
            <a:endParaRPr sz="1750" b="0" i="0">
              <a:latin typeface="Arial"/>
            </a:endParaRPr>
          </a:p>
          <a:p>
            <a:pPr>
              <a:buNone/>
            </a:pPr>
            <a:r>
              <a:rPr sz="1750" b="0" i="0" u="none"/>
              <a:t>Approaches</a:t>
            </a:r>
            <a:endParaRPr sz="1750" b="0" i="0">
              <a:latin typeface="Arial"/>
            </a:endParaRPr>
          </a:p>
          <a:p>
            <a:r>
              <a:rPr sz="1750" b="0" i="0" u="none"/>
              <a:t>Impact/effort matrix</a:t>
            </a:r>
            <a:endParaRPr sz="1750" b="0" i="0">
              <a:latin typeface="Arial"/>
            </a:endParaRPr>
          </a:p>
          <a:p>
            <a:r>
              <a:rPr sz="1750" b="0" i="0" u="none"/>
              <a:t>Risk scoring</a:t>
            </a:r>
            <a:endParaRPr sz="1750" b="0" i="0">
              <a:latin typeface="Arial"/>
            </a:endParaRPr>
          </a:p>
          <a:p>
            <a:r>
              <a:rPr sz="1750" b="0" i="0" u="none"/>
              <a:t>Dependency analysis</a:t>
            </a:r>
            <a:endParaRPr sz="1750" b="0" i="0">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750" b="0" i="0" u="none"/>
              <a:t>Creating Actionable Remediation Plans</a:t>
            </a:r>
          </a:p>
        </p:txBody>
      </p:sp>
      <p:sp>
        <p:nvSpPr>
          <p:cNvPr id="3" name="Content Placeholder 2"/>
          <p:cNvSpPr>
            <a:spLocks noGrp="1"/>
          </p:cNvSpPr>
          <p:nvPr>
            <p:ph idx="1"/>
          </p:nvPr>
        </p:nvSpPr>
        <p:spPr/>
        <p:txBody>
          <a:bodyPr wrap="square">
            <a:noAutofit/>
          </a:bodyPr>
          <a:lstStyle/>
          <a:p>
            <a:pPr>
              <a:buNone/>
            </a:pPr>
            <a:r>
              <a:rPr sz="2750" b="0" i="0" u="none"/>
              <a:t>A strong remediation plan includes:</a:t>
            </a:r>
            <a:endParaRPr sz="2750" b="0" i="0">
              <a:latin typeface="Arial"/>
            </a:endParaRPr>
          </a:p>
          <a:p>
            <a:r>
              <a:rPr sz="2750" b="0" i="0" u="none"/>
              <a:t>Clear problem definition</a:t>
            </a:r>
            <a:endParaRPr sz="2750" b="0" i="0">
              <a:latin typeface="Arial"/>
            </a:endParaRPr>
          </a:p>
          <a:p>
            <a:r>
              <a:rPr sz="2750" b="0" i="0" u="none"/>
              <a:t>Root cause analysis</a:t>
            </a:r>
            <a:endParaRPr sz="2750" b="0" i="0">
              <a:latin typeface="Arial"/>
            </a:endParaRPr>
          </a:p>
          <a:p>
            <a:r>
              <a:rPr sz="2750" b="0" i="0" u="none"/>
              <a:t>Proposed solution</a:t>
            </a:r>
            <a:endParaRPr sz="2750" b="0" i="0">
              <a:latin typeface="Arial"/>
            </a:endParaRPr>
          </a:p>
          <a:p>
            <a:r>
              <a:rPr sz="2750" b="0" i="0" u="none"/>
              <a:t>Step-by-step implementation plan</a:t>
            </a:r>
            <a:endParaRPr sz="2750" b="0" i="0">
              <a:latin typeface="Arial"/>
            </a:endParaRPr>
          </a:p>
          <a:p>
            <a:r>
              <a:rPr sz="2750" b="0" i="0" u="none"/>
              <a:t>Rollback strategy</a:t>
            </a:r>
            <a:endParaRPr sz="2750" b="0" i="0">
              <a:latin typeface="Arial"/>
            </a:endParaRPr>
          </a:p>
          <a:p>
            <a:r>
              <a:rPr sz="2750" b="0" i="0" u="none"/>
              <a:t>Test updates</a:t>
            </a:r>
            <a:endParaRPr sz="2750" b="0" i="0">
              <a:latin typeface="Arial"/>
            </a:endParaRPr>
          </a:p>
          <a:p>
            <a:r>
              <a:rPr sz="2750" b="0" i="0" u="none"/>
              <a:t>Provenance metadata</a:t>
            </a:r>
            <a:endParaRPr sz="2750" b="0" i="0">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950" b="0" i="0" u="none"/>
              <a:t>Exercise: Create Project Requirement</a:t>
            </a:r>
          </a:p>
        </p:txBody>
      </p:sp>
      <p:sp>
        <p:nvSpPr>
          <p:cNvPr id="3" name="Content Placeholder 2"/>
          <p:cNvSpPr>
            <a:spLocks noGrp="1"/>
          </p:cNvSpPr>
          <p:nvPr>
            <p:ph sz="half" idx="1"/>
          </p:nvPr>
        </p:nvSpPr>
        <p:spPr/>
        <p:txBody>
          <a:bodyPr wrap="square">
            <a:noAutofit/>
          </a:bodyPr>
          <a:lstStyle/>
          <a:p>
            <a:pPr>
              <a:buNone/>
            </a:pPr>
            <a:r>
              <a:rPr sz="1650" b="0" i="0" u="none"/>
              <a:t>Objective:</a:t>
            </a:r>
            <a:endParaRPr sz="1650" b="0" i="0">
              <a:latin typeface="Arial"/>
            </a:endParaRPr>
          </a:p>
          <a:p>
            <a:pPr lvl="1"/>
            <a:r>
              <a:rPr sz="1650" b="0" i="0" u="none"/>
              <a:t>Create project requirement instructions, some project-specific, some generic, using both manual and Copilot-assisted methods.</a:t>
            </a:r>
            <a:endParaRPr sz="1650" b="0" i="0">
              <a:latin typeface="Arial"/>
            </a:endParaRPr>
          </a:p>
          <a:p>
            <a:pPr>
              <a:buNone/>
            </a:pPr>
            <a:endParaRPr sz="1650" b="0" i="0">
              <a:latin typeface="Arial"/>
            </a:endParaRPr>
          </a:p>
          <a:p>
            <a:pPr>
              <a:buNone/>
            </a:pPr>
            <a:r>
              <a:rPr sz="1650" b="0" i="0" u="none"/>
              <a:t>Activities:</a:t>
            </a:r>
            <a:endParaRPr sz="1650" b="0" i="0">
              <a:latin typeface="Arial"/>
            </a:endParaRPr>
          </a:p>
          <a:p>
            <a:pPr lvl="1">
              <a:buNone/>
            </a:pPr>
            <a:r>
              <a:rPr sz="1650" b="0" i="0" u="none"/>
              <a:t>  1. Create a project-requirements.md file that includes:</a:t>
            </a:r>
            <a:endParaRPr sz="1650" b="0" i="0">
              <a:latin typeface="Arial"/>
            </a:endParaRPr>
          </a:p>
          <a:p>
            <a:pPr lvl="2"/>
            <a:r>
              <a:rPr sz="1650" b="0" i="0" u="none"/>
              <a:t>Business rules</a:t>
            </a:r>
            <a:endParaRPr sz="1650" b="0" i="0">
              <a:latin typeface="Arial"/>
            </a:endParaRPr>
          </a:p>
          <a:p>
            <a:pPr lvl="2"/>
            <a:r>
              <a:rPr sz="1650" b="0" i="0" u="none"/>
              <a:t>Workflows</a:t>
            </a:r>
            <a:endParaRPr sz="1650" b="0" i="0">
              <a:latin typeface="Arial"/>
            </a:endParaRPr>
          </a:p>
          <a:p>
            <a:pPr lvl="2"/>
            <a:r>
              <a:rPr sz="1650" b="0" i="0" u="none"/>
              <a:t>Purpose</a:t>
            </a:r>
            <a:endParaRPr sz="1650" b="0" i="0">
              <a:latin typeface="Arial"/>
            </a:endParaRPr>
          </a:p>
          <a:p>
            <a:pPr lvl="2"/>
            <a:r>
              <a:rPr sz="1650" b="0" i="0" u="none"/>
              <a:t>Tech stack</a:t>
            </a:r>
            <a:endParaRPr sz="1650" b="0" i="0">
              <a:latin typeface="Arial"/>
            </a:endParaRPr>
          </a:p>
          <a:p>
            <a:pPr lvl="2"/>
            <a:r>
              <a:rPr sz="1650" b="0" i="0" u="none"/>
              <a:t>Architecture</a:t>
            </a:r>
            <a:endParaRPr sz="1650" b="0" i="0">
              <a:latin typeface="Arial"/>
            </a:endParaRPr>
          </a:p>
        </p:txBody>
      </p:sp>
      <p:sp>
        <p:nvSpPr>
          <p:cNvPr id="4" name="Content Placeholder 3"/>
          <p:cNvSpPr>
            <a:spLocks noGrp="1"/>
          </p:cNvSpPr>
          <p:nvPr>
            <p:ph sz="half" idx="2"/>
          </p:nvPr>
        </p:nvSpPr>
        <p:spPr/>
        <p:txBody>
          <a:bodyPr wrap="square">
            <a:noAutofit/>
          </a:bodyPr>
          <a:lstStyle/>
          <a:p>
            <a:pPr>
              <a:buNone/>
            </a:pPr>
            <a:r>
              <a:rPr sz="2100" b="0" i="0" u="none"/>
              <a:t>2. Use Copilot to generate instruction files using the copilot-instructions.md and the codebase for context.</a:t>
            </a:r>
            <a:endParaRPr sz="2100" b="0" i="0">
              <a:latin typeface="Arial"/>
            </a:endParaRPr>
          </a:p>
          <a:p>
            <a:pPr>
              <a:buNone/>
            </a:pPr>
            <a:endParaRPr sz="2100" b="0" i="0">
              <a:latin typeface="Arial"/>
            </a:endParaRPr>
          </a:p>
          <a:p>
            <a:pPr>
              <a:buNone/>
            </a:pPr>
            <a:r>
              <a:rPr sz="2100" b="0" i="0" u="none"/>
              <a:t>Success Criteria:</a:t>
            </a:r>
            <a:endParaRPr sz="2100" b="0" i="0">
              <a:latin typeface="Arial"/>
            </a:endParaRPr>
          </a:p>
          <a:p>
            <a:pPr lvl="1"/>
            <a:r>
              <a:rPr sz="2100" b="0" i="0" u="none"/>
              <a:t>Instructions are clear and actionable</a:t>
            </a:r>
            <a:endParaRPr sz="2100" b="0" i="0">
              <a:latin typeface="Arial"/>
            </a:endParaRPr>
          </a:p>
          <a:p>
            <a:pPr lvl="1"/>
            <a:r>
              <a:rPr sz="2100" b="0" i="0" u="none"/>
              <a:t>Both manual and AI-assisted methods are used</a:t>
            </a:r>
            <a:endParaRPr sz="2100" b="0" i="0">
              <a:latin typeface="Arial"/>
            </a:endParaRPr>
          </a:p>
          <a:p>
            <a:pPr lvl="1"/>
            <a:r>
              <a:rPr sz="2100" b="0" i="0" u="none"/>
              <a:t>Instruction files are generated successfully</a:t>
            </a:r>
            <a:endParaRPr sz="2100" b="0" i="0">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600" b="0" i="0" u="none"/>
              <a:t>Exercise: Create an Implementation Plan</a:t>
            </a:r>
          </a:p>
        </p:txBody>
      </p:sp>
      <p:sp>
        <p:nvSpPr>
          <p:cNvPr id="3" name="Content Placeholder 2"/>
          <p:cNvSpPr>
            <a:spLocks noGrp="1"/>
          </p:cNvSpPr>
          <p:nvPr>
            <p:ph sz="half" idx="1"/>
          </p:nvPr>
        </p:nvSpPr>
        <p:spPr/>
        <p:txBody>
          <a:bodyPr wrap="square">
            <a:noAutofit/>
          </a:bodyPr>
          <a:lstStyle/>
          <a:p>
            <a:pPr>
              <a:buNone/>
            </a:pPr>
            <a:r>
              <a:rPr sz="1400" b="0" i="0" u="none"/>
              <a:t>Objectives</a:t>
            </a:r>
            <a:endParaRPr sz="1400" b="0" i="0">
              <a:latin typeface="Arial"/>
            </a:endParaRPr>
          </a:p>
          <a:p>
            <a:r>
              <a:rPr sz="1400" b="0" i="0" u="none"/>
              <a:t>Translate issues into a structured remediation plan</a:t>
            </a:r>
            <a:endParaRPr sz="1400" b="0" i="0">
              <a:latin typeface="Arial"/>
            </a:endParaRPr>
          </a:p>
          <a:p>
            <a:r>
              <a:rPr sz="1400" b="0" i="0" u="none"/>
              <a:t>Ensure changes are incremental and reversible</a:t>
            </a:r>
            <a:endParaRPr sz="1400" b="0" i="0">
              <a:latin typeface="Arial"/>
            </a:endParaRPr>
          </a:p>
          <a:p>
            <a:r>
              <a:rPr sz="1400" b="0" i="0" u="none"/>
              <a:t>Align modernization with evergreen principles</a:t>
            </a:r>
            <a:endParaRPr sz="1400" b="0" i="0">
              <a:latin typeface="Arial"/>
            </a:endParaRPr>
          </a:p>
          <a:p>
            <a:r>
              <a:rPr sz="1400" b="0" i="0" u="none"/>
              <a:t>Incorporate testing and rollback strategies</a:t>
            </a:r>
            <a:endParaRPr sz="1400" b="0" i="0">
              <a:latin typeface="Arial"/>
            </a:endParaRPr>
          </a:p>
          <a:p>
            <a:pPr>
              <a:buNone/>
            </a:pPr>
            <a:r>
              <a:rPr sz="1400" b="0" i="0" u="none"/>
              <a:t>Activities</a:t>
            </a:r>
            <a:endParaRPr sz="1400" b="0" i="0">
              <a:latin typeface="Arial"/>
            </a:endParaRPr>
          </a:p>
          <a:p>
            <a:pPr>
              <a:buNone/>
            </a:pPr>
            <a:r>
              <a:rPr sz="1400" b="0" i="0" u="none"/>
              <a:t>1. Select 2–3 issues from the previous exercise.</a:t>
            </a:r>
            <a:endParaRPr sz="1400" b="0" i="0">
              <a:latin typeface="Arial"/>
            </a:endParaRPr>
          </a:p>
          <a:p>
            <a:pPr>
              <a:buNone/>
            </a:pPr>
            <a:r>
              <a:rPr sz="1400" b="0" i="0" u="none"/>
              <a:t>2. For each issue, create a remediation plan including:</a:t>
            </a:r>
            <a:endParaRPr sz="1400" b="0" i="0">
              <a:latin typeface="Arial"/>
            </a:endParaRPr>
          </a:p>
          <a:p>
            <a:pPr lvl="1"/>
            <a:r>
              <a:rPr sz="1400" b="0" i="0" u="none"/>
              <a:t>Problem definition</a:t>
            </a:r>
            <a:endParaRPr sz="1400" b="0" i="0">
              <a:latin typeface="Arial"/>
            </a:endParaRPr>
          </a:p>
          <a:p>
            <a:pPr lvl="1"/>
            <a:r>
              <a:rPr sz="1400" b="0" i="0" u="none"/>
              <a:t>Root cause</a:t>
            </a:r>
            <a:endParaRPr sz="1400" b="0" i="0">
              <a:latin typeface="Arial"/>
            </a:endParaRPr>
          </a:p>
          <a:p>
            <a:pPr lvl="1"/>
            <a:r>
              <a:rPr sz="1400" b="0" i="0" u="none"/>
              <a:t>Proposed solution</a:t>
            </a:r>
            <a:endParaRPr sz="1400" b="0" i="0">
              <a:latin typeface="Arial"/>
            </a:endParaRPr>
          </a:p>
          <a:p>
            <a:pPr lvl="1"/>
            <a:r>
              <a:rPr sz="1400" b="0" i="0" u="none"/>
              <a:t>Step-by-step implementation</a:t>
            </a:r>
            <a:endParaRPr sz="1400" b="0" i="0">
              <a:latin typeface="Arial"/>
            </a:endParaRPr>
          </a:p>
          <a:p>
            <a:pPr lvl="1"/>
            <a:r>
              <a:rPr sz="1400" b="0" i="0" u="none"/>
              <a:t>Rollback plan</a:t>
            </a:r>
            <a:endParaRPr sz="1400" b="0" i="0">
              <a:latin typeface="Arial"/>
            </a:endParaRPr>
          </a:p>
          <a:p>
            <a:pPr lvl="1"/>
            <a:r>
              <a:rPr sz="1400" b="0" i="0" u="none"/>
              <a:t>Required test updates</a:t>
            </a:r>
            <a:endParaRPr sz="1400" b="0" i="0">
              <a:latin typeface="Arial"/>
            </a:endParaRPr>
          </a:p>
          <a:p>
            <a:pPr lvl="1"/>
            <a:r>
              <a:rPr sz="1400" b="0" i="0" u="none"/>
              <a:t>Documentation updates</a:t>
            </a:r>
            <a:endParaRPr sz="1400" b="0" i="0">
              <a:latin typeface="Arial"/>
            </a:endParaRPr>
          </a:p>
        </p:txBody>
      </p:sp>
      <p:sp>
        <p:nvSpPr>
          <p:cNvPr id="4" name="Content Placeholder 3"/>
          <p:cNvSpPr>
            <a:spLocks noGrp="1"/>
          </p:cNvSpPr>
          <p:nvPr>
            <p:ph sz="half" idx="2"/>
          </p:nvPr>
        </p:nvSpPr>
        <p:spPr/>
        <p:txBody>
          <a:bodyPr wrap="square">
            <a:noAutofit/>
          </a:bodyPr>
          <a:lstStyle/>
          <a:p>
            <a:pPr>
              <a:buNone/>
            </a:pPr>
            <a:r>
              <a:rPr sz="1800" b="0" i="0" u="none" dirty="0"/>
              <a:t>3. Review plan.</a:t>
            </a:r>
            <a:endParaRPr sz="1800" b="0" i="0" dirty="0">
              <a:latin typeface="Arial"/>
            </a:endParaRPr>
          </a:p>
          <a:p>
            <a:pPr>
              <a:buNone/>
            </a:pPr>
            <a:endParaRPr sz="1800" b="0" i="0" dirty="0">
              <a:latin typeface="Arial"/>
            </a:endParaRPr>
          </a:p>
          <a:p>
            <a:pPr>
              <a:buNone/>
            </a:pPr>
            <a:r>
              <a:rPr sz="1800" b="0" i="0" u="none" dirty="0"/>
              <a:t>Success Criteria</a:t>
            </a:r>
            <a:endParaRPr sz="1800" b="0" i="0" dirty="0">
              <a:latin typeface="Arial"/>
            </a:endParaRPr>
          </a:p>
          <a:p>
            <a:r>
              <a:rPr sz="1800" b="0" i="0" u="none" dirty="0"/>
              <a:t>Plans are incremental, safe, and reversible</a:t>
            </a:r>
            <a:endParaRPr sz="1800" b="0" i="0" dirty="0">
              <a:latin typeface="Arial"/>
            </a:endParaRPr>
          </a:p>
          <a:p>
            <a:r>
              <a:rPr sz="1800" b="0" i="0" u="none" dirty="0"/>
              <a:t>Include clear steps and rollback strategies</a:t>
            </a:r>
            <a:endParaRPr sz="1800" b="0" i="0" dirty="0">
              <a:latin typeface="Arial"/>
            </a:endParaRPr>
          </a:p>
          <a:p>
            <a:r>
              <a:rPr sz="1800" b="0" i="0" u="none" dirty="0"/>
              <a:t>Align with evergreen development principles</a:t>
            </a:r>
            <a:endParaRPr sz="1800" b="0" i="0" dirty="0">
              <a:latin typeface="Arial"/>
            </a:endParaRPr>
          </a:p>
          <a:p>
            <a:r>
              <a:rPr sz="1800" b="0" i="0" u="none" dirty="0"/>
              <a:t>Include test and documentation updates</a:t>
            </a:r>
            <a:endParaRPr sz="1800" b="0" i="0" dirty="0">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4300" b="0" i="0" u="none"/>
              <a:t>Building a Technical Debt Backlog</a:t>
            </a:r>
          </a:p>
        </p:txBody>
      </p:sp>
      <p:sp>
        <p:nvSpPr>
          <p:cNvPr id="3" name="Subtitle 2"/>
          <p:cNvSpPr>
            <a:spLocks noGrp="1"/>
          </p:cNvSpPr>
          <p:nvPr>
            <p:ph type="subTitle" idx="1"/>
          </p:nvPr>
        </p:nvSpPr>
        <p:spPr/>
        <p:txBody>
          <a:bodyPr wrap="square">
            <a:normAutofit/>
          </a:bodyPr>
          <a:lstStyle/>
          <a:p>
            <a:pPr>
              <a:buNone/>
            </a:pPr>
            <a:r>
              <a:rPr b="0" i="0" u="none"/>
              <a:t>Finally, an Excuse to File All Those Issues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Building a Backlog</a:t>
            </a:r>
          </a:p>
        </p:txBody>
      </p:sp>
      <p:sp>
        <p:nvSpPr>
          <p:cNvPr id="3" name="Content Placeholder 2"/>
          <p:cNvSpPr>
            <a:spLocks noGrp="1"/>
          </p:cNvSpPr>
          <p:nvPr>
            <p:ph idx="1"/>
          </p:nvPr>
        </p:nvSpPr>
        <p:spPr/>
        <p:txBody>
          <a:bodyPr wrap="square">
            <a:normAutofit/>
          </a:bodyPr>
          <a:lstStyle/>
          <a:p>
            <a:r>
              <a:rPr sz="2800" b="0" i="0" u="none"/>
              <a:t>Identifying technical debt</a:t>
            </a:r>
            <a:endParaRPr sz="2800" b="0" i="0">
              <a:latin typeface="Arial"/>
            </a:endParaRPr>
          </a:p>
          <a:p>
            <a:r>
              <a:rPr sz="2800" b="0" i="0" u="none"/>
              <a:t>Automating the creation of GitHub issues</a:t>
            </a:r>
            <a:endParaRPr sz="2800" b="0" i="0">
              <a:latin typeface="Arial"/>
            </a:endParaRPr>
          </a:p>
          <a:p>
            <a:r>
              <a:rPr sz="2800" b="0" i="0" u="none"/>
              <a:t>Exercise: Building the backlog</a:t>
            </a:r>
            <a:endParaRPr sz="2800" b="0" i="0">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Identifying Technical Debt</a:t>
            </a:r>
          </a:p>
        </p:txBody>
      </p:sp>
      <p:sp>
        <p:nvSpPr>
          <p:cNvPr id="3" name="Content Placeholder 2"/>
          <p:cNvSpPr>
            <a:spLocks noGrp="1"/>
          </p:cNvSpPr>
          <p:nvPr>
            <p:ph idx="1"/>
          </p:nvPr>
        </p:nvSpPr>
        <p:spPr/>
        <p:txBody>
          <a:bodyPr wrap="square">
            <a:noAutofit/>
          </a:bodyPr>
          <a:lstStyle/>
          <a:p>
            <a:pPr>
              <a:buNone/>
            </a:pPr>
            <a:r>
              <a:rPr sz="1550" b="0" i="0" u="none"/>
              <a:t>AI can surface:</a:t>
            </a:r>
            <a:endParaRPr sz="1550" b="0" i="0">
              <a:latin typeface="Arial"/>
            </a:endParaRPr>
          </a:p>
          <a:p>
            <a:r>
              <a:rPr sz="1550" b="0" i="0" u="none"/>
              <a:t>Outdated patterns</a:t>
            </a:r>
            <a:endParaRPr sz="1550" b="0" i="0">
              <a:latin typeface="Arial"/>
            </a:endParaRPr>
          </a:p>
          <a:p>
            <a:r>
              <a:rPr sz="1550" b="0" i="0" u="none"/>
              <a:t>High-complexity functions</a:t>
            </a:r>
            <a:endParaRPr sz="1550" b="0" i="0">
              <a:latin typeface="Arial"/>
            </a:endParaRPr>
          </a:p>
          <a:p>
            <a:r>
              <a:rPr sz="1550" b="0" i="0" u="none"/>
              <a:t>Duplicate logic</a:t>
            </a:r>
            <a:endParaRPr sz="1550" b="0" i="0">
              <a:latin typeface="Arial"/>
            </a:endParaRPr>
          </a:p>
          <a:p>
            <a:r>
              <a:rPr sz="1550" b="0" i="0" u="none"/>
              <a:t>Missing tests</a:t>
            </a:r>
            <a:endParaRPr sz="1550" b="0" i="0">
              <a:latin typeface="Arial"/>
            </a:endParaRPr>
          </a:p>
          <a:p>
            <a:r>
              <a:rPr sz="1550" b="0" i="0" u="none"/>
              <a:t>Security vulnerabilities</a:t>
            </a:r>
            <a:endParaRPr sz="1550" b="0" i="0">
              <a:latin typeface="Arial"/>
            </a:endParaRPr>
          </a:p>
          <a:p>
            <a:r>
              <a:rPr sz="1550" b="0" i="0" u="none"/>
              <a:t>Architectural drift</a:t>
            </a:r>
            <a:endParaRPr sz="1550" b="0" i="0">
              <a:latin typeface="Arial"/>
            </a:endParaRPr>
          </a:p>
          <a:p>
            <a:pPr>
              <a:buNone/>
            </a:pPr>
            <a:endParaRPr sz="1550" b="0" i="0">
              <a:latin typeface="Arial"/>
            </a:endParaRPr>
          </a:p>
          <a:p>
            <a:pPr>
              <a:buNone/>
            </a:pPr>
            <a:r>
              <a:rPr sz="1550" b="0" i="0" u="none"/>
              <a:t>Benefits</a:t>
            </a:r>
            <a:endParaRPr sz="1550" b="0" i="0">
              <a:latin typeface="Arial"/>
            </a:endParaRPr>
          </a:p>
          <a:p>
            <a:r>
              <a:rPr sz="1550" b="0" i="0" u="none"/>
              <a:t>Faster discovery</a:t>
            </a:r>
            <a:endParaRPr sz="1550" b="0" i="0">
              <a:latin typeface="Arial"/>
            </a:endParaRPr>
          </a:p>
          <a:p>
            <a:r>
              <a:rPr sz="1550" b="0" i="0" u="none"/>
              <a:t>More consistent classification</a:t>
            </a:r>
            <a:endParaRPr sz="1550" b="0" i="0">
              <a:latin typeface="Arial"/>
            </a:endParaRPr>
          </a:p>
          <a:p>
            <a:r>
              <a:rPr sz="1550" b="0" i="0" u="none"/>
              <a:t>Prioritized modernization roadmap</a:t>
            </a:r>
            <a:endParaRPr sz="1550" b="0" i="0">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500" b="0" i="0" u="none"/>
              <a:t>Automating the Creation of GitHub Issues</a:t>
            </a:r>
          </a:p>
        </p:txBody>
      </p:sp>
      <p:sp>
        <p:nvSpPr>
          <p:cNvPr id="3" name="Content Placeholder 2"/>
          <p:cNvSpPr>
            <a:spLocks noGrp="1"/>
          </p:cNvSpPr>
          <p:nvPr>
            <p:ph idx="1"/>
          </p:nvPr>
        </p:nvSpPr>
        <p:spPr/>
        <p:txBody>
          <a:bodyPr wrap="square">
            <a:noAutofit/>
          </a:bodyPr>
          <a:lstStyle/>
          <a:p>
            <a:pPr>
              <a:buNone/>
            </a:pPr>
            <a:r>
              <a:rPr sz="1550" b="0" i="0" u="none"/>
              <a:t>AI can help generate:</a:t>
            </a:r>
            <a:endParaRPr sz="1550" b="0" i="0">
              <a:latin typeface="Arial"/>
            </a:endParaRPr>
          </a:p>
          <a:p>
            <a:r>
              <a:rPr sz="1550" b="0" i="0" u="none"/>
              <a:t>Issue titles</a:t>
            </a:r>
            <a:endParaRPr sz="1550" b="0" i="0">
              <a:latin typeface="Arial"/>
            </a:endParaRPr>
          </a:p>
          <a:p>
            <a:r>
              <a:rPr sz="1550" b="0" i="0" u="none"/>
              <a:t>Detailed descriptions</a:t>
            </a:r>
            <a:endParaRPr sz="1550" b="0" i="0">
              <a:latin typeface="Arial"/>
            </a:endParaRPr>
          </a:p>
          <a:p>
            <a:r>
              <a:rPr sz="1550" b="0" i="0" u="none"/>
              <a:t>Acceptance criteria</a:t>
            </a:r>
            <a:endParaRPr sz="1550" b="0" i="0">
              <a:latin typeface="Arial"/>
            </a:endParaRPr>
          </a:p>
          <a:p>
            <a:r>
              <a:rPr sz="1550" b="0" i="0" u="none"/>
              <a:t>Labels and metadata</a:t>
            </a:r>
            <a:endParaRPr sz="1550" b="0" i="0">
              <a:latin typeface="Arial"/>
            </a:endParaRPr>
          </a:p>
          <a:p>
            <a:r>
              <a:rPr sz="1550" b="0" i="0" u="none"/>
              <a:t>Suggested remediation steps</a:t>
            </a:r>
            <a:endParaRPr sz="1550" b="0" i="0">
              <a:latin typeface="Arial"/>
            </a:endParaRPr>
          </a:p>
          <a:p>
            <a:pPr>
              <a:buNone/>
            </a:pPr>
            <a:endParaRPr sz="1550" b="0" i="0">
              <a:latin typeface="Arial"/>
            </a:endParaRPr>
          </a:p>
          <a:p>
            <a:pPr>
              <a:buNone/>
            </a:pPr>
            <a:r>
              <a:rPr sz="1550" b="0" i="0" u="none"/>
              <a:t>Why automate?</a:t>
            </a:r>
            <a:endParaRPr sz="1550" b="0" i="0">
              <a:latin typeface="Arial"/>
            </a:endParaRPr>
          </a:p>
          <a:p>
            <a:r>
              <a:rPr sz="1550" b="0" i="0" u="none"/>
              <a:t>Ensures consistency</a:t>
            </a:r>
            <a:endParaRPr sz="1550" b="0" i="0">
              <a:latin typeface="Arial"/>
            </a:endParaRPr>
          </a:p>
          <a:p>
            <a:r>
              <a:rPr sz="1550" b="0" i="0" u="none"/>
              <a:t>Reduces manual backlog grooming</a:t>
            </a:r>
            <a:endParaRPr sz="1550" b="0" i="0">
              <a:latin typeface="Arial"/>
            </a:endParaRPr>
          </a:p>
          <a:p>
            <a:r>
              <a:rPr sz="1550" b="0" i="0" u="none"/>
              <a:t>Produces actionable, high-signal issues</a:t>
            </a:r>
            <a:endParaRPr sz="1550" b="0" i="0">
              <a:latin typeface="Arial"/>
            </a:endParaRPr>
          </a:p>
          <a:p>
            <a:r>
              <a:rPr sz="1550" b="0" i="0" u="none"/>
              <a:t>Accelerates modernization planning</a:t>
            </a:r>
            <a:endParaRPr sz="1550" b="0" i="0">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Exercise: Building the Backlog</a:t>
            </a:r>
          </a:p>
        </p:txBody>
      </p:sp>
      <p:sp>
        <p:nvSpPr>
          <p:cNvPr id="3" name="Content Placeholder 2"/>
          <p:cNvSpPr>
            <a:spLocks noGrp="1"/>
          </p:cNvSpPr>
          <p:nvPr>
            <p:ph sz="half" idx="1"/>
          </p:nvPr>
        </p:nvSpPr>
        <p:spPr/>
        <p:txBody>
          <a:bodyPr wrap="square">
            <a:noAutofit/>
          </a:bodyPr>
          <a:lstStyle/>
          <a:p>
            <a:pPr>
              <a:buNone/>
            </a:pPr>
            <a:r>
              <a:rPr sz="1550" b="0" i="0" u="none"/>
              <a:t>Objectives</a:t>
            </a:r>
            <a:endParaRPr sz="1550" b="0" i="0">
              <a:latin typeface="Arial"/>
            </a:endParaRPr>
          </a:p>
          <a:p>
            <a:pPr lvl="1"/>
            <a:r>
              <a:rPr sz="1550" b="0" i="0" u="none"/>
              <a:t>Practice identifying technical debt</a:t>
            </a:r>
            <a:endParaRPr sz="1550" b="0" i="0">
              <a:latin typeface="Arial"/>
            </a:endParaRPr>
          </a:p>
          <a:p>
            <a:pPr lvl="1"/>
            <a:r>
              <a:rPr sz="1550" b="0" i="0" u="none"/>
              <a:t>Convert findings into actionable GitHub issues</a:t>
            </a:r>
            <a:endParaRPr sz="1550" b="0" i="0">
              <a:latin typeface="Arial"/>
            </a:endParaRPr>
          </a:p>
          <a:p>
            <a:pPr lvl="1"/>
            <a:r>
              <a:rPr sz="1550" b="0" i="0" u="none"/>
              <a:t>Apply consistent structure</a:t>
            </a:r>
            <a:endParaRPr sz="1550" b="0" i="0">
              <a:latin typeface="Arial"/>
            </a:endParaRPr>
          </a:p>
          <a:p>
            <a:pPr lvl="1"/>
            <a:r>
              <a:rPr sz="1550" b="0" i="0" u="none"/>
              <a:t>Prioritize issues based on risk and impact</a:t>
            </a:r>
            <a:endParaRPr sz="1550" b="0" i="0">
              <a:latin typeface="Arial"/>
            </a:endParaRPr>
          </a:p>
          <a:p>
            <a:pPr>
              <a:buNone/>
            </a:pPr>
            <a:endParaRPr sz="1550" b="0" i="0">
              <a:latin typeface="Arial"/>
            </a:endParaRPr>
          </a:p>
          <a:p>
            <a:pPr>
              <a:buNone/>
            </a:pPr>
            <a:r>
              <a:rPr sz="1550" b="0" i="0" u="none"/>
              <a:t>Activities</a:t>
            </a:r>
            <a:endParaRPr sz="1550" b="0" i="0">
              <a:latin typeface="Arial"/>
            </a:endParaRPr>
          </a:p>
          <a:p>
            <a:pPr lvl="1">
              <a:buNone/>
            </a:pPr>
            <a:r>
              <a:rPr sz="1550" b="0" i="0" u="none"/>
              <a:t>  1. Select a brownfield module or file.</a:t>
            </a:r>
            <a:endParaRPr sz="1550" b="0" i="0">
              <a:latin typeface="Arial"/>
            </a:endParaRPr>
          </a:p>
          <a:p>
            <a:pPr lvl="1">
              <a:buNone/>
            </a:pPr>
            <a:r>
              <a:rPr sz="1550" b="0" i="0" u="none"/>
              <a:t>  2. Use AI to identify:</a:t>
            </a:r>
            <a:endParaRPr sz="1550" b="0" i="0">
              <a:latin typeface="Arial"/>
            </a:endParaRPr>
          </a:p>
          <a:p>
            <a:pPr lvl="2"/>
            <a:r>
              <a:rPr sz="1550" b="0" i="0" u="none"/>
              <a:t>Technical debt</a:t>
            </a:r>
            <a:endParaRPr sz="1550" b="0" i="0">
              <a:latin typeface="Arial"/>
            </a:endParaRPr>
          </a:p>
          <a:p>
            <a:pPr lvl="2"/>
            <a:r>
              <a:rPr sz="1550" b="0" i="0" u="none"/>
              <a:t>Risks</a:t>
            </a:r>
            <a:endParaRPr sz="1550" b="0" i="0">
              <a:latin typeface="Arial"/>
            </a:endParaRPr>
          </a:p>
          <a:p>
            <a:pPr lvl="2"/>
            <a:r>
              <a:rPr sz="1550" b="0" i="0" u="none"/>
              <a:t>Test confidence</a:t>
            </a:r>
            <a:endParaRPr sz="1550" b="0" i="0">
              <a:latin typeface="Arial"/>
            </a:endParaRPr>
          </a:p>
          <a:p>
            <a:pPr lvl="2"/>
            <a:r>
              <a:rPr sz="1550" b="0" i="0" u="none"/>
              <a:t>Architectural issues</a:t>
            </a:r>
            <a:endParaRPr sz="1550" b="0" i="0">
              <a:latin typeface="Arial"/>
            </a:endParaRPr>
          </a:p>
        </p:txBody>
      </p:sp>
      <p:sp>
        <p:nvSpPr>
          <p:cNvPr id="4" name="Content Placeholder 3"/>
          <p:cNvSpPr>
            <a:spLocks noGrp="1"/>
          </p:cNvSpPr>
          <p:nvPr>
            <p:ph sz="half" idx="2"/>
          </p:nvPr>
        </p:nvSpPr>
        <p:spPr/>
        <p:txBody>
          <a:bodyPr wrap="square">
            <a:noAutofit/>
          </a:bodyPr>
          <a:lstStyle/>
          <a:p>
            <a:pPr>
              <a:buNone/>
            </a:pPr>
            <a:r>
              <a:rPr sz="1700" b="0" i="0" u="none"/>
              <a:t>3. Convert each finding into a GitHub issue with:</a:t>
            </a:r>
            <a:endParaRPr sz="1700" b="0" i="0">
              <a:latin typeface="Arial"/>
            </a:endParaRPr>
          </a:p>
          <a:p>
            <a:pPr lvl="2"/>
            <a:r>
              <a:rPr sz="1700" b="0" i="0" u="none"/>
              <a:t>Title</a:t>
            </a:r>
            <a:endParaRPr sz="1700" b="0" i="0">
              <a:latin typeface="Arial"/>
            </a:endParaRPr>
          </a:p>
          <a:p>
            <a:pPr lvl="2"/>
            <a:r>
              <a:rPr sz="1700" b="0" i="0" u="none"/>
              <a:t>Description</a:t>
            </a:r>
            <a:endParaRPr sz="1700" b="0" i="0">
              <a:latin typeface="Arial"/>
            </a:endParaRPr>
          </a:p>
          <a:p>
            <a:pPr lvl="2"/>
            <a:r>
              <a:rPr sz="1700" b="0" i="0" u="none"/>
              <a:t>Acceptance criteria</a:t>
            </a:r>
            <a:endParaRPr sz="1700" b="0" i="0">
              <a:latin typeface="Arial"/>
            </a:endParaRPr>
          </a:p>
          <a:p>
            <a:pPr lvl="2"/>
            <a:r>
              <a:rPr sz="1700" b="0" i="0" u="none"/>
              <a:t>Labels</a:t>
            </a:r>
            <a:endParaRPr sz="1700" b="0" i="0">
              <a:latin typeface="Arial"/>
            </a:endParaRPr>
          </a:p>
          <a:p>
            <a:pPr lvl="1">
              <a:buNone/>
            </a:pPr>
            <a:r>
              <a:rPr sz="1700" b="0" i="0" u="none"/>
              <a:t>  4. Prioritize the issues using impact vs. effort.</a:t>
            </a:r>
            <a:endParaRPr sz="1700" b="0" i="0">
              <a:latin typeface="Arial"/>
            </a:endParaRPr>
          </a:p>
          <a:p>
            <a:pPr>
              <a:buNone/>
            </a:pPr>
            <a:endParaRPr sz="1700" b="0" i="0">
              <a:latin typeface="Arial"/>
            </a:endParaRPr>
          </a:p>
          <a:p>
            <a:pPr>
              <a:buNone/>
            </a:pPr>
            <a:r>
              <a:rPr sz="1700" b="0" i="0" u="none"/>
              <a:t>Success Criteria</a:t>
            </a:r>
            <a:endParaRPr sz="1700" b="0" i="0">
              <a:latin typeface="Arial"/>
            </a:endParaRPr>
          </a:p>
          <a:p>
            <a:pPr lvl="1"/>
            <a:r>
              <a:rPr sz="1700" b="0" i="0" u="none"/>
              <a:t>Issues are clear, actionable, and well-structured</a:t>
            </a:r>
            <a:endParaRPr sz="1700" b="0" i="0">
              <a:latin typeface="Arial"/>
            </a:endParaRPr>
          </a:p>
          <a:p>
            <a:pPr lvl="1"/>
            <a:r>
              <a:rPr sz="1700" b="0" i="0" u="none"/>
              <a:t>Prioritization reflects real risk and effort</a:t>
            </a:r>
            <a:endParaRPr sz="1700" b="0" i="0">
              <a:latin typeface="Arial"/>
            </a:endParaRPr>
          </a:p>
          <a:p>
            <a:pPr lvl="1"/>
            <a:r>
              <a:rPr sz="1700" b="0" i="0" u="none"/>
              <a:t>Backlog is ready for implementation</a:t>
            </a:r>
            <a:endParaRPr sz="1700" b="0" i="0">
              <a:latin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4200" b="0" i="0" u="none"/>
              <a:t>Implementation Plan Prioritization</a:t>
            </a:r>
          </a:p>
        </p:txBody>
      </p:sp>
      <p:sp>
        <p:nvSpPr>
          <p:cNvPr id="3" name="Subtitle 2"/>
          <p:cNvSpPr>
            <a:spLocks noGrp="1"/>
          </p:cNvSpPr>
          <p:nvPr>
            <p:ph type="subTitle" idx="1"/>
          </p:nvPr>
        </p:nvSpPr>
        <p:spPr/>
        <p:txBody>
          <a:bodyPr wrap="square">
            <a:normAutofit/>
          </a:bodyPr>
          <a:lstStyle/>
          <a:p>
            <a:pPr>
              <a:buNone/>
            </a:pPr>
            <a:r>
              <a:rPr b="0" i="0" u="none"/>
              <a:t>Security First: The Only Priority With No Exceptions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250" b="0" i="0" u="none"/>
              <a:t>Finding the Gaps: Common Security Findings</a:t>
            </a:r>
          </a:p>
        </p:txBody>
      </p:sp>
      <p:sp>
        <p:nvSpPr>
          <p:cNvPr id="3" name="Content Placeholder 2"/>
          <p:cNvSpPr>
            <a:spLocks noGrp="1"/>
          </p:cNvSpPr>
          <p:nvPr>
            <p:ph idx="1"/>
          </p:nvPr>
        </p:nvSpPr>
        <p:spPr/>
        <p:txBody>
          <a:bodyPr wrap="square">
            <a:noAutofit/>
          </a:bodyPr>
          <a:lstStyle/>
          <a:p>
            <a:pPr>
              <a:buNone/>
            </a:pPr>
            <a:r>
              <a:rPr sz="2550" b="0" i="0" u="none" dirty="0"/>
              <a:t>When AI audits a brownfield codebase, these issues surface first:</a:t>
            </a:r>
            <a:endParaRPr sz="2550" b="0" i="0" dirty="0">
              <a:latin typeface="Arial"/>
            </a:endParaRPr>
          </a:p>
          <a:p>
            <a:pPr>
              <a:buNone/>
            </a:pPr>
            <a:endParaRPr sz="2550" b="0" i="0" dirty="0">
              <a:latin typeface="Arial"/>
            </a:endParaRPr>
          </a:p>
          <a:p>
            <a:r>
              <a:rPr sz="2550" b="0" i="0" u="none" dirty="0"/>
              <a:t>Exposed secrets — credentials or tokens committed to source control</a:t>
            </a:r>
            <a:endParaRPr sz="2550" b="0" i="0" dirty="0">
              <a:latin typeface="Arial"/>
            </a:endParaRPr>
          </a:p>
          <a:p>
            <a:r>
              <a:rPr sz="2550" b="0" i="0" u="none" dirty="0"/>
              <a:t>Missing HTTPS — data in transit unencrypted</a:t>
            </a:r>
            <a:endParaRPr sz="2550" b="0" i="0" dirty="0">
              <a:latin typeface="Arial"/>
            </a:endParaRPr>
          </a:p>
          <a:p>
            <a:r>
              <a:rPr sz="2550" b="0" i="0" u="none" dirty="0"/>
              <a:t>No test coverage — changes cannot be validated safely</a:t>
            </a:r>
            <a:endParaRPr sz="2550" b="0" i="0" dirty="0">
              <a:latin typeface="Arial"/>
            </a:endParaRPr>
          </a:p>
          <a:p>
            <a:r>
              <a:rPr sz="2550" b="0" i="0" u="none" dirty="0"/>
              <a:t>No CI/CD pipeline — deployment is manual and inconsistent</a:t>
            </a:r>
            <a:endParaRPr sz="2550" b="0" i="0" dirty="0">
              <a:latin typeface="Arial"/>
            </a:endParaRPr>
          </a:p>
          <a:p>
            <a:r>
              <a:rPr sz="2550" b="0" i="0" u="none" dirty="0"/>
              <a:t>Missing AI provenance metadata — AI-generated changes are untracked</a:t>
            </a:r>
            <a:endParaRPr sz="2550" b="0" i="0" dirty="0">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8928887" cy="703024"/>
          </a:xfrm>
        </p:spPr>
        <p:txBody>
          <a:bodyPr anchor="ctr">
            <a:normAutofit/>
          </a:bodyPr>
          <a:lstStyle/>
          <a:p>
            <a:pPr>
              <a:buNone/>
            </a:pPr>
            <a:r>
              <a:rPr lang="en-US" sz="3400" b="0" i="0" u="none"/>
              <a:t>AI-Assisted Prioritization: Impact vs. Effort</a:t>
            </a:r>
          </a:p>
        </p:txBody>
      </p:sp>
      <p:sp>
        <p:nvSpPr>
          <p:cNvPr id="3" name="Content Placeholder 2"/>
          <p:cNvSpPr>
            <a:spLocks noGrp="1"/>
          </p:cNvSpPr>
          <p:nvPr>
            <p:ph sz="half" idx="1"/>
          </p:nvPr>
        </p:nvSpPr>
        <p:spPr>
          <a:xfrm>
            <a:off x="838200" y="1463752"/>
            <a:ext cx="5181600" cy="4351338"/>
          </a:xfrm>
        </p:spPr>
        <p:txBody>
          <a:bodyPr>
            <a:normAutofit/>
          </a:bodyPr>
          <a:lstStyle/>
          <a:p>
            <a:pPr>
              <a:buNone/>
            </a:pPr>
            <a:r>
              <a:rPr lang="en-US" b="0" i="0" u="none"/>
              <a:t>Ask AI to analyze your backlog and position each item on an impact/effort matrix:</a:t>
            </a:r>
            <a:endParaRPr lang="en-US" b="0" i="0"/>
          </a:p>
        </p:txBody>
      </p:sp>
      <p:pic>
        <p:nvPicPr>
          <p:cNvPr id="4" name="Picture 3" descr="e7c99a160afbb05bf9677c89afaf0f35cd8e0798.png"/>
          <p:cNvPicPr>
            <a:picLocks noChangeAspect="1"/>
          </p:cNvPicPr>
          <p:nvPr/>
        </p:nvPicPr>
        <p:blipFill>
          <a:blip r:embed="rId3"/>
          <a:srcRect r="-2" b="16022"/>
          <a:stretch>
            <a:fillRect/>
          </a:stretch>
        </p:blipFill>
        <p:spPr>
          <a:xfrm>
            <a:off x="6172200" y="1463752"/>
            <a:ext cx="5181600" cy="4351338"/>
          </a:xfrm>
          <a:prstGeom prst="rect">
            <a:avLst/>
          </a:prstGeom>
          <a:noFill/>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Making Technical Debt Visible</a:t>
            </a:r>
          </a:p>
        </p:txBody>
      </p:sp>
      <p:sp>
        <p:nvSpPr>
          <p:cNvPr id="3" name="Content Placeholder 2"/>
          <p:cNvSpPr>
            <a:spLocks noGrp="1"/>
          </p:cNvSpPr>
          <p:nvPr>
            <p:ph idx="1"/>
          </p:nvPr>
        </p:nvSpPr>
        <p:spPr/>
        <p:txBody>
          <a:bodyPr wrap="square">
            <a:normAutofit/>
          </a:bodyPr>
          <a:lstStyle/>
          <a:p>
            <a:pPr>
              <a:buNone/>
            </a:pPr>
            <a:r>
              <a:rPr sz="1800" b="0" i="0" u="none"/>
              <a:t>Visibility is the first step toward resolution:</a:t>
            </a:r>
            <a:endParaRPr sz="1800" b="0" i="0">
              <a:latin typeface="Consolas"/>
            </a:endParaRPr>
          </a:p>
          <a:p>
            <a:pPr>
              <a:buNone/>
            </a:pPr>
            <a:endParaRPr sz="1800" b="0" i="0">
              <a:latin typeface="Consolas"/>
            </a:endParaRPr>
          </a:p>
          <a:p>
            <a:r>
              <a:rPr sz="1800" b="0" i="0" u="none"/>
              <a:t>Ask AI to generate a prioritized issue list from the audit findings</a:t>
            </a:r>
            <a:endParaRPr sz="1800" b="0" i="0">
              <a:latin typeface="Consolas"/>
            </a:endParaRPr>
          </a:p>
          <a:p>
            <a:r>
              <a:rPr sz="1800" b="0" i="0" u="none"/>
              <a:t>Represent priorities as GitHub Issues with labels (</a:t>
            </a:r>
            <a:r>
              <a:rPr sz="1800" b="0" i="0" u="none">
                <a:latin typeface="Consolas"/>
              </a:rPr>
              <a:t>P0</a:t>
            </a:r>
            <a:r>
              <a:rPr sz="1800" b="0" i="0" u="none"/>
              <a:t>, </a:t>
            </a:r>
            <a:r>
              <a:rPr sz="1800" b="0" i="0" u="none">
                <a:latin typeface="Consolas"/>
              </a:rPr>
              <a:t>P1</a:t>
            </a:r>
            <a:r>
              <a:rPr sz="1800" b="0" i="0" u="none"/>
              <a:t>, </a:t>
            </a:r>
            <a:r>
              <a:rPr sz="1800" b="0" i="0" u="none">
                <a:latin typeface="Consolas"/>
              </a:rPr>
              <a:t>P2</a:t>
            </a:r>
            <a:r>
              <a:rPr sz="1800" b="0" i="0" u="none"/>
              <a:t>)</a:t>
            </a:r>
            <a:endParaRPr sz="1800" b="0" i="0">
              <a:latin typeface="Consolas"/>
            </a:endParaRPr>
          </a:p>
          <a:p>
            <a:r>
              <a:rPr sz="1800" b="0" i="0" u="none"/>
              <a:t>Use Mermaid diagrams to visualize dependencies and sequencing</a:t>
            </a:r>
            <a:endParaRPr sz="1800" b="0" i="0">
              <a:latin typeface="Consolas"/>
            </a:endParaRPr>
          </a:p>
          <a:p>
            <a:r>
              <a:rPr sz="1800" b="0" i="0" u="none"/>
              <a:t>Update issue descriptions with AI-proposed implementation steps</a:t>
            </a:r>
            <a:endParaRPr sz="1800" b="0" i="0">
              <a:latin typeface="Consolas"/>
            </a:endParaRPr>
          </a:p>
          <a:p>
            <a:r>
              <a:rPr sz="1800" b="0" i="0" u="none"/>
              <a:t>Share the dashboard with the full team — debt is a shared problem</a:t>
            </a:r>
            <a:endParaRPr sz="1800" b="0" i="0">
              <a:latin typeface="Consolas"/>
            </a:endParaRPr>
          </a:p>
          <a:p>
            <a:pPr>
              <a:buNone/>
            </a:pPr>
            <a:endParaRPr sz="1800" b="0" i="0">
              <a:latin typeface="Consolas"/>
            </a:endParaRPr>
          </a:p>
          <a:p>
            <a:pPr>
              <a:buNone/>
            </a:pPr>
            <a:r>
              <a:rPr sz="1800" b="0" i="0" u="none"/>
              <a:t>Outcome: debt moves from implicit knowledge to tracked, actionable work</a:t>
            </a:r>
            <a:endParaRPr sz="1800" b="0" i="0">
              <a:latin typeface="Consola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900" b="0" i="0" u="none"/>
              <a:t>Phase Zero: Security with Infinite ROI</a:t>
            </a:r>
          </a:p>
        </p:txBody>
      </p:sp>
      <p:graphicFrame>
        <p:nvGraphicFramePr>
          <p:cNvPr id="3" name="Table 2"/>
          <p:cNvGraphicFramePr>
            <a:graphicFrameLocks noGrp="1"/>
          </p:cNvGraphicFramePr>
          <p:nvPr>
            <p:extLst>
              <p:ext uri="{D42A27DB-BD31-4B8C-83A1-F6EECF244321}">
                <p14:modId xmlns:p14="http://schemas.microsoft.com/office/powerpoint/2010/main" val="4246790784"/>
              </p:ext>
            </p:extLst>
          </p:nvPr>
        </p:nvGraphicFramePr>
        <p:xfrm>
          <a:off x="1219200" y="1828800"/>
          <a:ext cx="9753600" cy="3017520"/>
        </p:xfrm>
        <a:graphic>
          <a:graphicData uri="http://schemas.openxmlformats.org/drawingml/2006/table">
            <a:tbl>
              <a:tblPr firstRow="1" bandRow="1">
                <a:tableStyleId>{5C22544A-7EE6-4342-B048-85BDC9FD1C3A}</a:tableStyleId>
              </a:tblPr>
              <a:tblGrid>
                <a:gridCol w="3251200">
                  <a:extLst>
                    <a:ext uri="{9D8B030D-6E8A-4147-A177-3AD203B41FA5}">
                      <a16:colId xmlns:a16="http://schemas.microsoft.com/office/drawing/2014/main" val="20000"/>
                    </a:ext>
                  </a:extLst>
                </a:gridCol>
                <a:gridCol w="3251200">
                  <a:extLst>
                    <a:ext uri="{9D8B030D-6E8A-4147-A177-3AD203B41FA5}">
                      <a16:colId xmlns:a16="http://schemas.microsoft.com/office/drawing/2014/main" val="20001"/>
                    </a:ext>
                  </a:extLst>
                </a:gridCol>
                <a:gridCol w="3251200">
                  <a:extLst>
                    <a:ext uri="{9D8B030D-6E8A-4147-A177-3AD203B41FA5}">
                      <a16:colId xmlns:a16="http://schemas.microsoft.com/office/drawing/2014/main" val="20002"/>
                    </a:ext>
                  </a:extLst>
                </a:gridCol>
              </a:tblGrid>
              <a:tr h="457200">
                <a:tc>
                  <a:txBody>
                    <a:bodyPr/>
                    <a:lstStyle/>
                    <a:p>
                      <a:pPr>
                        <a:buNone/>
                        <a:defRPr sz="1600" b="1">
                          <a:solidFill>
                            <a:schemeClr val="bg1"/>
                          </a:solidFill>
                        </a:defRPr>
                      </a:pPr>
                      <a:r>
                        <a:rPr sz="2400" b="0" i="0" u="none"/>
                        <a:t>Item</a:t>
                      </a:r>
                    </a:p>
                  </a:txBody>
                  <a:tcPr>
                    <a:solidFill>
                      <a:schemeClr val="accent4"/>
                    </a:solidFill>
                  </a:tcPr>
                </a:tc>
                <a:tc>
                  <a:txBody>
                    <a:bodyPr/>
                    <a:lstStyle/>
                    <a:p>
                      <a:pPr>
                        <a:buNone/>
                        <a:defRPr sz="1600" b="1">
                          <a:solidFill>
                            <a:schemeClr val="bg1"/>
                          </a:solidFill>
                        </a:defRPr>
                      </a:pPr>
                      <a:r>
                        <a:rPr sz="2400" b="0" i="0" u="none"/>
                        <a:t>Effort</a:t>
                      </a:r>
                    </a:p>
                  </a:txBody>
                  <a:tcPr>
                    <a:solidFill>
                      <a:schemeClr val="accent4"/>
                    </a:solidFill>
                  </a:tcPr>
                </a:tc>
                <a:tc>
                  <a:txBody>
                    <a:bodyPr/>
                    <a:lstStyle/>
                    <a:p>
                      <a:pPr>
                        <a:buNone/>
                        <a:defRPr sz="1600" b="1">
                          <a:solidFill>
                            <a:schemeClr val="bg1"/>
                          </a:solidFill>
                        </a:defRPr>
                      </a:pPr>
                      <a:r>
                        <a:rPr sz="2400" b="0" i="0" u="none"/>
                        <a:t>Risk Reduced</a:t>
                      </a:r>
                    </a:p>
                  </a:txBody>
                  <a:tcPr>
                    <a:solidFill>
                      <a:schemeClr val="accent4"/>
                    </a:solidFill>
                  </a:tcPr>
                </a:tc>
                <a:extLst>
                  <a:ext uri="{0D108BD9-81ED-4DB2-BD59-A6C34878D82A}">
                    <a16:rowId xmlns:a16="http://schemas.microsoft.com/office/drawing/2014/main" val="10000"/>
                  </a:ext>
                </a:extLst>
              </a:tr>
              <a:tr h="457200">
                <a:tc>
                  <a:txBody>
                    <a:bodyPr/>
                    <a:lstStyle/>
                    <a:p>
                      <a:pPr>
                        <a:buNone/>
                        <a:defRPr sz="1600" b="0">
                          <a:solidFill>
                            <a:schemeClr val="tx1"/>
                          </a:solidFill>
                        </a:defRPr>
                      </a:pPr>
                      <a:r>
                        <a:rPr sz="2400" b="0" i="0" u="none"/>
                        <a:t>Rotate exposed secrets</a:t>
                      </a:r>
                    </a:p>
                  </a:txBody>
                  <a:tcPr>
                    <a:solidFill>
                      <a:schemeClr val="accent4">
                        <a:lumMod val="20000"/>
                        <a:lumOff val="80000"/>
                      </a:schemeClr>
                    </a:solidFill>
                  </a:tcPr>
                </a:tc>
                <a:tc>
                  <a:txBody>
                    <a:bodyPr/>
                    <a:lstStyle/>
                    <a:p>
                      <a:pPr>
                        <a:buNone/>
                        <a:defRPr sz="1600" b="0">
                          <a:solidFill>
                            <a:schemeClr val="tx1"/>
                          </a:solidFill>
                        </a:defRPr>
                      </a:pPr>
                      <a:r>
                        <a:rPr sz="2400" b="0" i="0" u="none"/>
                        <a:t>Very Low</a:t>
                      </a:r>
                    </a:p>
                  </a:txBody>
                  <a:tcPr>
                    <a:solidFill>
                      <a:schemeClr val="accent4">
                        <a:lumMod val="20000"/>
                        <a:lumOff val="80000"/>
                      </a:schemeClr>
                    </a:solidFill>
                  </a:tcPr>
                </a:tc>
                <a:tc>
                  <a:txBody>
                    <a:bodyPr/>
                    <a:lstStyle/>
                    <a:p>
                      <a:pPr>
                        <a:buNone/>
                        <a:defRPr sz="1600" b="0">
                          <a:solidFill>
                            <a:schemeClr val="tx1"/>
                          </a:solidFill>
                        </a:defRPr>
                      </a:pPr>
                      <a:r>
                        <a:rPr sz="2400" b="0" i="0" u="none"/>
                        <a:t>Critical</a:t>
                      </a:r>
                    </a:p>
                  </a:txBody>
                  <a:tcPr>
                    <a:solidFill>
                      <a:schemeClr val="accent4">
                        <a:lumMod val="20000"/>
                        <a:lumOff val="80000"/>
                      </a:schemeClr>
                    </a:solidFill>
                  </a:tcPr>
                </a:tc>
                <a:extLst>
                  <a:ext uri="{0D108BD9-81ED-4DB2-BD59-A6C34878D82A}">
                    <a16:rowId xmlns:a16="http://schemas.microsoft.com/office/drawing/2014/main" val="10001"/>
                  </a:ext>
                </a:extLst>
              </a:tr>
              <a:tr h="457200">
                <a:tc>
                  <a:txBody>
                    <a:bodyPr/>
                    <a:lstStyle/>
                    <a:p>
                      <a:pPr>
                        <a:buNone/>
                        <a:defRPr sz="1600" b="0">
                          <a:solidFill>
                            <a:schemeClr val="tx1"/>
                          </a:solidFill>
                        </a:defRPr>
                      </a:pPr>
                      <a:r>
                        <a:rPr sz="2400" b="0" i="0" u="none"/>
                        <a:t>Enforce HTTPS</a:t>
                      </a:r>
                    </a:p>
                  </a:txBody>
                  <a:tcPr>
                    <a:solidFill>
                      <a:schemeClr val="accent4">
                        <a:lumMod val="8000"/>
                        <a:lumOff val="92000"/>
                      </a:schemeClr>
                    </a:solidFill>
                  </a:tcPr>
                </a:tc>
                <a:tc>
                  <a:txBody>
                    <a:bodyPr/>
                    <a:lstStyle/>
                    <a:p>
                      <a:pPr>
                        <a:buNone/>
                        <a:defRPr sz="1600" b="0">
                          <a:solidFill>
                            <a:schemeClr val="tx1"/>
                          </a:solidFill>
                        </a:defRPr>
                      </a:pPr>
                      <a:r>
                        <a:rPr sz="2400" b="0" i="0" u="none"/>
                        <a:t>Low</a:t>
                      </a:r>
                    </a:p>
                  </a:txBody>
                  <a:tcPr>
                    <a:solidFill>
                      <a:schemeClr val="accent4">
                        <a:lumMod val="8000"/>
                        <a:lumOff val="92000"/>
                      </a:schemeClr>
                    </a:solidFill>
                  </a:tcPr>
                </a:tc>
                <a:tc>
                  <a:txBody>
                    <a:bodyPr/>
                    <a:lstStyle/>
                    <a:p>
                      <a:pPr>
                        <a:buNone/>
                        <a:defRPr sz="1600" b="0">
                          <a:solidFill>
                            <a:schemeClr val="tx1"/>
                          </a:solidFill>
                        </a:defRPr>
                      </a:pPr>
                      <a:r>
                        <a:rPr sz="2400" b="0" i="0" u="none"/>
                        <a:t>High</a:t>
                      </a:r>
                    </a:p>
                  </a:txBody>
                  <a:tcPr>
                    <a:solidFill>
                      <a:schemeClr val="accent4">
                        <a:lumMod val="8000"/>
                        <a:lumOff val="92000"/>
                      </a:schemeClr>
                    </a:solidFill>
                  </a:tcPr>
                </a:tc>
                <a:extLst>
                  <a:ext uri="{0D108BD9-81ED-4DB2-BD59-A6C34878D82A}">
                    <a16:rowId xmlns:a16="http://schemas.microsoft.com/office/drawing/2014/main" val="10002"/>
                  </a:ext>
                </a:extLst>
              </a:tr>
              <a:tr h="457200">
                <a:tc>
                  <a:txBody>
                    <a:bodyPr/>
                    <a:lstStyle/>
                    <a:p>
                      <a:pPr>
                        <a:buNone/>
                        <a:defRPr sz="1600" b="0">
                          <a:solidFill>
                            <a:schemeClr val="tx1"/>
                          </a:solidFill>
                        </a:defRPr>
                      </a:pPr>
                      <a:r>
                        <a:rPr sz="2400" b="0" i="0" u="none"/>
                        <a:t>Add secret scanning CI check</a:t>
                      </a:r>
                    </a:p>
                  </a:txBody>
                  <a:tcPr>
                    <a:solidFill>
                      <a:schemeClr val="accent4">
                        <a:lumMod val="20000"/>
                        <a:lumOff val="80000"/>
                      </a:schemeClr>
                    </a:solidFill>
                  </a:tcPr>
                </a:tc>
                <a:tc>
                  <a:txBody>
                    <a:bodyPr/>
                    <a:lstStyle/>
                    <a:p>
                      <a:pPr>
                        <a:buNone/>
                        <a:defRPr sz="1600" b="0">
                          <a:solidFill>
                            <a:schemeClr val="tx1"/>
                          </a:solidFill>
                        </a:defRPr>
                      </a:pPr>
                      <a:r>
                        <a:rPr sz="2400" b="0" i="0" u="none"/>
                        <a:t>Low</a:t>
                      </a:r>
                    </a:p>
                  </a:txBody>
                  <a:tcPr>
                    <a:solidFill>
                      <a:schemeClr val="accent4">
                        <a:lumMod val="20000"/>
                        <a:lumOff val="80000"/>
                      </a:schemeClr>
                    </a:solidFill>
                  </a:tcPr>
                </a:tc>
                <a:tc>
                  <a:txBody>
                    <a:bodyPr/>
                    <a:lstStyle/>
                    <a:p>
                      <a:pPr>
                        <a:buNone/>
                        <a:defRPr sz="1600" b="0">
                          <a:solidFill>
                            <a:schemeClr val="tx1"/>
                          </a:solidFill>
                        </a:defRPr>
                      </a:pPr>
                      <a:r>
                        <a:rPr sz="2400" b="0" i="0" u="none"/>
                        <a:t>High</a:t>
                      </a:r>
                    </a:p>
                  </a:txBody>
                  <a:tcPr>
                    <a:solidFill>
                      <a:schemeClr val="accent4">
                        <a:lumMod val="20000"/>
                        <a:lumOff val="80000"/>
                      </a:schemeClr>
                    </a:solidFill>
                  </a:tcPr>
                </a:tc>
                <a:extLst>
                  <a:ext uri="{0D108BD9-81ED-4DB2-BD59-A6C34878D82A}">
                    <a16:rowId xmlns:a16="http://schemas.microsoft.com/office/drawing/2014/main" val="10003"/>
                  </a:ext>
                </a:extLst>
              </a:tr>
              <a:tr h="457200">
                <a:tc>
                  <a:txBody>
                    <a:bodyPr/>
                    <a:lstStyle/>
                    <a:p>
                      <a:pPr>
                        <a:buNone/>
                        <a:defRPr sz="1600" b="0">
                          <a:solidFill>
                            <a:schemeClr val="tx1"/>
                          </a:solidFill>
                        </a:defRPr>
                      </a:pPr>
                      <a:r>
                        <a:rPr sz="2400" b="0" i="0" u="none"/>
                        <a:t>Add AI provenance headers</a:t>
                      </a:r>
                    </a:p>
                  </a:txBody>
                  <a:tcPr>
                    <a:solidFill>
                      <a:schemeClr val="accent4">
                        <a:lumMod val="8000"/>
                        <a:lumOff val="92000"/>
                      </a:schemeClr>
                    </a:solidFill>
                  </a:tcPr>
                </a:tc>
                <a:tc>
                  <a:txBody>
                    <a:bodyPr/>
                    <a:lstStyle/>
                    <a:p>
                      <a:pPr>
                        <a:buNone/>
                        <a:defRPr sz="1600" b="0">
                          <a:solidFill>
                            <a:schemeClr val="tx1"/>
                          </a:solidFill>
                        </a:defRPr>
                      </a:pPr>
                      <a:r>
                        <a:rPr sz="2400" b="0" i="0" u="none"/>
                        <a:t>Very Low</a:t>
                      </a:r>
                    </a:p>
                  </a:txBody>
                  <a:tcPr>
                    <a:solidFill>
                      <a:schemeClr val="accent4">
                        <a:lumMod val="8000"/>
                        <a:lumOff val="92000"/>
                      </a:schemeClr>
                    </a:solidFill>
                  </a:tcPr>
                </a:tc>
                <a:tc>
                  <a:txBody>
                    <a:bodyPr/>
                    <a:lstStyle/>
                    <a:p>
                      <a:pPr>
                        <a:buNone/>
                        <a:defRPr sz="1600" b="0">
                          <a:solidFill>
                            <a:schemeClr val="tx1"/>
                          </a:solidFill>
                        </a:defRPr>
                      </a:pPr>
                      <a:r>
                        <a:rPr sz="2400" b="0" i="0" u="none" dirty="0"/>
                        <a:t>Medium</a:t>
                      </a:r>
                    </a:p>
                  </a:txBody>
                  <a:tcPr>
                    <a:solidFill>
                      <a:schemeClr val="accent4">
                        <a:lumMod val="8000"/>
                        <a:lumOff val="92000"/>
                      </a:schemeClr>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8928887" cy="703024"/>
          </a:xfrm>
        </p:spPr>
        <p:txBody>
          <a:bodyPr anchor="ctr">
            <a:normAutofit/>
          </a:bodyPr>
          <a:lstStyle/>
          <a:p>
            <a:pPr>
              <a:buNone/>
            </a:pPr>
            <a:r>
              <a:rPr lang="en-US" sz="3100" b="0" i="0" u="none"/>
              <a:t>Reaching Evergreen: Quick Wins Compound</a:t>
            </a:r>
          </a:p>
        </p:txBody>
      </p:sp>
      <p:sp>
        <p:nvSpPr>
          <p:cNvPr id="3" name="Content Placeholder 2"/>
          <p:cNvSpPr>
            <a:spLocks noGrp="1"/>
          </p:cNvSpPr>
          <p:nvPr>
            <p:ph sz="half" idx="1"/>
          </p:nvPr>
        </p:nvSpPr>
        <p:spPr>
          <a:xfrm>
            <a:off x="838200" y="1463752"/>
            <a:ext cx="5181600" cy="4351338"/>
          </a:xfrm>
        </p:spPr>
        <p:txBody>
          <a:bodyPr>
            <a:normAutofit/>
          </a:bodyPr>
          <a:lstStyle/>
          <a:p>
            <a:pPr>
              <a:buNone/>
            </a:pPr>
            <a:r>
              <a:rPr lang="en-US" sz="2600" b="0" i="0" u="none"/>
              <a:t>Low-effort, high-impact fixes accumulate into a significantly healthier codebase:</a:t>
            </a:r>
            <a:endParaRPr lang="en-US" sz="2600" b="0" i="0"/>
          </a:p>
          <a:p>
            <a:pPr>
              <a:buNone/>
            </a:pPr>
            <a:endParaRPr lang="en-US" sz="2600" b="0" i="0"/>
          </a:p>
          <a:p>
            <a:pPr>
              <a:buNone/>
            </a:pPr>
            <a:endParaRPr lang="en-US" sz="2600" b="0" i="0"/>
          </a:p>
          <a:p>
            <a:pPr>
              <a:buNone/>
            </a:pPr>
            <a:endParaRPr lang="en-US" sz="2600" b="0" i="0"/>
          </a:p>
          <a:p>
            <a:pPr>
              <a:buNone/>
            </a:pPr>
            <a:r>
              <a:rPr lang="en-US" sz="2600" b="0" i="0" u="none"/>
              <a:t>Evergreen state = debt is continuously detected, tracked, and paid down</a:t>
            </a:r>
            <a:endParaRPr lang="en-US" sz="2600" b="0" i="0"/>
          </a:p>
        </p:txBody>
      </p:sp>
      <p:pic>
        <p:nvPicPr>
          <p:cNvPr id="4" name="Picture 3" descr="752f3afc2384621171d64d6a6f99877f0258e759.png"/>
          <p:cNvPicPr>
            <a:picLocks noChangeAspect="1"/>
          </p:cNvPicPr>
          <p:nvPr/>
        </p:nvPicPr>
        <p:blipFill>
          <a:blip r:embed="rId3"/>
          <a:stretch>
            <a:fillRect/>
          </a:stretch>
        </p:blipFill>
        <p:spPr>
          <a:xfrm>
            <a:off x="7830457" y="1068150"/>
            <a:ext cx="1634255" cy="5784978"/>
          </a:xfrm>
          <a:prstGeom prst="rect">
            <a:avLst/>
          </a:prstGeom>
          <a:noFill/>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r>
              <a:rPr b="0" i="0" u="none"/>
              <a:t>Intro</a:t>
            </a:r>
          </a:p>
          <a:p>
            <a:r>
              <a:rPr b="0" i="0" u="none"/>
              <a:t>AI Practitioner Resources</a:t>
            </a:r>
          </a:p>
          <a:p>
            <a:r>
              <a:rPr b="0" i="0" u="none"/>
              <a:t>Brownfield Software Development</a:t>
            </a:r>
          </a:p>
          <a:p>
            <a:r>
              <a:rPr b="0" i="0" u="none"/>
              <a:t>AI Implementation Workflow</a:t>
            </a:r>
          </a:p>
          <a:p>
            <a:r>
              <a:rPr b="0" i="0" u="none"/>
              <a:t>Building a Backlog</a:t>
            </a:r>
          </a:p>
          <a:p>
            <a:r>
              <a:rPr b="1" i="0" u="none"/>
              <a:t>▶ Addressing Technical Debt</a:t>
            </a:r>
          </a:p>
          <a:p>
            <a:r>
              <a:rPr b="0" i="0" u="none"/>
              <a:t>Multi-Implementation Comparison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4000" b="0" i="0" u="none"/>
              <a:t>Addressing Technical Debt with Copilot</a:t>
            </a:r>
          </a:p>
        </p:txBody>
      </p:sp>
      <p:sp>
        <p:nvSpPr>
          <p:cNvPr id="3" name="Subtitle 2"/>
          <p:cNvSpPr>
            <a:spLocks noGrp="1"/>
          </p:cNvSpPr>
          <p:nvPr>
            <p:ph type="subTitle" idx="1"/>
          </p:nvPr>
        </p:nvSpPr>
        <p:spPr/>
        <p:txBody>
          <a:bodyPr wrap="square">
            <a:normAutofit/>
          </a:bodyPr>
          <a:lstStyle/>
          <a:p>
            <a:pPr>
              <a:buNone/>
            </a:pPr>
            <a:r>
              <a:rPr b="0" i="0" u="none"/>
              <a:t>Your Technical Debt Has an AI Payment Plan</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Addressing Technical Debt</a:t>
            </a:r>
          </a:p>
        </p:txBody>
      </p:sp>
      <p:sp>
        <p:nvSpPr>
          <p:cNvPr id="3" name="Content Placeholder 2"/>
          <p:cNvSpPr>
            <a:spLocks noGrp="1"/>
          </p:cNvSpPr>
          <p:nvPr>
            <p:ph idx="1"/>
          </p:nvPr>
        </p:nvSpPr>
        <p:spPr/>
        <p:txBody>
          <a:bodyPr wrap="square">
            <a:normAutofit/>
          </a:bodyPr>
          <a:lstStyle/>
          <a:p>
            <a:r>
              <a:rPr sz="2800" b="0" i="0" u="none"/>
              <a:t>Prompting Copilot to address debt</a:t>
            </a:r>
            <a:endParaRPr sz="2800" b="0" i="0">
              <a:latin typeface="Arial"/>
            </a:endParaRPr>
          </a:p>
          <a:p>
            <a:r>
              <a:rPr sz="2800" b="0" i="0" u="none"/>
              <a:t>Assigning issues to Copilot</a:t>
            </a:r>
            <a:endParaRPr sz="2800" b="0" i="0">
              <a:latin typeface="Arial"/>
            </a:endParaRPr>
          </a:p>
          <a:p>
            <a:r>
              <a:rPr sz="2800" b="0" i="0" u="none"/>
              <a:t>What Copilot does with assigned issues</a:t>
            </a:r>
            <a:endParaRPr sz="2800" b="0" i="0">
              <a:latin typeface="Arial"/>
            </a:endParaRPr>
          </a:p>
          <a:p>
            <a:r>
              <a:rPr sz="2800" b="0" i="0" u="none"/>
              <a:t>Exercises for hands-on practice</a:t>
            </a:r>
            <a:endParaRPr sz="2800" b="0" i="0">
              <a:latin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250" b="0" i="0" u="none"/>
              <a:t>Prompting Copilot to Address Technical Debt</a:t>
            </a:r>
          </a:p>
        </p:txBody>
      </p:sp>
      <p:sp>
        <p:nvSpPr>
          <p:cNvPr id="3" name="Content Placeholder 2"/>
          <p:cNvSpPr>
            <a:spLocks noGrp="1"/>
          </p:cNvSpPr>
          <p:nvPr>
            <p:ph idx="1"/>
          </p:nvPr>
        </p:nvSpPr>
        <p:spPr/>
        <p:txBody>
          <a:bodyPr wrap="square">
            <a:noAutofit/>
          </a:bodyPr>
          <a:lstStyle/>
          <a:p>
            <a:pPr>
              <a:buNone/>
            </a:pPr>
            <a:r>
              <a:rPr sz="2350" b="0" i="0" u="none"/>
              <a:t>Effective prompts include:</a:t>
            </a:r>
            <a:endParaRPr sz="2350" b="0" i="0">
              <a:latin typeface="Arial"/>
            </a:endParaRPr>
          </a:p>
          <a:p>
            <a:pPr lvl="1"/>
            <a:r>
              <a:rPr sz="2350" b="0" i="0" u="none"/>
              <a:t>Clear description of the debt</a:t>
            </a:r>
            <a:endParaRPr sz="2350" b="0" i="0">
              <a:latin typeface="Arial"/>
            </a:endParaRPr>
          </a:p>
          <a:p>
            <a:pPr lvl="1"/>
            <a:r>
              <a:rPr sz="2350" b="0" i="0" u="none"/>
              <a:t>Constraints and architectural rules</a:t>
            </a:r>
            <a:endParaRPr sz="2350" b="0" i="0">
              <a:latin typeface="Arial"/>
            </a:endParaRPr>
          </a:p>
          <a:p>
            <a:pPr lvl="1"/>
            <a:r>
              <a:rPr sz="2350" b="0" i="0" u="none"/>
              <a:t>Expected outcomes</a:t>
            </a:r>
            <a:endParaRPr sz="2350" b="0" i="0">
              <a:latin typeface="Arial"/>
            </a:endParaRPr>
          </a:p>
          <a:p>
            <a:pPr lvl="1"/>
            <a:r>
              <a:rPr sz="2350" b="0" i="0" u="none"/>
              <a:t>Required tests and documentation updates</a:t>
            </a:r>
            <a:endParaRPr sz="2350" b="0" i="0">
              <a:latin typeface="Arial"/>
            </a:endParaRPr>
          </a:p>
          <a:p>
            <a:pPr lvl="1"/>
            <a:r>
              <a:rPr sz="2350" b="0" i="0" u="none"/>
              <a:t>Provenance requirements</a:t>
            </a:r>
            <a:endParaRPr sz="2350" b="0" i="0">
              <a:latin typeface="Arial"/>
            </a:endParaRPr>
          </a:p>
          <a:p>
            <a:pPr>
              <a:buNone/>
            </a:pPr>
            <a:r>
              <a:rPr sz="2350" b="0" i="0" u="none"/>
              <a:t>Benefits</a:t>
            </a:r>
            <a:endParaRPr sz="2350" b="0" i="0">
              <a:latin typeface="Arial"/>
            </a:endParaRPr>
          </a:p>
          <a:p>
            <a:pPr lvl="1"/>
            <a:r>
              <a:rPr sz="2350" b="0" i="0" u="none"/>
              <a:t>Faster remediation</a:t>
            </a:r>
            <a:endParaRPr sz="2350" b="0" i="0">
              <a:latin typeface="Arial"/>
            </a:endParaRPr>
          </a:p>
          <a:p>
            <a:pPr lvl="1"/>
            <a:r>
              <a:rPr sz="2350" b="0" i="0" u="none"/>
              <a:t>Consistent application of patterns</a:t>
            </a:r>
            <a:endParaRPr sz="2350" b="0" i="0">
              <a:latin typeface="Arial"/>
            </a:endParaRPr>
          </a:p>
          <a:p>
            <a:pPr lvl="1"/>
            <a:r>
              <a:rPr sz="2350" b="0" i="0" u="none"/>
              <a:t>Reduced manual effort</a:t>
            </a:r>
            <a:endParaRPr sz="2350" b="0" i="0">
              <a:latin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Assigning Issues to Copilot</a:t>
            </a:r>
          </a:p>
        </p:txBody>
      </p:sp>
      <p:sp>
        <p:nvSpPr>
          <p:cNvPr id="3" name="Content Placeholder 2"/>
          <p:cNvSpPr>
            <a:spLocks noGrp="1"/>
          </p:cNvSpPr>
          <p:nvPr>
            <p:ph idx="1"/>
          </p:nvPr>
        </p:nvSpPr>
        <p:spPr/>
        <p:txBody>
          <a:bodyPr wrap="square">
            <a:noAutofit/>
          </a:bodyPr>
          <a:lstStyle/>
          <a:p>
            <a:pPr>
              <a:buNone/>
            </a:pPr>
            <a:r>
              <a:rPr sz="2300" b="0" i="0" u="none"/>
              <a:t>How assignment works</a:t>
            </a:r>
            <a:endParaRPr sz="2300" b="0" i="0">
              <a:latin typeface="Arial"/>
            </a:endParaRPr>
          </a:p>
          <a:p>
            <a:pPr lvl="1"/>
            <a:r>
              <a:rPr sz="2300" b="0" i="0" u="none"/>
              <a:t>Convert technical debt into GitHub issues</a:t>
            </a:r>
            <a:endParaRPr sz="2300" b="0" i="0">
              <a:latin typeface="Arial"/>
            </a:endParaRPr>
          </a:p>
          <a:p>
            <a:pPr lvl="1"/>
            <a:r>
              <a:rPr sz="2300" b="0" i="0" u="none"/>
              <a:t>Provide context, constraints, and acceptance criteria</a:t>
            </a:r>
            <a:endParaRPr sz="2300" b="0" i="0">
              <a:latin typeface="Arial"/>
            </a:endParaRPr>
          </a:p>
          <a:p>
            <a:pPr lvl="1"/>
            <a:r>
              <a:rPr sz="2300" b="0" i="0" u="none"/>
              <a:t>Use Copilot to draft remediation steps</a:t>
            </a:r>
            <a:endParaRPr sz="2300" b="0" i="0">
              <a:latin typeface="Arial"/>
            </a:endParaRPr>
          </a:p>
          <a:p>
            <a:pPr lvl="1"/>
            <a:r>
              <a:rPr sz="2300" b="0" i="0" u="none"/>
              <a:t>Let Copilot propose code changes in PRs</a:t>
            </a:r>
            <a:endParaRPr sz="2300" b="0" i="0">
              <a:latin typeface="Arial"/>
            </a:endParaRPr>
          </a:p>
          <a:p>
            <a:pPr>
              <a:buNone/>
            </a:pPr>
            <a:endParaRPr sz="2300" b="0" i="0">
              <a:latin typeface="Arial"/>
            </a:endParaRPr>
          </a:p>
          <a:p>
            <a:pPr>
              <a:buNone/>
            </a:pPr>
            <a:r>
              <a:rPr sz="2300" b="0" i="0" u="none"/>
              <a:t>Why assign issues?</a:t>
            </a:r>
            <a:endParaRPr sz="2300" b="0" i="0">
              <a:latin typeface="Arial"/>
            </a:endParaRPr>
          </a:p>
          <a:p>
            <a:pPr lvl="1"/>
            <a:r>
              <a:rPr sz="2300" b="0" i="0" u="none"/>
              <a:t>Creates a repeatable workflow</a:t>
            </a:r>
            <a:endParaRPr sz="2300" b="0" i="0">
              <a:latin typeface="Arial"/>
            </a:endParaRPr>
          </a:p>
          <a:p>
            <a:pPr lvl="1"/>
            <a:r>
              <a:rPr sz="2300" b="0" i="0" u="none"/>
              <a:t>Keeps humans in the reviewer role</a:t>
            </a:r>
            <a:endParaRPr sz="2300" b="0" i="0">
              <a:latin typeface="Arial"/>
            </a:endParaRPr>
          </a:p>
          <a:p>
            <a:pPr lvl="1"/>
            <a:r>
              <a:rPr sz="2300" b="0" i="0" u="none"/>
              <a:t>Ensures traceability and provenance</a:t>
            </a:r>
            <a:endParaRPr sz="2300" b="0" i="0">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600" b="0" i="0" u="none"/>
              <a:t>What Copilot Does With Assigned Issues</a:t>
            </a:r>
          </a:p>
        </p:txBody>
      </p:sp>
      <p:sp>
        <p:nvSpPr>
          <p:cNvPr id="3" name="Content Placeholder 2"/>
          <p:cNvSpPr>
            <a:spLocks noGrp="1"/>
          </p:cNvSpPr>
          <p:nvPr>
            <p:ph idx="1"/>
          </p:nvPr>
        </p:nvSpPr>
        <p:spPr/>
        <p:txBody>
          <a:bodyPr wrap="square">
            <a:normAutofit/>
          </a:bodyPr>
          <a:lstStyle/>
          <a:p>
            <a:r>
              <a:rPr sz="2800" b="0" i="0" u="none" dirty="0"/>
              <a:t>Copilot reads the issue description and linked context</a:t>
            </a:r>
            <a:endParaRPr sz="2800" b="0" i="0" dirty="0">
              <a:latin typeface="Arial"/>
            </a:endParaRPr>
          </a:p>
          <a:p>
            <a:r>
              <a:rPr sz="2800" b="0" i="0" u="none" dirty="0"/>
              <a:t>Generates a proposed plan or implementation approach</a:t>
            </a:r>
            <a:endParaRPr sz="2800" b="0" i="0" dirty="0">
              <a:latin typeface="Arial"/>
            </a:endParaRPr>
          </a:p>
          <a:p>
            <a:r>
              <a:rPr sz="2800" b="0" i="0" u="none" dirty="0"/>
              <a:t>Creates or updates pull requests with code changes</a:t>
            </a:r>
            <a:endParaRPr sz="2800" b="0" i="0" dirty="0">
              <a:latin typeface="Arial"/>
            </a:endParaRPr>
          </a:p>
          <a:p>
            <a:r>
              <a:rPr sz="2800" b="0" i="0" u="none" dirty="0"/>
              <a:t>Adds explanations, tests, and documentation as needed</a:t>
            </a:r>
            <a:endParaRPr sz="2800" b="0" i="0" dirty="0">
              <a:latin typeface="Arial"/>
            </a:endParaRPr>
          </a:p>
          <a:p>
            <a:r>
              <a:rPr sz="2800" b="0" i="0" u="none" dirty="0"/>
              <a:t>Iterates based on review comments</a:t>
            </a:r>
            <a:endParaRPr sz="2800" b="0" i="0" dirty="0">
              <a:latin typeface="Arial"/>
            </a:endParaRPr>
          </a:p>
          <a:p>
            <a:r>
              <a:rPr sz="2800" b="0" i="0" u="none" dirty="0"/>
              <a:t>Maintains traceability between issue → PR → commits</a:t>
            </a:r>
            <a:endParaRPr sz="2800" b="0" i="0" dirty="0">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4150" b="0" i="0" u="none"/>
              <a:t>Exercise: Generate Instruction Files</a:t>
            </a:r>
          </a:p>
        </p:txBody>
      </p:sp>
      <p:sp>
        <p:nvSpPr>
          <p:cNvPr id="3" name="Content Placeholder 2"/>
          <p:cNvSpPr>
            <a:spLocks noGrp="1"/>
          </p:cNvSpPr>
          <p:nvPr>
            <p:ph sz="half" idx="1"/>
          </p:nvPr>
        </p:nvSpPr>
        <p:spPr/>
        <p:txBody>
          <a:bodyPr wrap="square">
            <a:noAutofit/>
          </a:bodyPr>
          <a:lstStyle/>
          <a:p>
            <a:pPr>
              <a:buNone/>
            </a:pPr>
            <a:r>
              <a:rPr sz="2000" b="0" i="0" u="none"/>
              <a:t>Objectives</a:t>
            </a:r>
            <a:endParaRPr sz="2000" b="0" i="0">
              <a:latin typeface="Arial"/>
            </a:endParaRPr>
          </a:p>
          <a:p>
            <a:pPr lvl="1"/>
            <a:r>
              <a:rPr sz="2000" b="0" i="0" u="none"/>
              <a:t>Use meta prompts to scale instruction-file creation</a:t>
            </a:r>
            <a:endParaRPr sz="2000" b="0" i="0">
              <a:latin typeface="Arial"/>
            </a:endParaRPr>
          </a:p>
          <a:p>
            <a:pPr lvl="1"/>
            <a:r>
              <a:rPr sz="2000" b="0" i="0" u="none"/>
              <a:t>Capture module-specific rules</a:t>
            </a:r>
            <a:endParaRPr sz="2000" b="0" i="0">
              <a:latin typeface="Arial"/>
            </a:endParaRPr>
          </a:p>
          <a:p>
            <a:pPr lvl="1"/>
            <a:r>
              <a:rPr sz="2000" b="0" i="0" u="none"/>
              <a:t>Encode domain and architectural constraints</a:t>
            </a:r>
            <a:endParaRPr sz="2000" b="0" i="0">
              <a:latin typeface="Arial"/>
            </a:endParaRPr>
          </a:p>
          <a:p>
            <a:pPr>
              <a:buNone/>
            </a:pPr>
            <a:endParaRPr sz="2000" b="0" i="0">
              <a:latin typeface="Arial"/>
            </a:endParaRPr>
          </a:p>
          <a:p>
            <a:pPr>
              <a:buNone/>
            </a:pPr>
            <a:r>
              <a:rPr sz="2000" b="0" i="0" u="none"/>
              <a:t>Activities</a:t>
            </a:r>
            <a:endParaRPr sz="2000" b="0" i="0">
              <a:latin typeface="Arial"/>
            </a:endParaRPr>
          </a:p>
          <a:p>
            <a:pPr lvl="1">
              <a:buNone/>
            </a:pPr>
            <a:r>
              <a:rPr sz="2000" b="0" i="0" u="none"/>
              <a:t>  1. Prompt Copilot to create instruction files for the standards and conventions of the tech stack</a:t>
            </a:r>
            <a:endParaRPr sz="2000" b="0" i="0">
              <a:latin typeface="Arial"/>
            </a:endParaRPr>
          </a:p>
          <a:p>
            <a:pPr lvl="1">
              <a:buNone/>
            </a:pPr>
            <a:r>
              <a:rPr sz="2000" b="0" i="0" u="none"/>
              <a:t>  2. Review instructions</a:t>
            </a:r>
            <a:endParaRPr sz="2000" b="0" i="0">
              <a:latin typeface="Arial"/>
            </a:endParaRPr>
          </a:p>
        </p:txBody>
      </p:sp>
      <p:sp>
        <p:nvSpPr>
          <p:cNvPr id="4" name="Content Placeholder 3"/>
          <p:cNvSpPr>
            <a:spLocks noGrp="1"/>
          </p:cNvSpPr>
          <p:nvPr>
            <p:ph sz="half" idx="2"/>
          </p:nvPr>
        </p:nvSpPr>
        <p:spPr/>
        <p:txBody>
          <a:bodyPr wrap="square">
            <a:normAutofit/>
          </a:bodyPr>
          <a:lstStyle/>
          <a:p>
            <a:pPr>
              <a:buNone/>
            </a:pPr>
            <a:r>
              <a:rPr sz="2000" b="0" i="0" u="none" dirty="0"/>
              <a:t>Success Criteria</a:t>
            </a:r>
            <a:endParaRPr sz="2000" b="0" i="0" dirty="0">
              <a:latin typeface="Arial"/>
            </a:endParaRPr>
          </a:p>
          <a:p>
            <a:pPr lvl="1"/>
            <a:r>
              <a:rPr sz="2000" b="0" i="0" u="none" dirty="0"/>
              <a:t>Instruction files reflect real system constraints</a:t>
            </a:r>
            <a:endParaRPr sz="2000" b="0" i="0" dirty="0">
              <a:latin typeface="Arial"/>
            </a:endParaRPr>
          </a:p>
          <a:p>
            <a:pPr lvl="1"/>
            <a:r>
              <a:rPr sz="2000" b="0" i="0" u="none" dirty="0"/>
              <a:t>Meta prompts produce consistent structure</a:t>
            </a:r>
            <a:endParaRPr sz="2000" b="0" i="0" dirty="0">
              <a:latin typeface="Arial"/>
            </a:endParaRPr>
          </a:p>
          <a:p>
            <a:pPr lvl="1"/>
            <a:r>
              <a:rPr sz="2000" b="0" i="0" u="none" dirty="0"/>
              <a:t>Files are ready for team use</a:t>
            </a:r>
            <a:endParaRPr sz="2000" b="0" i="0" dirty="0">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2450" b="0" i="0" u="none"/>
              <a:t>Exercise: Generate Issues to Make the Codebase Evergreen</a:t>
            </a:r>
          </a:p>
        </p:txBody>
      </p:sp>
      <p:sp>
        <p:nvSpPr>
          <p:cNvPr id="3" name="Content Placeholder 2"/>
          <p:cNvSpPr>
            <a:spLocks noGrp="1"/>
          </p:cNvSpPr>
          <p:nvPr>
            <p:ph sz="half" idx="1"/>
          </p:nvPr>
        </p:nvSpPr>
        <p:spPr/>
        <p:txBody>
          <a:bodyPr wrap="square">
            <a:noAutofit/>
          </a:bodyPr>
          <a:lstStyle/>
          <a:p>
            <a:pPr>
              <a:buNone/>
            </a:pPr>
            <a:r>
              <a:rPr sz="1750" b="0" i="0" u="none"/>
              <a:t>Objectives</a:t>
            </a:r>
            <a:endParaRPr sz="1750" b="0" i="0">
              <a:latin typeface="Arial"/>
            </a:endParaRPr>
          </a:p>
          <a:p>
            <a:pPr lvl="1"/>
            <a:r>
              <a:rPr sz="1750" b="0" i="0" u="none"/>
              <a:t>Identify conformance gaps</a:t>
            </a:r>
            <a:endParaRPr sz="1750" b="0" i="0">
              <a:latin typeface="Arial"/>
            </a:endParaRPr>
          </a:p>
          <a:p>
            <a:pPr lvl="1"/>
            <a:r>
              <a:rPr sz="1750" b="0" i="0" u="none"/>
              <a:t>Convert gaps into actionable issues</a:t>
            </a:r>
            <a:endParaRPr sz="1750" b="0" i="0">
              <a:latin typeface="Arial"/>
            </a:endParaRPr>
          </a:p>
          <a:p>
            <a:pPr lvl="1"/>
            <a:r>
              <a:rPr sz="1750" b="0" i="0" u="none"/>
              <a:t>Apply consistent structure and provenance</a:t>
            </a:r>
            <a:endParaRPr sz="1750" b="0" i="0">
              <a:latin typeface="Arial"/>
            </a:endParaRPr>
          </a:p>
          <a:p>
            <a:pPr lvl="1"/>
            <a:r>
              <a:rPr sz="1750" b="0" i="0" u="none"/>
              <a:t>Prioritize issues based on risk and impact</a:t>
            </a:r>
            <a:endParaRPr sz="1750" b="0" i="0">
              <a:latin typeface="Arial"/>
            </a:endParaRPr>
          </a:p>
          <a:p>
            <a:pPr>
              <a:buNone/>
            </a:pPr>
            <a:endParaRPr sz="1750" b="0" i="0">
              <a:latin typeface="Arial"/>
            </a:endParaRPr>
          </a:p>
          <a:p>
            <a:pPr>
              <a:buNone/>
            </a:pPr>
            <a:r>
              <a:rPr sz="1750" b="0" i="0" u="none"/>
              <a:t>Activities</a:t>
            </a:r>
            <a:endParaRPr sz="1750" b="0" i="0">
              <a:latin typeface="Arial"/>
            </a:endParaRPr>
          </a:p>
          <a:p>
            <a:pPr lvl="1">
              <a:buNone/>
            </a:pPr>
            <a:r>
              <a:rPr sz="1750" b="0" i="0" u="none"/>
              <a:t>  1. Select a brownfield module or file.</a:t>
            </a:r>
            <a:endParaRPr sz="1750" b="0" i="0">
              <a:latin typeface="Arial"/>
            </a:endParaRPr>
          </a:p>
          <a:p>
            <a:pPr lvl="1">
              <a:buNone/>
            </a:pPr>
            <a:r>
              <a:rPr sz="1750" b="0" i="0" u="none"/>
              <a:t>  2. Compare it against the project's instruction file.</a:t>
            </a:r>
            <a:endParaRPr sz="1750" b="0" i="0">
              <a:latin typeface="Arial"/>
            </a:endParaRPr>
          </a:p>
          <a:p>
            <a:pPr lvl="1">
              <a:buNone/>
            </a:pPr>
            <a:r>
              <a:rPr sz="1750" b="0" i="0" u="none"/>
              <a:t>  3. Ask AI to identify conformance gaps.</a:t>
            </a:r>
            <a:endParaRPr sz="1750" b="0" i="0">
              <a:latin typeface="Arial"/>
            </a:endParaRPr>
          </a:p>
        </p:txBody>
      </p:sp>
      <p:sp>
        <p:nvSpPr>
          <p:cNvPr id="4" name="Content Placeholder 3"/>
          <p:cNvSpPr>
            <a:spLocks noGrp="1"/>
          </p:cNvSpPr>
          <p:nvPr>
            <p:ph sz="half" idx="2"/>
          </p:nvPr>
        </p:nvSpPr>
        <p:spPr/>
        <p:txBody>
          <a:bodyPr wrap="square">
            <a:noAutofit/>
          </a:bodyPr>
          <a:lstStyle/>
          <a:p>
            <a:pPr>
              <a:buNone/>
            </a:pPr>
            <a:r>
              <a:rPr sz="1400" b="0" i="0" u="none"/>
              <a:t>4. Convert each gap into a GitHub issue with:</a:t>
            </a:r>
            <a:endParaRPr sz="1400" b="0" i="0">
              <a:latin typeface="Arial"/>
            </a:endParaRPr>
          </a:p>
          <a:p>
            <a:pPr lvl="2"/>
            <a:r>
              <a:rPr sz="1400" b="0" i="0" u="none"/>
              <a:t>Title</a:t>
            </a:r>
            <a:endParaRPr sz="1400" b="0" i="0">
              <a:latin typeface="Arial"/>
            </a:endParaRPr>
          </a:p>
          <a:p>
            <a:pPr lvl="2"/>
            <a:r>
              <a:rPr sz="1400" b="0" i="0" u="none"/>
              <a:t>Description</a:t>
            </a:r>
            <a:endParaRPr sz="1400" b="0" i="0">
              <a:latin typeface="Arial"/>
            </a:endParaRPr>
          </a:p>
          <a:p>
            <a:pPr lvl="2"/>
            <a:r>
              <a:rPr sz="1400" b="0" i="0" u="none"/>
              <a:t>Violated rule</a:t>
            </a:r>
            <a:endParaRPr sz="1400" b="0" i="0">
              <a:latin typeface="Arial"/>
            </a:endParaRPr>
          </a:p>
          <a:p>
            <a:pPr lvl="2"/>
            <a:r>
              <a:rPr sz="1400" b="0" i="0" u="none"/>
              <a:t>Suggested remediation</a:t>
            </a:r>
            <a:endParaRPr sz="1400" b="0" i="0">
              <a:latin typeface="Arial"/>
            </a:endParaRPr>
          </a:p>
          <a:p>
            <a:pPr lvl="2"/>
            <a:r>
              <a:rPr sz="1400" b="0" i="0" u="none"/>
              <a:t>Acceptance criteria</a:t>
            </a:r>
            <a:endParaRPr sz="1400" b="0" i="0">
              <a:latin typeface="Arial"/>
            </a:endParaRPr>
          </a:p>
          <a:p>
            <a:pPr lvl="2"/>
            <a:r>
              <a:rPr sz="1400" b="0" i="0" u="none"/>
              <a:t>Provenance metadata</a:t>
            </a:r>
            <a:endParaRPr sz="1400" b="0" i="0">
              <a:latin typeface="Arial"/>
            </a:endParaRPr>
          </a:p>
          <a:p>
            <a:pPr lvl="1">
              <a:buNone/>
            </a:pPr>
            <a:r>
              <a:rPr sz="1400" b="0" i="0" u="none"/>
              <a:t>  5. Prioritize the issues.</a:t>
            </a:r>
            <a:endParaRPr sz="1400" b="0" i="0">
              <a:latin typeface="Arial"/>
            </a:endParaRPr>
          </a:p>
          <a:p>
            <a:pPr>
              <a:buNone/>
            </a:pPr>
            <a:endParaRPr sz="1400" b="0" i="0">
              <a:latin typeface="Arial"/>
            </a:endParaRPr>
          </a:p>
          <a:p>
            <a:pPr>
              <a:buNone/>
            </a:pPr>
            <a:r>
              <a:rPr sz="1400" b="0" i="0" u="none"/>
              <a:t>Success Criteria</a:t>
            </a:r>
            <a:endParaRPr sz="1400" b="0" i="0">
              <a:latin typeface="Arial"/>
            </a:endParaRPr>
          </a:p>
          <a:p>
            <a:r>
              <a:rPr sz="1400" b="0" i="0" u="none"/>
              <a:t>Issues are clear, actionable, and aligned with instruction files</a:t>
            </a:r>
            <a:endParaRPr sz="1400" b="0" i="0">
              <a:latin typeface="Arial"/>
            </a:endParaRPr>
          </a:p>
          <a:p>
            <a:r>
              <a:rPr sz="1400" b="0" i="0" u="none"/>
              <a:t>Provenance metadata is included</a:t>
            </a:r>
            <a:endParaRPr sz="1400" b="0" i="0">
              <a:latin typeface="Arial"/>
            </a:endParaRPr>
          </a:p>
          <a:p>
            <a:r>
              <a:rPr sz="1400" b="0" i="0" u="none"/>
              <a:t>Prioritization reflects real risk and effort</a:t>
            </a:r>
            <a:endParaRPr sz="1400" b="0" i="0">
              <a:latin typeface="Arial"/>
            </a:endParaRPr>
          </a:p>
          <a:p>
            <a:r>
              <a:rPr sz="1400" b="0" i="0" u="none"/>
              <a:t>Backlog is ready for team review</a:t>
            </a:r>
            <a:endParaRPr sz="1400" b="0" i="0">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2950" b="0" i="0" u="none"/>
              <a:t>Exercise: Identifying Code Outside the Guardrails</a:t>
            </a:r>
          </a:p>
        </p:txBody>
      </p:sp>
      <p:sp>
        <p:nvSpPr>
          <p:cNvPr id="3" name="Content Placeholder 2"/>
          <p:cNvSpPr>
            <a:spLocks noGrp="1"/>
          </p:cNvSpPr>
          <p:nvPr>
            <p:ph sz="half" idx="1"/>
          </p:nvPr>
        </p:nvSpPr>
        <p:spPr/>
        <p:txBody>
          <a:bodyPr wrap="square">
            <a:normAutofit fontScale="92500" lnSpcReduction="10000"/>
          </a:bodyPr>
          <a:lstStyle/>
          <a:p>
            <a:pPr>
              <a:buNone/>
            </a:pPr>
            <a:r>
              <a:rPr sz="2000" b="0" i="0" u="none" dirty="0"/>
              <a:t>Objectives</a:t>
            </a:r>
            <a:endParaRPr sz="2000" b="0" i="0" dirty="0">
              <a:latin typeface="Arial"/>
            </a:endParaRPr>
          </a:p>
          <a:p>
            <a:pPr lvl="1"/>
            <a:r>
              <a:rPr sz="2000" b="0" i="0" u="none" dirty="0"/>
              <a:t>Detect code that violates architectural rules</a:t>
            </a:r>
            <a:endParaRPr sz="2000" b="0" i="0" dirty="0">
              <a:latin typeface="Arial"/>
            </a:endParaRPr>
          </a:p>
          <a:p>
            <a:pPr lvl="1"/>
            <a:r>
              <a:rPr sz="2000" b="0" i="0" u="none" dirty="0"/>
              <a:t>Identify patterns that contradict instruction files</a:t>
            </a:r>
            <a:endParaRPr sz="2000" b="0" i="0" dirty="0">
              <a:latin typeface="Arial"/>
            </a:endParaRPr>
          </a:p>
          <a:p>
            <a:pPr lvl="1"/>
            <a:r>
              <a:rPr sz="2000" b="0" i="0" u="none" dirty="0"/>
              <a:t>Practice safe analysis workflows</a:t>
            </a:r>
            <a:endParaRPr sz="2000" b="0" i="0" dirty="0">
              <a:latin typeface="Arial"/>
            </a:endParaRPr>
          </a:p>
          <a:p>
            <a:pPr lvl="1"/>
            <a:r>
              <a:rPr sz="2000" b="0" i="0" u="none" dirty="0"/>
              <a:t>Make a plan for remediation</a:t>
            </a:r>
            <a:endParaRPr sz="2000" b="0" i="0" dirty="0">
              <a:latin typeface="Arial"/>
            </a:endParaRPr>
          </a:p>
          <a:p>
            <a:pPr>
              <a:buNone/>
            </a:pPr>
            <a:endParaRPr sz="2000" b="0" i="0" dirty="0">
              <a:latin typeface="Arial"/>
            </a:endParaRPr>
          </a:p>
          <a:p>
            <a:pPr>
              <a:buNone/>
            </a:pPr>
            <a:r>
              <a:rPr sz="2000" b="0" i="0" u="none" dirty="0"/>
              <a:t>Activities</a:t>
            </a:r>
            <a:endParaRPr sz="2000" b="0" i="0" dirty="0">
              <a:latin typeface="Arial"/>
            </a:endParaRPr>
          </a:p>
          <a:p>
            <a:pPr lvl="1">
              <a:buNone/>
            </a:pPr>
            <a:r>
              <a:rPr sz="2000" b="0" i="0" u="none" dirty="0"/>
              <a:t>  1. Review the code</a:t>
            </a:r>
            <a:endParaRPr sz="2000" b="0" i="0" dirty="0">
              <a:latin typeface="Arial"/>
            </a:endParaRPr>
          </a:p>
          <a:p>
            <a:pPr lvl="1">
              <a:buNone/>
            </a:pPr>
            <a:r>
              <a:rPr sz="2000" b="0" i="0" u="none" dirty="0"/>
              <a:t>  2. Compare it against the instruction files</a:t>
            </a:r>
            <a:endParaRPr sz="2000" b="0" i="0" dirty="0">
              <a:latin typeface="Arial"/>
            </a:endParaRPr>
          </a:p>
          <a:p>
            <a:pPr lvl="1">
              <a:buNone/>
            </a:pPr>
            <a:r>
              <a:rPr sz="2000" b="0" i="0" u="none" dirty="0"/>
              <a:t>  3. Identify violations or risky patterns</a:t>
            </a:r>
            <a:endParaRPr sz="2000" b="0" i="0" dirty="0">
              <a:latin typeface="Arial"/>
            </a:endParaRPr>
          </a:p>
        </p:txBody>
      </p:sp>
      <p:sp>
        <p:nvSpPr>
          <p:cNvPr id="4" name="Content Placeholder 3"/>
          <p:cNvSpPr>
            <a:spLocks noGrp="1"/>
          </p:cNvSpPr>
          <p:nvPr>
            <p:ph sz="half" idx="2"/>
          </p:nvPr>
        </p:nvSpPr>
        <p:spPr/>
        <p:txBody>
          <a:bodyPr wrap="square">
            <a:normAutofit/>
          </a:bodyPr>
          <a:lstStyle/>
          <a:p>
            <a:pPr lvl="1">
              <a:buNone/>
            </a:pPr>
            <a:r>
              <a:rPr lang="en-US" sz="1800" dirty="0"/>
              <a:t> 4. Propose safe remediation steps</a:t>
            </a:r>
            <a:endParaRPr lang="en-US" sz="1800" dirty="0">
              <a:latin typeface="Arial"/>
            </a:endParaRPr>
          </a:p>
          <a:p>
            <a:pPr lvl="1">
              <a:buNone/>
            </a:pPr>
            <a:r>
              <a:rPr lang="en-US" sz="1800" dirty="0"/>
              <a:t>  5. Document findings with provenance</a:t>
            </a:r>
            <a:endParaRPr lang="en-US" sz="1800" dirty="0">
              <a:latin typeface="Arial"/>
            </a:endParaRPr>
          </a:p>
          <a:p>
            <a:pPr>
              <a:buNone/>
            </a:pPr>
            <a:endParaRPr lang="en-US" sz="1800" dirty="0">
              <a:latin typeface="Arial"/>
            </a:endParaRPr>
          </a:p>
          <a:p>
            <a:pPr>
              <a:buNone/>
            </a:pPr>
            <a:r>
              <a:rPr lang="en-US" sz="1800" dirty="0"/>
              <a:t>Success Criteria</a:t>
            </a:r>
            <a:endParaRPr lang="en-US" sz="1800" dirty="0">
              <a:latin typeface="Arial"/>
            </a:endParaRPr>
          </a:p>
          <a:p>
            <a:pPr lvl="1"/>
            <a:r>
              <a:rPr lang="en-US" sz="1800" dirty="0"/>
              <a:t>Deviations are correctly identified</a:t>
            </a:r>
            <a:endParaRPr lang="en-US" sz="1800" dirty="0">
              <a:latin typeface="Arial"/>
            </a:endParaRPr>
          </a:p>
          <a:p>
            <a:pPr lvl="1"/>
            <a:r>
              <a:rPr lang="en-US" sz="1800" dirty="0"/>
              <a:t>Remediation steps are safe and incremental</a:t>
            </a:r>
            <a:endParaRPr lang="en-US" sz="1800" dirty="0">
              <a:latin typeface="Arial"/>
            </a:endParaRPr>
          </a:p>
          <a:p>
            <a:pPr lvl="1"/>
            <a:r>
              <a:rPr lang="en-US" sz="1800" dirty="0"/>
              <a:t>Documentation includes provenance</a:t>
            </a:r>
            <a:endParaRPr sz="3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Code Quality Analysis Exercise</a:t>
            </a:r>
          </a:p>
        </p:txBody>
      </p:sp>
      <p:sp>
        <p:nvSpPr>
          <p:cNvPr id="3" name="Subtitle 2"/>
          <p:cNvSpPr>
            <a:spLocks noGrp="1"/>
          </p:cNvSpPr>
          <p:nvPr>
            <p:ph type="subTitle" idx="1"/>
          </p:nvPr>
        </p:nvSpPr>
        <p:spPr/>
        <p:txBody>
          <a:bodyPr wrap="square">
            <a:normAutofit/>
          </a:bodyPr>
          <a:lstStyle/>
          <a:p>
            <a:pPr>
              <a:buNone/>
            </a:pPr>
            <a:r>
              <a:rPr b="0" i="0" u="none"/>
              <a:t>AI-Powered Code Shame Session</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buNone/>
            </a:pPr>
            <a:r>
              <a:rPr b="0" i="0" u="none"/>
              <a:t>Exercise: Code Quality Analysis</a:t>
            </a:r>
          </a:p>
        </p:txBody>
      </p:sp>
      <p:sp>
        <p:nvSpPr>
          <p:cNvPr id="3" name="Content Placeholder 2"/>
          <p:cNvSpPr>
            <a:spLocks noGrp="1"/>
          </p:cNvSpPr>
          <p:nvPr>
            <p:ph sz="half" idx="1"/>
          </p:nvPr>
        </p:nvSpPr>
        <p:spPr/>
        <p:txBody>
          <a:bodyPr wrap="square">
            <a:normAutofit fontScale="92500" lnSpcReduction="20000"/>
          </a:bodyPr>
          <a:lstStyle/>
          <a:p>
            <a:pPr>
              <a:buNone/>
            </a:pPr>
            <a:r>
              <a:rPr sz="1400" b="0" i="0" u="none" dirty="0"/>
              <a:t>Objectives</a:t>
            </a:r>
            <a:endParaRPr sz="1400" b="0" i="0" dirty="0">
              <a:latin typeface="Arial"/>
            </a:endParaRPr>
          </a:p>
          <a:p>
            <a:pPr lvl="1"/>
            <a:r>
              <a:rPr sz="1400" b="0" i="0" u="none" dirty="0"/>
              <a:t>Use AI to detect non-evergreen code patterns in the workspace.</a:t>
            </a:r>
            <a:endParaRPr sz="1400" b="0" i="0" dirty="0">
              <a:latin typeface="Arial"/>
            </a:endParaRPr>
          </a:p>
          <a:p>
            <a:pPr lvl="1"/>
            <a:r>
              <a:rPr sz="1400" b="0" i="0" u="none" dirty="0"/>
              <a:t>Distinguish temporary artifacts from long-lived maintainable assets.</a:t>
            </a:r>
            <a:endParaRPr sz="1400" b="0" i="0" dirty="0">
              <a:latin typeface="Arial"/>
            </a:endParaRPr>
          </a:p>
          <a:p>
            <a:pPr lvl="1"/>
            <a:r>
              <a:rPr sz="1400" b="0" i="0" u="none" dirty="0"/>
              <a:t>Propose practical evergreen refactors with clear priority.</a:t>
            </a:r>
            <a:endParaRPr sz="1400" b="0" i="0" dirty="0">
              <a:latin typeface="Arial"/>
            </a:endParaRPr>
          </a:p>
          <a:p>
            <a:pPr>
              <a:buNone/>
            </a:pPr>
            <a:endParaRPr sz="1400" b="0" i="0" dirty="0">
              <a:latin typeface="Arial"/>
            </a:endParaRPr>
          </a:p>
          <a:p>
            <a:pPr>
              <a:buNone/>
            </a:pPr>
            <a:r>
              <a:rPr sz="1400" b="0" i="0" u="none" dirty="0"/>
              <a:t>Activities</a:t>
            </a:r>
            <a:endParaRPr sz="1400" b="0" i="0" dirty="0">
              <a:latin typeface="Arial"/>
            </a:endParaRPr>
          </a:p>
          <a:p>
            <a:pPr>
              <a:buNone/>
            </a:pPr>
            <a:r>
              <a:rPr sz="1400" b="0" i="0" u="none" dirty="0"/>
              <a:t>1. AI Baseline Scan</a:t>
            </a:r>
            <a:endParaRPr sz="1400" b="0" i="0" dirty="0">
              <a:latin typeface="Arial"/>
            </a:endParaRPr>
          </a:p>
          <a:p>
            <a:pPr lvl="1"/>
            <a:r>
              <a:rPr sz="1400" b="0" i="0" u="none" dirty="0"/>
              <a:t>Run an AI prompt to identify files that look date-bound, draft-only, or placeholder-heavy.</a:t>
            </a:r>
            <a:endParaRPr sz="1400" b="0" i="0" dirty="0">
              <a:latin typeface="Arial"/>
            </a:endParaRPr>
          </a:p>
          <a:p>
            <a:pPr lvl="1"/>
            <a:r>
              <a:rPr sz="1400" b="0" i="0" u="none" dirty="0"/>
              <a:t>Collect at least 8 candidate findings across docs, prompts, and slides.</a:t>
            </a:r>
            <a:endParaRPr sz="1400" b="0" i="0" dirty="0">
              <a:latin typeface="Arial"/>
            </a:endParaRPr>
          </a:p>
          <a:p>
            <a:pPr>
              <a:buNone/>
            </a:pPr>
            <a:r>
              <a:rPr sz="1400" b="0" i="0" u="none" dirty="0"/>
              <a:t>2. Evidence and Classification</a:t>
            </a:r>
            <a:endParaRPr sz="1400" b="0" i="0" dirty="0">
              <a:latin typeface="Arial"/>
            </a:endParaRPr>
          </a:p>
          <a:p>
            <a:pPr lvl="1"/>
            <a:r>
              <a:rPr sz="1400" b="0" i="0" u="none" dirty="0"/>
              <a:t>Classify each finding as one type: date-bound metadata, draft artifact, stale placeholder, duplicated policy, or legacy process text.</a:t>
            </a:r>
            <a:endParaRPr sz="1400" b="0" i="0" dirty="0">
              <a:latin typeface="Arial"/>
            </a:endParaRPr>
          </a:p>
          <a:p>
            <a:pPr lvl="1"/>
            <a:r>
              <a:rPr sz="1400" b="0" i="0" u="none" dirty="0"/>
              <a:t>Validate each candidate with one concrete file location.</a:t>
            </a:r>
            <a:endParaRPr sz="1400" b="0" i="0" dirty="0">
              <a:latin typeface="Arial"/>
            </a:endParaRPr>
          </a:p>
        </p:txBody>
      </p:sp>
      <p:sp>
        <p:nvSpPr>
          <p:cNvPr id="4" name="Content Placeholder 3">
            <a:extLst>
              <a:ext uri="{FF2B5EF4-FFF2-40B4-BE49-F238E27FC236}">
                <a16:creationId xmlns:a16="http://schemas.microsoft.com/office/drawing/2014/main" id="{0F41B419-4B3C-2CE9-2CA4-681886925C3F}"/>
              </a:ext>
            </a:extLst>
          </p:cNvPr>
          <p:cNvSpPr>
            <a:spLocks noGrp="1"/>
          </p:cNvSpPr>
          <p:nvPr>
            <p:ph sz="half" idx="2"/>
          </p:nvPr>
        </p:nvSpPr>
        <p:spPr/>
        <p:txBody>
          <a:bodyPr>
            <a:normAutofit fontScale="92500" lnSpcReduction="10000"/>
          </a:bodyPr>
          <a:lstStyle/>
          <a:p>
            <a:pPr>
              <a:buNone/>
            </a:pPr>
            <a:r>
              <a:rPr lang="en-US" sz="1400" dirty="0"/>
              <a:t>3. Evergreen Refactor Plan</a:t>
            </a:r>
            <a:endParaRPr lang="en-US" sz="1400" dirty="0">
              <a:latin typeface="Arial"/>
            </a:endParaRPr>
          </a:p>
          <a:p>
            <a:pPr lvl="1"/>
            <a:r>
              <a:rPr lang="en-US" sz="1400" dirty="0"/>
              <a:t>Select top 3 high-impact findings.</a:t>
            </a:r>
            <a:endParaRPr lang="en-US" sz="1400" dirty="0">
              <a:latin typeface="Arial"/>
            </a:endParaRPr>
          </a:p>
          <a:p>
            <a:pPr lvl="1"/>
            <a:r>
              <a:rPr lang="en-US" sz="1400" dirty="0"/>
              <a:t>Write a before/after recommendation focused on longevity, clarity, and reduced maintenance.</a:t>
            </a:r>
            <a:endParaRPr lang="en-US" sz="1400" dirty="0">
              <a:latin typeface="Arial"/>
            </a:endParaRPr>
          </a:p>
          <a:p>
            <a:pPr>
              <a:buNone/>
            </a:pPr>
            <a:r>
              <a:rPr lang="en-US" sz="1400" dirty="0"/>
              <a:t>4. Share and Defend</a:t>
            </a:r>
            <a:endParaRPr lang="en-US" sz="1400" dirty="0">
              <a:latin typeface="Arial"/>
            </a:endParaRPr>
          </a:p>
          <a:p>
            <a:pPr lvl="1"/>
            <a:r>
              <a:rPr lang="en-US" sz="1400" dirty="0"/>
              <a:t>Present one finding and explain why it is not evergreen.</a:t>
            </a:r>
            <a:endParaRPr lang="en-US" sz="1400" dirty="0">
              <a:latin typeface="Arial"/>
            </a:endParaRPr>
          </a:p>
          <a:p>
            <a:pPr lvl="1"/>
            <a:r>
              <a:rPr lang="en-US" sz="1400" dirty="0"/>
              <a:t>Defend your proposed fix with expected impact.</a:t>
            </a:r>
            <a:endParaRPr lang="en-US" sz="1400" dirty="0">
              <a:latin typeface="Arial"/>
            </a:endParaRPr>
          </a:p>
          <a:p>
            <a:pPr>
              <a:buNone/>
            </a:pPr>
            <a:endParaRPr lang="en-US" sz="1400" dirty="0">
              <a:latin typeface="Arial"/>
            </a:endParaRPr>
          </a:p>
          <a:p>
            <a:pPr>
              <a:buNone/>
            </a:pPr>
            <a:r>
              <a:rPr lang="en-US" sz="1400" dirty="0"/>
              <a:t>Success Criteria</a:t>
            </a:r>
            <a:endParaRPr lang="en-US" sz="1400" dirty="0">
              <a:latin typeface="Arial"/>
            </a:endParaRPr>
          </a:p>
          <a:p>
            <a:pPr lvl="1"/>
            <a:r>
              <a:rPr lang="en-US" sz="1400" dirty="0"/>
              <a:t>8 or more non-evergreen findings identified with evidence.</a:t>
            </a:r>
            <a:endParaRPr lang="en-US" sz="1400" dirty="0">
              <a:latin typeface="Arial"/>
            </a:endParaRPr>
          </a:p>
          <a:p>
            <a:pPr lvl="1"/>
            <a:r>
              <a:rPr lang="en-US" sz="1400" dirty="0"/>
              <a:t>Findings are correctly categorized by non-evergreen pattern.</a:t>
            </a:r>
            <a:endParaRPr lang="en-US" sz="1400" dirty="0">
              <a:latin typeface="Arial"/>
            </a:endParaRPr>
          </a:p>
          <a:p>
            <a:pPr lvl="1"/>
            <a:r>
              <a:rPr lang="en-US" sz="1400" dirty="0"/>
              <a:t>Top 3 recommendations are specific, actionable, and evergreen-focused.</a:t>
            </a:r>
            <a:endParaRPr lang="en-US" sz="1400" dirty="0">
              <a:latin typeface="Arial"/>
            </a:endParaRPr>
          </a:p>
          <a:p>
            <a:pPr lvl="1"/>
            <a:r>
              <a:rPr lang="en-US" sz="1400" dirty="0"/>
              <a:t>Team can explain why each proposed change improves long-term maintainability.</a:t>
            </a:r>
            <a:endParaRPr lang="en-US" sz="1400" dirty="0">
              <a:latin typeface="Arial"/>
            </a:endParaRPr>
          </a:p>
          <a:p>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4000" b="0" i="0" u="none"/>
              <a:t>Exercise: Addressing Technical Debt with Copilot</a:t>
            </a:r>
          </a:p>
        </p:txBody>
      </p:sp>
      <p:sp>
        <p:nvSpPr>
          <p:cNvPr id="3" name="Subtitle 2"/>
          <p:cNvSpPr>
            <a:spLocks noGrp="1"/>
          </p:cNvSpPr>
          <p:nvPr>
            <p:ph type="subTitle" idx="1"/>
          </p:nvPr>
        </p:nvSpPr>
        <p:spPr/>
        <p:txBody>
          <a:bodyPr wrap="square">
            <a:normAutofit/>
          </a:bodyPr>
          <a:lstStyle/>
          <a:p>
            <a:pPr>
              <a:buNone/>
            </a:pPr>
            <a:r>
              <a:rPr b="0" i="0" u="none"/>
              <a:t>Ask Copilot to Clean Your Room</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2850" b="0" i="0" u="none"/>
              <a:t>Exercise: Prompt Copilot to Address Technical Debt</a:t>
            </a:r>
          </a:p>
        </p:txBody>
      </p:sp>
      <p:sp>
        <p:nvSpPr>
          <p:cNvPr id="3" name="Content Placeholder 2"/>
          <p:cNvSpPr>
            <a:spLocks noGrp="1"/>
          </p:cNvSpPr>
          <p:nvPr>
            <p:ph sz="half" idx="1"/>
          </p:nvPr>
        </p:nvSpPr>
        <p:spPr/>
        <p:txBody>
          <a:bodyPr wrap="square">
            <a:noAutofit/>
          </a:bodyPr>
          <a:lstStyle/>
          <a:p>
            <a:pPr>
              <a:buNone/>
            </a:pPr>
            <a:r>
              <a:rPr sz="1700" b="0" i="0" u="none"/>
              <a:t>Objectives</a:t>
            </a:r>
            <a:endParaRPr sz="1700" b="0" i="0">
              <a:latin typeface="Arial"/>
            </a:endParaRPr>
          </a:p>
          <a:p>
            <a:pPr lvl="1"/>
            <a:r>
              <a:rPr sz="1700" b="0" i="0" u="none"/>
              <a:t>Practice writing high-signal prompts</a:t>
            </a:r>
            <a:endParaRPr sz="1700" b="0" i="0">
              <a:latin typeface="Arial"/>
            </a:endParaRPr>
          </a:p>
          <a:p>
            <a:pPr lvl="1"/>
            <a:r>
              <a:rPr sz="1700" b="0" i="0" u="none"/>
              <a:t>Apply architectural constraints</a:t>
            </a:r>
            <a:endParaRPr sz="1700" b="0" i="0">
              <a:latin typeface="Arial"/>
            </a:endParaRPr>
          </a:p>
          <a:p>
            <a:pPr lvl="1"/>
            <a:r>
              <a:rPr sz="1700" b="0" i="0" u="none"/>
              <a:t>Produce safe, incremental remediation requests</a:t>
            </a:r>
            <a:endParaRPr sz="1700" b="0" i="0">
              <a:latin typeface="Arial"/>
            </a:endParaRPr>
          </a:p>
          <a:p>
            <a:pPr>
              <a:buNone/>
            </a:pPr>
            <a:endParaRPr sz="1700" b="0" i="0">
              <a:latin typeface="Arial"/>
            </a:endParaRPr>
          </a:p>
          <a:p>
            <a:pPr>
              <a:buNone/>
            </a:pPr>
            <a:r>
              <a:rPr sz="1700" b="0" i="0" u="none"/>
              <a:t>Activities</a:t>
            </a:r>
            <a:endParaRPr sz="1700" b="0" i="0">
              <a:latin typeface="Arial"/>
            </a:endParaRPr>
          </a:p>
          <a:p>
            <a:pPr lvl="1">
              <a:buNone/>
            </a:pPr>
            <a:r>
              <a:rPr sz="1700" b="0" i="0" u="none"/>
              <a:t>  1. Select a small piece of technical debt.</a:t>
            </a:r>
            <a:endParaRPr sz="1700" b="0" i="0">
              <a:latin typeface="Arial"/>
            </a:endParaRPr>
          </a:p>
          <a:p>
            <a:pPr lvl="1">
              <a:buNone/>
            </a:pPr>
            <a:r>
              <a:rPr sz="1700" b="0" i="0" u="none"/>
              <a:t>  2. Write a prompt that includes:</a:t>
            </a:r>
            <a:endParaRPr sz="1700" b="0" i="0">
              <a:latin typeface="Arial"/>
            </a:endParaRPr>
          </a:p>
          <a:p>
            <a:pPr lvl="2"/>
            <a:r>
              <a:rPr sz="1700" b="0" i="0" u="none"/>
              <a:t>Description of the debt</a:t>
            </a:r>
            <a:endParaRPr sz="1700" b="0" i="0">
              <a:latin typeface="Arial"/>
            </a:endParaRPr>
          </a:p>
          <a:p>
            <a:pPr lvl="2"/>
            <a:r>
              <a:rPr sz="1700" b="0" i="0" u="none"/>
              <a:t>Constraints and rules</a:t>
            </a:r>
            <a:endParaRPr sz="1700" b="0" i="0">
              <a:latin typeface="Arial"/>
            </a:endParaRPr>
          </a:p>
          <a:p>
            <a:pPr lvl="2"/>
            <a:r>
              <a:rPr sz="1700" b="0" i="0" u="none"/>
              <a:t>Expected behavior</a:t>
            </a:r>
            <a:endParaRPr sz="1700" b="0" i="0">
              <a:latin typeface="Arial"/>
            </a:endParaRPr>
          </a:p>
          <a:p>
            <a:pPr lvl="2"/>
            <a:r>
              <a:rPr sz="1700" b="0" i="0" u="none"/>
              <a:t>Required tests and documentation</a:t>
            </a:r>
            <a:endParaRPr sz="1700" b="0" i="0">
              <a:latin typeface="Arial"/>
            </a:endParaRPr>
          </a:p>
        </p:txBody>
      </p:sp>
      <p:sp>
        <p:nvSpPr>
          <p:cNvPr id="4" name="Content Placeholder 3"/>
          <p:cNvSpPr>
            <a:spLocks noGrp="1"/>
          </p:cNvSpPr>
          <p:nvPr>
            <p:ph sz="half" idx="2"/>
          </p:nvPr>
        </p:nvSpPr>
        <p:spPr/>
        <p:txBody>
          <a:bodyPr wrap="square">
            <a:noAutofit/>
          </a:bodyPr>
          <a:lstStyle/>
          <a:p>
            <a:pPr>
              <a:buNone/>
            </a:pPr>
            <a:r>
              <a:rPr sz="2000" b="0" i="0" u="none"/>
              <a:t>3. Ask Copilot to propose a remediation.</a:t>
            </a:r>
            <a:endParaRPr sz="2000" b="0" i="0">
              <a:latin typeface="Arial"/>
            </a:endParaRPr>
          </a:p>
          <a:p>
            <a:pPr lvl="1">
              <a:buNone/>
            </a:pPr>
            <a:r>
              <a:rPr sz="2000" b="0" i="0" u="none"/>
              <a:t>  4. Review the output for correctness.</a:t>
            </a:r>
            <a:endParaRPr sz="2000" b="0" i="0">
              <a:latin typeface="Arial"/>
            </a:endParaRPr>
          </a:p>
          <a:p>
            <a:pPr>
              <a:buNone/>
            </a:pPr>
            <a:endParaRPr sz="2000" b="0" i="0">
              <a:latin typeface="Arial"/>
            </a:endParaRPr>
          </a:p>
          <a:p>
            <a:pPr>
              <a:buNone/>
            </a:pPr>
            <a:r>
              <a:rPr sz="2000" b="0" i="0" u="none"/>
              <a:t>Success Criteria</a:t>
            </a:r>
            <a:endParaRPr sz="2000" b="0" i="0">
              <a:latin typeface="Arial"/>
            </a:endParaRPr>
          </a:p>
          <a:p>
            <a:pPr lvl="1"/>
            <a:r>
              <a:rPr sz="2000" b="0" i="0" u="none"/>
              <a:t>Prompt is clear, scoped, and actionable</a:t>
            </a:r>
            <a:endParaRPr sz="2000" b="0" i="0">
              <a:latin typeface="Arial"/>
            </a:endParaRPr>
          </a:p>
          <a:p>
            <a:pPr lvl="1"/>
            <a:r>
              <a:rPr sz="2000" b="0" i="0" u="none"/>
              <a:t>Copilot produces a safe, incremental change</a:t>
            </a:r>
            <a:endParaRPr sz="2000" b="0" i="0">
              <a:latin typeface="Arial"/>
            </a:endParaRPr>
          </a:p>
          <a:p>
            <a:pPr lvl="1"/>
            <a:r>
              <a:rPr sz="2000" b="0" i="0" u="none"/>
              <a:t>Output aligns with architectural rules</a:t>
            </a:r>
            <a:endParaRPr sz="2000" b="0" i="0">
              <a:latin typeface="Arial"/>
            </a:endParaRPr>
          </a:p>
          <a:p>
            <a:pPr lvl="1"/>
            <a:r>
              <a:rPr sz="2000" b="0" i="0" u="none"/>
              <a:t>Provenance metadata is included</a:t>
            </a:r>
            <a:endParaRPr sz="2000" b="0" i="0">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800" b="0" i="0" u="none"/>
              <a:t>Exercise: Assigning an Issue to Copilot</a:t>
            </a:r>
          </a:p>
        </p:txBody>
      </p:sp>
      <p:sp>
        <p:nvSpPr>
          <p:cNvPr id="3" name="Content Placeholder 2"/>
          <p:cNvSpPr>
            <a:spLocks noGrp="1"/>
          </p:cNvSpPr>
          <p:nvPr>
            <p:ph sz="half" idx="1"/>
          </p:nvPr>
        </p:nvSpPr>
        <p:spPr/>
        <p:txBody>
          <a:bodyPr wrap="square">
            <a:noAutofit/>
          </a:bodyPr>
          <a:lstStyle/>
          <a:p>
            <a:pPr>
              <a:buNone/>
            </a:pPr>
            <a:r>
              <a:rPr sz="1450" b="0" i="0" u="none"/>
              <a:t>Objectives</a:t>
            </a:r>
            <a:endParaRPr sz="1450" b="0" i="0">
              <a:latin typeface="Arial"/>
            </a:endParaRPr>
          </a:p>
          <a:p>
            <a:pPr>
              <a:buNone/>
            </a:pPr>
            <a:endParaRPr sz="1450" b="0" i="0">
              <a:latin typeface="Arial"/>
            </a:endParaRPr>
          </a:p>
          <a:p>
            <a:r>
              <a:rPr sz="1450" b="0" i="0" u="none"/>
              <a:t>Convert technical debt into a structured issue</a:t>
            </a:r>
            <a:endParaRPr sz="1450" b="0" i="0">
              <a:latin typeface="Arial"/>
            </a:endParaRPr>
          </a:p>
          <a:p>
            <a:r>
              <a:rPr sz="1450" b="0" i="0" u="none"/>
              <a:t>Provide Copilot with actionable context</a:t>
            </a:r>
            <a:endParaRPr sz="1450" b="0" i="0">
              <a:latin typeface="Arial"/>
            </a:endParaRPr>
          </a:p>
          <a:p>
            <a:r>
              <a:rPr sz="1450" b="0" i="0" u="none"/>
              <a:t>Practice writing acceptance criteria</a:t>
            </a:r>
            <a:endParaRPr sz="1450" b="0" i="0">
              <a:latin typeface="Arial"/>
            </a:endParaRPr>
          </a:p>
          <a:p>
            <a:pPr>
              <a:buNone/>
            </a:pPr>
            <a:endParaRPr sz="1450" b="0" i="0">
              <a:latin typeface="Arial"/>
            </a:endParaRPr>
          </a:p>
          <a:p>
            <a:pPr>
              <a:buNone/>
            </a:pPr>
            <a:r>
              <a:rPr sz="1450" b="0" i="0" u="none"/>
              <a:t>Activities</a:t>
            </a:r>
            <a:endParaRPr sz="1450" b="0" i="0">
              <a:latin typeface="Arial"/>
            </a:endParaRPr>
          </a:p>
          <a:p>
            <a:pPr>
              <a:buNone/>
            </a:pPr>
            <a:endParaRPr sz="1450" b="0" i="0">
              <a:latin typeface="Arial"/>
            </a:endParaRPr>
          </a:p>
          <a:p>
            <a:pPr>
              <a:buNone/>
            </a:pPr>
            <a:r>
              <a:rPr sz="1450" b="0" i="0" u="none"/>
              <a:t>1. Select a technical debt item.</a:t>
            </a:r>
            <a:endParaRPr sz="1450" b="0" i="0">
              <a:latin typeface="Arial"/>
            </a:endParaRPr>
          </a:p>
          <a:p>
            <a:pPr>
              <a:buNone/>
            </a:pPr>
            <a:r>
              <a:rPr sz="1450" b="0" i="0" u="none"/>
              <a:t>2. Create a GitHub-style issue with:</a:t>
            </a:r>
            <a:endParaRPr sz="1450" b="0" i="0">
              <a:latin typeface="Arial"/>
            </a:endParaRPr>
          </a:p>
          <a:p>
            <a:pPr lvl="1"/>
            <a:r>
              <a:rPr sz="1450" b="0" i="0" u="none"/>
              <a:t>Title</a:t>
            </a:r>
            <a:endParaRPr sz="1450" b="0" i="0">
              <a:latin typeface="Arial"/>
            </a:endParaRPr>
          </a:p>
          <a:p>
            <a:pPr lvl="1"/>
            <a:r>
              <a:rPr sz="1450" b="0" i="0" u="none"/>
              <a:t>Description</a:t>
            </a:r>
            <a:endParaRPr sz="1450" b="0" i="0">
              <a:latin typeface="Arial"/>
            </a:endParaRPr>
          </a:p>
          <a:p>
            <a:pPr lvl="1"/>
            <a:r>
              <a:rPr sz="1450" b="0" i="0" u="none"/>
              <a:t>Impact and risk</a:t>
            </a:r>
            <a:endParaRPr sz="1450" b="0" i="0">
              <a:latin typeface="Arial"/>
            </a:endParaRPr>
          </a:p>
        </p:txBody>
      </p:sp>
      <p:sp>
        <p:nvSpPr>
          <p:cNvPr id="4" name="Content Placeholder 3"/>
          <p:cNvSpPr>
            <a:spLocks noGrp="1"/>
          </p:cNvSpPr>
          <p:nvPr>
            <p:ph sz="half" idx="2"/>
          </p:nvPr>
        </p:nvSpPr>
        <p:spPr/>
        <p:txBody>
          <a:bodyPr wrap="square">
            <a:noAutofit/>
          </a:bodyPr>
          <a:lstStyle/>
          <a:p>
            <a:r>
              <a:rPr sz="1800" b="0" i="0" u="none"/>
              <a:t>Acceptance criteria</a:t>
            </a:r>
            <a:endParaRPr sz="1800" b="0" i="0">
              <a:latin typeface="Arial"/>
            </a:endParaRPr>
          </a:p>
          <a:p>
            <a:pPr lvl="1"/>
            <a:r>
              <a:rPr sz="1800" b="0" i="0" u="none"/>
              <a:t>Provenance metadata</a:t>
            </a:r>
            <a:endParaRPr sz="1800" b="0" i="0">
              <a:latin typeface="Arial"/>
            </a:endParaRPr>
          </a:p>
          <a:p>
            <a:pPr>
              <a:buNone/>
            </a:pPr>
            <a:r>
              <a:rPr sz="1800" b="0" i="0" u="none"/>
              <a:t>3. Assign the issue to Copilot.</a:t>
            </a:r>
            <a:endParaRPr sz="1800" b="0" i="0">
              <a:latin typeface="Arial"/>
            </a:endParaRPr>
          </a:p>
          <a:p>
            <a:pPr>
              <a:buNone/>
            </a:pPr>
            <a:r>
              <a:rPr sz="1800" b="0" i="0" u="none"/>
              <a:t>4. Review Copilot's proposed remediation.</a:t>
            </a:r>
            <a:endParaRPr sz="1800" b="0" i="0">
              <a:latin typeface="Arial"/>
            </a:endParaRPr>
          </a:p>
          <a:p>
            <a:pPr>
              <a:buNone/>
            </a:pPr>
            <a:endParaRPr sz="1800" b="0" i="0">
              <a:latin typeface="Arial"/>
            </a:endParaRPr>
          </a:p>
          <a:p>
            <a:pPr>
              <a:buNone/>
            </a:pPr>
            <a:r>
              <a:rPr sz="1800" b="0" i="0" u="none"/>
              <a:t>Success Criteria</a:t>
            </a:r>
            <a:endParaRPr sz="1800" b="0" i="0">
              <a:latin typeface="Arial"/>
            </a:endParaRPr>
          </a:p>
          <a:p>
            <a:pPr>
              <a:buNone/>
            </a:pPr>
            <a:endParaRPr sz="1800" b="0" i="0">
              <a:latin typeface="Arial"/>
            </a:endParaRPr>
          </a:p>
          <a:p>
            <a:r>
              <a:rPr sz="1800" b="0" i="0" u="none"/>
              <a:t>Issue is clear and well-structured</a:t>
            </a:r>
            <a:endParaRPr sz="1800" b="0" i="0">
              <a:latin typeface="Arial"/>
            </a:endParaRPr>
          </a:p>
          <a:p>
            <a:r>
              <a:rPr sz="1800" b="0" i="0" u="none"/>
              <a:t>Acceptance criteria are testable</a:t>
            </a:r>
            <a:endParaRPr sz="1800" b="0" i="0">
              <a:latin typeface="Arial"/>
            </a:endParaRPr>
          </a:p>
          <a:p>
            <a:r>
              <a:rPr sz="1800" b="0" i="0" u="none"/>
              <a:t>Copilot produces a relevant draft</a:t>
            </a:r>
            <a:endParaRPr sz="1800" b="0" i="0">
              <a:latin typeface="Arial"/>
            </a:endParaRPr>
          </a:p>
          <a:p>
            <a:r>
              <a:rPr sz="1800" b="0" i="0" u="none"/>
              <a:t>Provenance metadata is present</a:t>
            </a:r>
            <a:endParaRPr sz="1800" b="0" i="0">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4000" b="0" i="0" u="none"/>
              <a:t>Exercise: Delegating Work to Copilot</a:t>
            </a:r>
          </a:p>
        </p:txBody>
      </p:sp>
      <p:sp>
        <p:nvSpPr>
          <p:cNvPr id="3" name="Content Placeholder 2"/>
          <p:cNvSpPr>
            <a:spLocks noGrp="1"/>
          </p:cNvSpPr>
          <p:nvPr>
            <p:ph sz="half" idx="1"/>
          </p:nvPr>
        </p:nvSpPr>
        <p:spPr/>
        <p:txBody>
          <a:bodyPr wrap="square">
            <a:noAutofit/>
          </a:bodyPr>
          <a:lstStyle/>
          <a:p>
            <a:pPr>
              <a:buNone/>
            </a:pPr>
            <a:r>
              <a:rPr sz="1750" b="0" i="0" u="none"/>
              <a:t>Objectives</a:t>
            </a:r>
            <a:endParaRPr sz="1750" b="0" i="0">
              <a:latin typeface="Arial"/>
            </a:endParaRPr>
          </a:p>
          <a:p>
            <a:pPr lvl="1"/>
            <a:r>
              <a:rPr sz="1750" b="0" i="0" u="none"/>
              <a:t>Practice delegating multi-step tasks</a:t>
            </a:r>
            <a:endParaRPr sz="1750" b="0" i="0">
              <a:latin typeface="Arial"/>
            </a:endParaRPr>
          </a:p>
          <a:p>
            <a:pPr lvl="1"/>
            <a:r>
              <a:rPr sz="1750" b="0" i="0" u="none"/>
              <a:t>Ensure Copilot follows architectural rules</a:t>
            </a:r>
            <a:endParaRPr sz="1750" b="0" i="0">
              <a:latin typeface="Arial"/>
            </a:endParaRPr>
          </a:p>
          <a:p>
            <a:pPr lvl="1"/>
            <a:r>
              <a:rPr sz="1750" b="0" i="0" u="none"/>
              <a:t>Validate AI-generated remediation plans</a:t>
            </a:r>
            <a:endParaRPr sz="1750" b="0" i="0">
              <a:latin typeface="Arial"/>
            </a:endParaRPr>
          </a:p>
          <a:p>
            <a:pPr>
              <a:buNone/>
            </a:pPr>
            <a:endParaRPr sz="1750" b="0" i="0">
              <a:latin typeface="Arial"/>
            </a:endParaRPr>
          </a:p>
          <a:p>
            <a:pPr>
              <a:buNone/>
            </a:pPr>
            <a:r>
              <a:rPr sz="1750" b="0" i="0" u="none"/>
              <a:t>Activities</a:t>
            </a:r>
            <a:endParaRPr sz="1750" b="0" i="0">
              <a:latin typeface="Arial"/>
            </a:endParaRPr>
          </a:p>
          <a:p>
            <a:pPr lvl="1">
              <a:buNone/>
            </a:pPr>
            <a:r>
              <a:rPr sz="1750" b="0" i="0" u="none"/>
              <a:t>  1. Select a multi-step technical debt item.</a:t>
            </a:r>
            <a:endParaRPr sz="1750" b="0" i="0">
              <a:latin typeface="Arial"/>
            </a:endParaRPr>
          </a:p>
          <a:p>
            <a:pPr lvl="1">
              <a:buNone/>
            </a:pPr>
            <a:r>
              <a:rPr sz="1750" b="0" i="0" u="none"/>
              <a:t>  2. Ask Copilot to:</a:t>
            </a:r>
            <a:endParaRPr sz="1750" b="0" i="0">
              <a:latin typeface="Arial"/>
            </a:endParaRPr>
          </a:p>
          <a:p>
            <a:pPr lvl="2"/>
            <a:r>
              <a:rPr sz="1750" b="0" i="0" u="none"/>
              <a:t>Analyze the problem</a:t>
            </a:r>
            <a:endParaRPr sz="1750" b="0" i="0">
              <a:latin typeface="Arial"/>
            </a:endParaRPr>
          </a:p>
          <a:p>
            <a:pPr lvl="2"/>
            <a:r>
              <a:rPr sz="1750" b="0" i="0" u="none"/>
              <a:t>Propose a remediation plan</a:t>
            </a:r>
            <a:endParaRPr sz="1750" b="0" i="0">
              <a:latin typeface="Arial"/>
            </a:endParaRPr>
          </a:p>
          <a:p>
            <a:pPr lvl="2"/>
            <a:r>
              <a:rPr sz="1750" b="0" i="0" u="none"/>
              <a:t>Generate code changes</a:t>
            </a:r>
            <a:endParaRPr sz="1750" b="0" i="0">
              <a:latin typeface="Arial"/>
            </a:endParaRPr>
          </a:p>
        </p:txBody>
      </p:sp>
      <p:sp>
        <p:nvSpPr>
          <p:cNvPr id="4" name="Content Placeholder 3"/>
          <p:cNvSpPr>
            <a:spLocks noGrp="1"/>
          </p:cNvSpPr>
          <p:nvPr>
            <p:ph sz="half" idx="2"/>
          </p:nvPr>
        </p:nvSpPr>
        <p:spPr/>
        <p:txBody>
          <a:bodyPr wrap="square">
            <a:noAutofit/>
          </a:bodyPr>
          <a:lstStyle/>
          <a:p>
            <a:r>
              <a:rPr sz="1900" b="0" i="0" u="none"/>
              <a:t>Update tests</a:t>
            </a:r>
            <a:endParaRPr sz="1900" b="0" i="0">
              <a:latin typeface="Arial"/>
            </a:endParaRPr>
          </a:p>
          <a:p>
            <a:pPr lvl="2"/>
            <a:r>
              <a:rPr sz="1900" b="0" i="0" u="none"/>
              <a:t>Update documentation</a:t>
            </a:r>
            <a:endParaRPr sz="1900" b="0" i="0">
              <a:latin typeface="Arial"/>
            </a:endParaRPr>
          </a:p>
          <a:p>
            <a:pPr lvl="1">
              <a:buNone/>
            </a:pPr>
            <a:r>
              <a:rPr sz="1900" b="0" i="0" u="none"/>
              <a:t>  3. Review Copilot's output.</a:t>
            </a:r>
            <a:endParaRPr sz="1900" b="0" i="0">
              <a:latin typeface="Arial"/>
            </a:endParaRPr>
          </a:p>
          <a:p>
            <a:pPr lvl="1">
              <a:buNone/>
            </a:pPr>
            <a:r>
              <a:rPr sz="1900" b="0" i="0" u="none"/>
              <a:t>  4. Identify missing context or risks.</a:t>
            </a:r>
            <a:endParaRPr sz="1900" b="0" i="0">
              <a:latin typeface="Arial"/>
            </a:endParaRPr>
          </a:p>
          <a:p>
            <a:pPr>
              <a:buNone/>
            </a:pPr>
            <a:endParaRPr sz="1900" b="0" i="0">
              <a:latin typeface="Arial"/>
            </a:endParaRPr>
          </a:p>
          <a:p>
            <a:pPr>
              <a:buNone/>
            </a:pPr>
            <a:r>
              <a:rPr sz="1900" b="0" i="0" u="none"/>
              <a:t>Success Criteria</a:t>
            </a:r>
            <a:endParaRPr sz="1900" b="0" i="0">
              <a:latin typeface="Arial"/>
            </a:endParaRPr>
          </a:p>
          <a:p>
            <a:pPr lvl="1"/>
            <a:r>
              <a:rPr sz="1900" b="0" i="0" u="none"/>
              <a:t>Delegation prompt is complete and structured</a:t>
            </a:r>
            <a:endParaRPr sz="1900" b="0" i="0">
              <a:latin typeface="Arial"/>
            </a:endParaRPr>
          </a:p>
          <a:p>
            <a:pPr lvl="1"/>
            <a:r>
              <a:rPr sz="1900" b="0" i="0" u="none"/>
              <a:t>Copilot produces a multi-step plan</a:t>
            </a:r>
            <a:endParaRPr sz="1900" b="0" i="0">
              <a:latin typeface="Arial"/>
            </a:endParaRPr>
          </a:p>
          <a:p>
            <a:pPr lvl="1"/>
            <a:r>
              <a:rPr sz="1900" b="0" i="0" u="none"/>
              <a:t>Output is safe, incremental, and reversible</a:t>
            </a:r>
            <a:endParaRPr sz="1900" b="0" i="0">
              <a:latin typeface="Arial"/>
            </a:endParaRPr>
          </a:p>
          <a:p>
            <a:pPr lvl="1"/>
            <a:r>
              <a:rPr sz="1900" b="0" i="0" u="none"/>
              <a:t>Human review identifies any gaps</a:t>
            </a:r>
            <a:endParaRPr sz="1900" b="0" i="0">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r>
              <a:rPr b="0" i="0" u="none"/>
              <a:t>Intro</a:t>
            </a:r>
          </a:p>
          <a:p>
            <a:r>
              <a:rPr b="0" i="0" u="none"/>
              <a:t>AI Practitioner Resources</a:t>
            </a:r>
          </a:p>
          <a:p>
            <a:r>
              <a:rPr b="0" i="0" u="none"/>
              <a:t>Brownfield Software Development</a:t>
            </a:r>
          </a:p>
          <a:p>
            <a:r>
              <a:rPr b="0" i="0" u="none"/>
              <a:t>AI Implementation Workflow</a:t>
            </a:r>
          </a:p>
          <a:p>
            <a:r>
              <a:rPr b="0" i="0" u="none"/>
              <a:t>Building a Backlog</a:t>
            </a:r>
          </a:p>
          <a:p>
            <a:r>
              <a:rPr b="0" i="0" u="none"/>
              <a:t>Addressing Technical Debt</a:t>
            </a:r>
          </a:p>
          <a:p>
            <a:r>
              <a:rPr b="1" i="0" u="none"/>
              <a:t>▶ Multi-Implementation Comparison</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4000" b="0" i="0" u="none"/>
              <a:t>Multi-Model Implementation Comparison</a:t>
            </a:r>
          </a:p>
        </p:txBody>
      </p:sp>
      <p:sp>
        <p:nvSpPr>
          <p:cNvPr id="3" name="Subtitle 2"/>
          <p:cNvSpPr>
            <a:spLocks noGrp="1"/>
          </p:cNvSpPr>
          <p:nvPr>
            <p:ph type="subTitle" idx="1"/>
          </p:nvPr>
        </p:nvSpPr>
        <p:spPr/>
        <p:txBody>
          <a:bodyPr wrap="square">
            <a:normAutofit/>
          </a:bodyPr>
          <a:lstStyle/>
          <a:p>
            <a:pPr>
              <a:buNone/>
            </a:pPr>
            <a:r>
              <a:rPr b="0" i="0" u="none"/>
              <a:t>Ask Three AIs, Get Four Opinions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500" b="0" i="0" u="none"/>
              <a:t>Multi-Model Implementation Comparison</a:t>
            </a:r>
          </a:p>
        </p:txBody>
      </p:sp>
      <p:sp>
        <p:nvSpPr>
          <p:cNvPr id="3" name="Content Placeholder 2"/>
          <p:cNvSpPr>
            <a:spLocks noGrp="1"/>
          </p:cNvSpPr>
          <p:nvPr>
            <p:ph idx="1"/>
          </p:nvPr>
        </p:nvSpPr>
        <p:spPr/>
        <p:txBody>
          <a:bodyPr wrap="square">
            <a:normAutofit/>
          </a:bodyPr>
          <a:lstStyle/>
          <a:p>
            <a:r>
              <a:rPr sz="2800" b="0" i="0" u="none"/>
              <a:t>Implementing changes with different AI models</a:t>
            </a:r>
            <a:endParaRPr sz="2800" b="0" i="0">
              <a:latin typeface="Arial"/>
            </a:endParaRPr>
          </a:p>
          <a:p>
            <a:r>
              <a:rPr sz="2800" b="0" i="0" u="none"/>
              <a:t>Comparing approaches and outcomes</a:t>
            </a:r>
            <a:endParaRPr sz="2800" b="0" i="0">
              <a:latin typeface="Arial"/>
            </a:endParaRPr>
          </a:p>
          <a:p>
            <a:r>
              <a:rPr sz="2800" b="0" i="0" u="none"/>
              <a:t>Risk assessment and quality evaluation</a:t>
            </a:r>
            <a:endParaRPr sz="2800" b="0" i="0">
              <a:latin typeface="Arial"/>
            </a:endParaRPr>
          </a:p>
          <a:p>
            <a:r>
              <a:rPr sz="2800" b="0" i="0" u="none"/>
              <a:t>Best practice synthesis</a:t>
            </a:r>
            <a:endParaRPr sz="2800" b="0" i="0">
              <a:latin typeface="Arial"/>
            </a:endParaRPr>
          </a:p>
          <a:p>
            <a:r>
              <a:rPr sz="2800" b="0" i="0" u="none"/>
              <a:t>Exercises for hands-on practice</a:t>
            </a:r>
            <a:endParaRPr sz="2800" b="0" i="0">
              <a:latin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000" b="0" i="0" u="none"/>
              <a:t>Implementing Changes With Different AI Models</a:t>
            </a:r>
          </a:p>
        </p:txBody>
      </p:sp>
      <p:sp>
        <p:nvSpPr>
          <p:cNvPr id="3" name="Content Placeholder 2"/>
          <p:cNvSpPr>
            <a:spLocks noGrp="1"/>
          </p:cNvSpPr>
          <p:nvPr>
            <p:ph idx="1"/>
          </p:nvPr>
        </p:nvSpPr>
        <p:spPr/>
        <p:txBody>
          <a:bodyPr wrap="square">
            <a:noAutofit/>
          </a:bodyPr>
          <a:lstStyle/>
          <a:p>
            <a:pPr>
              <a:buNone/>
            </a:pPr>
            <a:r>
              <a:rPr sz="2300" b="0" i="0" u="none"/>
              <a:t>Why use multiple models?</a:t>
            </a:r>
            <a:endParaRPr sz="2300" b="0" i="0">
              <a:latin typeface="Arial"/>
            </a:endParaRPr>
          </a:p>
          <a:p>
            <a:pPr lvl="1"/>
            <a:r>
              <a:rPr sz="2300" b="0" i="0" u="none"/>
              <a:t>Different reasoning styles</a:t>
            </a:r>
            <a:endParaRPr sz="2300" b="0" i="0">
              <a:latin typeface="Arial"/>
            </a:endParaRPr>
          </a:p>
          <a:p>
            <a:pPr lvl="1"/>
            <a:r>
              <a:rPr sz="2300" b="0" i="0" u="none"/>
              <a:t>Different strengths (refactoring, documentation, architecture)</a:t>
            </a:r>
            <a:endParaRPr sz="2300" b="0" i="0">
              <a:latin typeface="Arial"/>
            </a:endParaRPr>
          </a:p>
          <a:p>
            <a:pPr lvl="1"/>
            <a:r>
              <a:rPr sz="2300" b="0" i="0" u="none"/>
              <a:t>Cross-validation reduces risk</a:t>
            </a:r>
            <a:endParaRPr sz="2300" b="0" i="0">
              <a:latin typeface="Arial"/>
            </a:endParaRPr>
          </a:p>
          <a:p>
            <a:pPr lvl="1"/>
            <a:r>
              <a:rPr sz="2300" b="0" i="0" u="none"/>
              <a:t>Helps detect missing context or contradictions</a:t>
            </a:r>
            <a:endParaRPr sz="2300" b="0" i="0">
              <a:latin typeface="Arial"/>
            </a:endParaRPr>
          </a:p>
          <a:p>
            <a:pPr>
              <a:buNone/>
            </a:pPr>
            <a:endParaRPr sz="2300" b="0" i="0">
              <a:latin typeface="Arial"/>
            </a:endParaRPr>
          </a:p>
          <a:p>
            <a:pPr>
              <a:buNone/>
            </a:pPr>
            <a:r>
              <a:rPr sz="2300" b="0" i="0" u="none"/>
              <a:t>Typical use cases</a:t>
            </a:r>
            <a:endParaRPr sz="2300" b="0" i="0">
              <a:latin typeface="Arial"/>
            </a:endParaRPr>
          </a:p>
          <a:p>
            <a:pPr lvl="1"/>
            <a:r>
              <a:rPr sz="2300" b="0" i="0" u="none"/>
              <a:t>Refactoring comparisons</a:t>
            </a:r>
            <a:endParaRPr sz="2300" b="0" i="0">
              <a:latin typeface="Arial"/>
            </a:endParaRPr>
          </a:p>
          <a:p>
            <a:pPr lvl="1"/>
            <a:r>
              <a:rPr sz="2300" b="0" i="0" u="none"/>
              <a:t>Documentation consistency checks</a:t>
            </a:r>
            <a:endParaRPr sz="2300" b="0" i="0">
              <a:latin typeface="Arial"/>
            </a:endParaRPr>
          </a:p>
          <a:p>
            <a:pPr lvl="1"/>
            <a:r>
              <a:rPr sz="2300" b="0" i="0" u="none"/>
              <a:t>Architecture proposal validation</a:t>
            </a:r>
            <a:endParaRPr sz="2300" b="0" i="0">
              <a:latin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4000" b="0" i="0" u="none"/>
              <a:t>Comparing Approaches &amp; Outcomes</a:t>
            </a:r>
          </a:p>
        </p:txBody>
      </p:sp>
      <p:sp>
        <p:nvSpPr>
          <p:cNvPr id="3" name="Content Placeholder 2"/>
          <p:cNvSpPr>
            <a:spLocks noGrp="1"/>
          </p:cNvSpPr>
          <p:nvPr>
            <p:ph idx="1"/>
          </p:nvPr>
        </p:nvSpPr>
        <p:spPr/>
        <p:txBody>
          <a:bodyPr wrap="square">
            <a:noAutofit/>
          </a:bodyPr>
          <a:lstStyle/>
          <a:p>
            <a:pPr>
              <a:buNone/>
            </a:pPr>
            <a:r>
              <a:rPr sz="2050" b="0" i="0" u="none"/>
              <a:t>What to compare</a:t>
            </a:r>
            <a:endParaRPr sz="2050" b="0" i="0">
              <a:latin typeface="Arial"/>
            </a:endParaRPr>
          </a:p>
          <a:p>
            <a:pPr lvl="1"/>
            <a:r>
              <a:rPr sz="2050" b="0" i="0" u="none"/>
              <a:t>Code structure and clarity</a:t>
            </a:r>
            <a:endParaRPr sz="2050" b="0" i="0">
              <a:latin typeface="Arial"/>
            </a:endParaRPr>
          </a:p>
          <a:p>
            <a:pPr lvl="1"/>
            <a:r>
              <a:rPr sz="2050" b="0" i="0" u="none"/>
              <a:t>Architectural alignment</a:t>
            </a:r>
            <a:endParaRPr sz="2050" b="0" i="0">
              <a:latin typeface="Arial"/>
            </a:endParaRPr>
          </a:p>
          <a:p>
            <a:pPr lvl="1"/>
            <a:r>
              <a:rPr sz="2050" b="0" i="0" u="none"/>
              <a:t>Test quality</a:t>
            </a:r>
            <a:endParaRPr sz="2050" b="0" i="0">
              <a:latin typeface="Arial"/>
            </a:endParaRPr>
          </a:p>
          <a:p>
            <a:pPr lvl="1"/>
            <a:r>
              <a:rPr sz="2050" b="0" i="0" u="none"/>
              <a:t>Documentation completeness</a:t>
            </a:r>
            <a:endParaRPr sz="2050" b="0" i="0">
              <a:latin typeface="Arial"/>
            </a:endParaRPr>
          </a:p>
          <a:p>
            <a:pPr lvl="1"/>
            <a:r>
              <a:rPr sz="2050" b="0" i="0" u="none"/>
              <a:t>Risk level of proposed changes</a:t>
            </a:r>
            <a:endParaRPr sz="2050" b="0" i="0">
              <a:latin typeface="Arial"/>
            </a:endParaRPr>
          </a:p>
          <a:p>
            <a:pPr>
              <a:buNone/>
            </a:pPr>
            <a:endParaRPr sz="2050" b="0" i="0">
              <a:latin typeface="Arial"/>
            </a:endParaRPr>
          </a:p>
          <a:p>
            <a:pPr>
              <a:buNone/>
            </a:pPr>
            <a:r>
              <a:rPr sz="2050" b="0" i="0" u="none"/>
              <a:t>Benefits</a:t>
            </a:r>
            <a:endParaRPr sz="2050" b="0" i="0">
              <a:latin typeface="Arial"/>
            </a:endParaRPr>
          </a:p>
          <a:p>
            <a:pPr lvl="1"/>
            <a:r>
              <a:rPr sz="2050" b="0" i="0" u="none"/>
              <a:t>Identifies the safest implementation</a:t>
            </a:r>
            <a:endParaRPr sz="2050" b="0" i="0">
              <a:latin typeface="Arial"/>
            </a:endParaRPr>
          </a:p>
          <a:p>
            <a:pPr lvl="1"/>
            <a:r>
              <a:rPr sz="2050" b="0" i="0" u="none"/>
              <a:t>Surfaces hidden assumptions</a:t>
            </a:r>
            <a:endParaRPr sz="2050" b="0" i="0">
              <a:latin typeface="Arial"/>
            </a:endParaRPr>
          </a:p>
          <a:p>
            <a:pPr lvl="1"/>
            <a:r>
              <a:rPr sz="2050" b="0" i="0" u="none"/>
              <a:t>Highlights model-specific biases</a:t>
            </a:r>
            <a:endParaRPr sz="2050" b="0" i="0">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3900" b="0" i="0" u="none"/>
              <a:t>Risk Assessment &amp; Quality Evaluation</a:t>
            </a:r>
          </a:p>
        </p:txBody>
      </p:sp>
      <p:sp>
        <p:nvSpPr>
          <p:cNvPr id="3" name="Content Placeholder 2"/>
          <p:cNvSpPr>
            <a:spLocks noGrp="1"/>
          </p:cNvSpPr>
          <p:nvPr>
            <p:ph idx="1"/>
          </p:nvPr>
        </p:nvSpPr>
        <p:spPr/>
        <p:txBody>
          <a:bodyPr wrap="square">
            <a:noAutofit/>
          </a:bodyPr>
          <a:lstStyle/>
          <a:p>
            <a:pPr>
              <a:buNone/>
            </a:pPr>
            <a:r>
              <a:rPr sz="2050" b="0" i="0" u="none"/>
              <a:t>Risk indicators</a:t>
            </a:r>
            <a:endParaRPr sz="2050" b="0" i="0">
              <a:latin typeface="Arial"/>
            </a:endParaRPr>
          </a:p>
          <a:p>
            <a:pPr lvl="1"/>
            <a:r>
              <a:rPr sz="2050" b="0" i="0" u="none"/>
              <a:t>Missing tests</a:t>
            </a:r>
            <a:endParaRPr sz="2050" b="0" i="0">
              <a:latin typeface="Arial"/>
            </a:endParaRPr>
          </a:p>
          <a:p>
            <a:pPr lvl="1"/>
            <a:r>
              <a:rPr sz="2050" b="0" i="0" u="none"/>
              <a:t>Large or unnecessary refactors</a:t>
            </a:r>
            <a:endParaRPr sz="2050" b="0" i="0">
              <a:latin typeface="Arial"/>
            </a:endParaRPr>
          </a:p>
          <a:p>
            <a:pPr lvl="1"/>
            <a:r>
              <a:rPr sz="2050" b="0" i="0" u="none"/>
              <a:t>Violations of instruction files</a:t>
            </a:r>
            <a:endParaRPr sz="2050" b="0" i="0">
              <a:latin typeface="Arial"/>
            </a:endParaRPr>
          </a:p>
          <a:p>
            <a:pPr lvl="1"/>
            <a:r>
              <a:rPr sz="2050" b="0" i="0" u="none"/>
              <a:t>Unclear or undocumented behavior</a:t>
            </a:r>
            <a:endParaRPr sz="2050" b="0" i="0">
              <a:latin typeface="Arial"/>
            </a:endParaRPr>
          </a:p>
          <a:p>
            <a:pPr>
              <a:buNone/>
            </a:pPr>
            <a:endParaRPr sz="2050" b="0" i="0">
              <a:latin typeface="Arial"/>
            </a:endParaRPr>
          </a:p>
          <a:p>
            <a:pPr>
              <a:buNone/>
            </a:pPr>
            <a:r>
              <a:rPr sz="2050" b="0" i="0" u="none"/>
              <a:t>Quality indicators</a:t>
            </a:r>
            <a:endParaRPr sz="2050" b="0" i="0">
              <a:latin typeface="Arial"/>
            </a:endParaRPr>
          </a:p>
          <a:p>
            <a:pPr lvl="1"/>
            <a:r>
              <a:rPr sz="2050" b="0" i="0" u="none"/>
              <a:t>Small, incremental changes</a:t>
            </a:r>
            <a:endParaRPr sz="2050" b="0" i="0">
              <a:latin typeface="Arial"/>
            </a:endParaRPr>
          </a:p>
          <a:p>
            <a:pPr lvl="1"/>
            <a:r>
              <a:rPr sz="2050" b="0" i="0" u="none"/>
              <a:t>Clear reasoning</a:t>
            </a:r>
            <a:endParaRPr sz="2050" b="0" i="0">
              <a:latin typeface="Arial"/>
            </a:endParaRPr>
          </a:p>
          <a:p>
            <a:pPr lvl="1"/>
            <a:r>
              <a:rPr sz="2050" b="0" i="0" u="none"/>
              <a:t>Strong test coverage</a:t>
            </a:r>
            <a:endParaRPr sz="2050" b="0" i="0">
              <a:latin typeface="Arial"/>
            </a:endParaRPr>
          </a:p>
          <a:p>
            <a:pPr lvl="1"/>
            <a:r>
              <a:rPr sz="2050" b="0" i="0" u="none"/>
              <a:t>Alignment with evergreen principles</a:t>
            </a:r>
            <a:endParaRPr sz="2050" b="0" i="0">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2850" b="0" i="0" u="none"/>
              <a:t>Exercise: Prompt Copilot to Address Technical Debt</a:t>
            </a:r>
          </a:p>
        </p:txBody>
      </p:sp>
      <p:sp>
        <p:nvSpPr>
          <p:cNvPr id="3" name="Content Placeholder 2"/>
          <p:cNvSpPr>
            <a:spLocks noGrp="1"/>
          </p:cNvSpPr>
          <p:nvPr>
            <p:ph sz="half" idx="1"/>
          </p:nvPr>
        </p:nvSpPr>
        <p:spPr/>
        <p:txBody>
          <a:bodyPr wrap="square">
            <a:noAutofit/>
          </a:bodyPr>
          <a:lstStyle/>
          <a:p>
            <a:pPr>
              <a:buNone/>
            </a:pPr>
            <a:r>
              <a:rPr sz="1700" b="0" i="0" u="none"/>
              <a:t>Objectives</a:t>
            </a:r>
            <a:endParaRPr sz="1700" b="0" i="0">
              <a:latin typeface="Arial"/>
            </a:endParaRPr>
          </a:p>
          <a:p>
            <a:pPr lvl="1"/>
            <a:r>
              <a:rPr sz="1700" b="0" i="0" u="none"/>
              <a:t>Practice writing high-signal prompts</a:t>
            </a:r>
            <a:endParaRPr sz="1700" b="0" i="0">
              <a:latin typeface="Arial"/>
            </a:endParaRPr>
          </a:p>
          <a:p>
            <a:pPr lvl="1"/>
            <a:r>
              <a:rPr sz="1700" b="0" i="0" u="none"/>
              <a:t>Apply architectural constraints</a:t>
            </a:r>
            <a:endParaRPr sz="1700" b="0" i="0">
              <a:latin typeface="Arial"/>
            </a:endParaRPr>
          </a:p>
          <a:p>
            <a:pPr lvl="1"/>
            <a:r>
              <a:rPr sz="1700" b="0" i="0" u="none"/>
              <a:t>Produce safe, incremental remediation requests</a:t>
            </a:r>
            <a:endParaRPr sz="1700" b="0" i="0">
              <a:latin typeface="Arial"/>
            </a:endParaRPr>
          </a:p>
          <a:p>
            <a:pPr>
              <a:buNone/>
            </a:pPr>
            <a:endParaRPr sz="1700" b="0" i="0">
              <a:latin typeface="Arial"/>
            </a:endParaRPr>
          </a:p>
          <a:p>
            <a:pPr>
              <a:buNone/>
            </a:pPr>
            <a:r>
              <a:rPr sz="1700" b="0" i="0" u="none"/>
              <a:t>Activities</a:t>
            </a:r>
            <a:endParaRPr sz="1700" b="0" i="0">
              <a:latin typeface="Arial"/>
            </a:endParaRPr>
          </a:p>
          <a:p>
            <a:pPr lvl="1">
              <a:buNone/>
            </a:pPr>
            <a:r>
              <a:rPr sz="1700" b="0" i="0" u="none"/>
              <a:t>  1. Select a small piece of technical debt.</a:t>
            </a:r>
            <a:endParaRPr sz="1700" b="0" i="0">
              <a:latin typeface="Arial"/>
            </a:endParaRPr>
          </a:p>
          <a:p>
            <a:pPr lvl="1">
              <a:buNone/>
            </a:pPr>
            <a:r>
              <a:rPr sz="1700" b="0" i="0" u="none"/>
              <a:t>  2. Write a prompt that includes:</a:t>
            </a:r>
            <a:endParaRPr sz="1700" b="0" i="0">
              <a:latin typeface="Arial"/>
            </a:endParaRPr>
          </a:p>
          <a:p>
            <a:pPr lvl="2"/>
            <a:r>
              <a:rPr sz="1700" b="0" i="0" u="none"/>
              <a:t>Description of the debt</a:t>
            </a:r>
            <a:endParaRPr sz="1700" b="0" i="0">
              <a:latin typeface="Arial"/>
            </a:endParaRPr>
          </a:p>
          <a:p>
            <a:pPr lvl="2"/>
            <a:r>
              <a:rPr sz="1700" b="0" i="0" u="none"/>
              <a:t>Constraints and rules</a:t>
            </a:r>
            <a:endParaRPr sz="1700" b="0" i="0">
              <a:latin typeface="Arial"/>
            </a:endParaRPr>
          </a:p>
          <a:p>
            <a:pPr lvl="2"/>
            <a:r>
              <a:rPr sz="1700" b="0" i="0" u="none"/>
              <a:t>Expected behavior</a:t>
            </a:r>
            <a:endParaRPr sz="1700" b="0" i="0">
              <a:latin typeface="Arial"/>
            </a:endParaRPr>
          </a:p>
          <a:p>
            <a:pPr lvl="2"/>
            <a:r>
              <a:rPr sz="1700" b="0" i="0" u="none"/>
              <a:t>Required tests and documentation</a:t>
            </a:r>
            <a:endParaRPr sz="1700" b="0" i="0">
              <a:latin typeface="Arial"/>
            </a:endParaRPr>
          </a:p>
        </p:txBody>
      </p:sp>
      <p:sp>
        <p:nvSpPr>
          <p:cNvPr id="4" name="Content Placeholder 3"/>
          <p:cNvSpPr>
            <a:spLocks noGrp="1"/>
          </p:cNvSpPr>
          <p:nvPr>
            <p:ph sz="half" idx="2"/>
          </p:nvPr>
        </p:nvSpPr>
        <p:spPr/>
        <p:txBody>
          <a:bodyPr wrap="square">
            <a:noAutofit/>
          </a:bodyPr>
          <a:lstStyle/>
          <a:p>
            <a:pPr>
              <a:buNone/>
            </a:pPr>
            <a:r>
              <a:rPr sz="2000" b="0" i="0" u="none"/>
              <a:t>3. Ask Copilot to propose a remediation.</a:t>
            </a:r>
            <a:endParaRPr sz="2000" b="0" i="0">
              <a:latin typeface="Arial"/>
            </a:endParaRPr>
          </a:p>
          <a:p>
            <a:pPr lvl="1">
              <a:buNone/>
            </a:pPr>
            <a:r>
              <a:rPr sz="2000" b="0" i="0" u="none"/>
              <a:t>  4. Review the output for correctness.</a:t>
            </a:r>
            <a:endParaRPr sz="2000" b="0" i="0">
              <a:latin typeface="Arial"/>
            </a:endParaRPr>
          </a:p>
          <a:p>
            <a:pPr>
              <a:buNone/>
            </a:pPr>
            <a:endParaRPr sz="2000" b="0" i="0">
              <a:latin typeface="Arial"/>
            </a:endParaRPr>
          </a:p>
          <a:p>
            <a:pPr>
              <a:buNone/>
            </a:pPr>
            <a:r>
              <a:rPr sz="2000" b="0" i="0" u="none"/>
              <a:t>Success Criteria</a:t>
            </a:r>
            <a:endParaRPr sz="2000" b="0" i="0">
              <a:latin typeface="Arial"/>
            </a:endParaRPr>
          </a:p>
          <a:p>
            <a:pPr lvl="1"/>
            <a:r>
              <a:rPr sz="2000" b="0" i="0" u="none"/>
              <a:t>Prompt is clear, scoped, and actionable</a:t>
            </a:r>
            <a:endParaRPr sz="2000" b="0" i="0">
              <a:latin typeface="Arial"/>
            </a:endParaRPr>
          </a:p>
          <a:p>
            <a:pPr lvl="1"/>
            <a:r>
              <a:rPr sz="2000" b="0" i="0" u="none"/>
              <a:t>Copilot produces a safe, incremental change</a:t>
            </a:r>
            <a:endParaRPr sz="2000" b="0" i="0">
              <a:latin typeface="Arial"/>
            </a:endParaRPr>
          </a:p>
          <a:p>
            <a:pPr lvl="1"/>
            <a:r>
              <a:rPr sz="2000" b="0" i="0" u="none"/>
              <a:t>Output aligns with architectural rules</a:t>
            </a:r>
            <a:endParaRPr sz="2000" b="0" i="0">
              <a:latin typeface="Arial"/>
            </a:endParaRPr>
          </a:p>
          <a:p>
            <a:pPr lvl="1"/>
            <a:r>
              <a:rPr sz="2000" b="0" i="0" u="none"/>
              <a:t>Provenance metadata is included</a:t>
            </a:r>
            <a:endParaRPr sz="2000" b="0" i="0">
              <a:latin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pPr>
              <a:buNone/>
            </a:pPr>
            <a:r>
              <a:rPr sz="2400" b="0" i="0" u="none"/>
              <a:t>Exercise: Prompt Multiple Models to Address Technical Debt</a:t>
            </a:r>
          </a:p>
        </p:txBody>
      </p:sp>
      <p:sp>
        <p:nvSpPr>
          <p:cNvPr id="3" name="Content Placeholder 2"/>
          <p:cNvSpPr>
            <a:spLocks noGrp="1"/>
          </p:cNvSpPr>
          <p:nvPr>
            <p:ph sz="half" idx="1"/>
          </p:nvPr>
        </p:nvSpPr>
        <p:spPr/>
        <p:txBody>
          <a:bodyPr wrap="square">
            <a:noAutofit/>
          </a:bodyPr>
          <a:lstStyle/>
          <a:p>
            <a:pPr>
              <a:buNone/>
            </a:pPr>
            <a:r>
              <a:rPr sz="2050" b="0" i="0" u="none"/>
              <a:t>Objectives</a:t>
            </a:r>
            <a:endParaRPr sz="2050" b="0" i="0">
              <a:latin typeface="Arial"/>
            </a:endParaRPr>
          </a:p>
          <a:p>
            <a:pPr lvl="1"/>
            <a:r>
              <a:rPr sz="2050" b="0" i="0" u="none"/>
              <a:t>Compare outputs from different models</a:t>
            </a:r>
            <a:endParaRPr sz="2050" b="0" i="0">
              <a:latin typeface="Arial"/>
            </a:endParaRPr>
          </a:p>
          <a:p>
            <a:pPr lvl="1"/>
            <a:r>
              <a:rPr sz="2050" b="0" i="0" u="none"/>
              <a:t>Identify strengths and weaknesses</a:t>
            </a:r>
            <a:endParaRPr sz="2050" b="0" i="0">
              <a:latin typeface="Arial"/>
            </a:endParaRPr>
          </a:p>
          <a:p>
            <a:pPr lvl="1"/>
            <a:r>
              <a:rPr sz="2050" b="0" i="0" u="none"/>
              <a:t>Evaluate risk and quality</a:t>
            </a:r>
            <a:endParaRPr sz="2050" b="0" i="0">
              <a:latin typeface="Arial"/>
            </a:endParaRPr>
          </a:p>
          <a:p>
            <a:pPr>
              <a:buNone/>
            </a:pPr>
            <a:endParaRPr sz="2050" b="0" i="0">
              <a:latin typeface="Arial"/>
            </a:endParaRPr>
          </a:p>
          <a:p>
            <a:pPr>
              <a:buNone/>
            </a:pPr>
            <a:r>
              <a:rPr sz="2050" b="0" i="0" u="none"/>
              <a:t>Activities</a:t>
            </a:r>
            <a:endParaRPr sz="2050" b="0" i="0">
              <a:latin typeface="Arial"/>
            </a:endParaRPr>
          </a:p>
          <a:p>
            <a:pPr lvl="1">
              <a:buNone/>
            </a:pPr>
            <a:r>
              <a:rPr sz="2050" b="0" i="0" u="none"/>
              <a:t>  1. Select a small technical debt item.</a:t>
            </a:r>
            <a:endParaRPr sz="2050" b="0" i="0">
              <a:latin typeface="Arial"/>
            </a:endParaRPr>
          </a:p>
          <a:p>
            <a:pPr lvl="1">
              <a:buNone/>
            </a:pPr>
            <a:r>
              <a:rPr sz="2050" b="0" i="0" u="none"/>
              <a:t>  2. Prompt two or more models to propose a fix.</a:t>
            </a:r>
            <a:endParaRPr sz="2050" b="0" i="0">
              <a:latin typeface="Arial"/>
            </a:endParaRPr>
          </a:p>
        </p:txBody>
      </p:sp>
      <p:sp>
        <p:nvSpPr>
          <p:cNvPr id="4" name="Content Placeholder 3"/>
          <p:cNvSpPr>
            <a:spLocks noGrp="1"/>
          </p:cNvSpPr>
          <p:nvPr>
            <p:ph sz="half" idx="2"/>
          </p:nvPr>
        </p:nvSpPr>
        <p:spPr/>
        <p:txBody>
          <a:bodyPr wrap="square">
            <a:noAutofit/>
          </a:bodyPr>
          <a:lstStyle/>
          <a:p>
            <a:pPr>
              <a:buNone/>
            </a:pPr>
            <a:r>
              <a:rPr sz="1500" b="0" i="0" u="none"/>
              <a:t>3. Compare outputs for:</a:t>
            </a:r>
            <a:endParaRPr sz="1500" b="0" i="0">
              <a:latin typeface="Arial"/>
            </a:endParaRPr>
          </a:p>
          <a:p>
            <a:pPr lvl="2"/>
            <a:r>
              <a:rPr sz="1500" b="0" i="0" u="none"/>
              <a:t>Safety</a:t>
            </a:r>
            <a:endParaRPr sz="1500" b="0" i="0">
              <a:latin typeface="Arial"/>
            </a:endParaRPr>
          </a:p>
          <a:p>
            <a:pPr lvl="2"/>
            <a:r>
              <a:rPr sz="1500" b="0" i="0" u="none"/>
              <a:t>Clarity</a:t>
            </a:r>
            <a:endParaRPr sz="1500" b="0" i="0">
              <a:latin typeface="Arial"/>
            </a:endParaRPr>
          </a:p>
          <a:p>
            <a:pPr lvl="2"/>
            <a:r>
              <a:rPr sz="1500" b="0" i="0" u="none"/>
              <a:t>Test coverage</a:t>
            </a:r>
            <a:endParaRPr sz="1500" b="0" i="0">
              <a:latin typeface="Arial"/>
            </a:endParaRPr>
          </a:p>
          <a:p>
            <a:pPr lvl="2"/>
            <a:r>
              <a:rPr sz="1500" b="0" i="0" u="none"/>
              <a:t>Architectural alignment</a:t>
            </a:r>
            <a:endParaRPr sz="1500" b="0" i="0">
              <a:latin typeface="Arial"/>
            </a:endParaRPr>
          </a:p>
          <a:p>
            <a:pPr lvl="1">
              <a:buNone/>
            </a:pPr>
            <a:r>
              <a:rPr sz="1500" b="0" i="0" u="none"/>
              <a:t>  4. Synthesize the best elements into a final solution.</a:t>
            </a:r>
            <a:endParaRPr sz="1500" b="0" i="0">
              <a:latin typeface="Arial"/>
            </a:endParaRPr>
          </a:p>
          <a:p>
            <a:pPr>
              <a:buNone/>
            </a:pPr>
            <a:endParaRPr sz="1500" b="0" i="0">
              <a:latin typeface="Arial"/>
            </a:endParaRPr>
          </a:p>
          <a:p>
            <a:pPr>
              <a:buNone/>
            </a:pPr>
            <a:r>
              <a:rPr sz="1500" b="0" i="0" u="none"/>
              <a:t>Success Criteria</a:t>
            </a:r>
            <a:endParaRPr sz="1500" b="0" i="0">
              <a:latin typeface="Arial"/>
            </a:endParaRPr>
          </a:p>
          <a:p>
            <a:pPr lvl="1"/>
            <a:r>
              <a:rPr sz="1500" b="0" i="0" u="none"/>
              <a:t>Differences between models are clearly identified</a:t>
            </a:r>
            <a:endParaRPr sz="1500" b="0" i="0">
              <a:latin typeface="Arial"/>
            </a:endParaRPr>
          </a:p>
          <a:p>
            <a:pPr lvl="1"/>
            <a:r>
              <a:rPr sz="1500" b="0" i="0" u="none"/>
              <a:t>Risks and strengths are evaluated</a:t>
            </a:r>
            <a:endParaRPr sz="1500" b="0" i="0">
              <a:latin typeface="Arial"/>
            </a:endParaRPr>
          </a:p>
          <a:p>
            <a:pPr lvl="1"/>
            <a:r>
              <a:rPr sz="1500" b="0" i="0" u="none"/>
              <a:t>Final synthesized solution is safe and incremental</a:t>
            </a:r>
            <a:endParaRPr sz="1500" b="0" i="0">
              <a:latin typeface="Arial"/>
            </a:endParaRPr>
          </a:p>
          <a:p>
            <a:pPr lvl="1"/>
            <a:r>
              <a:rPr sz="1500" b="0" i="0" u="none"/>
              <a:t>Provenance metadata is included</a:t>
            </a:r>
            <a:endParaRPr sz="1500" b="0" i="0">
              <a:latin typeface="Arial"/>
            </a:endParaRPr>
          </a:p>
        </p:txBody>
      </p:sp>
    </p:spTree>
  </p:cSld>
  <p:clrMapOvr>
    <a:masterClrMapping/>
  </p:clrMapOvr>
</p:sld>
</file>

<file path=ppt/theme/theme1.xml><?xml version="1.0" encoding="utf-8"?>
<a:theme xmlns:a="http://schemas.openxmlformats.org/drawingml/2006/main" name="CODE Trainin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MM CODE Training Slide Template.potx" id="{C235AF94-6470-4DC8-ADA1-D5CA24C263BE}" vid="{E23727E8-263B-4C98-B166-009CDF69EE3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308</TotalTime>
  <Words>8364</Words>
  <Application>Microsoft Office PowerPoint</Application>
  <PresentationFormat>Widescreen</PresentationFormat>
  <Paragraphs>1230</Paragraphs>
  <Slides>78</Slides>
  <Notes>78</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78</vt:i4>
      </vt:variant>
    </vt:vector>
  </HeadingPairs>
  <TitlesOfParts>
    <vt:vector size="84" baseType="lpstr">
      <vt:lpstr>Arial</vt:lpstr>
      <vt:lpstr>Calibri</vt:lpstr>
      <vt:lpstr>Consolas</vt:lpstr>
      <vt:lpstr>Noto Sans</vt:lpstr>
      <vt:lpstr>Victor Mono</vt:lpstr>
      <vt:lpstr>CODE Training</vt:lpstr>
      <vt:lpstr>The Return of the Prompter</vt:lpstr>
      <vt:lpstr>Course Modules</vt:lpstr>
      <vt:lpstr>The AI Practitioner's Cheat Sheet</vt:lpstr>
      <vt:lpstr>Course Modules</vt:lpstr>
      <vt:lpstr>Legacy Code Deserves Respect</vt:lpstr>
      <vt:lpstr>What is Not Legacy Code</vt:lpstr>
      <vt:lpstr>Codebases Degrade Over Time</vt:lpstr>
      <vt:lpstr>What is Evergreen Code</vt:lpstr>
      <vt:lpstr>Don't Break Production. Use a Flag.</vt:lpstr>
      <vt:lpstr>Essential Safety Measures</vt:lpstr>
      <vt:lpstr>Backup &amp; Rollback Strategies</vt:lpstr>
      <vt:lpstr>Confidence Frameworks</vt:lpstr>
      <vt:lpstr>Change Review Processes</vt:lpstr>
      <vt:lpstr>Incremental Change Methodology</vt:lpstr>
      <vt:lpstr>Keeping Change Sets Small</vt:lpstr>
      <vt:lpstr>Building Safety Nets</vt:lpstr>
      <vt:lpstr>Protecting Brownfield Codebases</vt:lpstr>
      <vt:lpstr>Leveraging AI Code Reviews</vt:lpstr>
      <vt:lpstr>Effective Human Code Reviews</vt:lpstr>
      <vt:lpstr>The Role of Test Automation</vt:lpstr>
      <vt:lpstr>Exercise: Building the Safety Nets</vt:lpstr>
      <vt:lpstr>Course Modules</vt:lpstr>
      <vt:lpstr>AI Implementation Workflow</vt:lpstr>
      <vt:lpstr>AI Implementation Workflow</vt:lpstr>
      <vt:lpstr>Best Practice: Request a Proposal First</vt:lpstr>
      <vt:lpstr>Identify Gaps Before Execution</vt:lpstr>
      <vt:lpstr>Compare Multiple Implementations</vt:lpstr>
      <vt:lpstr>Effective Prompts for Technical Debt</vt:lpstr>
      <vt:lpstr>Effective Prompts for Technical Debt</vt:lpstr>
      <vt:lpstr>What a Strong Technical Debt Prompt Includes</vt:lpstr>
      <vt:lpstr>Why Structured Prompts Matter</vt:lpstr>
      <vt:lpstr>GitHub Integration - Direct Issue Creation</vt:lpstr>
      <vt:lpstr>Assigning an Issue to @copilot</vt:lpstr>
      <vt:lpstr>Reusable Prompt Template for Technical Debt</vt:lpstr>
      <vt:lpstr>Key Takeaways</vt:lpstr>
      <vt:lpstr>Course Modules</vt:lpstr>
      <vt:lpstr>Conformance and Gap Analysis</vt:lpstr>
      <vt:lpstr>Conformance &amp; Gap Analysis</vt:lpstr>
      <vt:lpstr>Comparing Implementations Against Instruction Files</vt:lpstr>
      <vt:lpstr>Automated Issue Generation From Conformance Gaps</vt:lpstr>
      <vt:lpstr>Prioritizing Technical Debt Remediation</vt:lpstr>
      <vt:lpstr>Creating Actionable Remediation Plans</vt:lpstr>
      <vt:lpstr>Exercise: Create Project Requirement</vt:lpstr>
      <vt:lpstr>Exercise: Create an Implementation Plan</vt:lpstr>
      <vt:lpstr>Building a Technical Debt Backlog</vt:lpstr>
      <vt:lpstr>Building a Backlog</vt:lpstr>
      <vt:lpstr>Identifying Technical Debt</vt:lpstr>
      <vt:lpstr>Automating the Creation of GitHub Issues</vt:lpstr>
      <vt:lpstr>Exercise: Building the Backlog</vt:lpstr>
      <vt:lpstr>Implementation Plan Prioritization</vt:lpstr>
      <vt:lpstr>Finding the Gaps: Common Security Findings</vt:lpstr>
      <vt:lpstr>AI-Assisted Prioritization: Impact vs. Effort</vt:lpstr>
      <vt:lpstr>Making Technical Debt Visible</vt:lpstr>
      <vt:lpstr>Phase Zero: Security with Infinite ROI</vt:lpstr>
      <vt:lpstr>Reaching Evergreen: Quick Wins Compound</vt:lpstr>
      <vt:lpstr>Course Modules</vt:lpstr>
      <vt:lpstr>Addressing Technical Debt with Copilot</vt:lpstr>
      <vt:lpstr>Addressing Technical Debt</vt:lpstr>
      <vt:lpstr>Prompting Copilot to Address Technical Debt</vt:lpstr>
      <vt:lpstr>Assigning Issues to Copilot</vt:lpstr>
      <vt:lpstr>What Copilot Does With Assigned Issues</vt:lpstr>
      <vt:lpstr>Exercise: Generate Instruction Files</vt:lpstr>
      <vt:lpstr>Exercise: Generate Issues to Make the Codebase Evergreen</vt:lpstr>
      <vt:lpstr>Exercise: Identifying Code Outside the Guardrails</vt:lpstr>
      <vt:lpstr>Code Quality Analysis Exercise</vt:lpstr>
      <vt:lpstr>Exercise: Code Quality Analysis</vt:lpstr>
      <vt:lpstr>Exercise: Addressing Technical Debt with Copilot</vt:lpstr>
      <vt:lpstr>Exercise: Prompt Copilot to Address Technical Debt</vt:lpstr>
      <vt:lpstr>Exercise: Assigning an Issue to Copilot</vt:lpstr>
      <vt:lpstr>Exercise: Delegating Work to Copilot</vt:lpstr>
      <vt:lpstr>Course Modules</vt:lpstr>
      <vt:lpstr>Multi-Model Implementation Comparison</vt:lpstr>
      <vt:lpstr>Multi-Model Implementation Comparison</vt:lpstr>
      <vt:lpstr>Implementing Changes With Different AI Models</vt:lpstr>
      <vt:lpstr>Comparing Approaches &amp; Outcomes</vt:lpstr>
      <vt:lpstr>Risk Assessment &amp; Quality Evaluation</vt:lpstr>
      <vt:lpstr>Exercise: Prompt Copilot to Address Technical Debt</vt:lpstr>
      <vt:lpstr>Exercise: Prompt Multiple Models to Address Technical Debt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Miller</dc:creator>
  <cp:lastModifiedBy>John Miller</cp:lastModifiedBy>
  <cp:revision>6</cp:revision>
  <dcterms:created xsi:type="dcterms:W3CDTF">2025-10-19T18:09:53Z</dcterms:created>
  <dcterms:modified xsi:type="dcterms:W3CDTF">2026-04-09T21:39:17Z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0x010100587004330F6D8B418A43481AAFC77453</vt:lpwstr>
  </property>
</Properties>
</file>