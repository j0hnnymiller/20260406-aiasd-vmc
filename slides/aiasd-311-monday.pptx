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181"/>
  </p:notesMasterIdLst>
  <p:sldIdLst>
    <p:sldId id="256" r:id="rId2"/>
    <p:sldId id="257" r:id="rId3"/>
    <p:sldId id="258" r:id="rId4"/>
    <p:sldId id="259" r:id="rId5"/>
    <p:sldId id="2141411852"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141411853" r:id="rId44"/>
    <p:sldId id="298" r:id="rId45"/>
    <p:sldId id="2141411854" r:id="rId46"/>
    <p:sldId id="2141411855" r:id="rId47"/>
    <p:sldId id="2141411856" r:id="rId48"/>
    <p:sldId id="301"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88" r:id="rId118"/>
    <p:sldId id="389" r:id="rId119"/>
    <p:sldId id="390" r:id="rId120"/>
    <p:sldId id="391" r:id="rId121"/>
    <p:sldId id="392" r:id="rId122"/>
    <p:sldId id="397" r:id="rId123"/>
    <p:sldId id="394" r:id="rId124"/>
    <p:sldId id="395" r:id="rId125"/>
    <p:sldId id="396" r:id="rId126"/>
    <p:sldId id="398" r:id="rId127"/>
    <p:sldId id="399" r:id="rId128"/>
    <p:sldId id="400" r:id="rId129"/>
    <p:sldId id="401" r:id="rId130"/>
    <p:sldId id="402" r:id="rId131"/>
    <p:sldId id="393" r:id="rId132"/>
    <p:sldId id="403" r:id="rId133"/>
    <p:sldId id="404" r:id="rId134"/>
    <p:sldId id="405" r:id="rId135"/>
    <p:sldId id="406" r:id="rId136"/>
    <p:sldId id="407" r:id="rId137"/>
    <p:sldId id="408" r:id="rId138"/>
    <p:sldId id="409" r:id="rId139"/>
    <p:sldId id="371" r:id="rId140"/>
    <p:sldId id="373" r:id="rId141"/>
    <p:sldId id="374" r:id="rId142"/>
    <p:sldId id="375" r:id="rId143"/>
    <p:sldId id="376" r:id="rId144"/>
    <p:sldId id="377" r:id="rId145"/>
    <p:sldId id="378" r:id="rId146"/>
    <p:sldId id="379" r:id="rId147"/>
    <p:sldId id="380" r:id="rId148"/>
    <p:sldId id="381" r:id="rId149"/>
    <p:sldId id="382" r:id="rId150"/>
    <p:sldId id="372" r:id="rId151"/>
    <p:sldId id="384" r:id="rId152"/>
    <p:sldId id="383" r:id="rId153"/>
    <p:sldId id="385" r:id="rId154"/>
    <p:sldId id="386" r:id="rId155"/>
    <p:sldId id="387"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2" r:id="rId169"/>
    <p:sldId id="423" r:id="rId170"/>
    <p:sldId id="424" r:id="rId171"/>
    <p:sldId id="425" r:id="rId172"/>
    <p:sldId id="426" r:id="rId173"/>
    <p:sldId id="427" r:id="rId174"/>
    <p:sldId id="428" r:id="rId175"/>
    <p:sldId id="429" r:id="rId176"/>
    <p:sldId id="430" r:id="rId177"/>
    <p:sldId id="431" r:id="rId178"/>
    <p:sldId id="432" r:id="rId179"/>
    <p:sldId id="433" r:id="rId18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9B8284-44B6-410F-B250-EF6FEC6BC078}" v="56" dt="2026-03-23T02:59:13.958"/>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111" d="100"/>
          <a:sy n="111" d="100"/>
        </p:scale>
        <p:origin x="1844" y="84"/>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presProps" Target="pres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microsoft.com/office/2015/10/relationships/revisionInfo" Target="revisionInfo.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undo custSel addSld delSld modSld sldOrd addSection delSection">
      <pc:chgData name="John Miller" userId="70e70d2d-fa72-4952-98cf-67858fa4ef7a" providerId="ADAL" clId="{3C0F8D48-B805-4732-975A-89F26263F015}" dt="2026-03-23T14:40:46.710" v="1732" actId="20577"/>
      <pc:docMkLst>
        <pc:docMk/>
      </pc:docMkLst>
      <pc:sldChg chg="modSp mod">
        <pc:chgData name="John Miller" userId="70e70d2d-fa72-4952-98cf-67858fa4ef7a" providerId="ADAL" clId="{3C0F8D48-B805-4732-975A-89F26263F015}" dt="2026-03-22T21:47:59.120" v="0" actId="27636"/>
        <pc:sldMkLst>
          <pc:docMk/>
          <pc:sldMk cId="0" sldId="257"/>
        </pc:sldMkLst>
        <pc:spChg chg="mod">
          <ac:chgData name="John Miller" userId="70e70d2d-fa72-4952-98cf-67858fa4ef7a" providerId="ADAL" clId="{3C0F8D48-B805-4732-975A-89F26263F015}" dt="2026-03-22T21:47:59.120" v="0" actId="27636"/>
          <ac:spMkLst>
            <pc:docMk/>
            <pc:sldMk cId="0" sldId="257"/>
            <ac:spMk id="3" creationId="{00000000-0000-0000-0000-000000000000}"/>
          </ac:spMkLst>
        </pc:spChg>
      </pc:sldChg>
      <pc:sldChg chg="mod modShow">
        <pc:chgData name="John Miller" userId="70e70d2d-fa72-4952-98cf-67858fa4ef7a" providerId="ADAL" clId="{3C0F8D48-B805-4732-975A-89F26263F015}" dt="2026-03-23T14:38:35.537" v="1670" actId="729"/>
        <pc:sldMkLst>
          <pc:docMk/>
          <pc:sldMk cId="0" sldId="258"/>
        </pc:sldMkLst>
      </pc:sldChg>
      <pc:sldChg chg="mod modShow">
        <pc:chgData name="John Miller" userId="70e70d2d-fa72-4952-98cf-67858fa4ef7a" providerId="ADAL" clId="{3C0F8D48-B805-4732-975A-89F26263F015}" dt="2026-03-22T21:49:19.635" v="205" actId="729"/>
        <pc:sldMkLst>
          <pc:docMk/>
          <pc:sldMk cId="0" sldId="259"/>
        </pc:sldMkLst>
      </pc:sldChg>
      <pc:sldChg chg="modSp mod">
        <pc:chgData name="John Miller" userId="70e70d2d-fa72-4952-98cf-67858fa4ef7a" providerId="ADAL" clId="{3C0F8D48-B805-4732-975A-89F26263F015}" dt="2026-03-23T14:40:46.710" v="1732" actId="20577"/>
        <pc:sldMkLst>
          <pc:docMk/>
          <pc:sldMk cId="0" sldId="260"/>
        </pc:sldMkLst>
        <pc:graphicFrameChg chg="mod modGraphic">
          <ac:chgData name="John Miller" userId="70e70d2d-fa72-4952-98cf-67858fa4ef7a" providerId="ADAL" clId="{3C0F8D48-B805-4732-975A-89F26263F015}" dt="2026-03-23T14:40:46.710" v="1732" actId="20577"/>
          <ac:graphicFrameMkLst>
            <pc:docMk/>
            <pc:sldMk cId="0" sldId="260"/>
            <ac:graphicFrameMk id="3" creationId="{00000000-0000-0000-0000-000000000000}"/>
          </ac:graphicFrameMkLst>
        </pc:graphicFrameChg>
      </pc:sldChg>
      <pc:sldChg chg="modSp mod modShow">
        <pc:chgData name="John Miller" userId="70e70d2d-fa72-4952-98cf-67858fa4ef7a" providerId="ADAL" clId="{3C0F8D48-B805-4732-975A-89F26263F015}" dt="2026-03-22T21:51:05.312" v="215" actId="729"/>
        <pc:sldMkLst>
          <pc:docMk/>
          <pc:sldMk cId="0" sldId="262"/>
        </pc:sldMkLst>
        <pc:spChg chg="mod">
          <ac:chgData name="John Miller" userId="70e70d2d-fa72-4952-98cf-67858fa4ef7a" providerId="ADAL" clId="{3C0F8D48-B805-4732-975A-89F26263F015}" dt="2026-03-22T21:48:36.910" v="2" actId="27636"/>
          <ac:spMkLst>
            <pc:docMk/>
            <pc:sldMk cId="0" sldId="262"/>
            <ac:spMk id="2" creationId="{00000000-0000-0000-0000-000000000000}"/>
          </ac:spMkLst>
        </pc:spChg>
      </pc:sldChg>
      <pc:sldChg chg="modSp mod">
        <pc:chgData name="John Miller" userId="70e70d2d-fa72-4952-98cf-67858fa4ef7a" providerId="ADAL" clId="{3C0F8D48-B805-4732-975A-89F26263F015}" dt="2026-03-22T21:48:37.016" v="3" actId="27636"/>
        <pc:sldMkLst>
          <pc:docMk/>
          <pc:sldMk cId="0" sldId="263"/>
        </pc:sldMkLst>
        <pc:spChg chg="mod">
          <ac:chgData name="John Miller" userId="70e70d2d-fa72-4952-98cf-67858fa4ef7a" providerId="ADAL" clId="{3C0F8D48-B805-4732-975A-89F26263F015}" dt="2026-03-22T21:48:37.016" v="3" actId="27636"/>
          <ac:spMkLst>
            <pc:docMk/>
            <pc:sldMk cId="0" sldId="263"/>
            <ac:spMk id="2" creationId="{00000000-0000-0000-0000-000000000000}"/>
          </ac:spMkLst>
        </pc:spChg>
      </pc:sldChg>
      <pc:sldChg chg="modSp mod">
        <pc:chgData name="John Miller" userId="70e70d2d-fa72-4952-98cf-67858fa4ef7a" providerId="ADAL" clId="{3C0F8D48-B805-4732-975A-89F26263F015}" dt="2026-03-22T21:48:37.100" v="4" actId="27636"/>
        <pc:sldMkLst>
          <pc:docMk/>
          <pc:sldMk cId="0" sldId="264"/>
        </pc:sldMkLst>
        <pc:spChg chg="mod">
          <ac:chgData name="John Miller" userId="70e70d2d-fa72-4952-98cf-67858fa4ef7a" providerId="ADAL" clId="{3C0F8D48-B805-4732-975A-89F26263F015}" dt="2026-03-22T21:48:37.100" v="4" actId="27636"/>
          <ac:spMkLst>
            <pc:docMk/>
            <pc:sldMk cId="0" sldId="264"/>
            <ac:spMk id="3" creationId="{00000000-0000-0000-0000-000000000000}"/>
          </ac:spMkLst>
        </pc:spChg>
      </pc:sldChg>
      <pc:sldChg chg="modSp mod">
        <pc:chgData name="John Miller" userId="70e70d2d-fa72-4952-98cf-67858fa4ef7a" providerId="ADAL" clId="{3C0F8D48-B805-4732-975A-89F26263F015}" dt="2026-03-23T02:04:15.417" v="965"/>
        <pc:sldMkLst>
          <pc:docMk/>
          <pc:sldMk cId="0" sldId="265"/>
        </pc:sldMkLst>
        <pc:spChg chg="mod">
          <ac:chgData name="John Miller" userId="70e70d2d-fa72-4952-98cf-67858fa4ef7a" providerId="ADAL" clId="{3C0F8D48-B805-4732-975A-89F26263F015}" dt="2026-03-22T21:48:37.100" v="5" actId="27636"/>
          <ac:spMkLst>
            <pc:docMk/>
            <pc:sldMk cId="0" sldId="265"/>
            <ac:spMk id="2" creationId="{00000000-0000-0000-0000-000000000000}"/>
          </ac:spMkLst>
        </pc:spChg>
        <pc:spChg chg="mod">
          <ac:chgData name="John Miller" userId="70e70d2d-fa72-4952-98cf-67858fa4ef7a" providerId="ADAL" clId="{3C0F8D48-B805-4732-975A-89F26263F015}" dt="2026-03-23T02:04:15.417" v="965"/>
          <ac:spMkLst>
            <pc:docMk/>
            <pc:sldMk cId="0" sldId="265"/>
            <ac:spMk id="3" creationId="{00000000-0000-0000-0000-000000000000}"/>
          </ac:spMkLst>
        </pc:spChg>
      </pc:sldChg>
      <pc:sldChg chg="modSp mod">
        <pc:chgData name="John Miller" userId="70e70d2d-fa72-4952-98cf-67858fa4ef7a" providerId="ADAL" clId="{3C0F8D48-B805-4732-975A-89F26263F015}" dt="2026-03-22T21:48:37.132" v="8" actId="27636"/>
        <pc:sldMkLst>
          <pc:docMk/>
          <pc:sldMk cId="0" sldId="266"/>
        </pc:sldMkLst>
        <pc:spChg chg="mod">
          <ac:chgData name="John Miller" userId="70e70d2d-fa72-4952-98cf-67858fa4ef7a" providerId="ADAL" clId="{3C0F8D48-B805-4732-975A-89F26263F015}" dt="2026-03-22T21:48:37.121" v="7" actId="27636"/>
          <ac:spMkLst>
            <pc:docMk/>
            <pc:sldMk cId="0" sldId="266"/>
            <ac:spMk id="2" creationId="{00000000-0000-0000-0000-000000000000}"/>
          </ac:spMkLst>
        </pc:spChg>
        <pc:spChg chg="mod">
          <ac:chgData name="John Miller" userId="70e70d2d-fa72-4952-98cf-67858fa4ef7a" providerId="ADAL" clId="{3C0F8D48-B805-4732-975A-89F26263F015}" dt="2026-03-22T21:48:37.132" v="8" actId="27636"/>
          <ac:spMkLst>
            <pc:docMk/>
            <pc:sldMk cId="0" sldId="266"/>
            <ac:spMk id="3" creationId="{00000000-0000-0000-0000-000000000000}"/>
          </ac:spMkLst>
        </pc:spChg>
      </pc:sldChg>
      <pc:sldChg chg="modSp mod">
        <pc:chgData name="John Miller" userId="70e70d2d-fa72-4952-98cf-67858fa4ef7a" providerId="ADAL" clId="{3C0F8D48-B805-4732-975A-89F26263F015}" dt="2026-03-22T21:48:37.165" v="10" actId="27636"/>
        <pc:sldMkLst>
          <pc:docMk/>
          <pc:sldMk cId="0" sldId="267"/>
        </pc:sldMkLst>
        <pc:spChg chg="mod">
          <ac:chgData name="John Miller" userId="70e70d2d-fa72-4952-98cf-67858fa4ef7a" providerId="ADAL" clId="{3C0F8D48-B805-4732-975A-89F26263F015}" dt="2026-03-22T21:48:37.144" v="9" actId="27636"/>
          <ac:spMkLst>
            <pc:docMk/>
            <pc:sldMk cId="0" sldId="267"/>
            <ac:spMk id="2" creationId="{00000000-0000-0000-0000-000000000000}"/>
          </ac:spMkLst>
        </pc:spChg>
        <pc:spChg chg="mod">
          <ac:chgData name="John Miller" userId="70e70d2d-fa72-4952-98cf-67858fa4ef7a" providerId="ADAL" clId="{3C0F8D48-B805-4732-975A-89F26263F015}" dt="2026-03-22T21:48:37.165" v="10" actId="27636"/>
          <ac:spMkLst>
            <pc:docMk/>
            <pc:sldMk cId="0" sldId="267"/>
            <ac:spMk id="3" creationId="{00000000-0000-0000-0000-000000000000}"/>
          </ac:spMkLst>
        </pc:spChg>
      </pc:sldChg>
      <pc:sldChg chg="modSp mod">
        <pc:chgData name="John Miller" userId="70e70d2d-fa72-4952-98cf-67858fa4ef7a" providerId="ADAL" clId="{3C0F8D48-B805-4732-975A-89F26263F015}" dt="2026-03-22T21:48:37.185" v="11" actId="27636"/>
        <pc:sldMkLst>
          <pc:docMk/>
          <pc:sldMk cId="0" sldId="268"/>
        </pc:sldMkLst>
        <pc:spChg chg="mod">
          <ac:chgData name="John Miller" userId="70e70d2d-fa72-4952-98cf-67858fa4ef7a" providerId="ADAL" clId="{3C0F8D48-B805-4732-975A-89F26263F015}" dt="2026-03-22T21:48:37.185" v="11" actId="27636"/>
          <ac:spMkLst>
            <pc:docMk/>
            <pc:sldMk cId="0" sldId="268"/>
            <ac:spMk id="3" creationId="{00000000-0000-0000-0000-000000000000}"/>
          </ac:spMkLst>
        </pc:spChg>
      </pc:sldChg>
      <pc:sldChg chg="modSp mod">
        <pc:chgData name="John Miller" userId="70e70d2d-fa72-4952-98cf-67858fa4ef7a" providerId="ADAL" clId="{3C0F8D48-B805-4732-975A-89F26263F015}" dt="2026-03-22T21:48:37.196" v="13" actId="27636"/>
        <pc:sldMkLst>
          <pc:docMk/>
          <pc:sldMk cId="0" sldId="269"/>
        </pc:sldMkLst>
        <pc:spChg chg="mod">
          <ac:chgData name="John Miller" userId="70e70d2d-fa72-4952-98cf-67858fa4ef7a" providerId="ADAL" clId="{3C0F8D48-B805-4732-975A-89F26263F015}" dt="2026-03-22T21:48:37.196" v="13" actId="27636"/>
          <ac:spMkLst>
            <pc:docMk/>
            <pc:sldMk cId="0" sldId="269"/>
            <ac:spMk id="2" creationId="{00000000-0000-0000-0000-000000000000}"/>
          </ac:spMkLst>
        </pc:spChg>
        <pc:spChg chg="mod">
          <ac:chgData name="John Miller" userId="70e70d2d-fa72-4952-98cf-67858fa4ef7a" providerId="ADAL" clId="{3C0F8D48-B805-4732-975A-89F26263F015}" dt="2026-03-22T21:48:37.196" v="12" actId="27636"/>
          <ac:spMkLst>
            <pc:docMk/>
            <pc:sldMk cId="0" sldId="269"/>
            <ac:spMk id="3" creationId="{00000000-0000-0000-0000-000000000000}"/>
          </ac:spMkLst>
        </pc:spChg>
      </pc:sldChg>
      <pc:sldChg chg="modSp mod">
        <pc:chgData name="John Miller" userId="70e70d2d-fa72-4952-98cf-67858fa4ef7a" providerId="ADAL" clId="{3C0F8D48-B805-4732-975A-89F26263F015}" dt="2026-03-22T21:48:37.223" v="15" actId="27636"/>
        <pc:sldMkLst>
          <pc:docMk/>
          <pc:sldMk cId="0" sldId="270"/>
        </pc:sldMkLst>
        <pc:spChg chg="mod">
          <ac:chgData name="John Miller" userId="70e70d2d-fa72-4952-98cf-67858fa4ef7a" providerId="ADAL" clId="{3C0F8D48-B805-4732-975A-89F26263F015}" dt="2026-03-22T21:48:37.207" v="14" actId="27636"/>
          <ac:spMkLst>
            <pc:docMk/>
            <pc:sldMk cId="0" sldId="270"/>
            <ac:spMk id="2" creationId="{00000000-0000-0000-0000-000000000000}"/>
          </ac:spMkLst>
        </pc:spChg>
        <pc:spChg chg="mod">
          <ac:chgData name="John Miller" userId="70e70d2d-fa72-4952-98cf-67858fa4ef7a" providerId="ADAL" clId="{3C0F8D48-B805-4732-975A-89F26263F015}" dt="2026-03-22T21:48:37.223" v="15" actId="27636"/>
          <ac:spMkLst>
            <pc:docMk/>
            <pc:sldMk cId="0" sldId="270"/>
            <ac:spMk id="3" creationId="{00000000-0000-0000-0000-000000000000}"/>
          </ac:spMkLst>
        </pc:spChg>
      </pc:sldChg>
      <pc:sldChg chg="modSp mod">
        <pc:chgData name="John Miller" userId="70e70d2d-fa72-4952-98cf-67858fa4ef7a" providerId="ADAL" clId="{3C0F8D48-B805-4732-975A-89F26263F015}" dt="2026-03-22T21:48:37.227" v="17" actId="27636"/>
        <pc:sldMkLst>
          <pc:docMk/>
          <pc:sldMk cId="0" sldId="271"/>
        </pc:sldMkLst>
        <pc:spChg chg="mod">
          <ac:chgData name="John Miller" userId="70e70d2d-fa72-4952-98cf-67858fa4ef7a" providerId="ADAL" clId="{3C0F8D48-B805-4732-975A-89F26263F015}" dt="2026-03-22T21:48:37.223" v="16" actId="27636"/>
          <ac:spMkLst>
            <pc:docMk/>
            <pc:sldMk cId="0" sldId="271"/>
            <ac:spMk id="2" creationId="{00000000-0000-0000-0000-000000000000}"/>
          </ac:spMkLst>
        </pc:spChg>
        <pc:spChg chg="mod">
          <ac:chgData name="John Miller" userId="70e70d2d-fa72-4952-98cf-67858fa4ef7a" providerId="ADAL" clId="{3C0F8D48-B805-4732-975A-89F26263F015}" dt="2026-03-22T21:48:37.227" v="17" actId="27636"/>
          <ac:spMkLst>
            <pc:docMk/>
            <pc:sldMk cId="0" sldId="271"/>
            <ac:spMk id="3" creationId="{00000000-0000-0000-0000-000000000000}"/>
          </ac:spMkLst>
        </pc:spChg>
      </pc:sldChg>
      <pc:sldChg chg="modSp mod">
        <pc:chgData name="John Miller" userId="70e70d2d-fa72-4952-98cf-67858fa4ef7a" providerId="ADAL" clId="{3C0F8D48-B805-4732-975A-89F26263F015}" dt="2026-03-22T21:48:37.254" v="19" actId="27636"/>
        <pc:sldMkLst>
          <pc:docMk/>
          <pc:sldMk cId="0" sldId="272"/>
        </pc:sldMkLst>
        <pc:spChg chg="mod">
          <ac:chgData name="John Miller" userId="70e70d2d-fa72-4952-98cf-67858fa4ef7a" providerId="ADAL" clId="{3C0F8D48-B805-4732-975A-89F26263F015}" dt="2026-03-22T21:48:37.238" v="18" actId="27636"/>
          <ac:spMkLst>
            <pc:docMk/>
            <pc:sldMk cId="0" sldId="272"/>
            <ac:spMk id="2" creationId="{00000000-0000-0000-0000-000000000000}"/>
          </ac:spMkLst>
        </pc:spChg>
        <pc:spChg chg="mod">
          <ac:chgData name="John Miller" userId="70e70d2d-fa72-4952-98cf-67858fa4ef7a" providerId="ADAL" clId="{3C0F8D48-B805-4732-975A-89F26263F015}" dt="2026-03-22T21:48:37.254" v="19" actId="27636"/>
          <ac:spMkLst>
            <pc:docMk/>
            <pc:sldMk cId="0" sldId="272"/>
            <ac:spMk id="3" creationId="{00000000-0000-0000-0000-000000000000}"/>
          </ac:spMkLst>
        </pc:spChg>
      </pc:sldChg>
      <pc:sldChg chg="modSp mod">
        <pc:chgData name="John Miller" userId="70e70d2d-fa72-4952-98cf-67858fa4ef7a" providerId="ADAL" clId="{3C0F8D48-B805-4732-975A-89F26263F015}" dt="2026-03-22T21:48:37.278" v="21" actId="27636"/>
        <pc:sldMkLst>
          <pc:docMk/>
          <pc:sldMk cId="0" sldId="273"/>
        </pc:sldMkLst>
        <pc:spChg chg="mod">
          <ac:chgData name="John Miller" userId="70e70d2d-fa72-4952-98cf-67858fa4ef7a" providerId="ADAL" clId="{3C0F8D48-B805-4732-975A-89F26263F015}" dt="2026-03-22T21:48:37.260" v="20" actId="27636"/>
          <ac:spMkLst>
            <pc:docMk/>
            <pc:sldMk cId="0" sldId="273"/>
            <ac:spMk id="2" creationId="{00000000-0000-0000-0000-000000000000}"/>
          </ac:spMkLst>
        </pc:spChg>
        <pc:spChg chg="mod">
          <ac:chgData name="John Miller" userId="70e70d2d-fa72-4952-98cf-67858fa4ef7a" providerId="ADAL" clId="{3C0F8D48-B805-4732-975A-89F26263F015}" dt="2026-03-22T21:48:37.278" v="21" actId="27636"/>
          <ac:spMkLst>
            <pc:docMk/>
            <pc:sldMk cId="0" sldId="273"/>
            <ac:spMk id="3" creationId="{00000000-0000-0000-0000-000000000000}"/>
          </ac:spMkLst>
        </pc:spChg>
      </pc:sldChg>
      <pc:sldChg chg="modSp mod">
        <pc:chgData name="John Miller" userId="70e70d2d-fa72-4952-98cf-67858fa4ef7a" providerId="ADAL" clId="{3C0F8D48-B805-4732-975A-89F26263F015}" dt="2026-03-22T21:48:37.291" v="23" actId="27636"/>
        <pc:sldMkLst>
          <pc:docMk/>
          <pc:sldMk cId="0" sldId="274"/>
        </pc:sldMkLst>
        <pc:spChg chg="mod">
          <ac:chgData name="John Miller" userId="70e70d2d-fa72-4952-98cf-67858fa4ef7a" providerId="ADAL" clId="{3C0F8D48-B805-4732-975A-89F26263F015}" dt="2026-03-22T21:48:37.291" v="23" actId="27636"/>
          <ac:spMkLst>
            <pc:docMk/>
            <pc:sldMk cId="0" sldId="274"/>
            <ac:spMk id="2" creationId="{00000000-0000-0000-0000-000000000000}"/>
          </ac:spMkLst>
        </pc:spChg>
        <pc:spChg chg="mod">
          <ac:chgData name="John Miller" userId="70e70d2d-fa72-4952-98cf-67858fa4ef7a" providerId="ADAL" clId="{3C0F8D48-B805-4732-975A-89F26263F015}" dt="2026-03-22T21:48:37.291" v="22" actId="27636"/>
          <ac:spMkLst>
            <pc:docMk/>
            <pc:sldMk cId="0" sldId="274"/>
            <ac:spMk id="3" creationId="{00000000-0000-0000-0000-000000000000}"/>
          </ac:spMkLst>
        </pc:spChg>
      </pc:sldChg>
      <pc:sldChg chg="modSp mod">
        <pc:chgData name="John Miller" userId="70e70d2d-fa72-4952-98cf-67858fa4ef7a" providerId="ADAL" clId="{3C0F8D48-B805-4732-975A-89F26263F015}" dt="2026-03-22T21:48:37.311" v="24" actId="27636"/>
        <pc:sldMkLst>
          <pc:docMk/>
          <pc:sldMk cId="0" sldId="275"/>
        </pc:sldMkLst>
        <pc:spChg chg="mod">
          <ac:chgData name="John Miller" userId="70e70d2d-fa72-4952-98cf-67858fa4ef7a" providerId="ADAL" clId="{3C0F8D48-B805-4732-975A-89F26263F015}" dt="2026-03-22T21:48:37.311" v="24" actId="27636"/>
          <ac:spMkLst>
            <pc:docMk/>
            <pc:sldMk cId="0" sldId="275"/>
            <ac:spMk id="3" creationId="{00000000-0000-0000-0000-000000000000}"/>
          </ac:spMkLst>
        </pc:spChg>
      </pc:sldChg>
      <pc:sldChg chg="modSp mod">
        <pc:chgData name="John Miller" userId="70e70d2d-fa72-4952-98cf-67858fa4ef7a" providerId="ADAL" clId="{3C0F8D48-B805-4732-975A-89F26263F015}" dt="2026-03-22T21:48:37.321" v="25" actId="27636"/>
        <pc:sldMkLst>
          <pc:docMk/>
          <pc:sldMk cId="0" sldId="276"/>
        </pc:sldMkLst>
        <pc:spChg chg="mod">
          <ac:chgData name="John Miller" userId="70e70d2d-fa72-4952-98cf-67858fa4ef7a" providerId="ADAL" clId="{3C0F8D48-B805-4732-975A-89F26263F015}" dt="2026-03-22T21:48:37.321" v="25" actId="27636"/>
          <ac:spMkLst>
            <pc:docMk/>
            <pc:sldMk cId="0" sldId="276"/>
            <ac:spMk id="3" creationId="{00000000-0000-0000-0000-000000000000}"/>
          </ac:spMkLst>
        </pc:spChg>
      </pc:sldChg>
      <pc:sldChg chg="modSp mod">
        <pc:chgData name="John Miller" userId="70e70d2d-fa72-4952-98cf-67858fa4ef7a" providerId="ADAL" clId="{3C0F8D48-B805-4732-975A-89F26263F015}" dt="2026-03-22T21:48:37.321" v="27" actId="27636"/>
        <pc:sldMkLst>
          <pc:docMk/>
          <pc:sldMk cId="0" sldId="277"/>
        </pc:sldMkLst>
        <pc:spChg chg="mod">
          <ac:chgData name="John Miller" userId="70e70d2d-fa72-4952-98cf-67858fa4ef7a" providerId="ADAL" clId="{3C0F8D48-B805-4732-975A-89F26263F015}" dt="2026-03-22T21:48:37.321" v="26" actId="27636"/>
          <ac:spMkLst>
            <pc:docMk/>
            <pc:sldMk cId="0" sldId="277"/>
            <ac:spMk id="2" creationId="{00000000-0000-0000-0000-000000000000}"/>
          </ac:spMkLst>
        </pc:spChg>
        <pc:spChg chg="mod">
          <ac:chgData name="John Miller" userId="70e70d2d-fa72-4952-98cf-67858fa4ef7a" providerId="ADAL" clId="{3C0F8D48-B805-4732-975A-89F26263F015}" dt="2026-03-22T21:48:37.321" v="27" actId="27636"/>
          <ac:spMkLst>
            <pc:docMk/>
            <pc:sldMk cId="0" sldId="277"/>
            <ac:spMk id="3" creationId="{00000000-0000-0000-0000-000000000000}"/>
          </ac:spMkLst>
        </pc:spChg>
      </pc:sldChg>
      <pc:sldChg chg="modSp mod modShow">
        <pc:chgData name="John Miller" userId="70e70d2d-fa72-4952-98cf-67858fa4ef7a" providerId="ADAL" clId="{3C0F8D48-B805-4732-975A-89F26263F015}" dt="2026-03-22T21:55:59.832" v="216" actId="729"/>
        <pc:sldMkLst>
          <pc:docMk/>
          <pc:sldMk cId="0" sldId="278"/>
        </pc:sldMkLst>
        <pc:spChg chg="mod">
          <ac:chgData name="John Miller" userId="70e70d2d-fa72-4952-98cf-67858fa4ef7a" providerId="ADAL" clId="{3C0F8D48-B805-4732-975A-89F26263F015}" dt="2026-03-22T21:48:37.353" v="28" actId="27636"/>
          <ac:spMkLst>
            <pc:docMk/>
            <pc:sldMk cId="0" sldId="278"/>
            <ac:spMk id="3" creationId="{00000000-0000-0000-0000-000000000000}"/>
          </ac:spMkLst>
        </pc:spChg>
      </pc:sldChg>
      <pc:sldChg chg="mod modShow">
        <pc:chgData name="John Miller" userId="70e70d2d-fa72-4952-98cf-67858fa4ef7a" providerId="ADAL" clId="{3C0F8D48-B805-4732-975A-89F26263F015}" dt="2026-03-22T21:56:13.913" v="217" actId="729"/>
        <pc:sldMkLst>
          <pc:docMk/>
          <pc:sldMk cId="0" sldId="279"/>
        </pc:sldMkLst>
      </pc:sldChg>
      <pc:sldChg chg="modSp mod">
        <pc:chgData name="John Miller" userId="70e70d2d-fa72-4952-98cf-67858fa4ef7a" providerId="ADAL" clId="{3C0F8D48-B805-4732-975A-89F26263F015}" dt="2026-03-23T02:04:15.486" v="966" actId="27636"/>
        <pc:sldMkLst>
          <pc:docMk/>
          <pc:sldMk cId="0" sldId="280"/>
        </pc:sldMkLst>
        <pc:spChg chg="mod">
          <ac:chgData name="John Miller" userId="70e70d2d-fa72-4952-98cf-67858fa4ef7a" providerId="ADAL" clId="{3C0F8D48-B805-4732-975A-89F26263F015}" dt="2026-03-22T21:48:37.353" v="29" actId="27636"/>
          <ac:spMkLst>
            <pc:docMk/>
            <pc:sldMk cId="0" sldId="280"/>
            <ac:spMk id="2" creationId="{00000000-0000-0000-0000-000000000000}"/>
          </ac:spMkLst>
        </pc:spChg>
        <pc:spChg chg="mod">
          <ac:chgData name="John Miller" userId="70e70d2d-fa72-4952-98cf-67858fa4ef7a" providerId="ADAL" clId="{3C0F8D48-B805-4732-975A-89F26263F015}" dt="2026-03-23T02:04:15.486" v="966" actId="27636"/>
          <ac:spMkLst>
            <pc:docMk/>
            <pc:sldMk cId="0" sldId="280"/>
            <ac:spMk id="3" creationId="{00000000-0000-0000-0000-000000000000}"/>
          </ac:spMkLst>
        </pc:spChg>
      </pc:sldChg>
      <pc:sldChg chg="modSp mod">
        <pc:chgData name="John Miller" userId="70e70d2d-fa72-4952-98cf-67858fa4ef7a" providerId="ADAL" clId="{3C0F8D48-B805-4732-975A-89F26263F015}" dt="2026-03-22T21:48:37.370" v="31" actId="27636"/>
        <pc:sldMkLst>
          <pc:docMk/>
          <pc:sldMk cId="0" sldId="281"/>
        </pc:sldMkLst>
        <pc:spChg chg="mod">
          <ac:chgData name="John Miller" userId="70e70d2d-fa72-4952-98cf-67858fa4ef7a" providerId="ADAL" clId="{3C0F8D48-B805-4732-975A-89F26263F015}" dt="2026-03-22T21:48:37.370" v="31" actId="27636"/>
          <ac:spMkLst>
            <pc:docMk/>
            <pc:sldMk cId="0" sldId="281"/>
            <ac:spMk id="3" creationId="{00000000-0000-0000-0000-000000000000}"/>
          </ac:spMkLst>
        </pc:spChg>
      </pc:sldChg>
      <pc:sldChg chg="modSp mod">
        <pc:chgData name="John Miller" userId="70e70d2d-fa72-4952-98cf-67858fa4ef7a" providerId="ADAL" clId="{3C0F8D48-B805-4732-975A-89F26263F015}" dt="2026-03-22T23:05:29.146" v="230" actId="14100"/>
        <pc:sldMkLst>
          <pc:docMk/>
          <pc:sldMk cId="0" sldId="282"/>
        </pc:sldMkLst>
        <pc:graphicFrameChg chg="mod modGraphic">
          <ac:chgData name="John Miller" userId="70e70d2d-fa72-4952-98cf-67858fa4ef7a" providerId="ADAL" clId="{3C0F8D48-B805-4732-975A-89F26263F015}" dt="2026-03-22T23:05:29.146" v="230" actId="14100"/>
          <ac:graphicFrameMkLst>
            <pc:docMk/>
            <pc:sldMk cId="0" sldId="282"/>
            <ac:graphicFrameMk id="3" creationId="{00000000-0000-0000-0000-000000000000}"/>
          </ac:graphicFrameMkLst>
        </pc:graphicFrameChg>
      </pc:sldChg>
      <pc:sldChg chg="modSp mod">
        <pc:chgData name="John Miller" userId="70e70d2d-fa72-4952-98cf-67858fa4ef7a" providerId="ADAL" clId="{3C0F8D48-B805-4732-975A-89F26263F015}" dt="2026-03-22T21:48:37.381" v="32" actId="27636"/>
        <pc:sldMkLst>
          <pc:docMk/>
          <pc:sldMk cId="0" sldId="283"/>
        </pc:sldMkLst>
        <pc:spChg chg="mod">
          <ac:chgData name="John Miller" userId="70e70d2d-fa72-4952-98cf-67858fa4ef7a" providerId="ADAL" clId="{3C0F8D48-B805-4732-975A-89F26263F015}" dt="2026-03-22T21:48:37.381" v="32" actId="27636"/>
          <ac:spMkLst>
            <pc:docMk/>
            <pc:sldMk cId="0" sldId="283"/>
            <ac:spMk id="3" creationId="{00000000-0000-0000-0000-000000000000}"/>
          </ac:spMkLst>
        </pc:spChg>
      </pc:sldChg>
      <pc:sldChg chg="addSp modSp mod modClrScheme modShow chgLayout">
        <pc:chgData name="John Miller" userId="70e70d2d-fa72-4952-98cf-67858fa4ef7a" providerId="ADAL" clId="{3C0F8D48-B805-4732-975A-89F26263F015}" dt="2026-03-23T14:23:26.203" v="1667" actId="729"/>
        <pc:sldMkLst>
          <pc:docMk/>
          <pc:sldMk cId="0" sldId="285"/>
        </pc:sldMkLst>
        <pc:spChg chg="mod ord">
          <ac:chgData name="John Miller" userId="70e70d2d-fa72-4952-98cf-67858fa4ef7a" providerId="ADAL" clId="{3C0F8D48-B805-4732-975A-89F26263F015}" dt="2026-03-22T23:05:51.234" v="231" actId="700"/>
          <ac:spMkLst>
            <pc:docMk/>
            <pc:sldMk cId="0" sldId="285"/>
            <ac:spMk id="2" creationId="{00000000-0000-0000-0000-000000000000}"/>
          </ac:spMkLst>
        </pc:spChg>
        <pc:spChg chg="mod ord">
          <ac:chgData name="John Miller" userId="70e70d2d-fa72-4952-98cf-67858fa4ef7a" providerId="ADAL" clId="{3C0F8D48-B805-4732-975A-89F26263F015}" dt="2026-03-22T23:08:03.921" v="274" actId="113"/>
          <ac:spMkLst>
            <pc:docMk/>
            <pc:sldMk cId="0" sldId="285"/>
            <ac:spMk id="3" creationId="{00000000-0000-0000-0000-000000000000}"/>
          </ac:spMkLst>
        </pc:spChg>
        <pc:spChg chg="add mod ord">
          <ac:chgData name="John Miller" userId="70e70d2d-fa72-4952-98cf-67858fa4ef7a" providerId="ADAL" clId="{3C0F8D48-B805-4732-975A-89F26263F015}" dt="2026-03-22T23:07:53.882" v="271" actId="27636"/>
          <ac:spMkLst>
            <pc:docMk/>
            <pc:sldMk cId="0" sldId="285"/>
            <ac:spMk id="4" creationId="{9C378202-2F7E-73EC-0CAD-3FCB72DDFB5A}"/>
          </ac:spMkLst>
        </pc:spChg>
      </pc:sldChg>
      <pc:sldChg chg="addSp modSp mod modClrScheme modShow chgLayout">
        <pc:chgData name="John Miller" userId="70e70d2d-fa72-4952-98cf-67858fa4ef7a" providerId="ADAL" clId="{3C0F8D48-B805-4732-975A-89F26263F015}" dt="2026-03-23T14:23:29.067" v="1668" actId="729"/>
        <pc:sldMkLst>
          <pc:docMk/>
          <pc:sldMk cId="0" sldId="286"/>
        </pc:sldMkLst>
        <pc:spChg chg="mod ord">
          <ac:chgData name="John Miller" userId="70e70d2d-fa72-4952-98cf-67858fa4ef7a" providerId="ADAL" clId="{3C0F8D48-B805-4732-975A-89F26263F015}" dt="2026-03-22T23:08:27.098" v="275" actId="700"/>
          <ac:spMkLst>
            <pc:docMk/>
            <pc:sldMk cId="0" sldId="286"/>
            <ac:spMk id="2" creationId="{00000000-0000-0000-0000-000000000000}"/>
          </ac:spMkLst>
        </pc:spChg>
        <pc:spChg chg="mod ord">
          <ac:chgData name="John Miller" userId="70e70d2d-fa72-4952-98cf-67858fa4ef7a" providerId="ADAL" clId="{3C0F8D48-B805-4732-975A-89F26263F015}" dt="2026-03-22T23:09:24.313" v="297" actId="5793"/>
          <ac:spMkLst>
            <pc:docMk/>
            <pc:sldMk cId="0" sldId="286"/>
            <ac:spMk id="3" creationId="{00000000-0000-0000-0000-000000000000}"/>
          </ac:spMkLst>
        </pc:spChg>
        <pc:spChg chg="add mod ord">
          <ac:chgData name="John Miller" userId="70e70d2d-fa72-4952-98cf-67858fa4ef7a" providerId="ADAL" clId="{3C0F8D48-B805-4732-975A-89F26263F015}" dt="2026-03-22T23:08:57.886" v="287" actId="20577"/>
          <ac:spMkLst>
            <pc:docMk/>
            <pc:sldMk cId="0" sldId="286"/>
            <ac:spMk id="4" creationId="{4B462608-93BE-6848-5D0B-F2C1996F8BE7}"/>
          </ac:spMkLst>
        </pc:spChg>
      </pc:sldChg>
      <pc:sldChg chg="modSp mod modShow">
        <pc:chgData name="John Miller" userId="70e70d2d-fa72-4952-98cf-67858fa4ef7a" providerId="ADAL" clId="{3C0F8D48-B805-4732-975A-89F26263F015}" dt="2026-03-22T23:10:42.828" v="298" actId="729"/>
        <pc:sldMkLst>
          <pc:docMk/>
          <pc:sldMk cId="0" sldId="287"/>
        </pc:sldMkLst>
        <pc:spChg chg="mod">
          <ac:chgData name="John Miller" userId="70e70d2d-fa72-4952-98cf-67858fa4ef7a" providerId="ADAL" clId="{3C0F8D48-B805-4732-975A-89F26263F015}" dt="2026-03-22T21:48:37.470" v="36" actId="27636"/>
          <ac:spMkLst>
            <pc:docMk/>
            <pc:sldMk cId="0" sldId="287"/>
            <ac:spMk id="3" creationId="{00000000-0000-0000-0000-000000000000}"/>
          </ac:spMkLst>
        </pc:spChg>
      </pc:sldChg>
      <pc:sldChg chg="modSp mod modShow">
        <pc:chgData name="John Miller" userId="70e70d2d-fa72-4952-98cf-67858fa4ef7a" providerId="ADAL" clId="{3C0F8D48-B805-4732-975A-89F26263F015}" dt="2026-03-23T14:23:34.638" v="1669" actId="729"/>
        <pc:sldMkLst>
          <pc:docMk/>
          <pc:sldMk cId="0" sldId="288"/>
        </pc:sldMkLst>
        <pc:spChg chg="mod">
          <ac:chgData name="John Miller" userId="70e70d2d-fa72-4952-98cf-67858fa4ef7a" providerId="ADAL" clId="{3C0F8D48-B805-4732-975A-89F26263F015}" dt="2026-03-22T23:10:58.273" v="302" actId="20577"/>
          <ac:spMkLst>
            <pc:docMk/>
            <pc:sldMk cId="0" sldId="288"/>
            <ac:spMk id="2" creationId="{00000000-0000-0000-0000-000000000000}"/>
          </ac:spMkLst>
        </pc:spChg>
      </pc:sldChg>
      <pc:sldChg chg="mod modShow">
        <pc:chgData name="John Miller" userId="70e70d2d-fa72-4952-98cf-67858fa4ef7a" providerId="ADAL" clId="{3C0F8D48-B805-4732-975A-89F26263F015}" dt="2026-03-22T23:11:21.278" v="303" actId="729"/>
        <pc:sldMkLst>
          <pc:docMk/>
          <pc:sldMk cId="0" sldId="290"/>
        </pc:sldMkLst>
      </pc:sldChg>
      <pc:sldChg chg="modSp mod modShow">
        <pc:chgData name="John Miller" userId="70e70d2d-fa72-4952-98cf-67858fa4ef7a" providerId="ADAL" clId="{3C0F8D48-B805-4732-975A-89F26263F015}" dt="2026-03-23T00:13:37.964" v="305" actId="729"/>
        <pc:sldMkLst>
          <pc:docMk/>
          <pc:sldMk cId="0" sldId="293"/>
        </pc:sldMkLst>
        <pc:spChg chg="mod">
          <ac:chgData name="John Miller" userId="70e70d2d-fa72-4952-98cf-67858fa4ef7a" providerId="ADAL" clId="{3C0F8D48-B805-4732-975A-89F26263F015}" dt="2026-03-22T21:48:37.485" v="37" actId="27636"/>
          <ac:spMkLst>
            <pc:docMk/>
            <pc:sldMk cId="0" sldId="293"/>
            <ac:spMk id="2" creationId="{00000000-0000-0000-0000-000000000000}"/>
          </ac:spMkLst>
        </pc:spChg>
        <pc:spChg chg="mod">
          <ac:chgData name="John Miller" userId="70e70d2d-fa72-4952-98cf-67858fa4ef7a" providerId="ADAL" clId="{3C0F8D48-B805-4732-975A-89F26263F015}" dt="2026-03-22T21:48:37.493" v="38" actId="27636"/>
          <ac:spMkLst>
            <pc:docMk/>
            <pc:sldMk cId="0" sldId="293"/>
            <ac:spMk id="3" creationId="{00000000-0000-0000-0000-000000000000}"/>
          </ac:spMkLst>
        </pc:spChg>
      </pc:sldChg>
      <pc:sldChg chg="modSp mod modShow">
        <pc:chgData name="John Miller" userId="70e70d2d-fa72-4952-98cf-67858fa4ef7a" providerId="ADAL" clId="{3C0F8D48-B805-4732-975A-89F26263F015}" dt="2026-03-23T00:13:41.901" v="306" actId="729"/>
        <pc:sldMkLst>
          <pc:docMk/>
          <pc:sldMk cId="0" sldId="294"/>
        </pc:sldMkLst>
        <pc:spChg chg="mod">
          <ac:chgData name="John Miller" userId="70e70d2d-fa72-4952-98cf-67858fa4ef7a" providerId="ADAL" clId="{3C0F8D48-B805-4732-975A-89F26263F015}" dt="2026-03-22T21:48:37.502" v="40" actId="27636"/>
          <ac:spMkLst>
            <pc:docMk/>
            <pc:sldMk cId="0" sldId="294"/>
            <ac:spMk id="2" creationId="{00000000-0000-0000-0000-000000000000}"/>
          </ac:spMkLst>
        </pc:spChg>
        <pc:spChg chg="mod">
          <ac:chgData name="John Miller" userId="70e70d2d-fa72-4952-98cf-67858fa4ef7a" providerId="ADAL" clId="{3C0F8D48-B805-4732-975A-89F26263F015}" dt="2026-03-22T21:48:37.502" v="39" actId="27636"/>
          <ac:spMkLst>
            <pc:docMk/>
            <pc:sldMk cId="0" sldId="294"/>
            <ac:spMk id="3" creationId="{00000000-0000-0000-0000-000000000000}"/>
          </ac:spMkLst>
        </pc:spChg>
      </pc:sldChg>
      <pc:sldChg chg="modSp mod modShow">
        <pc:chgData name="John Miller" userId="70e70d2d-fa72-4952-98cf-67858fa4ef7a" providerId="ADAL" clId="{3C0F8D48-B805-4732-975A-89F26263F015}" dt="2026-03-23T00:13:44.632" v="307" actId="729"/>
        <pc:sldMkLst>
          <pc:docMk/>
          <pc:sldMk cId="0" sldId="295"/>
        </pc:sldMkLst>
        <pc:spChg chg="mod">
          <ac:chgData name="John Miller" userId="70e70d2d-fa72-4952-98cf-67858fa4ef7a" providerId="ADAL" clId="{3C0F8D48-B805-4732-975A-89F26263F015}" dt="2026-03-22T21:48:37.507" v="41" actId="27636"/>
          <ac:spMkLst>
            <pc:docMk/>
            <pc:sldMk cId="0" sldId="295"/>
            <ac:spMk id="3" creationId="{00000000-0000-0000-0000-000000000000}"/>
          </ac:spMkLst>
        </pc:spChg>
      </pc:sldChg>
      <pc:sldChg chg="modSp mod">
        <pc:chgData name="John Miller" userId="70e70d2d-fa72-4952-98cf-67858fa4ef7a" providerId="ADAL" clId="{3C0F8D48-B805-4732-975A-89F26263F015}" dt="2026-03-22T21:48:37.512" v="42" actId="27636"/>
        <pc:sldMkLst>
          <pc:docMk/>
          <pc:sldMk cId="0" sldId="296"/>
        </pc:sldMkLst>
        <pc:spChg chg="mod">
          <ac:chgData name="John Miller" userId="70e70d2d-fa72-4952-98cf-67858fa4ef7a" providerId="ADAL" clId="{3C0F8D48-B805-4732-975A-89F26263F015}" dt="2026-03-22T21:48:37.512" v="42" actId="27636"/>
          <ac:spMkLst>
            <pc:docMk/>
            <pc:sldMk cId="0" sldId="296"/>
            <ac:spMk id="3" creationId="{00000000-0000-0000-0000-000000000000}"/>
          </ac:spMkLst>
        </pc:spChg>
      </pc:sldChg>
      <pc:sldChg chg="addSp modSp del mod modClrScheme chgLayout">
        <pc:chgData name="John Miller" userId="70e70d2d-fa72-4952-98cf-67858fa4ef7a" providerId="ADAL" clId="{3C0F8D48-B805-4732-975A-89F26263F015}" dt="2026-03-23T00:14:03.713" v="309" actId="2696"/>
        <pc:sldMkLst>
          <pc:docMk/>
          <pc:sldMk cId="0" sldId="297"/>
        </pc:sldMkLst>
        <pc:spChg chg="mod ord">
          <ac:chgData name="John Miller" userId="70e70d2d-fa72-4952-98cf-67858fa4ef7a" providerId="ADAL" clId="{3C0F8D48-B805-4732-975A-89F26263F015}" dt="2026-03-22T23:22:18.987" v="304" actId="700"/>
          <ac:spMkLst>
            <pc:docMk/>
            <pc:sldMk cId="0" sldId="297"/>
            <ac:spMk id="2" creationId="{00000000-0000-0000-0000-000000000000}"/>
          </ac:spMkLst>
        </pc:spChg>
        <pc:spChg chg="mod ord">
          <ac:chgData name="John Miller" userId="70e70d2d-fa72-4952-98cf-67858fa4ef7a" providerId="ADAL" clId="{3C0F8D48-B805-4732-975A-89F26263F015}" dt="2026-03-22T23:22:18.987" v="304" actId="700"/>
          <ac:spMkLst>
            <pc:docMk/>
            <pc:sldMk cId="0" sldId="297"/>
            <ac:spMk id="3" creationId="{00000000-0000-0000-0000-000000000000}"/>
          </ac:spMkLst>
        </pc:spChg>
        <pc:spChg chg="add mod ord">
          <ac:chgData name="John Miller" userId="70e70d2d-fa72-4952-98cf-67858fa4ef7a" providerId="ADAL" clId="{3C0F8D48-B805-4732-975A-89F26263F015}" dt="2026-03-22T23:22:18.987" v="304" actId="700"/>
          <ac:spMkLst>
            <pc:docMk/>
            <pc:sldMk cId="0" sldId="297"/>
            <ac:spMk id="4" creationId="{DE51D2D1-6847-46BE-511C-0F33DA175CDF}"/>
          </ac:spMkLst>
        </pc:spChg>
      </pc:sldChg>
      <pc:sldChg chg="modSp mod ord">
        <pc:chgData name="John Miller" userId="70e70d2d-fa72-4952-98cf-67858fa4ef7a" providerId="ADAL" clId="{3C0F8D48-B805-4732-975A-89F26263F015}" dt="2026-03-23T00:14:19.492" v="311"/>
        <pc:sldMkLst>
          <pc:docMk/>
          <pc:sldMk cId="0" sldId="298"/>
        </pc:sldMkLst>
        <pc:spChg chg="mod">
          <ac:chgData name="John Miller" userId="70e70d2d-fa72-4952-98cf-67858fa4ef7a" providerId="ADAL" clId="{3C0F8D48-B805-4732-975A-89F26263F015}" dt="2026-03-22T21:48:37.565" v="45" actId="27636"/>
          <ac:spMkLst>
            <pc:docMk/>
            <pc:sldMk cId="0" sldId="298"/>
            <ac:spMk id="3" creationId="{00000000-0000-0000-0000-000000000000}"/>
          </ac:spMkLst>
        </pc:spChg>
      </pc:sldChg>
      <pc:sldChg chg="modSp del mod">
        <pc:chgData name="John Miller" userId="70e70d2d-fa72-4952-98cf-67858fa4ef7a" providerId="ADAL" clId="{3C0F8D48-B805-4732-975A-89F26263F015}" dt="2026-03-23T00:14:30.346" v="312" actId="47"/>
        <pc:sldMkLst>
          <pc:docMk/>
          <pc:sldMk cId="0" sldId="299"/>
        </pc:sldMkLst>
        <pc:spChg chg="mod">
          <ac:chgData name="John Miller" userId="70e70d2d-fa72-4952-98cf-67858fa4ef7a" providerId="ADAL" clId="{3C0F8D48-B805-4732-975A-89F26263F015}" dt="2026-03-22T21:48:37.602" v="47" actId="27636"/>
          <ac:spMkLst>
            <pc:docMk/>
            <pc:sldMk cId="0" sldId="299"/>
            <ac:spMk id="2" creationId="{00000000-0000-0000-0000-000000000000}"/>
          </ac:spMkLst>
        </pc:spChg>
        <pc:spChg chg="mod">
          <ac:chgData name="John Miller" userId="70e70d2d-fa72-4952-98cf-67858fa4ef7a" providerId="ADAL" clId="{3C0F8D48-B805-4732-975A-89F26263F015}" dt="2026-03-22T21:48:37.602" v="46" actId="27636"/>
          <ac:spMkLst>
            <pc:docMk/>
            <pc:sldMk cId="0" sldId="299"/>
            <ac:spMk id="3" creationId="{00000000-0000-0000-0000-000000000000}"/>
          </ac:spMkLst>
        </pc:spChg>
      </pc:sldChg>
      <pc:sldChg chg="modSp del mod">
        <pc:chgData name="John Miller" userId="70e70d2d-fa72-4952-98cf-67858fa4ef7a" providerId="ADAL" clId="{3C0F8D48-B805-4732-975A-89F26263F015}" dt="2026-03-23T00:14:33.605" v="313" actId="47"/>
        <pc:sldMkLst>
          <pc:docMk/>
          <pc:sldMk cId="0" sldId="300"/>
        </pc:sldMkLst>
        <pc:spChg chg="mod">
          <ac:chgData name="John Miller" userId="70e70d2d-fa72-4952-98cf-67858fa4ef7a" providerId="ADAL" clId="{3C0F8D48-B805-4732-975A-89F26263F015}" dt="2026-03-22T21:48:37.663" v="49" actId="27636"/>
          <ac:spMkLst>
            <pc:docMk/>
            <pc:sldMk cId="0" sldId="300"/>
            <ac:spMk id="2" creationId="{00000000-0000-0000-0000-000000000000}"/>
          </ac:spMkLst>
        </pc:spChg>
        <pc:spChg chg="mod">
          <ac:chgData name="John Miller" userId="70e70d2d-fa72-4952-98cf-67858fa4ef7a" providerId="ADAL" clId="{3C0F8D48-B805-4732-975A-89F26263F015}" dt="2026-03-22T21:48:37.663" v="48" actId="27636"/>
          <ac:spMkLst>
            <pc:docMk/>
            <pc:sldMk cId="0" sldId="300"/>
            <ac:spMk id="3" creationId="{00000000-0000-0000-0000-000000000000}"/>
          </ac:spMkLst>
        </pc:spChg>
      </pc:sldChg>
      <pc:sldChg chg="modSp mod">
        <pc:chgData name="John Miller" userId="70e70d2d-fa72-4952-98cf-67858fa4ef7a" providerId="ADAL" clId="{3C0F8D48-B805-4732-975A-89F26263F015}" dt="2026-03-22T21:48:37.676" v="51" actId="27636"/>
        <pc:sldMkLst>
          <pc:docMk/>
          <pc:sldMk cId="0" sldId="301"/>
        </pc:sldMkLst>
        <pc:spChg chg="mod">
          <ac:chgData name="John Miller" userId="70e70d2d-fa72-4952-98cf-67858fa4ef7a" providerId="ADAL" clId="{3C0F8D48-B805-4732-975A-89F26263F015}" dt="2026-03-22T21:48:37.666" v="50" actId="27636"/>
          <ac:spMkLst>
            <pc:docMk/>
            <pc:sldMk cId="0" sldId="301"/>
            <ac:spMk id="2" creationId="{00000000-0000-0000-0000-000000000000}"/>
          </ac:spMkLst>
        </pc:spChg>
        <pc:spChg chg="mod">
          <ac:chgData name="John Miller" userId="70e70d2d-fa72-4952-98cf-67858fa4ef7a" providerId="ADAL" clId="{3C0F8D48-B805-4732-975A-89F26263F015}" dt="2026-03-22T21:48:37.676" v="51" actId="27636"/>
          <ac:spMkLst>
            <pc:docMk/>
            <pc:sldMk cId="0" sldId="301"/>
            <ac:spMk id="3" creationId="{00000000-0000-0000-0000-000000000000}"/>
          </ac:spMkLst>
        </pc:spChg>
      </pc:sldChg>
      <pc:sldChg chg="modSp del mod">
        <pc:chgData name="John Miller" userId="70e70d2d-fa72-4952-98cf-67858fa4ef7a" providerId="ADAL" clId="{3C0F8D48-B805-4732-975A-89F26263F015}" dt="2026-03-23T00:14:40.728" v="314" actId="47"/>
        <pc:sldMkLst>
          <pc:docMk/>
          <pc:sldMk cId="0" sldId="302"/>
        </pc:sldMkLst>
        <pc:spChg chg="mod">
          <ac:chgData name="John Miller" userId="70e70d2d-fa72-4952-98cf-67858fa4ef7a" providerId="ADAL" clId="{3C0F8D48-B805-4732-975A-89F26263F015}" dt="2026-03-22T21:48:37.715" v="52" actId="27636"/>
          <ac:spMkLst>
            <pc:docMk/>
            <pc:sldMk cId="0" sldId="302"/>
            <ac:spMk id="3" creationId="{00000000-0000-0000-0000-000000000000}"/>
          </ac:spMkLst>
        </pc:spChg>
      </pc:sldChg>
      <pc:sldChg chg="mod modShow">
        <pc:chgData name="John Miller" userId="70e70d2d-fa72-4952-98cf-67858fa4ef7a" providerId="ADAL" clId="{3C0F8D48-B805-4732-975A-89F26263F015}" dt="2026-03-23T00:14:45.019" v="315" actId="729"/>
        <pc:sldMkLst>
          <pc:docMk/>
          <pc:sldMk cId="0" sldId="303"/>
        </pc:sldMkLst>
      </pc:sldChg>
      <pc:sldChg chg="mod modShow">
        <pc:chgData name="John Miller" userId="70e70d2d-fa72-4952-98cf-67858fa4ef7a" providerId="ADAL" clId="{3C0F8D48-B805-4732-975A-89F26263F015}" dt="2026-03-23T00:14:56.460" v="316" actId="729"/>
        <pc:sldMkLst>
          <pc:docMk/>
          <pc:sldMk cId="0" sldId="305"/>
        </pc:sldMkLst>
      </pc:sldChg>
      <pc:sldChg chg="modSp mod">
        <pc:chgData name="John Miller" userId="70e70d2d-fa72-4952-98cf-67858fa4ef7a" providerId="ADAL" clId="{3C0F8D48-B805-4732-975A-89F26263F015}" dt="2026-03-22T21:48:37.727" v="53" actId="27636"/>
        <pc:sldMkLst>
          <pc:docMk/>
          <pc:sldMk cId="0" sldId="306"/>
        </pc:sldMkLst>
        <pc:spChg chg="mod">
          <ac:chgData name="John Miller" userId="70e70d2d-fa72-4952-98cf-67858fa4ef7a" providerId="ADAL" clId="{3C0F8D48-B805-4732-975A-89F26263F015}" dt="2026-03-22T21:48:37.727" v="53" actId="27636"/>
          <ac:spMkLst>
            <pc:docMk/>
            <pc:sldMk cId="0" sldId="306"/>
            <ac:spMk id="3" creationId="{00000000-0000-0000-0000-000000000000}"/>
          </ac:spMkLst>
        </pc:spChg>
      </pc:sldChg>
      <pc:sldChg chg="addSp modSp mod modClrScheme chgLayout">
        <pc:chgData name="John Miller" userId="70e70d2d-fa72-4952-98cf-67858fa4ef7a" providerId="ADAL" clId="{3C0F8D48-B805-4732-975A-89F26263F015}" dt="2026-03-23T00:18:17.899" v="325"/>
        <pc:sldMkLst>
          <pc:docMk/>
          <pc:sldMk cId="0" sldId="307"/>
        </pc:sldMkLst>
        <pc:spChg chg="mod ord">
          <ac:chgData name="John Miller" userId="70e70d2d-fa72-4952-98cf-67858fa4ef7a" providerId="ADAL" clId="{3C0F8D48-B805-4732-975A-89F26263F015}" dt="2026-03-23T00:17:45.778" v="317" actId="700"/>
          <ac:spMkLst>
            <pc:docMk/>
            <pc:sldMk cId="0" sldId="307"/>
            <ac:spMk id="2" creationId="{00000000-0000-0000-0000-000000000000}"/>
          </ac:spMkLst>
        </pc:spChg>
        <pc:spChg chg="mod ord">
          <ac:chgData name="John Miller" userId="70e70d2d-fa72-4952-98cf-67858fa4ef7a" providerId="ADAL" clId="{3C0F8D48-B805-4732-975A-89F26263F015}" dt="2026-03-23T00:18:14.223" v="324" actId="27636"/>
          <ac:spMkLst>
            <pc:docMk/>
            <pc:sldMk cId="0" sldId="307"/>
            <ac:spMk id="3" creationId="{00000000-0000-0000-0000-000000000000}"/>
          </ac:spMkLst>
        </pc:spChg>
        <pc:spChg chg="add mod ord">
          <ac:chgData name="John Miller" userId="70e70d2d-fa72-4952-98cf-67858fa4ef7a" providerId="ADAL" clId="{3C0F8D48-B805-4732-975A-89F26263F015}" dt="2026-03-23T00:18:17.899" v="325"/>
          <ac:spMkLst>
            <pc:docMk/>
            <pc:sldMk cId="0" sldId="307"/>
            <ac:spMk id="4" creationId="{0298AFEE-295F-7D17-06D4-67F2AAD903EB}"/>
          </ac:spMkLst>
        </pc:spChg>
      </pc:sldChg>
      <pc:sldChg chg="addSp modSp mod modClrScheme chgLayout">
        <pc:chgData name="John Miller" userId="70e70d2d-fa72-4952-98cf-67858fa4ef7a" providerId="ADAL" clId="{3C0F8D48-B805-4732-975A-89F26263F015}" dt="2026-03-23T00:20:25.525" v="373"/>
        <pc:sldMkLst>
          <pc:docMk/>
          <pc:sldMk cId="0" sldId="308"/>
        </pc:sldMkLst>
        <pc:spChg chg="mod ord">
          <ac:chgData name="John Miller" userId="70e70d2d-fa72-4952-98cf-67858fa4ef7a" providerId="ADAL" clId="{3C0F8D48-B805-4732-975A-89F26263F015}" dt="2026-03-23T00:18:32.869" v="326" actId="700"/>
          <ac:spMkLst>
            <pc:docMk/>
            <pc:sldMk cId="0" sldId="308"/>
            <ac:spMk id="2" creationId="{00000000-0000-0000-0000-000000000000}"/>
          </ac:spMkLst>
        </pc:spChg>
        <pc:spChg chg="mod ord">
          <ac:chgData name="John Miller" userId="70e70d2d-fa72-4952-98cf-67858fa4ef7a" providerId="ADAL" clId="{3C0F8D48-B805-4732-975A-89F26263F015}" dt="2026-03-23T00:20:21.237" v="372" actId="27636"/>
          <ac:spMkLst>
            <pc:docMk/>
            <pc:sldMk cId="0" sldId="308"/>
            <ac:spMk id="3" creationId="{00000000-0000-0000-0000-000000000000}"/>
          </ac:spMkLst>
        </pc:spChg>
        <pc:spChg chg="add mod ord">
          <ac:chgData name="John Miller" userId="70e70d2d-fa72-4952-98cf-67858fa4ef7a" providerId="ADAL" clId="{3C0F8D48-B805-4732-975A-89F26263F015}" dt="2026-03-23T00:20:25.525" v="373"/>
          <ac:spMkLst>
            <pc:docMk/>
            <pc:sldMk cId="0" sldId="308"/>
            <ac:spMk id="4" creationId="{AB7D77C6-4923-A460-B902-3D145CD1351D}"/>
          </ac:spMkLst>
        </pc:spChg>
      </pc:sldChg>
      <pc:sldChg chg="addSp modSp mod modClrScheme chgLayout">
        <pc:chgData name="John Miller" userId="70e70d2d-fa72-4952-98cf-67858fa4ef7a" providerId="ADAL" clId="{3C0F8D48-B805-4732-975A-89F26263F015}" dt="2026-03-23T00:21:23.661" v="396" actId="113"/>
        <pc:sldMkLst>
          <pc:docMk/>
          <pc:sldMk cId="0" sldId="309"/>
        </pc:sldMkLst>
        <pc:spChg chg="mod ord">
          <ac:chgData name="John Miller" userId="70e70d2d-fa72-4952-98cf-67858fa4ef7a" providerId="ADAL" clId="{3C0F8D48-B805-4732-975A-89F26263F015}" dt="2026-03-23T00:20:41.461" v="374" actId="700"/>
          <ac:spMkLst>
            <pc:docMk/>
            <pc:sldMk cId="0" sldId="309"/>
            <ac:spMk id="2" creationId="{00000000-0000-0000-0000-000000000000}"/>
          </ac:spMkLst>
        </pc:spChg>
        <pc:spChg chg="mod ord">
          <ac:chgData name="John Miller" userId="70e70d2d-fa72-4952-98cf-67858fa4ef7a" providerId="ADAL" clId="{3C0F8D48-B805-4732-975A-89F26263F015}" dt="2026-03-23T00:21:23.661" v="396" actId="113"/>
          <ac:spMkLst>
            <pc:docMk/>
            <pc:sldMk cId="0" sldId="309"/>
            <ac:spMk id="3" creationId="{00000000-0000-0000-0000-000000000000}"/>
          </ac:spMkLst>
        </pc:spChg>
        <pc:spChg chg="add mod ord">
          <ac:chgData name="John Miller" userId="70e70d2d-fa72-4952-98cf-67858fa4ef7a" providerId="ADAL" clId="{3C0F8D48-B805-4732-975A-89F26263F015}" dt="2026-03-23T00:21:21.578" v="394" actId="27636"/>
          <ac:spMkLst>
            <pc:docMk/>
            <pc:sldMk cId="0" sldId="309"/>
            <ac:spMk id="4" creationId="{E55E490B-0069-C46A-A91E-790F161CEAF6}"/>
          </ac:spMkLst>
        </pc:spChg>
      </pc:sldChg>
      <pc:sldChg chg="addSp modSp mod modClrScheme chgLayout">
        <pc:chgData name="John Miller" userId="70e70d2d-fa72-4952-98cf-67858fa4ef7a" providerId="ADAL" clId="{3C0F8D48-B805-4732-975A-89F26263F015}" dt="2026-03-23T01:44:29.320" v="421"/>
        <pc:sldMkLst>
          <pc:docMk/>
          <pc:sldMk cId="0" sldId="310"/>
        </pc:sldMkLst>
        <pc:spChg chg="mod ord">
          <ac:chgData name="John Miller" userId="70e70d2d-fa72-4952-98cf-67858fa4ef7a" providerId="ADAL" clId="{3C0F8D48-B805-4732-975A-89F26263F015}" dt="2026-03-23T00:21:34.166" v="397" actId="700"/>
          <ac:spMkLst>
            <pc:docMk/>
            <pc:sldMk cId="0" sldId="310"/>
            <ac:spMk id="2" creationId="{00000000-0000-0000-0000-000000000000}"/>
          </ac:spMkLst>
        </pc:spChg>
        <pc:spChg chg="mod ord">
          <ac:chgData name="John Miller" userId="70e70d2d-fa72-4952-98cf-67858fa4ef7a" providerId="ADAL" clId="{3C0F8D48-B805-4732-975A-89F26263F015}" dt="2026-03-23T01:44:26.295" v="420" actId="27636"/>
          <ac:spMkLst>
            <pc:docMk/>
            <pc:sldMk cId="0" sldId="310"/>
            <ac:spMk id="3" creationId="{00000000-0000-0000-0000-000000000000}"/>
          </ac:spMkLst>
        </pc:spChg>
        <pc:spChg chg="add mod ord">
          <ac:chgData name="John Miller" userId="70e70d2d-fa72-4952-98cf-67858fa4ef7a" providerId="ADAL" clId="{3C0F8D48-B805-4732-975A-89F26263F015}" dt="2026-03-23T01:44:29.320" v="421"/>
          <ac:spMkLst>
            <pc:docMk/>
            <pc:sldMk cId="0" sldId="310"/>
            <ac:spMk id="4" creationId="{890F52C2-43E3-B369-8914-1D65E3942E75}"/>
          </ac:spMkLst>
        </pc:spChg>
      </pc:sldChg>
      <pc:sldChg chg="addSp modSp mod modClrScheme chgLayout">
        <pc:chgData name="John Miller" userId="70e70d2d-fa72-4952-98cf-67858fa4ef7a" providerId="ADAL" clId="{3C0F8D48-B805-4732-975A-89F26263F015}" dt="2026-03-23T01:45:31.742" v="442"/>
        <pc:sldMkLst>
          <pc:docMk/>
          <pc:sldMk cId="0" sldId="311"/>
        </pc:sldMkLst>
        <pc:spChg chg="mod ord">
          <ac:chgData name="John Miller" userId="70e70d2d-fa72-4952-98cf-67858fa4ef7a" providerId="ADAL" clId="{3C0F8D48-B805-4732-975A-89F26263F015}" dt="2026-03-23T01:44:46.434" v="422" actId="700"/>
          <ac:spMkLst>
            <pc:docMk/>
            <pc:sldMk cId="0" sldId="311"/>
            <ac:spMk id="2" creationId="{00000000-0000-0000-0000-000000000000}"/>
          </ac:spMkLst>
        </pc:spChg>
        <pc:spChg chg="mod ord">
          <ac:chgData name="John Miller" userId="70e70d2d-fa72-4952-98cf-67858fa4ef7a" providerId="ADAL" clId="{3C0F8D48-B805-4732-975A-89F26263F015}" dt="2026-03-23T01:45:28.149" v="441" actId="27636"/>
          <ac:spMkLst>
            <pc:docMk/>
            <pc:sldMk cId="0" sldId="311"/>
            <ac:spMk id="3" creationId="{00000000-0000-0000-0000-000000000000}"/>
          </ac:spMkLst>
        </pc:spChg>
        <pc:spChg chg="add mod ord">
          <ac:chgData name="John Miller" userId="70e70d2d-fa72-4952-98cf-67858fa4ef7a" providerId="ADAL" clId="{3C0F8D48-B805-4732-975A-89F26263F015}" dt="2026-03-23T01:45:31.742" v="442"/>
          <ac:spMkLst>
            <pc:docMk/>
            <pc:sldMk cId="0" sldId="311"/>
            <ac:spMk id="4" creationId="{C5732EBB-D05A-BDE9-45A0-011440D01F3B}"/>
          </ac:spMkLst>
        </pc:spChg>
      </pc:sldChg>
      <pc:sldChg chg="addSp modSp mod modClrScheme chgLayout">
        <pc:chgData name="John Miller" userId="70e70d2d-fa72-4952-98cf-67858fa4ef7a" providerId="ADAL" clId="{3C0F8D48-B805-4732-975A-89F26263F015}" dt="2026-03-23T01:46:54.447" v="472"/>
        <pc:sldMkLst>
          <pc:docMk/>
          <pc:sldMk cId="0" sldId="312"/>
        </pc:sldMkLst>
        <pc:spChg chg="mod ord">
          <ac:chgData name="John Miller" userId="70e70d2d-fa72-4952-98cf-67858fa4ef7a" providerId="ADAL" clId="{3C0F8D48-B805-4732-975A-89F26263F015}" dt="2026-03-23T01:46:02.896" v="445" actId="700"/>
          <ac:spMkLst>
            <pc:docMk/>
            <pc:sldMk cId="0" sldId="312"/>
            <ac:spMk id="2" creationId="{00000000-0000-0000-0000-000000000000}"/>
          </ac:spMkLst>
        </pc:spChg>
        <pc:spChg chg="mod ord">
          <ac:chgData name="John Miller" userId="70e70d2d-fa72-4952-98cf-67858fa4ef7a" providerId="ADAL" clId="{3C0F8D48-B805-4732-975A-89F26263F015}" dt="2026-03-23T01:46:52.331" v="471" actId="27636"/>
          <ac:spMkLst>
            <pc:docMk/>
            <pc:sldMk cId="0" sldId="312"/>
            <ac:spMk id="3" creationId="{00000000-0000-0000-0000-000000000000}"/>
          </ac:spMkLst>
        </pc:spChg>
        <pc:spChg chg="add mod ord">
          <ac:chgData name="John Miller" userId="70e70d2d-fa72-4952-98cf-67858fa4ef7a" providerId="ADAL" clId="{3C0F8D48-B805-4732-975A-89F26263F015}" dt="2026-03-23T01:46:54.447" v="472"/>
          <ac:spMkLst>
            <pc:docMk/>
            <pc:sldMk cId="0" sldId="312"/>
            <ac:spMk id="4" creationId="{92D84040-A9AC-4856-D025-5D1DB74213A6}"/>
          </ac:spMkLst>
        </pc:spChg>
      </pc:sldChg>
      <pc:sldChg chg="addSp modSp mod modClrScheme chgLayout">
        <pc:chgData name="John Miller" userId="70e70d2d-fa72-4952-98cf-67858fa4ef7a" providerId="ADAL" clId="{3C0F8D48-B805-4732-975A-89F26263F015}" dt="2026-03-23T01:47:53.538" v="498" actId="404"/>
        <pc:sldMkLst>
          <pc:docMk/>
          <pc:sldMk cId="0" sldId="313"/>
        </pc:sldMkLst>
        <pc:spChg chg="mod ord">
          <ac:chgData name="John Miller" userId="70e70d2d-fa72-4952-98cf-67858fa4ef7a" providerId="ADAL" clId="{3C0F8D48-B805-4732-975A-89F26263F015}" dt="2026-03-23T01:47:53.538" v="498" actId="404"/>
          <ac:spMkLst>
            <pc:docMk/>
            <pc:sldMk cId="0" sldId="313"/>
            <ac:spMk id="2" creationId="{00000000-0000-0000-0000-000000000000}"/>
          </ac:spMkLst>
        </pc:spChg>
        <pc:spChg chg="mod ord">
          <ac:chgData name="John Miller" userId="70e70d2d-fa72-4952-98cf-67858fa4ef7a" providerId="ADAL" clId="{3C0F8D48-B805-4732-975A-89F26263F015}" dt="2026-03-23T01:47:43.097" v="496" actId="27636"/>
          <ac:spMkLst>
            <pc:docMk/>
            <pc:sldMk cId="0" sldId="313"/>
            <ac:spMk id="3" creationId="{00000000-0000-0000-0000-000000000000}"/>
          </ac:spMkLst>
        </pc:spChg>
        <pc:spChg chg="add mod ord">
          <ac:chgData name="John Miller" userId="70e70d2d-fa72-4952-98cf-67858fa4ef7a" providerId="ADAL" clId="{3C0F8D48-B805-4732-975A-89F26263F015}" dt="2026-03-23T01:47:46.366" v="497"/>
          <ac:spMkLst>
            <pc:docMk/>
            <pc:sldMk cId="0" sldId="313"/>
            <ac:spMk id="4" creationId="{1DB9996C-D018-2CCD-C24B-ACD3E352629F}"/>
          </ac:spMkLst>
        </pc:spChg>
      </pc:sldChg>
      <pc:sldChg chg="addSp modSp mod modClrScheme chgLayout">
        <pc:chgData name="John Miller" userId="70e70d2d-fa72-4952-98cf-67858fa4ef7a" providerId="ADAL" clId="{3C0F8D48-B805-4732-975A-89F26263F015}" dt="2026-03-23T01:48:45.381" v="523"/>
        <pc:sldMkLst>
          <pc:docMk/>
          <pc:sldMk cId="0" sldId="314"/>
        </pc:sldMkLst>
        <pc:spChg chg="mod ord">
          <ac:chgData name="John Miller" userId="70e70d2d-fa72-4952-98cf-67858fa4ef7a" providerId="ADAL" clId="{3C0F8D48-B805-4732-975A-89F26263F015}" dt="2026-03-23T01:48:13.678" v="499" actId="700"/>
          <ac:spMkLst>
            <pc:docMk/>
            <pc:sldMk cId="0" sldId="314"/>
            <ac:spMk id="2" creationId="{00000000-0000-0000-0000-000000000000}"/>
          </ac:spMkLst>
        </pc:spChg>
        <pc:spChg chg="mod ord">
          <ac:chgData name="John Miller" userId="70e70d2d-fa72-4952-98cf-67858fa4ef7a" providerId="ADAL" clId="{3C0F8D48-B805-4732-975A-89F26263F015}" dt="2026-03-23T01:48:42.328" v="522" actId="27636"/>
          <ac:spMkLst>
            <pc:docMk/>
            <pc:sldMk cId="0" sldId="314"/>
            <ac:spMk id="3" creationId="{00000000-0000-0000-0000-000000000000}"/>
          </ac:spMkLst>
        </pc:spChg>
        <pc:spChg chg="add mod ord">
          <ac:chgData name="John Miller" userId="70e70d2d-fa72-4952-98cf-67858fa4ef7a" providerId="ADAL" clId="{3C0F8D48-B805-4732-975A-89F26263F015}" dt="2026-03-23T01:48:45.381" v="523"/>
          <ac:spMkLst>
            <pc:docMk/>
            <pc:sldMk cId="0" sldId="314"/>
            <ac:spMk id="4" creationId="{C628A166-9C88-714F-BBCB-DA1F55EA1BDB}"/>
          </ac:spMkLst>
        </pc:spChg>
      </pc:sldChg>
      <pc:sldChg chg="addSp modSp mod modClrScheme chgLayout">
        <pc:chgData name="John Miller" userId="70e70d2d-fa72-4952-98cf-67858fa4ef7a" providerId="ADAL" clId="{3C0F8D48-B805-4732-975A-89F26263F015}" dt="2026-03-23T01:49:32.807" v="545"/>
        <pc:sldMkLst>
          <pc:docMk/>
          <pc:sldMk cId="0" sldId="315"/>
        </pc:sldMkLst>
        <pc:spChg chg="mod ord">
          <ac:chgData name="John Miller" userId="70e70d2d-fa72-4952-98cf-67858fa4ef7a" providerId="ADAL" clId="{3C0F8D48-B805-4732-975A-89F26263F015}" dt="2026-03-23T01:49:28.188" v="542" actId="700"/>
          <ac:spMkLst>
            <pc:docMk/>
            <pc:sldMk cId="0" sldId="315"/>
            <ac:spMk id="2" creationId="{00000000-0000-0000-0000-000000000000}"/>
          </ac:spMkLst>
        </pc:spChg>
        <pc:spChg chg="mod ord">
          <ac:chgData name="John Miller" userId="70e70d2d-fa72-4952-98cf-67858fa4ef7a" providerId="ADAL" clId="{3C0F8D48-B805-4732-975A-89F26263F015}" dt="2026-03-23T01:49:28.220" v="544" actId="27636"/>
          <ac:spMkLst>
            <pc:docMk/>
            <pc:sldMk cId="0" sldId="315"/>
            <ac:spMk id="3" creationId="{00000000-0000-0000-0000-000000000000}"/>
          </ac:spMkLst>
        </pc:spChg>
        <pc:spChg chg="add mod ord">
          <ac:chgData name="John Miller" userId="70e70d2d-fa72-4952-98cf-67858fa4ef7a" providerId="ADAL" clId="{3C0F8D48-B805-4732-975A-89F26263F015}" dt="2026-03-23T01:49:32.807" v="545"/>
          <ac:spMkLst>
            <pc:docMk/>
            <pc:sldMk cId="0" sldId="315"/>
            <ac:spMk id="4" creationId="{0C09206B-88BE-98B9-109E-24BC772B0EA9}"/>
          </ac:spMkLst>
        </pc:spChg>
      </pc:sldChg>
      <pc:sldChg chg="addSp modSp mod modClrScheme chgLayout">
        <pc:chgData name="John Miller" userId="70e70d2d-fa72-4952-98cf-67858fa4ef7a" providerId="ADAL" clId="{3C0F8D48-B805-4732-975A-89F26263F015}" dt="2026-03-23T01:50:27.626" v="571"/>
        <pc:sldMkLst>
          <pc:docMk/>
          <pc:sldMk cId="0" sldId="316"/>
        </pc:sldMkLst>
        <pc:spChg chg="mod ord">
          <ac:chgData name="John Miller" userId="70e70d2d-fa72-4952-98cf-67858fa4ef7a" providerId="ADAL" clId="{3C0F8D48-B805-4732-975A-89F26263F015}" dt="2026-03-23T01:49:39.596" v="546" actId="700"/>
          <ac:spMkLst>
            <pc:docMk/>
            <pc:sldMk cId="0" sldId="316"/>
            <ac:spMk id="2" creationId="{00000000-0000-0000-0000-000000000000}"/>
          </ac:spMkLst>
        </pc:spChg>
        <pc:spChg chg="mod ord">
          <ac:chgData name="John Miller" userId="70e70d2d-fa72-4952-98cf-67858fa4ef7a" providerId="ADAL" clId="{3C0F8D48-B805-4732-975A-89F26263F015}" dt="2026-03-23T01:50:22.901" v="570" actId="27636"/>
          <ac:spMkLst>
            <pc:docMk/>
            <pc:sldMk cId="0" sldId="316"/>
            <ac:spMk id="3" creationId="{00000000-0000-0000-0000-000000000000}"/>
          </ac:spMkLst>
        </pc:spChg>
        <pc:spChg chg="add mod ord">
          <ac:chgData name="John Miller" userId="70e70d2d-fa72-4952-98cf-67858fa4ef7a" providerId="ADAL" clId="{3C0F8D48-B805-4732-975A-89F26263F015}" dt="2026-03-23T01:50:27.626" v="571"/>
          <ac:spMkLst>
            <pc:docMk/>
            <pc:sldMk cId="0" sldId="316"/>
            <ac:spMk id="4" creationId="{566C4F7A-AB15-9547-9B27-438EF67C4E09}"/>
          </ac:spMkLst>
        </pc:spChg>
      </pc:sldChg>
      <pc:sldChg chg="addSp modSp mod modClrScheme chgLayout">
        <pc:chgData name="John Miller" userId="70e70d2d-fa72-4952-98cf-67858fa4ef7a" providerId="ADAL" clId="{3C0F8D48-B805-4732-975A-89F26263F015}" dt="2026-03-23T01:52:12.440" v="609"/>
        <pc:sldMkLst>
          <pc:docMk/>
          <pc:sldMk cId="0" sldId="317"/>
        </pc:sldMkLst>
        <pc:spChg chg="mod ord">
          <ac:chgData name="John Miller" userId="70e70d2d-fa72-4952-98cf-67858fa4ef7a" providerId="ADAL" clId="{3C0F8D48-B805-4732-975A-89F26263F015}" dt="2026-03-23T01:50:47.235" v="572" actId="700"/>
          <ac:spMkLst>
            <pc:docMk/>
            <pc:sldMk cId="0" sldId="317"/>
            <ac:spMk id="2" creationId="{00000000-0000-0000-0000-000000000000}"/>
          </ac:spMkLst>
        </pc:spChg>
        <pc:spChg chg="mod ord">
          <ac:chgData name="John Miller" userId="70e70d2d-fa72-4952-98cf-67858fa4ef7a" providerId="ADAL" clId="{3C0F8D48-B805-4732-975A-89F26263F015}" dt="2026-03-23T01:52:10.119" v="608" actId="27636"/>
          <ac:spMkLst>
            <pc:docMk/>
            <pc:sldMk cId="0" sldId="317"/>
            <ac:spMk id="3" creationId="{00000000-0000-0000-0000-000000000000}"/>
          </ac:spMkLst>
        </pc:spChg>
        <pc:spChg chg="add mod ord">
          <ac:chgData name="John Miller" userId="70e70d2d-fa72-4952-98cf-67858fa4ef7a" providerId="ADAL" clId="{3C0F8D48-B805-4732-975A-89F26263F015}" dt="2026-03-23T01:52:12.440" v="609"/>
          <ac:spMkLst>
            <pc:docMk/>
            <pc:sldMk cId="0" sldId="317"/>
            <ac:spMk id="4" creationId="{7F143ABD-67AB-A984-D64D-0D3E72077E37}"/>
          </ac:spMkLst>
        </pc:spChg>
      </pc:sldChg>
      <pc:sldChg chg="addSp modSp mod modClrScheme chgLayout">
        <pc:chgData name="John Miller" userId="70e70d2d-fa72-4952-98cf-67858fa4ef7a" providerId="ADAL" clId="{3C0F8D48-B805-4732-975A-89F26263F015}" dt="2026-03-23T01:53:19.365" v="642"/>
        <pc:sldMkLst>
          <pc:docMk/>
          <pc:sldMk cId="0" sldId="318"/>
        </pc:sldMkLst>
        <pc:spChg chg="mod ord">
          <ac:chgData name="John Miller" userId="70e70d2d-fa72-4952-98cf-67858fa4ef7a" providerId="ADAL" clId="{3C0F8D48-B805-4732-975A-89F26263F015}" dt="2026-03-23T01:52:20.672" v="610" actId="700"/>
          <ac:spMkLst>
            <pc:docMk/>
            <pc:sldMk cId="0" sldId="318"/>
            <ac:spMk id="2" creationId="{00000000-0000-0000-0000-000000000000}"/>
          </ac:spMkLst>
        </pc:spChg>
        <pc:spChg chg="mod ord">
          <ac:chgData name="John Miller" userId="70e70d2d-fa72-4952-98cf-67858fa4ef7a" providerId="ADAL" clId="{3C0F8D48-B805-4732-975A-89F26263F015}" dt="2026-03-23T01:53:16.540" v="641" actId="27636"/>
          <ac:spMkLst>
            <pc:docMk/>
            <pc:sldMk cId="0" sldId="318"/>
            <ac:spMk id="3" creationId="{00000000-0000-0000-0000-000000000000}"/>
          </ac:spMkLst>
        </pc:spChg>
        <pc:spChg chg="add mod ord">
          <ac:chgData name="John Miller" userId="70e70d2d-fa72-4952-98cf-67858fa4ef7a" providerId="ADAL" clId="{3C0F8D48-B805-4732-975A-89F26263F015}" dt="2026-03-23T01:53:19.365" v="642"/>
          <ac:spMkLst>
            <pc:docMk/>
            <pc:sldMk cId="0" sldId="318"/>
            <ac:spMk id="4" creationId="{E00BB66E-0990-AC1A-5FDC-10FA80556A0A}"/>
          </ac:spMkLst>
        </pc:spChg>
      </pc:sldChg>
      <pc:sldChg chg="addSp modSp mod modClrScheme chgLayout">
        <pc:chgData name="John Miller" userId="70e70d2d-fa72-4952-98cf-67858fa4ef7a" providerId="ADAL" clId="{3C0F8D48-B805-4732-975A-89F26263F015}" dt="2026-03-23T01:54:53.360" v="681"/>
        <pc:sldMkLst>
          <pc:docMk/>
          <pc:sldMk cId="0" sldId="319"/>
        </pc:sldMkLst>
        <pc:spChg chg="mod ord">
          <ac:chgData name="John Miller" userId="70e70d2d-fa72-4952-98cf-67858fa4ef7a" providerId="ADAL" clId="{3C0F8D48-B805-4732-975A-89F26263F015}" dt="2026-03-23T01:53:45.678" v="644" actId="404"/>
          <ac:spMkLst>
            <pc:docMk/>
            <pc:sldMk cId="0" sldId="319"/>
            <ac:spMk id="2" creationId="{00000000-0000-0000-0000-000000000000}"/>
          </ac:spMkLst>
        </pc:spChg>
        <pc:spChg chg="mod ord">
          <ac:chgData name="John Miller" userId="70e70d2d-fa72-4952-98cf-67858fa4ef7a" providerId="ADAL" clId="{3C0F8D48-B805-4732-975A-89F26263F015}" dt="2026-03-23T01:54:49.961" v="680" actId="27636"/>
          <ac:spMkLst>
            <pc:docMk/>
            <pc:sldMk cId="0" sldId="319"/>
            <ac:spMk id="3" creationId="{00000000-0000-0000-0000-000000000000}"/>
          </ac:spMkLst>
        </pc:spChg>
        <pc:spChg chg="add mod ord">
          <ac:chgData name="John Miller" userId="70e70d2d-fa72-4952-98cf-67858fa4ef7a" providerId="ADAL" clId="{3C0F8D48-B805-4732-975A-89F26263F015}" dt="2026-03-23T01:54:53.360" v="681"/>
          <ac:spMkLst>
            <pc:docMk/>
            <pc:sldMk cId="0" sldId="319"/>
            <ac:spMk id="4" creationId="{25D43BDC-25E8-17A9-CA53-E13F31B92FF5}"/>
          </ac:spMkLst>
        </pc:spChg>
      </pc:sldChg>
      <pc:sldChg chg="addSp modSp mod modClrScheme chgLayout">
        <pc:chgData name="John Miller" userId="70e70d2d-fa72-4952-98cf-67858fa4ef7a" providerId="ADAL" clId="{3C0F8D48-B805-4732-975A-89F26263F015}" dt="2026-03-23T01:55:47.116" v="705"/>
        <pc:sldMkLst>
          <pc:docMk/>
          <pc:sldMk cId="0" sldId="320"/>
        </pc:sldMkLst>
        <pc:spChg chg="mod ord">
          <ac:chgData name="John Miller" userId="70e70d2d-fa72-4952-98cf-67858fa4ef7a" providerId="ADAL" clId="{3C0F8D48-B805-4732-975A-89F26263F015}" dt="2026-03-23T01:55:44.144" v="702" actId="700"/>
          <ac:spMkLst>
            <pc:docMk/>
            <pc:sldMk cId="0" sldId="320"/>
            <ac:spMk id="2" creationId="{00000000-0000-0000-0000-000000000000}"/>
          </ac:spMkLst>
        </pc:spChg>
        <pc:spChg chg="mod ord">
          <ac:chgData name="John Miller" userId="70e70d2d-fa72-4952-98cf-67858fa4ef7a" providerId="ADAL" clId="{3C0F8D48-B805-4732-975A-89F26263F015}" dt="2026-03-23T01:55:44.181" v="704" actId="27636"/>
          <ac:spMkLst>
            <pc:docMk/>
            <pc:sldMk cId="0" sldId="320"/>
            <ac:spMk id="3" creationId="{00000000-0000-0000-0000-000000000000}"/>
          </ac:spMkLst>
        </pc:spChg>
        <pc:spChg chg="add mod ord">
          <ac:chgData name="John Miller" userId="70e70d2d-fa72-4952-98cf-67858fa4ef7a" providerId="ADAL" clId="{3C0F8D48-B805-4732-975A-89F26263F015}" dt="2026-03-23T01:55:47.116" v="705"/>
          <ac:spMkLst>
            <pc:docMk/>
            <pc:sldMk cId="0" sldId="320"/>
            <ac:spMk id="4" creationId="{53FF46AB-3269-4E9B-F568-0E49AA55C130}"/>
          </ac:spMkLst>
        </pc:spChg>
      </pc:sldChg>
      <pc:sldChg chg="addSp modSp mod modClrScheme chgLayout">
        <pc:chgData name="John Miller" userId="70e70d2d-fa72-4952-98cf-67858fa4ef7a" providerId="ADAL" clId="{3C0F8D48-B805-4732-975A-89F26263F015}" dt="2026-03-23T01:57:00.883" v="736"/>
        <pc:sldMkLst>
          <pc:docMk/>
          <pc:sldMk cId="0" sldId="321"/>
        </pc:sldMkLst>
        <pc:spChg chg="mod ord">
          <ac:chgData name="John Miller" userId="70e70d2d-fa72-4952-98cf-67858fa4ef7a" providerId="ADAL" clId="{3C0F8D48-B805-4732-975A-89F26263F015}" dt="2026-03-23T01:55:59.031" v="707" actId="700"/>
          <ac:spMkLst>
            <pc:docMk/>
            <pc:sldMk cId="0" sldId="321"/>
            <ac:spMk id="2" creationId="{00000000-0000-0000-0000-000000000000}"/>
          </ac:spMkLst>
        </pc:spChg>
        <pc:spChg chg="mod ord">
          <ac:chgData name="John Miller" userId="70e70d2d-fa72-4952-98cf-67858fa4ef7a" providerId="ADAL" clId="{3C0F8D48-B805-4732-975A-89F26263F015}" dt="2026-03-23T01:56:58.527" v="735" actId="27636"/>
          <ac:spMkLst>
            <pc:docMk/>
            <pc:sldMk cId="0" sldId="321"/>
            <ac:spMk id="3" creationId="{00000000-0000-0000-0000-000000000000}"/>
          </ac:spMkLst>
        </pc:spChg>
        <pc:spChg chg="add mod ord">
          <ac:chgData name="John Miller" userId="70e70d2d-fa72-4952-98cf-67858fa4ef7a" providerId="ADAL" clId="{3C0F8D48-B805-4732-975A-89F26263F015}" dt="2026-03-23T01:57:00.883" v="736"/>
          <ac:spMkLst>
            <pc:docMk/>
            <pc:sldMk cId="0" sldId="321"/>
            <ac:spMk id="4" creationId="{34F85736-36E6-25B8-9F81-0C5A3505A1C9}"/>
          </ac:spMkLst>
        </pc:spChg>
      </pc:sldChg>
      <pc:sldChg chg="addSp modSp mod modClrScheme chgLayout">
        <pc:chgData name="John Miller" userId="70e70d2d-fa72-4952-98cf-67858fa4ef7a" providerId="ADAL" clId="{3C0F8D48-B805-4732-975A-89F26263F015}" dt="2026-03-23T01:57:56.003" v="759"/>
        <pc:sldMkLst>
          <pc:docMk/>
          <pc:sldMk cId="0" sldId="322"/>
        </pc:sldMkLst>
        <pc:spChg chg="mod ord">
          <ac:chgData name="John Miller" userId="70e70d2d-fa72-4952-98cf-67858fa4ef7a" providerId="ADAL" clId="{3C0F8D48-B805-4732-975A-89F26263F015}" dt="2026-03-23T01:57:07.884" v="737" actId="700"/>
          <ac:spMkLst>
            <pc:docMk/>
            <pc:sldMk cId="0" sldId="322"/>
            <ac:spMk id="2" creationId="{00000000-0000-0000-0000-000000000000}"/>
          </ac:spMkLst>
        </pc:spChg>
        <pc:spChg chg="mod ord">
          <ac:chgData name="John Miller" userId="70e70d2d-fa72-4952-98cf-67858fa4ef7a" providerId="ADAL" clId="{3C0F8D48-B805-4732-975A-89F26263F015}" dt="2026-03-23T01:57:52.522" v="758" actId="27636"/>
          <ac:spMkLst>
            <pc:docMk/>
            <pc:sldMk cId="0" sldId="322"/>
            <ac:spMk id="3" creationId="{00000000-0000-0000-0000-000000000000}"/>
          </ac:spMkLst>
        </pc:spChg>
        <pc:spChg chg="add mod ord">
          <ac:chgData name="John Miller" userId="70e70d2d-fa72-4952-98cf-67858fa4ef7a" providerId="ADAL" clId="{3C0F8D48-B805-4732-975A-89F26263F015}" dt="2026-03-23T01:57:56.003" v="759"/>
          <ac:spMkLst>
            <pc:docMk/>
            <pc:sldMk cId="0" sldId="322"/>
            <ac:spMk id="4" creationId="{E5EF23E7-6558-8EA6-443F-BCF58F4E60A6}"/>
          </ac:spMkLst>
        </pc:spChg>
      </pc:sldChg>
      <pc:sldChg chg="addSp modSp mod modClrScheme chgLayout">
        <pc:chgData name="John Miller" userId="70e70d2d-fa72-4952-98cf-67858fa4ef7a" providerId="ADAL" clId="{3C0F8D48-B805-4732-975A-89F26263F015}" dt="2026-03-23T01:59:00.808" v="789"/>
        <pc:sldMkLst>
          <pc:docMk/>
          <pc:sldMk cId="0" sldId="323"/>
        </pc:sldMkLst>
        <pc:spChg chg="mod ord">
          <ac:chgData name="John Miller" userId="70e70d2d-fa72-4952-98cf-67858fa4ef7a" providerId="ADAL" clId="{3C0F8D48-B805-4732-975A-89F26263F015}" dt="2026-03-23T01:58:07.568" v="760" actId="700"/>
          <ac:spMkLst>
            <pc:docMk/>
            <pc:sldMk cId="0" sldId="323"/>
            <ac:spMk id="2" creationId="{00000000-0000-0000-0000-000000000000}"/>
          </ac:spMkLst>
        </pc:spChg>
        <pc:spChg chg="mod ord">
          <ac:chgData name="John Miller" userId="70e70d2d-fa72-4952-98cf-67858fa4ef7a" providerId="ADAL" clId="{3C0F8D48-B805-4732-975A-89F26263F015}" dt="2026-03-23T01:58:57.961" v="788" actId="5793"/>
          <ac:spMkLst>
            <pc:docMk/>
            <pc:sldMk cId="0" sldId="323"/>
            <ac:spMk id="3" creationId="{00000000-0000-0000-0000-000000000000}"/>
          </ac:spMkLst>
        </pc:spChg>
        <pc:spChg chg="add mod ord">
          <ac:chgData name="John Miller" userId="70e70d2d-fa72-4952-98cf-67858fa4ef7a" providerId="ADAL" clId="{3C0F8D48-B805-4732-975A-89F26263F015}" dt="2026-03-23T01:59:00.808" v="789"/>
          <ac:spMkLst>
            <pc:docMk/>
            <pc:sldMk cId="0" sldId="323"/>
            <ac:spMk id="4" creationId="{3961CE3B-A534-3D30-E925-4588A89CA29A}"/>
          </ac:spMkLst>
        </pc:spChg>
      </pc:sldChg>
      <pc:sldChg chg="addSp modSp mod modClrScheme chgLayout">
        <pc:chgData name="John Miller" userId="70e70d2d-fa72-4952-98cf-67858fa4ef7a" providerId="ADAL" clId="{3C0F8D48-B805-4732-975A-89F26263F015}" dt="2026-03-23T01:59:48.758" v="815"/>
        <pc:sldMkLst>
          <pc:docMk/>
          <pc:sldMk cId="0" sldId="324"/>
        </pc:sldMkLst>
        <pc:spChg chg="mod ord">
          <ac:chgData name="John Miller" userId="70e70d2d-fa72-4952-98cf-67858fa4ef7a" providerId="ADAL" clId="{3C0F8D48-B805-4732-975A-89F26263F015}" dt="2026-03-23T01:59:09.052" v="790" actId="700"/>
          <ac:spMkLst>
            <pc:docMk/>
            <pc:sldMk cId="0" sldId="324"/>
            <ac:spMk id="2" creationId="{00000000-0000-0000-0000-000000000000}"/>
          </ac:spMkLst>
        </pc:spChg>
        <pc:spChg chg="mod ord">
          <ac:chgData name="John Miller" userId="70e70d2d-fa72-4952-98cf-67858fa4ef7a" providerId="ADAL" clId="{3C0F8D48-B805-4732-975A-89F26263F015}" dt="2026-03-23T01:59:46.548" v="814" actId="27636"/>
          <ac:spMkLst>
            <pc:docMk/>
            <pc:sldMk cId="0" sldId="324"/>
            <ac:spMk id="3" creationId="{00000000-0000-0000-0000-000000000000}"/>
          </ac:spMkLst>
        </pc:spChg>
        <pc:spChg chg="add mod ord">
          <ac:chgData name="John Miller" userId="70e70d2d-fa72-4952-98cf-67858fa4ef7a" providerId="ADAL" clId="{3C0F8D48-B805-4732-975A-89F26263F015}" dt="2026-03-23T01:59:48.758" v="815"/>
          <ac:spMkLst>
            <pc:docMk/>
            <pc:sldMk cId="0" sldId="324"/>
            <ac:spMk id="4" creationId="{C1165FE9-14CF-AA8B-16DC-81E997EED6D1}"/>
          </ac:spMkLst>
        </pc:spChg>
      </pc:sldChg>
      <pc:sldChg chg="addSp modSp mod modClrScheme chgLayout">
        <pc:chgData name="John Miller" userId="70e70d2d-fa72-4952-98cf-67858fa4ef7a" providerId="ADAL" clId="{3C0F8D48-B805-4732-975A-89F26263F015}" dt="2026-03-23T02:00:31.996" v="841"/>
        <pc:sldMkLst>
          <pc:docMk/>
          <pc:sldMk cId="0" sldId="325"/>
        </pc:sldMkLst>
        <pc:spChg chg="mod ord">
          <ac:chgData name="John Miller" userId="70e70d2d-fa72-4952-98cf-67858fa4ef7a" providerId="ADAL" clId="{3C0F8D48-B805-4732-975A-89F26263F015}" dt="2026-03-23T01:59:54.373" v="816" actId="700"/>
          <ac:spMkLst>
            <pc:docMk/>
            <pc:sldMk cId="0" sldId="325"/>
            <ac:spMk id="2" creationId="{00000000-0000-0000-0000-000000000000}"/>
          </ac:spMkLst>
        </pc:spChg>
        <pc:spChg chg="mod ord">
          <ac:chgData name="John Miller" userId="70e70d2d-fa72-4952-98cf-67858fa4ef7a" providerId="ADAL" clId="{3C0F8D48-B805-4732-975A-89F26263F015}" dt="2026-03-23T02:00:28.723" v="840" actId="27636"/>
          <ac:spMkLst>
            <pc:docMk/>
            <pc:sldMk cId="0" sldId="325"/>
            <ac:spMk id="3" creationId="{00000000-0000-0000-0000-000000000000}"/>
          </ac:spMkLst>
        </pc:spChg>
        <pc:spChg chg="add mod ord">
          <ac:chgData name="John Miller" userId="70e70d2d-fa72-4952-98cf-67858fa4ef7a" providerId="ADAL" clId="{3C0F8D48-B805-4732-975A-89F26263F015}" dt="2026-03-23T02:00:31.996" v="841"/>
          <ac:spMkLst>
            <pc:docMk/>
            <pc:sldMk cId="0" sldId="325"/>
            <ac:spMk id="4" creationId="{9EBAFCA9-3D55-F606-CCBB-E7BD195B7BF4}"/>
          </ac:spMkLst>
        </pc:spChg>
      </pc:sldChg>
      <pc:sldChg chg="addSp modSp mod modClrScheme chgLayout">
        <pc:chgData name="John Miller" userId="70e70d2d-fa72-4952-98cf-67858fa4ef7a" providerId="ADAL" clId="{3C0F8D48-B805-4732-975A-89F26263F015}" dt="2026-03-23T02:03:07.747" v="948"/>
        <pc:sldMkLst>
          <pc:docMk/>
          <pc:sldMk cId="0" sldId="326"/>
        </pc:sldMkLst>
        <pc:spChg chg="mod ord">
          <ac:chgData name="John Miller" userId="70e70d2d-fa72-4952-98cf-67858fa4ef7a" providerId="ADAL" clId="{3C0F8D48-B805-4732-975A-89F26263F015}" dt="2026-03-23T02:00:50.574" v="842" actId="700"/>
          <ac:spMkLst>
            <pc:docMk/>
            <pc:sldMk cId="0" sldId="326"/>
            <ac:spMk id="2" creationId="{00000000-0000-0000-0000-000000000000}"/>
          </ac:spMkLst>
        </pc:spChg>
        <pc:spChg chg="mod ord">
          <ac:chgData name="John Miller" userId="70e70d2d-fa72-4952-98cf-67858fa4ef7a" providerId="ADAL" clId="{3C0F8D48-B805-4732-975A-89F26263F015}" dt="2026-03-23T02:03:03.358" v="947" actId="27636"/>
          <ac:spMkLst>
            <pc:docMk/>
            <pc:sldMk cId="0" sldId="326"/>
            <ac:spMk id="3" creationId="{00000000-0000-0000-0000-000000000000}"/>
          </ac:spMkLst>
        </pc:spChg>
        <pc:spChg chg="add mod ord">
          <ac:chgData name="John Miller" userId="70e70d2d-fa72-4952-98cf-67858fa4ef7a" providerId="ADAL" clId="{3C0F8D48-B805-4732-975A-89F26263F015}" dt="2026-03-23T02:03:07.747" v="948"/>
          <ac:spMkLst>
            <pc:docMk/>
            <pc:sldMk cId="0" sldId="326"/>
            <ac:spMk id="4" creationId="{F2CE8312-5C38-94C7-572E-B45B699E1F92}"/>
          </ac:spMkLst>
        </pc:spChg>
      </pc:sldChg>
      <pc:sldChg chg="addSp modSp mod modClrScheme chgLayout">
        <pc:chgData name="John Miller" userId="70e70d2d-fa72-4952-98cf-67858fa4ef7a" providerId="ADAL" clId="{3C0F8D48-B805-4732-975A-89F26263F015}" dt="2026-03-23T02:05:31.391" v="983" actId="27636"/>
        <pc:sldMkLst>
          <pc:docMk/>
          <pc:sldMk cId="0" sldId="327"/>
        </pc:sldMkLst>
        <pc:spChg chg="mod ord">
          <ac:chgData name="John Miller" userId="70e70d2d-fa72-4952-98cf-67858fa4ef7a" providerId="ADAL" clId="{3C0F8D48-B805-4732-975A-89F26263F015}" dt="2026-03-23T02:05:28.358" v="981" actId="700"/>
          <ac:spMkLst>
            <pc:docMk/>
            <pc:sldMk cId="0" sldId="327"/>
            <ac:spMk id="2" creationId="{00000000-0000-0000-0000-000000000000}"/>
          </ac:spMkLst>
        </pc:spChg>
        <pc:spChg chg="mod ord">
          <ac:chgData name="John Miller" userId="70e70d2d-fa72-4952-98cf-67858fa4ef7a" providerId="ADAL" clId="{3C0F8D48-B805-4732-975A-89F26263F015}" dt="2026-03-23T02:05:28.358" v="981" actId="700"/>
          <ac:spMkLst>
            <pc:docMk/>
            <pc:sldMk cId="0" sldId="327"/>
            <ac:spMk id="3" creationId="{00000000-0000-0000-0000-000000000000}"/>
          </ac:spMkLst>
        </pc:spChg>
        <pc:spChg chg="add mod ord">
          <ac:chgData name="John Miller" userId="70e70d2d-fa72-4952-98cf-67858fa4ef7a" providerId="ADAL" clId="{3C0F8D48-B805-4732-975A-89F26263F015}" dt="2026-03-23T02:05:31.391" v="983" actId="27636"/>
          <ac:spMkLst>
            <pc:docMk/>
            <pc:sldMk cId="0" sldId="327"/>
            <ac:spMk id="4" creationId="{91C1725E-3776-44D9-2375-65DE7C27F1D2}"/>
          </ac:spMkLst>
        </pc:spChg>
      </pc:sldChg>
      <pc:sldChg chg="modSp mod">
        <pc:chgData name="John Miller" userId="70e70d2d-fa72-4952-98cf-67858fa4ef7a" providerId="ADAL" clId="{3C0F8D48-B805-4732-975A-89F26263F015}" dt="2026-03-22T21:48:38.848" v="89" actId="27636"/>
        <pc:sldMkLst>
          <pc:docMk/>
          <pc:sldMk cId="0" sldId="330"/>
        </pc:sldMkLst>
        <pc:spChg chg="mod">
          <ac:chgData name="John Miller" userId="70e70d2d-fa72-4952-98cf-67858fa4ef7a" providerId="ADAL" clId="{3C0F8D48-B805-4732-975A-89F26263F015}" dt="2026-03-22T21:48:38.848" v="89" actId="27636"/>
          <ac:spMkLst>
            <pc:docMk/>
            <pc:sldMk cId="0" sldId="330"/>
            <ac:spMk id="3" creationId="{00000000-0000-0000-0000-000000000000}"/>
          </ac:spMkLst>
        </pc:spChg>
      </pc:sldChg>
      <pc:sldChg chg="addSp modSp mod modClrScheme chgLayout">
        <pc:chgData name="John Miller" userId="70e70d2d-fa72-4952-98cf-67858fa4ef7a" providerId="ADAL" clId="{3C0F8D48-B805-4732-975A-89F26263F015}" dt="2026-03-23T02:09:36.824" v="1015" actId="27636"/>
        <pc:sldMkLst>
          <pc:docMk/>
          <pc:sldMk cId="0" sldId="331"/>
        </pc:sldMkLst>
        <pc:spChg chg="mod ord">
          <ac:chgData name="John Miller" userId="70e70d2d-fa72-4952-98cf-67858fa4ef7a" providerId="ADAL" clId="{3C0F8D48-B805-4732-975A-89F26263F015}" dt="2026-03-23T02:06:26.157" v="984" actId="700"/>
          <ac:spMkLst>
            <pc:docMk/>
            <pc:sldMk cId="0" sldId="331"/>
            <ac:spMk id="2" creationId="{00000000-0000-0000-0000-000000000000}"/>
          </ac:spMkLst>
        </pc:spChg>
        <pc:spChg chg="mod ord">
          <ac:chgData name="John Miller" userId="70e70d2d-fa72-4952-98cf-67858fa4ef7a" providerId="ADAL" clId="{3C0F8D48-B805-4732-975A-89F26263F015}" dt="2026-03-23T02:09:36.824" v="1015" actId="27636"/>
          <ac:spMkLst>
            <pc:docMk/>
            <pc:sldMk cId="0" sldId="331"/>
            <ac:spMk id="3" creationId="{00000000-0000-0000-0000-000000000000}"/>
          </ac:spMkLst>
        </pc:spChg>
        <pc:spChg chg="add mod ord">
          <ac:chgData name="John Miller" userId="70e70d2d-fa72-4952-98cf-67858fa4ef7a" providerId="ADAL" clId="{3C0F8D48-B805-4732-975A-89F26263F015}" dt="2026-03-23T02:09:36.821" v="1014" actId="27636"/>
          <ac:spMkLst>
            <pc:docMk/>
            <pc:sldMk cId="0" sldId="331"/>
            <ac:spMk id="4" creationId="{EC938D44-0F63-D803-8A58-E45713A64800}"/>
          </ac:spMkLst>
        </pc:spChg>
      </pc:sldChg>
      <pc:sldChg chg="addSp delSp modSp mod modClrScheme chgLayout">
        <pc:chgData name="John Miller" userId="70e70d2d-fa72-4952-98cf-67858fa4ef7a" providerId="ADAL" clId="{3C0F8D48-B805-4732-975A-89F26263F015}" dt="2026-03-23T02:12:46.889" v="1040"/>
        <pc:sldMkLst>
          <pc:docMk/>
          <pc:sldMk cId="0" sldId="332"/>
        </pc:sldMkLst>
        <pc:spChg chg="mod ord">
          <ac:chgData name="John Miller" userId="70e70d2d-fa72-4952-98cf-67858fa4ef7a" providerId="ADAL" clId="{3C0F8D48-B805-4732-975A-89F26263F015}" dt="2026-03-23T02:09:59.048" v="1016" actId="700"/>
          <ac:spMkLst>
            <pc:docMk/>
            <pc:sldMk cId="0" sldId="332"/>
            <ac:spMk id="2" creationId="{00000000-0000-0000-0000-000000000000}"/>
          </ac:spMkLst>
        </pc:spChg>
        <pc:spChg chg="del mod ord">
          <ac:chgData name="John Miller" userId="70e70d2d-fa72-4952-98cf-67858fa4ef7a" providerId="ADAL" clId="{3C0F8D48-B805-4732-975A-89F26263F015}" dt="2026-03-23T02:12:19.238" v="1031" actId="478"/>
          <ac:spMkLst>
            <pc:docMk/>
            <pc:sldMk cId="0" sldId="332"/>
            <ac:spMk id="3" creationId="{00000000-0000-0000-0000-000000000000}"/>
          </ac:spMkLst>
        </pc:spChg>
        <pc:spChg chg="add mod ord">
          <ac:chgData name="John Miller" userId="70e70d2d-fa72-4952-98cf-67858fa4ef7a" providerId="ADAL" clId="{3C0F8D48-B805-4732-975A-89F26263F015}" dt="2026-03-23T02:12:42.668" v="1038" actId="27636"/>
          <ac:spMkLst>
            <pc:docMk/>
            <pc:sldMk cId="0" sldId="332"/>
            <ac:spMk id="4" creationId="{2B446D2C-24D5-810F-FD24-46F0300BEF55}"/>
          </ac:spMkLst>
        </pc:spChg>
        <pc:spChg chg="add mod">
          <ac:chgData name="John Miller" userId="70e70d2d-fa72-4952-98cf-67858fa4ef7a" providerId="ADAL" clId="{3C0F8D48-B805-4732-975A-89F26263F015}" dt="2026-03-23T02:12:46.889" v="1040"/>
          <ac:spMkLst>
            <pc:docMk/>
            <pc:sldMk cId="0" sldId="332"/>
            <ac:spMk id="6" creationId="{046F39AA-4745-D33F-226B-F14EEFFD8D81}"/>
          </ac:spMkLst>
        </pc:spChg>
      </pc:sldChg>
      <pc:sldChg chg="modSp mod modShow">
        <pc:chgData name="John Miller" userId="70e70d2d-fa72-4952-98cf-67858fa4ef7a" providerId="ADAL" clId="{3C0F8D48-B805-4732-975A-89F26263F015}" dt="2026-03-23T02:13:07.892" v="1041" actId="729"/>
        <pc:sldMkLst>
          <pc:docMk/>
          <pc:sldMk cId="0" sldId="333"/>
        </pc:sldMkLst>
        <pc:spChg chg="mod">
          <ac:chgData name="John Miller" userId="70e70d2d-fa72-4952-98cf-67858fa4ef7a" providerId="ADAL" clId="{3C0F8D48-B805-4732-975A-89F26263F015}" dt="2026-03-22T21:48:38.943" v="94" actId="27636"/>
          <ac:spMkLst>
            <pc:docMk/>
            <pc:sldMk cId="0" sldId="333"/>
            <ac:spMk id="3" creationId="{00000000-0000-0000-0000-000000000000}"/>
          </ac:spMkLst>
        </pc:spChg>
      </pc:sldChg>
      <pc:sldChg chg="modSp mod modShow">
        <pc:chgData name="John Miller" userId="70e70d2d-fa72-4952-98cf-67858fa4ef7a" providerId="ADAL" clId="{3C0F8D48-B805-4732-975A-89F26263F015}" dt="2026-03-23T02:13:17.773" v="1042" actId="729"/>
        <pc:sldMkLst>
          <pc:docMk/>
          <pc:sldMk cId="0" sldId="334"/>
        </pc:sldMkLst>
        <pc:spChg chg="mod">
          <ac:chgData name="John Miller" userId="70e70d2d-fa72-4952-98cf-67858fa4ef7a" providerId="ADAL" clId="{3C0F8D48-B805-4732-975A-89F26263F015}" dt="2026-03-23T02:04:15.417" v="965"/>
          <ac:spMkLst>
            <pc:docMk/>
            <pc:sldMk cId="0" sldId="334"/>
            <ac:spMk id="3" creationId="{00000000-0000-0000-0000-000000000000}"/>
          </ac:spMkLst>
        </pc:spChg>
      </pc:sldChg>
      <pc:sldChg chg="modSp mod">
        <pc:chgData name="John Miller" userId="70e70d2d-fa72-4952-98cf-67858fa4ef7a" providerId="ADAL" clId="{3C0F8D48-B805-4732-975A-89F26263F015}" dt="2026-03-23T02:13:57.577" v="1051" actId="5793"/>
        <pc:sldMkLst>
          <pc:docMk/>
          <pc:sldMk cId="0" sldId="335"/>
        </pc:sldMkLst>
        <pc:spChg chg="mod">
          <ac:chgData name="John Miller" userId="70e70d2d-fa72-4952-98cf-67858fa4ef7a" providerId="ADAL" clId="{3C0F8D48-B805-4732-975A-89F26263F015}" dt="2026-03-23T02:13:57.577" v="1051" actId="5793"/>
          <ac:spMkLst>
            <pc:docMk/>
            <pc:sldMk cId="0" sldId="335"/>
            <ac:spMk id="3" creationId="{00000000-0000-0000-0000-000000000000}"/>
          </ac:spMkLst>
        </pc:spChg>
      </pc:sldChg>
      <pc:sldChg chg="modSp mod modShow">
        <pc:chgData name="John Miller" userId="70e70d2d-fa72-4952-98cf-67858fa4ef7a" providerId="ADAL" clId="{3C0F8D48-B805-4732-975A-89F26263F015}" dt="2026-03-23T02:14:12.847" v="1052" actId="729"/>
        <pc:sldMkLst>
          <pc:docMk/>
          <pc:sldMk cId="0" sldId="336"/>
        </pc:sldMkLst>
        <pc:spChg chg="mod">
          <ac:chgData name="John Miller" userId="70e70d2d-fa72-4952-98cf-67858fa4ef7a" providerId="ADAL" clId="{3C0F8D48-B805-4732-975A-89F26263F015}" dt="2026-03-23T02:04:15.417" v="965"/>
          <ac:spMkLst>
            <pc:docMk/>
            <pc:sldMk cId="0" sldId="336"/>
            <ac:spMk id="3" creationId="{00000000-0000-0000-0000-000000000000}"/>
          </ac:spMkLst>
        </pc:spChg>
      </pc:sldChg>
      <pc:sldChg chg="modSp mod modShow">
        <pc:chgData name="John Miller" userId="70e70d2d-fa72-4952-98cf-67858fa4ef7a" providerId="ADAL" clId="{3C0F8D48-B805-4732-975A-89F26263F015}" dt="2026-03-23T02:14:38.923" v="1053" actId="729"/>
        <pc:sldMkLst>
          <pc:docMk/>
          <pc:sldMk cId="0" sldId="337"/>
        </pc:sldMkLst>
        <pc:spChg chg="mod">
          <ac:chgData name="John Miller" userId="70e70d2d-fa72-4952-98cf-67858fa4ef7a" providerId="ADAL" clId="{3C0F8D48-B805-4732-975A-89F26263F015}" dt="2026-03-22T21:48:39.052" v="99" actId="27636"/>
          <ac:spMkLst>
            <pc:docMk/>
            <pc:sldMk cId="0" sldId="337"/>
            <ac:spMk id="2" creationId="{00000000-0000-0000-0000-000000000000}"/>
          </ac:spMkLst>
        </pc:spChg>
        <pc:spChg chg="mod">
          <ac:chgData name="John Miller" userId="70e70d2d-fa72-4952-98cf-67858fa4ef7a" providerId="ADAL" clId="{3C0F8D48-B805-4732-975A-89F26263F015}" dt="2026-03-22T21:48:39.051" v="98" actId="27636"/>
          <ac:spMkLst>
            <pc:docMk/>
            <pc:sldMk cId="0" sldId="337"/>
            <ac:spMk id="3" creationId="{00000000-0000-0000-0000-000000000000}"/>
          </ac:spMkLst>
        </pc:spChg>
      </pc:sldChg>
      <pc:sldChg chg="modSp mod modShow">
        <pc:chgData name="John Miller" userId="70e70d2d-fa72-4952-98cf-67858fa4ef7a" providerId="ADAL" clId="{3C0F8D48-B805-4732-975A-89F26263F015}" dt="2026-03-23T02:14:45.548" v="1054" actId="729"/>
        <pc:sldMkLst>
          <pc:docMk/>
          <pc:sldMk cId="0" sldId="338"/>
        </pc:sldMkLst>
        <pc:spChg chg="mod">
          <ac:chgData name="John Miller" userId="70e70d2d-fa72-4952-98cf-67858fa4ef7a" providerId="ADAL" clId="{3C0F8D48-B805-4732-975A-89F26263F015}" dt="2026-03-22T21:48:39.136" v="101" actId="27636"/>
          <ac:spMkLst>
            <pc:docMk/>
            <pc:sldMk cId="0" sldId="338"/>
            <ac:spMk id="2" creationId="{00000000-0000-0000-0000-000000000000}"/>
          </ac:spMkLst>
        </pc:spChg>
        <pc:spChg chg="mod">
          <ac:chgData name="John Miller" userId="70e70d2d-fa72-4952-98cf-67858fa4ef7a" providerId="ADAL" clId="{3C0F8D48-B805-4732-975A-89F26263F015}" dt="2026-03-22T21:48:39.136" v="100" actId="27636"/>
          <ac:spMkLst>
            <pc:docMk/>
            <pc:sldMk cId="0" sldId="338"/>
            <ac:spMk id="3" creationId="{00000000-0000-0000-0000-000000000000}"/>
          </ac:spMkLst>
        </pc:spChg>
      </pc:sldChg>
      <pc:sldChg chg="modSp mod modShow">
        <pc:chgData name="John Miller" userId="70e70d2d-fa72-4952-98cf-67858fa4ef7a" providerId="ADAL" clId="{3C0F8D48-B805-4732-975A-89F26263F015}" dt="2026-03-23T02:14:51.156" v="1055" actId="729"/>
        <pc:sldMkLst>
          <pc:docMk/>
          <pc:sldMk cId="0" sldId="339"/>
        </pc:sldMkLst>
        <pc:spChg chg="mod">
          <ac:chgData name="John Miller" userId="70e70d2d-fa72-4952-98cf-67858fa4ef7a" providerId="ADAL" clId="{3C0F8D48-B805-4732-975A-89F26263F015}" dt="2026-03-22T21:48:39.155" v="102" actId="27636"/>
          <ac:spMkLst>
            <pc:docMk/>
            <pc:sldMk cId="0" sldId="339"/>
            <ac:spMk id="3" creationId="{00000000-0000-0000-0000-000000000000}"/>
          </ac:spMkLst>
        </pc:spChg>
      </pc:sldChg>
      <pc:sldChg chg="modSp mod">
        <pc:chgData name="John Miller" userId="70e70d2d-fa72-4952-98cf-67858fa4ef7a" providerId="ADAL" clId="{3C0F8D48-B805-4732-975A-89F26263F015}" dt="2026-03-23T02:15:52.852" v="1062" actId="14100"/>
        <pc:sldMkLst>
          <pc:docMk/>
          <pc:sldMk cId="0" sldId="342"/>
        </pc:sldMkLst>
        <pc:graphicFrameChg chg="mod modGraphic">
          <ac:chgData name="John Miller" userId="70e70d2d-fa72-4952-98cf-67858fa4ef7a" providerId="ADAL" clId="{3C0F8D48-B805-4732-975A-89F26263F015}" dt="2026-03-23T02:15:52.852" v="1062" actId="14100"/>
          <ac:graphicFrameMkLst>
            <pc:docMk/>
            <pc:sldMk cId="0" sldId="342"/>
            <ac:graphicFrameMk id="3" creationId="{00000000-0000-0000-0000-000000000000}"/>
          </ac:graphicFrameMkLst>
        </pc:graphicFrameChg>
      </pc:sldChg>
      <pc:sldChg chg="modSp mod">
        <pc:chgData name="John Miller" userId="70e70d2d-fa72-4952-98cf-67858fa4ef7a" providerId="ADAL" clId="{3C0F8D48-B805-4732-975A-89F26263F015}" dt="2026-03-23T02:16:12.105" v="1065" actId="5793"/>
        <pc:sldMkLst>
          <pc:docMk/>
          <pc:sldMk cId="0" sldId="343"/>
        </pc:sldMkLst>
        <pc:spChg chg="mod">
          <ac:chgData name="John Miller" userId="70e70d2d-fa72-4952-98cf-67858fa4ef7a" providerId="ADAL" clId="{3C0F8D48-B805-4732-975A-89F26263F015}" dt="2026-03-23T02:16:12.105" v="1065" actId="5793"/>
          <ac:spMkLst>
            <pc:docMk/>
            <pc:sldMk cId="0" sldId="343"/>
            <ac:spMk id="3" creationId="{00000000-0000-0000-0000-000000000000}"/>
          </ac:spMkLst>
        </pc:spChg>
      </pc:sldChg>
      <pc:sldChg chg="modSp mod modShow">
        <pc:chgData name="John Miller" userId="70e70d2d-fa72-4952-98cf-67858fa4ef7a" providerId="ADAL" clId="{3C0F8D48-B805-4732-975A-89F26263F015}" dt="2026-03-23T02:16:43.161" v="1066" actId="729"/>
        <pc:sldMkLst>
          <pc:docMk/>
          <pc:sldMk cId="0" sldId="344"/>
        </pc:sldMkLst>
        <pc:spChg chg="mod">
          <ac:chgData name="John Miller" userId="70e70d2d-fa72-4952-98cf-67858fa4ef7a" providerId="ADAL" clId="{3C0F8D48-B805-4732-975A-89F26263F015}" dt="2026-03-22T21:48:39.207" v="104" actId="27636"/>
          <ac:spMkLst>
            <pc:docMk/>
            <pc:sldMk cId="0" sldId="344"/>
            <ac:spMk id="3" creationId="{00000000-0000-0000-0000-000000000000}"/>
          </ac:spMkLst>
        </pc:spChg>
      </pc:sldChg>
      <pc:sldChg chg="modSp mod">
        <pc:chgData name="John Miller" userId="70e70d2d-fa72-4952-98cf-67858fa4ef7a" providerId="ADAL" clId="{3C0F8D48-B805-4732-975A-89F26263F015}" dt="2026-03-23T02:17:04.973" v="1069" actId="27636"/>
        <pc:sldMkLst>
          <pc:docMk/>
          <pc:sldMk cId="0" sldId="345"/>
        </pc:sldMkLst>
        <pc:spChg chg="mod">
          <ac:chgData name="John Miller" userId="70e70d2d-fa72-4952-98cf-67858fa4ef7a" providerId="ADAL" clId="{3C0F8D48-B805-4732-975A-89F26263F015}" dt="2026-03-23T02:17:04.973" v="1069" actId="27636"/>
          <ac:spMkLst>
            <pc:docMk/>
            <pc:sldMk cId="0" sldId="345"/>
            <ac:spMk id="3" creationId="{00000000-0000-0000-0000-000000000000}"/>
          </ac:spMkLst>
        </pc:spChg>
      </pc:sldChg>
      <pc:sldChg chg="modSp mod">
        <pc:chgData name="John Miller" userId="70e70d2d-fa72-4952-98cf-67858fa4ef7a" providerId="ADAL" clId="{3C0F8D48-B805-4732-975A-89F26263F015}" dt="2026-03-22T21:48:39.234" v="106" actId="27636"/>
        <pc:sldMkLst>
          <pc:docMk/>
          <pc:sldMk cId="0" sldId="346"/>
        </pc:sldMkLst>
        <pc:spChg chg="mod">
          <ac:chgData name="John Miller" userId="70e70d2d-fa72-4952-98cf-67858fa4ef7a" providerId="ADAL" clId="{3C0F8D48-B805-4732-975A-89F26263F015}" dt="2026-03-22T21:48:39.234" v="106" actId="27636"/>
          <ac:spMkLst>
            <pc:docMk/>
            <pc:sldMk cId="0" sldId="346"/>
            <ac:spMk id="3" creationId="{00000000-0000-0000-0000-000000000000}"/>
          </ac:spMkLst>
        </pc:spChg>
      </pc:sldChg>
      <pc:sldChg chg="modSp mod">
        <pc:chgData name="John Miller" userId="70e70d2d-fa72-4952-98cf-67858fa4ef7a" providerId="ADAL" clId="{3C0F8D48-B805-4732-975A-89F26263F015}" dt="2026-03-23T02:17:41.350" v="1072" actId="5793"/>
        <pc:sldMkLst>
          <pc:docMk/>
          <pc:sldMk cId="0" sldId="347"/>
        </pc:sldMkLst>
        <pc:spChg chg="mod">
          <ac:chgData name="John Miller" userId="70e70d2d-fa72-4952-98cf-67858fa4ef7a" providerId="ADAL" clId="{3C0F8D48-B805-4732-975A-89F26263F015}" dt="2026-03-22T21:48:39.239" v="107" actId="27636"/>
          <ac:spMkLst>
            <pc:docMk/>
            <pc:sldMk cId="0" sldId="347"/>
            <ac:spMk id="2" creationId="{00000000-0000-0000-0000-000000000000}"/>
          </ac:spMkLst>
        </pc:spChg>
        <pc:spChg chg="mod">
          <ac:chgData name="John Miller" userId="70e70d2d-fa72-4952-98cf-67858fa4ef7a" providerId="ADAL" clId="{3C0F8D48-B805-4732-975A-89F26263F015}" dt="2026-03-23T02:17:41.350" v="1072" actId="5793"/>
          <ac:spMkLst>
            <pc:docMk/>
            <pc:sldMk cId="0" sldId="347"/>
            <ac:spMk id="3" creationId="{00000000-0000-0000-0000-000000000000}"/>
          </ac:spMkLst>
        </pc:spChg>
      </pc:sldChg>
      <pc:sldChg chg="modSp mod modShow">
        <pc:chgData name="John Miller" userId="70e70d2d-fa72-4952-98cf-67858fa4ef7a" providerId="ADAL" clId="{3C0F8D48-B805-4732-975A-89F26263F015}" dt="2026-03-23T02:17:54.276" v="1073" actId="729"/>
        <pc:sldMkLst>
          <pc:docMk/>
          <pc:sldMk cId="0" sldId="348"/>
        </pc:sldMkLst>
        <pc:spChg chg="mod">
          <ac:chgData name="John Miller" userId="70e70d2d-fa72-4952-98cf-67858fa4ef7a" providerId="ADAL" clId="{3C0F8D48-B805-4732-975A-89F26263F015}" dt="2026-03-22T21:48:39.269" v="109" actId="27636"/>
          <ac:spMkLst>
            <pc:docMk/>
            <pc:sldMk cId="0" sldId="348"/>
            <ac:spMk id="3" creationId="{00000000-0000-0000-0000-000000000000}"/>
          </ac:spMkLst>
        </pc:spChg>
      </pc:sldChg>
      <pc:sldChg chg="modSp mod">
        <pc:chgData name="John Miller" userId="70e70d2d-fa72-4952-98cf-67858fa4ef7a" providerId="ADAL" clId="{3C0F8D48-B805-4732-975A-89F26263F015}" dt="2026-03-23T02:18:22.376" v="1081" actId="27636"/>
        <pc:sldMkLst>
          <pc:docMk/>
          <pc:sldMk cId="0" sldId="349"/>
        </pc:sldMkLst>
        <pc:spChg chg="mod">
          <ac:chgData name="John Miller" userId="70e70d2d-fa72-4952-98cf-67858fa4ef7a" providerId="ADAL" clId="{3C0F8D48-B805-4732-975A-89F26263F015}" dt="2026-03-23T02:18:22.376" v="1081" actId="27636"/>
          <ac:spMkLst>
            <pc:docMk/>
            <pc:sldMk cId="0" sldId="349"/>
            <ac:spMk id="3" creationId="{00000000-0000-0000-0000-000000000000}"/>
          </ac:spMkLst>
        </pc:spChg>
      </pc:sldChg>
      <pc:sldChg chg="modSp mod modShow">
        <pc:chgData name="John Miller" userId="70e70d2d-fa72-4952-98cf-67858fa4ef7a" providerId="ADAL" clId="{3C0F8D48-B805-4732-975A-89F26263F015}" dt="2026-03-23T02:18:41.119" v="1082" actId="729"/>
        <pc:sldMkLst>
          <pc:docMk/>
          <pc:sldMk cId="0" sldId="350"/>
        </pc:sldMkLst>
        <pc:spChg chg="mod">
          <ac:chgData name="John Miller" userId="70e70d2d-fa72-4952-98cf-67858fa4ef7a" providerId="ADAL" clId="{3C0F8D48-B805-4732-975A-89F26263F015}" dt="2026-03-22T21:48:39.293" v="111" actId="27636"/>
          <ac:spMkLst>
            <pc:docMk/>
            <pc:sldMk cId="0" sldId="350"/>
            <ac:spMk id="3" creationId="{00000000-0000-0000-0000-000000000000}"/>
          </ac:spMkLst>
        </pc:spChg>
      </pc:sldChg>
      <pc:sldChg chg="modSp mod modShow">
        <pc:chgData name="John Miller" userId="70e70d2d-fa72-4952-98cf-67858fa4ef7a" providerId="ADAL" clId="{3C0F8D48-B805-4732-975A-89F26263F015}" dt="2026-03-23T02:18:47.096" v="1083" actId="729"/>
        <pc:sldMkLst>
          <pc:docMk/>
          <pc:sldMk cId="0" sldId="351"/>
        </pc:sldMkLst>
        <pc:spChg chg="mod">
          <ac:chgData name="John Miller" userId="70e70d2d-fa72-4952-98cf-67858fa4ef7a" providerId="ADAL" clId="{3C0F8D48-B805-4732-975A-89F26263F015}" dt="2026-03-22T21:48:39.320" v="112" actId="27636"/>
          <ac:spMkLst>
            <pc:docMk/>
            <pc:sldMk cId="0" sldId="351"/>
            <ac:spMk id="3" creationId="{00000000-0000-0000-0000-000000000000}"/>
          </ac:spMkLst>
        </pc:spChg>
      </pc:sldChg>
      <pc:sldChg chg="mod modShow">
        <pc:chgData name="John Miller" userId="70e70d2d-fa72-4952-98cf-67858fa4ef7a" providerId="ADAL" clId="{3C0F8D48-B805-4732-975A-89F26263F015}" dt="2026-03-23T02:18:53.060" v="1084" actId="729"/>
        <pc:sldMkLst>
          <pc:docMk/>
          <pc:sldMk cId="0" sldId="352"/>
        </pc:sldMkLst>
      </pc:sldChg>
      <pc:sldChg chg="modSp mod">
        <pc:chgData name="John Miller" userId="70e70d2d-fa72-4952-98cf-67858fa4ef7a" providerId="ADAL" clId="{3C0F8D48-B805-4732-975A-89F26263F015}" dt="2026-03-23T02:19:04.908" v="1085" actId="20577"/>
        <pc:sldMkLst>
          <pc:docMk/>
          <pc:sldMk cId="0" sldId="353"/>
        </pc:sldMkLst>
        <pc:spChg chg="mod">
          <ac:chgData name="John Miller" userId="70e70d2d-fa72-4952-98cf-67858fa4ef7a" providerId="ADAL" clId="{3C0F8D48-B805-4732-975A-89F26263F015}" dt="2026-03-22T21:48:39.324" v="113" actId="27636"/>
          <ac:spMkLst>
            <pc:docMk/>
            <pc:sldMk cId="0" sldId="353"/>
            <ac:spMk id="2" creationId="{00000000-0000-0000-0000-000000000000}"/>
          </ac:spMkLst>
        </pc:spChg>
        <pc:spChg chg="mod">
          <ac:chgData name="John Miller" userId="70e70d2d-fa72-4952-98cf-67858fa4ef7a" providerId="ADAL" clId="{3C0F8D48-B805-4732-975A-89F26263F015}" dt="2026-03-23T02:19:04.908" v="1085" actId="20577"/>
          <ac:spMkLst>
            <pc:docMk/>
            <pc:sldMk cId="0" sldId="353"/>
            <ac:spMk id="3" creationId="{00000000-0000-0000-0000-000000000000}"/>
          </ac:spMkLst>
        </pc:spChg>
      </pc:sldChg>
      <pc:sldChg chg="modSp mod">
        <pc:chgData name="John Miller" userId="70e70d2d-fa72-4952-98cf-67858fa4ef7a" providerId="ADAL" clId="{3C0F8D48-B805-4732-975A-89F26263F015}" dt="2026-03-22T21:48:39.336" v="115" actId="27636"/>
        <pc:sldMkLst>
          <pc:docMk/>
          <pc:sldMk cId="0" sldId="354"/>
        </pc:sldMkLst>
        <pc:spChg chg="mod">
          <ac:chgData name="John Miller" userId="70e70d2d-fa72-4952-98cf-67858fa4ef7a" providerId="ADAL" clId="{3C0F8D48-B805-4732-975A-89F26263F015}" dt="2026-03-22T21:48:39.328" v="114" actId="27636"/>
          <ac:spMkLst>
            <pc:docMk/>
            <pc:sldMk cId="0" sldId="354"/>
            <ac:spMk id="2" creationId="{00000000-0000-0000-0000-000000000000}"/>
          </ac:spMkLst>
        </pc:spChg>
        <pc:spChg chg="mod">
          <ac:chgData name="John Miller" userId="70e70d2d-fa72-4952-98cf-67858fa4ef7a" providerId="ADAL" clId="{3C0F8D48-B805-4732-975A-89F26263F015}" dt="2026-03-22T21:48:39.336" v="115" actId="27636"/>
          <ac:spMkLst>
            <pc:docMk/>
            <pc:sldMk cId="0" sldId="354"/>
            <ac:spMk id="3" creationId="{00000000-0000-0000-0000-000000000000}"/>
          </ac:spMkLst>
        </pc:spChg>
      </pc:sldChg>
      <pc:sldChg chg="modSp mod">
        <pc:chgData name="John Miller" userId="70e70d2d-fa72-4952-98cf-67858fa4ef7a" providerId="ADAL" clId="{3C0F8D48-B805-4732-975A-89F26263F015}" dt="2026-03-22T21:48:39.349" v="117" actId="27636"/>
        <pc:sldMkLst>
          <pc:docMk/>
          <pc:sldMk cId="0" sldId="355"/>
        </pc:sldMkLst>
        <pc:spChg chg="mod">
          <ac:chgData name="John Miller" userId="70e70d2d-fa72-4952-98cf-67858fa4ef7a" providerId="ADAL" clId="{3C0F8D48-B805-4732-975A-89F26263F015}" dt="2026-03-22T21:48:39.349" v="117" actId="27636"/>
          <ac:spMkLst>
            <pc:docMk/>
            <pc:sldMk cId="0" sldId="355"/>
            <ac:spMk id="2" creationId="{00000000-0000-0000-0000-000000000000}"/>
          </ac:spMkLst>
        </pc:spChg>
        <pc:spChg chg="mod">
          <ac:chgData name="John Miller" userId="70e70d2d-fa72-4952-98cf-67858fa4ef7a" providerId="ADAL" clId="{3C0F8D48-B805-4732-975A-89F26263F015}" dt="2026-03-22T21:48:39.348" v="116" actId="27636"/>
          <ac:spMkLst>
            <pc:docMk/>
            <pc:sldMk cId="0" sldId="355"/>
            <ac:spMk id="3" creationId="{00000000-0000-0000-0000-000000000000}"/>
          </ac:spMkLst>
        </pc:spChg>
      </pc:sldChg>
      <pc:sldChg chg="modSp mod">
        <pc:chgData name="John Miller" userId="70e70d2d-fa72-4952-98cf-67858fa4ef7a" providerId="ADAL" clId="{3C0F8D48-B805-4732-975A-89F26263F015}" dt="2026-03-22T21:48:39.362" v="119" actId="27636"/>
        <pc:sldMkLst>
          <pc:docMk/>
          <pc:sldMk cId="0" sldId="356"/>
        </pc:sldMkLst>
        <pc:spChg chg="mod">
          <ac:chgData name="John Miller" userId="70e70d2d-fa72-4952-98cf-67858fa4ef7a" providerId="ADAL" clId="{3C0F8D48-B805-4732-975A-89F26263F015}" dt="2026-03-22T21:48:39.351" v="118" actId="27636"/>
          <ac:spMkLst>
            <pc:docMk/>
            <pc:sldMk cId="0" sldId="356"/>
            <ac:spMk id="2" creationId="{00000000-0000-0000-0000-000000000000}"/>
          </ac:spMkLst>
        </pc:spChg>
        <pc:spChg chg="mod">
          <ac:chgData name="John Miller" userId="70e70d2d-fa72-4952-98cf-67858fa4ef7a" providerId="ADAL" clId="{3C0F8D48-B805-4732-975A-89F26263F015}" dt="2026-03-22T21:48:39.362" v="119" actId="27636"/>
          <ac:spMkLst>
            <pc:docMk/>
            <pc:sldMk cId="0" sldId="356"/>
            <ac:spMk id="3" creationId="{00000000-0000-0000-0000-000000000000}"/>
          </ac:spMkLst>
        </pc:spChg>
      </pc:sldChg>
      <pc:sldChg chg="modSp mod">
        <pc:chgData name="John Miller" userId="70e70d2d-fa72-4952-98cf-67858fa4ef7a" providerId="ADAL" clId="{3C0F8D48-B805-4732-975A-89F26263F015}" dt="2026-03-22T21:48:39.370" v="120" actId="27636"/>
        <pc:sldMkLst>
          <pc:docMk/>
          <pc:sldMk cId="0" sldId="357"/>
        </pc:sldMkLst>
        <pc:spChg chg="mod">
          <ac:chgData name="John Miller" userId="70e70d2d-fa72-4952-98cf-67858fa4ef7a" providerId="ADAL" clId="{3C0F8D48-B805-4732-975A-89F26263F015}" dt="2026-03-22T21:48:39.370" v="120" actId="27636"/>
          <ac:spMkLst>
            <pc:docMk/>
            <pc:sldMk cId="0" sldId="357"/>
            <ac:spMk id="3" creationId="{00000000-0000-0000-0000-000000000000}"/>
          </ac:spMkLst>
        </pc:spChg>
      </pc:sldChg>
      <pc:sldChg chg="addSp modSp mod modClrScheme chgLayout">
        <pc:chgData name="John Miller" userId="70e70d2d-fa72-4952-98cf-67858fa4ef7a" providerId="ADAL" clId="{3C0F8D48-B805-4732-975A-89F26263F015}" dt="2026-03-23T02:25:31.086" v="1124"/>
        <pc:sldMkLst>
          <pc:docMk/>
          <pc:sldMk cId="0" sldId="358"/>
        </pc:sldMkLst>
        <pc:spChg chg="mod ord">
          <ac:chgData name="John Miller" userId="70e70d2d-fa72-4952-98cf-67858fa4ef7a" providerId="ADAL" clId="{3C0F8D48-B805-4732-975A-89F26263F015}" dt="2026-03-23T02:19:53.310" v="1086" actId="700"/>
          <ac:spMkLst>
            <pc:docMk/>
            <pc:sldMk cId="0" sldId="358"/>
            <ac:spMk id="2" creationId="{00000000-0000-0000-0000-000000000000}"/>
          </ac:spMkLst>
        </pc:spChg>
        <pc:spChg chg="mod ord">
          <ac:chgData name="John Miller" userId="70e70d2d-fa72-4952-98cf-67858fa4ef7a" providerId="ADAL" clId="{3C0F8D48-B805-4732-975A-89F26263F015}" dt="2026-03-23T02:25:28.459" v="1123" actId="27636"/>
          <ac:spMkLst>
            <pc:docMk/>
            <pc:sldMk cId="0" sldId="358"/>
            <ac:spMk id="3" creationId="{00000000-0000-0000-0000-000000000000}"/>
          </ac:spMkLst>
        </pc:spChg>
        <pc:spChg chg="add mod ord">
          <ac:chgData name="John Miller" userId="70e70d2d-fa72-4952-98cf-67858fa4ef7a" providerId="ADAL" clId="{3C0F8D48-B805-4732-975A-89F26263F015}" dt="2026-03-23T02:25:31.086" v="1124"/>
          <ac:spMkLst>
            <pc:docMk/>
            <pc:sldMk cId="0" sldId="358"/>
            <ac:spMk id="4" creationId="{2B343E40-796A-9CFE-2689-36EBB6A1DFB7}"/>
          </ac:spMkLst>
        </pc:spChg>
      </pc:sldChg>
      <pc:sldChg chg="modSp mod modShow">
        <pc:chgData name="John Miller" userId="70e70d2d-fa72-4952-98cf-67858fa4ef7a" providerId="ADAL" clId="{3C0F8D48-B805-4732-975A-89F26263F015}" dt="2026-03-23T02:26:20.670" v="1125" actId="729"/>
        <pc:sldMkLst>
          <pc:docMk/>
          <pc:sldMk cId="0" sldId="359"/>
        </pc:sldMkLst>
        <pc:spChg chg="mod">
          <ac:chgData name="John Miller" userId="70e70d2d-fa72-4952-98cf-67858fa4ef7a" providerId="ADAL" clId="{3C0F8D48-B805-4732-975A-89F26263F015}" dt="2026-03-22T21:48:39.429" v="124" actId="27636"/>
          <ac:spMkLst>
            <pc:docMk/>
            <pc:sldMk cId="0" sldId="359"/>
            <ac:spMk id="2" creationId="{00000000-0000-0000-0000-000000000000}"/>
          </ac:spMkLst>
        </pc:spChg>
        <pc:spChg chg="mod">
          <ac:chgData name="John Miller" userId="70e70d2d-fa72-4952-98cf-67858fa4ef7a" providerId="ADAL" clId="{3C0F8D48-B805-4732-975A-89F26263F015}" dt="2026-03-22T21:48:39.427" v="123" actId="27636"/>
          <ac:spMkLst>
            <pc:docMk/>
            <pc:sldMk cId="0" sldId="359"/>
            <ac:spMk id="3" creationId="{00000000-0000-0000-0000-000000000000}"/>
          </ac:spMkLst>
        </pc:spChg>
      </pc:sldChg>
      <pc:sldChg chg="modSp mod modShow">
        <pc:chgData name="John Miller" userId="70e70d2d-fa72-4952-98cf-67858fa4ef7a" providerId="ADAL" clId="{3C0F8D48-B805-4732-975A-89F26263F015}" dt="2026-03-23T02:26:23.061" v="1126" actId="729"/>
        <pc:sldMkLst>
          <pc:docMk/>
          <pc:sldMk cId="0" sldId="360"/>
        </pc:sldMkLst>
        <pc:spChg chg="mod">
          <ac:chgData name="John Miller" userId="70e70d2d-fa72-4952-98cf-67858fa4ef7a" providerId="ADAL" clId="{3C0F8D48-B805-4732-975A-89F26263F015}" dt="2026-03-22T21:48:39.462" v="126" actId="27636"/>
          <ac:spMkLst>
            <pc:docMk/>
            <pc:sldMk cId="0" sldId="360"/>
            <ac:spMk id="2" creationId="{00000000-0000-0000-0000-000000000000}"/>
          </ac:spMkLst>
        </pc:spChg>
        <pc:spChg chg="mod">
          <ac:chgData name="John Miller" userId="70e70d2d-fa72-4952-98cf-67858fa4ef7a" providerId="ADAL" clId="{3C0F8D48-B805-4732-975A-89F26263F015}" dt="2026-03-22T21:48:39.460" v="125" actId="27636"/>
          <ac:spMkLst>
            <pc:docMk/>
            <pc:sldMk cId="0" sldId="360"/>
            <ac:spMk id="3" creationId="{00000000-0000-0000-0000-000000000000}"/>
          </ac:spMkLst>
        </pc:spChg>
      </pc:sldChg>
      <pc:sldChg chg="modSp mod">
        <pc:chgData name="John Miller" userId="70e70d2d-fa72-4952-98cf-67858fa4ef7a" providerId="ADAL" clId="{3C0F8D48-B805-4732-975A-89F26263F015}" dt="2026-03-23T02:27:08.656" v="1139" actId="15"/>
        <pc:sldMkLst>
          <pc:docMk/>
          <pc:sldMk cId="0" sldId="361"/>
        </pc:sldMkLst>
        <pc:spChg chg="mod">
          <ac:chgData name="John Miller" userId="70e70d2d-fa72-4952-98cf-67858fa4ef7a" providerId="ADAL" clId="{3C0F8D48-B805-4732-975A-89F26263F015}" dt="2026-03-22T21:48:39.470" v="127" actId="27636"/>
          <ac:spMkLst>
            <pc:docMk/>
            <pc:sldMk cId="0" sldId="361"/>
            <ac:spMk id="2" creationId="{00000000-0000-0000-0000-000000000000}"/>
          </ac:spMkLst>
        </pc:spChg>
        <pc:spChg chg="mod">
          <ac:chgData name="John Miller" userId="70e70d2d-fa72-4952-98cf-67858fa4ef7a" providerId="ADAL" clId="{3C0F8D48-B805-4732-975A-89F26263F015}" dt="2026-03-23T02:27:08.656" v="1139" actId="15"/>
          <ac:spMkLst>
            <pc:docMk/>
            <pc:sldMk cId="0" sldId="361"/>
            <ac:spMk id="3" creationId="{00000000-0000-0000-0000-000000000000}"/>
          </ac:spMkLst>
        </pc:spChg>
      </pc:sldChg>
      <pc:sldChg chg="modSp mod">
        <pc:chgData name="John Miller" userId="70e70d2d-fa72-4952-98cf-67858fa4ef7a" providerId="ADAL" clId="{3C0F8D48-B805-4732-975A-89F26263F015}" dt="2026-03-23T02:27:48.377" v="1152" actId="15"/>
        <pc:sldMkLst>
          <pc:docMk/>
          <pc:sldMk cId="0" sldId="362"/>
        </pc:sldMkLst>
        <pc:spChg chg="mod">
          <ac:chgData name="John Miller" userId="70e70d2d-fa72-4952-98cf-67858fa4ef7a" providerId="ADAL" clId="{3C0F8D48-B805-4732-975A-89F26263F015}" dt="2026-03-22T21:48:39.491" v="129" actId="27636"/>
          <ac:spMkLst>
            <pc:docMk/>
            <pc:sldMk cId="0" sldId="362"/>
            <ac:spMk id="2" creationId="{00000000-0000-0000-0000-000000000000}"/>
          </ac:spMkLst>
        </pc:spChg>
        <pc:spChg chg="mod">
          <ac:chgData name="John Miller" userId="70e70d2d-fa72-4952-98cf-67858fa4ef7a" providerId="ADAL" clId="{3C0F8D48-B805-4732-975A-89F26263F015}" dt="2026-03-23T02:27:48.377" v="1152" actId="15"/>
          <ac:spMkLst>
            <pc:docMk/>
            <pc:sldMk cId="0" sldId="362"/>
            <ac:spMk id="3" creationId="{00000000-0000-0000-0000-000000000000}"/>
          </ac:spMkLst>
        </pc:spChg>
      </pc:sldChg>
      <pc:sldChg chg="mod modShow">
        <pc:chgData name="John Miller" userId="70e70d2d-fa72-4952-98cf-67858fa4ef7a" providerId="ADAL" clId="{3C0F8D48-B805-4732-975A-89F26263F015}" dt="2026-03-23T02:28:14.329" v="1153" actId="729"/>
        <pc:sldMkLst>
          <pc:docMk/>
          <pc:sldMk cId="0" sldId="364"/>
        </pc:sldMkLst>
      </pc:sldChg>
      <pc:sldChg chg="modSp mod">
        <pc:chgData name="John Miller" userId="70e70d2d-fa72-4952-98cf-67858fa4ef7a" providerId="ADAL" clId="{3C0F8D48-B805-4732-975A-89F26263F015}" dt="2026-03-23T02:28:40.476" v="1156" actId="20577"/>
        <pc:sldMkLst>
          <pc:docMk/>
          <pc:sldMk cId="0" sldId="365"/>
        </pc:sldMkLst>
        <pc:spChg chg="mod">
          <ac:chgData name="John Miller" userId="70e70d2d-fa72-4952-98cf-67858fa4ef7a" providerId="ADAL" clId="{3C0F8D48-B805-4732-975A-89F26263F015}" dt="2026-03-23T02:28:40.476" v="1156" actId="20577"/>
          <ac:spMkLst>
            <pc:docMk/>
            <pc:sldMk cId="0" sldId="365"/>
            <ac:spMk id="3" creationId="{00000000-0000-0000-0000-000000000000}"/>
          </ac:spMkLst>
        </pc:spChg>
      </pc:sldChg>
      <pc:sldChg chg="modSp mod">
        <pc:chgData name="John Miller" userId="70e70d2d-fa72-4952-98cf-67858fa4ef7a" providerId="ADAL" clId="{3C0F8D48-B805-4732-975A-89F26263F015}" dt="2026-03-23T02:29:04.963" v="1162" actId="20577"/>
        <pc:sldMkLst>
          <pc:docMk/>
          <pc:sldMk cId="0" sldId="366"/>
        </pc:sldMkLst>
        <pc:spChg chg="mod">
          <ac:chgData name="John Miller" userId="70e70d2d-fa72-4952-98cf-67858fa4ef7a" providerId="ADAL" clId="{3C0F8D48-B805-4732-975A-89F26263F015}" dt="2026-03-23T02:29:04.963" v="1162" actId="20577"/>
          <ac:spMkLst>
            <pc:docMk/>
            <pc:sldMk cId="0" sldId="366"/>
            <ac:spMk id="3" creationId="{00000000-0000-0000-0000-000000000000}"/>
          </ac:spMkLst>
        </pc:spChg>
      </pc:sldChg>
      <pc:sldChg chg="modSp mod modShow">
        <pc:chgData name="John Miller" userId="70e70d2d-fa72-4952-98cf-67858fa4ef7a" providerId="ADAL" clId="{3C0F8D48-B805-4732-975A-89F26263F015}" dt="2026-03-23T02:41:31.641" v="1357" actId="729"/>
        <pc:sldMkLst>
          <pc:docMk/>
          <pc:sldMk cId="0" sldId="367"/>
        </pc:sldMkLst>
        <pc:spChg chg="mod">
          <ac:chgData name="John Miller" userId="70e70d2d-fa72-4952-98cf-67858fa4ef7a" providerId="ADAL" clId="{3C0F8D48-B805-4732-975A-89F26263F015}" dt="2026-03-22T21:48:39.516" v="131" actId="27636"/>
          <ac:spMkLst>
            <pc:docMk/>
            <pc:sldMk cId="0" sldId="367"/>
            <ac:spMk id="2" creationId="{00000000-0000-0000-0000-000000000000}"/>
          </ac:spMkLst>
        </pc:spChg>
      </pc:sldChg>
      <pc:sldChg chg="modSp mod modShow">
        <pc:chgData name="John Miller" userId="70e70d2d-fa72-4952-98cf-67858fa4ef7a" providerId="ADAL" clId="{3C0F8D48-B805-4732-975A-89F26263F015}" dt="2026-03-23T02:41:21.641" v="1356" actId="729"/>
        <pc:sldMkLst>
          <pc:docMk/>
          <pc:sldMk cId="0" sldId="368"/>
        </pc:sldMkLst>
        <pc:spChg chg="mod">
          <ac:chgData name="John Miller" userId="70e70d2d-fa72-4952-98cf-67858fa4ef7a" providerId="ADAL" clId="{3C0F8D48-B805-4732-975A-89F26263F015}" dt="2026-03-22T21:48:39.528" v="133" actId="27636"/>
          <ac:spMkLst>
            <pc:docMk/>
            <pc:sldMk cId="0" sldId="368"/>
            <ac:spMk id="2" creationId="{00000000-0000-0000-0000-000000000000}"/>
          </ac:spMkLst>
        </pc:spChg>
        <pc:spChg chg="mod">
          <ac:chgData name="John Miller" userId="70e70d2d-fa72-4952-98cf-67858fa4ef7a" providerId="ADAL" clId="{3C0F8D48-B805-4732-975A-89F26263F015}" dt="2026-03-23T02:29:43.985" v="1172" actId="27636"/>
          <ac:spMkLst>
            <pc:docMk/>
            <pc:sldMk cId="0" sldId="368"/>
            <ac:spMk id="3" creationId="{00000000-0000-0000-0000-000000000000}"/>
          </ac:spMkLst>
        </pc:spChg>
      </pc:sldChg>
      <pc:sldChg chg="mod modShow">
        <pc:chgData name="John Miller" userId="70e70d2d-fa72-4952-98cf-67858fa4ef7a" providerId="ADAL" clId="{3C0F8D48-B805-4732-975A-89F26263F015}" dt="2026-03-23T02:41:41.571" v="1358" actId="729"/>
        <pc:sldMkLst>
          <pc:docMk/>
          <pc:sldMk cId="0" sldId="369"/>
        </pc:sldMkLst>
      </pc:sldChg>
      <pc:sldChg chg="modSp mod modShow">
        <pc:chgData name="John Miller" userId="70e70d2d-fa72-4952-98cf-67858fa4ef7a" providerId="ADAL" clId="{3C0F8D48-B805-4732-975A-89F26263F015}" dt="2026-03-23T02:41:52.372" v="1359" actId="729"/>
        <pc:sldMkLst>
          <pc:docMk/>
          <pc:sldMk cId="0" sldId="370"/>
        </pc:sldMkLst>
        <pc:spChg chg="mod">
          <ac:chgData name="John Miller" userId="70e70d2d-fa72-4952-98cf-67858fa4ef7a" providerId="ADAL" clId="{3C0F8D48-B805-4732-975A-89F26263F015}" dt="2026-03-22T21:48:39.533" v="134" actId="27636"/>
          <ac:spMkLst>
            <pc:docMk/>
            <pc:sldMk cId="0" sldId="370"/>
            <ac:spMk id="2" creationId="{00000000-0000-0000-0000-000000000000}"/>
          </ac:spMkLst>
        </pc:spChg>
      </pc:sldChg>
      <pc:sldChg chg="modSp mod ord">
        <pc:chgData name="John Miller" userId="70e70d2d-fa72-4952-98cf-67858fa4ef7a" providerId="ADAL" clId="{3C0F8D48-B805-4732-975A-89F26263F015}" dt="2026-03-23T02:42:46.424" v="1361"/>
        <pc:sldMkLst>
          <pc:docMk/>
          <pc:sldMk cId="0" sldId="371"/>
        </pc:sldMkLst>
        <pc:spChg chg="mod">
          <ac:chgData name="John Miller" userId="70e70d2d-fa72-4952-98cf-67858fa4ef7a" providerId="ADAL" clId="{3C0F8D48-B805-4732-975A-89F26263F015}" dt="2026-03-22T21:48:39.539" v="135" actId="27636"/>
          <ac:spMkLst>
            <pc:docMk/>
            <pc:sldMk cId="0" sldId="371"/>
            <ac:spMk id="2" creationId="{00000000-0000-0000-0000-000000000000}"/>
          </ac:spMkLst>
        </pc:spChg>
        <pc:spChg chg="mod">
          <ac:chgData name="John Miller" userId="70e70d2d-fa72-4952-98cf-67858fa4ef7a" providerId="ADAL" clId="{3C0F8D48-B805-4732-975A-89F26263F015}" dt="2026-03-23T02:30:35.661" v="1179" actId="27636"/>
          <ac:spMkLst>
            <pc:docMk/>
            <pc:sldMk cId="0" sldId="371"/>
            <ac:spMk id="3" creationId="{00000000-0000-0000-0000-000000000000}"/>
          </ac:spMkLst>
        </pc:spChg>
      </pc:sldChg>
      <pc:sldChg chg="addSp modSp mod ord modClrScheme chgLayout">
        <pc:chgData name="John Miller" userId="70e70d2d-fa72-4952-98cf-67858fa4ef7a" providerId="ADAL" clId="{3C0F8D48-B805-4732-975A-89F26263F015}" dt="2026-03-23T02:42:46.424" v="1361"/>
        <pc:sldMkLst>
          <pc:docMk/>
          <pc:sldMk cId="0" sldId="372"/>
        </pc:sldMkLst>
        <pc:spChg chg="mod ord">
          <ac:chgData name="John Miller" userId="70e70d2d-fa72-4952-98cf-67858fa4ef7a" providerId="ADAL" clId="{3C0F8D48-B805-4732-975A-89F26263F015}" dt="2026-03-23T02:30:49.968" v="1180" actId="700"/>
          <ac:spMkLst>
            <pc:docMk/>
            <pc:sldMk cId="0" sldId="372"/>
            <ac:spMk id="2" creationId="{00000000-0000-0000-0000-000000000000}"/>
          </ac:spMkLst>
        </pc:spChg>
        <pc:spChg chg="mod ord">
          <ac:chgData name="John Miller" userId="70e70d2d-fa72-4952-98cf-67858fa4ef7a" providerId="ADAL" clId="{3C0F8D48-B805-4732-975A-89F26263F015}" dt="2026-03-23T02:32:15.054" v="1229" actId="27636"/>
          <ac:spMkLst>
            <pc:docMk/>
            <pc:sldMk cId="0" sldId="372"/>
            <ac:spMk id="3" creationId="{00000000-0000-0000-0000-000000000000}"/>
          </ac:spMkLst>
        </pc:spChg>
        <pc:spChg chg="add mod ord">
          <ac:chgData name="John Miller" userId="70e70d2d-fa72-4952-98cf-67858fa4ef7a" providerId="ADAL" clId="{3C0F8D48-B805-4732-975A-89F26263F015}" dt="2026-03-23T02:32:17.770" v="1230"/>
          <ac:spMkLst>
            <pc:docMk/>
            <pc:sldMk cId="0" sldId="372"/>
            <ac:spMk id="4" creationId="{AA8435AE-743E-3B71-1C18-A1165AD33C16}"/>
          </ac:spMkLst>
        </pc:spChg>
      </pc:sldChg>
      <pc:sldChg chg="modSp mod ord">
        <pc:chgData name="John Miller" userId="70e70d2d-fa72-4952-98cf-67858fa4ef7a" providerId="ADAL" clId="{3C0F8D48-B805-4732-975A-89F26263F015}" dt="2026-03-23T02:42:46.424" v="1361"/>
        <pc:sldMkLst>
          <pc:docMk/>
          <pc:sldMk cId="0" sldId="373"/>
        </pc:sldMkLst>
        <pc:spChg chg="mod">
          <ac:chgData name="John Miller" userId="70e70d2d-fa72-4952-98cf-67858fa4ef7a" providerId="ADAL" clId="{3C0F8D48-B805-4732-975A-89F26263F015}" dt="2026-03-22T21:48:39.582" v="139" actId="27636"/>
          <ac:spMkLst>
            <pc:docMk/>
            <pc:sldMk cId="0" sldId="373"/>
            <ac:spMk id="2" creationId="{00000000-0000-0000-0000-000000000000}"/>
          </ac:spMkLst>
        </pc:spChg>
      </pc:sldChg>
      <pc:sldChg chg="modSp mod ord">
        <pc:chgData name="John Miller" userId="70e70d2d-fa72-4952-98cf-67858fa4ef7a" providerId="ADAL" clId="{3C0F8D48-B805-4732-975A-89F26263F015}" dt="2026-03-23T02:42:46.424" v="1361"/>
        <pc:sldMkLst>
          <pc:docMk/>
          <pc:sldMk cId="0" sldId="374"/>
        </pc:sldMkLst>
        <pc:spChg chg="mod">
          <ac:chgData name="John Miller" userId="70e70d2d-fa72-4952-98cf-67858fa4ef7a" providerId="ADAL" clId="{3C0F8D48-B805-4732-975A-89F26263F015}" dt="2026-03-22T21:48:39.589" v="140" actId="27636"/>
          <ac:spMkLst>
            <pc:docMk/>
            <pc:sldMk cId="0" sldId="374"/>
            <ac:spMk id="2" creationId="{00000000-0000-0000-0000-000000000000}"/>
          </ac:spMkLst>
        </pc:spChg>
      </pc:sldChg>
      <pc:sldChg chg="modSp mod ord">
        <pc:chgData name="John Miller" userId="70e70d2d-fa72-4952-98cf-67858fa4ef7a" providerId="ADAL" clId="{3C0F8D48-B805-4732-975A-89F26263F015}" dt="2026-03-23T02:42:46.424" v="1361"/>
        <pc:sldMkLst>
          <pc:docMk/>
          <pc:sldMk cId="0" sldId="375"/>
        </pc:sldMkLst>
        <pc:spChg chg="mod">
          <ac:chgData name="John Miller" userId="70e70d2d-fa72-4952-98cf-67858fa4ef7a" providerId="ADAL" clId="{3C0F8D48-B805-4732-975A-89F26263F015}" dt="2026-03-22T21:48:39.597" v="141" actId="27636"/>
          <ac:spMkLst>
            <pc:docMk/>
            <pc:sldMk cId="0" sldId="375"/>
            <ac:spMk id="2" creationId="{00000000-0000-0000-0000-000000000000}"/>
          </ac:spMkLst>
        </pc:spChg>
        <pc:spChg chg="mod">
          <ac:chgData name="John Miller" userId="70e70d2d-fa72-4952-98cf-67858fa4ef7a" providerId="ADAL" clId="{3C0F8D48-B805-4732-975A-89F26263F015}" dt="2026-03-23T02:33:57.247" v="1241" actId="2711"/>
          <ac:spMkLst>
            <pc:docMk/>
            <pc:sldMk cId="0" sldId="375"/>
            <ac:spMk id="3" creationId="{00000000-0000-0000-0000-000000000000}"/>
          </ac:spMkLst>
        </pc:spChg>
      </pc:sldChg>
      <pc:sldChg chg="ord">
        <pc:chgData name="John Miller" userId="70e70d2d-fa72-4952-98cf-67858fa4ef7a" providerId="ADAL" clId="{3C0F8D48-B805-4732-975A-89F26263F015}" dt="2026-03-23T02:42:46.424" v="1361"/>
        <pc:sldMkLst>
          <pc:docMk/>
          <pc:sldMk cId="0" sldId="376"/>
        </pc:sldMkLst>
      </pc:sldChg>
      <pc:sldChg chg="modSp mod ord">
        <pc:chgData name="John Miller" userId="70e70d2d-fa72-4952-98cf-67858fa4ef7a" providerId="ADAL" clId="{3C0F8D48-B805-4732-975A-89F26263F015}" dt="2026-03-23T02:42:46.424" v="1361"/>
        <pc:sldMkLst>
          <pc:docMk/>
          <pc:sldMk cId="0" sldId="377"/>
        </pc:sldMkLst>
        <pc:spChg chg="mod">
          <ac:chgData name="John Miller" userId="70e70d2d-fa72-4952-98cf-67858fa4ef7a" providerId="ADAL" clId="{3C0F8D48-B805-4732-975A-89F26263F015}" dt="2026-03-23T02:34:54.361" v="1253" actId="27636"/>
          <ac:spMkLst>
            <pc:docMk/>
            <pc:sldMk cId="0" sldId="377"/>
            <ac:spMk id="3" creationId="{00000000-0000-0000-0000-000000000000}"/>
          </ac:spMkLst>
        </pc:spChg>
      </pc:sldChg>
      <pc:sldChg chg="ord">
        <pc:chgData name="John Miller" userId="70e70d2d-fa72-4952-98cf-67858fa4ef7a" providerId="ADAL" clId="{3C0F8D48-B805-4732-975A-89F26263F015}" dt="2026-03-23T02:42:46.424" v="1361"/>
        <pc:sldMkLst>
          <pc:docMk/>
          <pc:sldMk cId="0" sldId="378"/>
        </pc:sldMkLst>
      </pc:sldChg>
      <pc:sldChg chg="modSp mod ord">
        <pc:chgData name="John Miller" userId="70e70d2d-fa72-4952-98cf-67858fa4ef7a" providerId="ADAL" clId="{3C0F8D48-B805-4732-975A-89F26263F015}" dt="2026-03-23T02:42:46.424" v="1361"/>
        <pc:sldMkLst>
          <pc:docMk/>
          <pc:sldMk cId="0" sldId="379"/>
        </pc:sldMkLst>
        <pc:spChg chg="mod">
          <ac:chgData name="John Miller" userId="70e70d2d-fa72-4952-98cf-67858fa4ef7a" providerId="ADAL" clId="{3C0F8D48-B805-4732-975A-89F26263F015}" dt="2026-03-22T21:48:39.806" v="144" actId="27636"/>
          <ac:spMkLst>
            <pc:docMk/>
            <pc:sldMk cId="0" sldId="379"/>
            <ac:spMk id="2" creationId="{00000000-0000-0000-0000-000000000000}"/>
          </ac:spMkLst>
        </pc:spChg>
      </pc:sldChg>
      <pc:sldChg chg="ord">
        <pc:chgData name="John Miller" userId="70e70d2d-fa72-4952-98cf-67858fa4ef7a" providerId="ADAL" clId="{3C0F8D48-B805-4732-975A-89F26263F015}" dt="2026-03-23T02:42:46.424" v="1361"/>
        <pc:sldMkLst>
          <pc:docMk/>
          <pc:sldMk cId="0" sldId="380"/>
        </pc:sldMkLst>
      </pc:sldChg>
      <pc:sldChg chg="mod ord modShow">
        <pc:chgData name="John Miller" userId="70e70d2d-fa72-4952-98cf-67858fa4ef7a" providerId="ADAL" clId="{3C0F8D48-B805-4732-975A-89F26263F015}" dt="2026-03-23T02:42:46.424" v="1361"/>
        <pc:sldMkLst>
          <pc:docMk/>
          <pc:sldMk cId="0" sldId="381"/>
        </pc:sldMkLst>
      </pc:sldChg>
      <pc:sldChg chg="modSp mod ord">
        <pc:chgData name="John Miller" userId="70e70d2d-fa72-4952-98cf-67858fa4ef7a" providerId="ADAL" clId="{3C0F8D48-B805-4732-975A-89F26263F015}" dt="2026-03-23T02:42:46.424" v="1361"/>
        <pc:sldMkLst>
          <pc:docMk/>
          <pc:sldMk cId="0" sldId="382"/>
        </pc:sldMkLst>
        <pc:spChg chg="mod">
          <ac:chgData name="John Miller" userId="70e70d2d-fa72-4952-98cf-67858fa4ef7a" providerId="ADAL" clId="{3C0F8D48-B805-4732-975A-89F26263F015}" dt="2026-03-22T21:48:39.819" v="145" actId="27636"/>
          <ac:spMkLst>
            <pc:docMk/>
            <pc:sldMk cId="0" sldId="382"/>
            <ac:spMk id="3" creationId="{00000000-0000-0000-0000-000000000000}"/>
          </ac:spMkLst>
        </pc:spChg>
      </pc:sldChg>
      <pc:sldChg chg="modSp mod ord modShow">
        <pc:chgData name="John Miller" userId="70e70d2d-fa72-4952-98cf-67858fa4ef7a" providerId="ADAL" clId="{3C0F8D48-B805-4732-975A-89F26263F015}" dt="2026-03-23T02:42:46.424" v="1361"/>
        <pc:sldMkLst>
          <pc:docMk/>
          <pc:sldMk cId="0" sldId="383"/>
        </pc:sldMkLst>
        <pc:spChg chg="mod">
          <ac:chgData name="John Miller" userId="70e70d2d-fa72-4952-98cf-67858fa4ef7a" providerId="ADAL" clId="{3C0F8D48-B805-4732-975A-89F26263F015}" dt="2026-03-22T21:48:39.839" v="146" actId="27636"/>
          <ac:spMkLst>
            <pc:docMk/>
            <pc:sldMk cId="0" sldId="383"/>
            <ac:spMk id="3" creationId="{00000000-0000-0000-0000-000000000000}"/>
          </ac:spMkLst>
        </pc:spChg>
      </pc:sldChg>
      <pc:sldChg chg="addSp modSp mod ord modClrScheme chgLayout">
        <pc:chgData name="John Miller" userId="70e70d2d-fa72-4952-98cf-67858fa4ef7a" providerId="ADAL" clId="{3C0F8D48-B805-4732-975A-89F26263F015}" dt="2026-03-23T02:42:46.424" v="1361"/>
        <pc:sldMkLst>
          <pc:docMk/>
          <pc:sldMk cId="0" sldId="384"/>
        </pc:sldMkLst>
        <pc:spChg chg="mod ord">
          <ac:chgData name="John Miller" userId="70e70d2d-fa72-4952-98cf-67858fa4ef7a" providerId="ADAL" clId="{3C0F8D48-B805-4732-975A-89F26263F015}" dt="2026-03-23T02:38:03.462" v="1261" actId="700"/>
          <ac:spMkLst>
            <pc:docMk/>
            <pc:sldMk cId="0" sldId="384"/>
            <ac:spMk id="2" creationId="{00000000-0000-0000-0000-000000000000}"/>
          </ac:spMkLst>
        </pc:spChg>
        <pc:spChg chg="mod ord">
          <ac:chgData name="John Miller" userId="70e70d2d-fa72-4952-98cf-67858fa4ef7a" providerId="ADAL" clId="{3C0F8D48-B805-4732-975A-89F26263F015}" dt="2026-03-23T02:38:43.029" v="1289" actId="27636"/>
          <ac:spMkLst>
            <pc:docMk/>
            <pc:sldMk cId="0" sldId="384"/>
            <ac:spMk id="3" creationId="{00000000-0000-0000-0000-000000000000}"/>
          </ac:spMkLst>
        </pc:spChg>
        <pc:spChg chg="add mod ord">
          <ac:chgData name="John Miller" userId="70e70d2d-fa72-4952-98cf-67858fa4ef7a" providerId="ADAL" clId="{3C0F8D48-B805-4732-975A-89F26263F015}" dt="2026-03-23T02:38:45.207" v="1290"/>
          <ac:spMkLst>
            <pc:docMk/>
            <pc:sldMk cId="0" sldId="384"/>
            <ac:spMk id="4" creationId="{F2D47263-5BE8-5398-F6C4-ED2BA1D1B889}"/>
          </ac:spMkLst>
        </pc:spChg>
      </pc:sldChg>
      <pc:sldChg chg="modSp mod ord modShow">
        <pc:chgData name="John Miller" userId="70e70d2d-fa72-4952-98cf-67858fa4ef7a" providerId="ADAL" clId="{3C0F8D48-B805-4732-975A-89F26263F015}" dt="2026-03-23T02:42:46.424" v="1361"/>
        <pc:sldMkLst>
          <pc:docMk/>
          <pc:sldMk cId="0" sldId="385"/>
        </pc:sldMkLst>
        <pc:spChg chg="mod">
          <ac:chgData name="John Miller" userId="70e70d2d-fa72-4952-98cf-67858fa4ef7a" providerId="ADAL" clId="{3C0F8D48-B805-4732-975A-89F26263F015}" dt="2026-03-22T21:48:39.890" v="149" actId="27636"/>
          <ac:spMkLst>
            <pc:docMk/>
            <pc:sldMk cId="0" sldId="385"/>
            <ac:spMk id="3" creationId="{00000000-0000-0000-0000-000000000000}"/>
          </ac:spMkLst>
        </pc:spChg>
      </pc:sldChg>
      <pc:sldChg chg="addSp modSp mod ord modClrScheme chgLayout">
        <pc:chgData name="John Miller" userId="70e70d2d-fa72-4952-98cf-67858fa4ef7a" providerId="ADAL" clId="{3C0F8D48-B805-4732-975A-89F26263F015}" dt="2026-03-23T02:42:46.424" v="1361"/>
        <pc:sldMkLst>
          <pc:docMk/>
          <pc:sldMk cId="0" sldId="386"/>
        </pc:sldMkLst>
        <pc:spChg chg="mod ord">
          <ac:chgData name="John Miller" userId="70e70d2d-fa72-4952-98cf-67858fa4ef7a" providerId="ADAL" clId="{3C0F8D48-B805-4732-975A-89F26263F015}" dt="2026-03-23T02:39:31.300" v="1313" actId="700"/>
          <ac:spMkLst>
            <pc:docMk/>
            <pc:sldMk cId="0" sldId="386"/>
            <ac:spMk id="2" creationId="{00000000-0000-0000-0000-000000000000}"/>
          </ac:spMkLst>
        </pc:spChg>
        <pc:spChg chg="mod ord">
          <ac:chgData name="John Miller" userId="70e70d2d-fa72-4952-98cf-67858fa4ef7a" providerId="ADAL" clId="{3C0F8D48-B805-4732-975A-89F26263F015}" dt="2026-03-23T02:39:31.336" v="1315" actId="27636"/>
          <ac:spMkLst>
            <pc:docMk/>
            <pc:sldMk cId="0" sldId="386"/>
            <ac:spMk id="3" creationId="{00000000-0000-0000-0000-000000000000}"/>
          </ac:spMkLst>
        </pc:spChg>
        <pc:spChg chg="add mod ord">
          <ac:chgData name="John Miller" userId="70e70d2d-fa72-4952-98cf-67858fa4ef7a" providerId="ADAL" clId="{3C0F8D48-B805-4732-975A-89F26263F015}" dt="2026-03-23T02:39:33.219" v="1316"/>
          <ac:spMkLst>
            <pc:docMk/>
            <pc:sldMk cId="0" sldId="386"/>
            <ac:spMk id="4" creationId="{266054BA-256B-5AB6-6D26-DDBB8FDD7926}"/>
          </ac:spMkLst>
        </pc:spChg>
      </pc:sldChg>
      <pc:sldChg chg="addSp modSp mod ord modClrScheme chgLayout">
        <pc:chgData name="John Miller" userId="70e70d2d-fa72-4952-98cf-67858fa4ef7a" providerId="ADAL" clId="{3C0F8D48-B805-4732-975A-89F26263F015}" dt="2026-03-23T02:42:46.424" v="1361"/>
        <pc:sldMkLst>
          <pc:docMk/>
          <pc:sldMk cId="0" sldId="387"/>
        </pc:sldMkLst>
        <pc:spChg chg="mod ord">
          <ac:chgData name="John Miller" userId="70e70d2d-fa72-4952-98cf-67858fa4ef7a" providerId="ADAL" clId="{3C0F8D48-B805-4732-975A-89F26263F015}" dt="2026-03-23T02:40:21.462" v="1351" actId="700"/>
          <ac:spMkLst>
            <pc:docMk/>
            <pc:sldMk cId="0" sldId="387"/>
            <ac:spMk id="2" creationId="{00000000-0000-0000-0000-000000000000}"/>
          </ac:spMkLst>
        </pc:spChg>
        <pc:spChg chg="mod ord">
          <ac:chgData name="John Miller" userId="70e70d2d-fa72-4952-98cf-67858fa4ef7a" providerId="ADAL" clId="{3C0F8D48-B805-4732-975A-89F26263F015}" dt="2026-03-23T02:40:21.490" v="1353" actId="27636"/>
          <ac:spMkLst>
            <pc:docMk/>
            <pc:sldMk cId="0" sldId="387"/>
            <ac:spMk id="3" creationId="{00000000-0000-0000-0000-000000000000}"/>
          </ac:spMkLst>
        </pc:spChg>
        <pc:spChg chg="add mod ord">
          <ac:chgData name="John Miller" userId="70e70d2d-fa72-4952-98cf-67858fa4ef7a" providerId="ADAL" clId="{3C0F8D48-B805-4732-975A-89F26263F015}" dt="2026-03-23T02:40:23.233" v="1354"/>
          <ac:spMkLst>
            <pc:docMk/>
            <pc:sldMk cId="0" sldId="387"/>
            <ac:spMk id="4" creationId="{4C3EA33D-CBCC-559A-5BD2-AE483FA75B65}"/>
          </ac:spMkLst>
        </pc:spChg>
      </pc:sldChg>
      <pc:sldChg chg="mod modShow">
        <pc:chgData name="John Miller" userId="70e70d2d-fa72-4952-98cf-67858fa4ef7a" providerId="ADAL" clId="{3C0F8D48-B805-4732-975A-89F26263F015}" dt="2026-03-23T02:40:35.426" v="1355" actId="729"/>
        <pc:sldMkLst>
          <pc:docMk/>
          <pc:sldMk cId="0" sldId="388"/>
        </pc:sldMkLst>
      </pc:sldChg>
      <pc:sldChg chg="mod modShow">
        <pc:chgData name="John Miller" userId="70e70d2d-fa72-4952-98cf-67858fa4ef7a" providerId="ADAL" clId="{3C0F8D48-B805-4732-975A-89F26263F015}" dt="2026-03-23T02:43:03.194" v="1362" actId="729"/>
        <pc:sldMkLst>
          <pc:docMk/>
          <pc:sldMk cId="0" sldId="389"/>
        </pc:sldMkLst>
      </pc:sldChg>
      <pc:sldChg chg="modSp mod">
        <pc:chgData name="John Miller" userId="70e70d2d-fa72-4952-98cf-67858fa4ef7a" providerId="ADAL" clId="{3C0F8D48-B805-4732-975A-89F26263F015}" dt="2026-03-23T02:43:27.481" v="1369" actId="15"/>
        <pc:sldMkLst>
          <pc:docMk/>
          <pc:sldMk cId="0" sldId="390"/>
        </pc:sldMkLst>
        <pc:spChg chg="mod">
          <ac:chgData name="John Miller" userId="70e70d2d-fa72-4952-98cf-67858fa4ef7a" providerId="ADAL" clId="{3C0F8D48-B805-4732-975A-89F26263F015}" dt="2026-03-23T02:43:27.481" v="1369" actId="15"/>
          <ac:spMkLst>
            <pc:docMk/>
            <pc:sldMk cId="0" sldId="390"/>
            <ac:spMk id="3" creationId="{00000000-0000-0000-0000-000000000000}"/>
          </ac:spMkLst>
        </pc:spChg>
      </pc:sldChg>
      <pc:sldChg chg="modSp mod modShow">
        <pc:chgData name="John Miller" userId="70e70d2d-fa72-4952-98cf-67858fa4ef7a" providerId="ADAL" clId="{3C0F8D48-B805-4732-975A-89F26263F015}" dt="2026-03-23T02:43:40.765" v="1370" actId="729"/>
        <pc:sldMkLst>
          <pc:docMk/>
          <pc:sldMk cId="0" sldId="391"/>
        </pc:sldMkLst>
        <pc:spChg chg="mod">
          <ac:chgData name="John Miller" userId="70e70d2d-fa72-4952-98cf-67858fa4ef7a" providerId="ADAL" clId="{3C0F8D48-B805-4732-975A-89F26263F015}" dt="2026-03-22T21:48:39.985" v="155" actId="27636"/>
          <ac:spMkLst>
            <pc:docMk/>
            <pc:sldMk cId="0" sldId="391"/>
            <ac:spMk id="3" creationId="{00000000-0000-0000-0000-000000000000}"/>
          </ac:spMkLst>
        </pc:spChg>
      </pc:sldChg>
      <pc:sldChg chg="modSp mod">
        <pc:chgData name="John Miller" userId="70e70d2d-fa72-4952-98cf-67858fa4ef7a" providerId="ADAL" clId="{3C0F8D48-B805-4732-975A-89F26263F015}" dt="2026-03-23T02:43:57.258" v="1380" actId="27636"/>
        <pc:sldMkLst>
          <pc:docMk/>
          <pc:sldMk cId="0" sldId="392"/>
        </pc:sldMkLst>
        <pc:spChg chg="mod">
          <ac:chgData name="John Miller" userId="70e70d2d-fa72-4952-98cf-67858fa4ef7a" providerId="ADAL" clId="{3C0F8D48-B805-4732-975A-89F26263F015}" dt="2026-03-23T02:43:57.258" v="1380" actId="27636"/>
          <ac:spMkLst>
            <pc:docMk/>
            <pc:sldMk cId="0" sldId="392"/>
            <ac:spMk id="3" creationId="{00000000-0000-0000-0000-000000000000}"/>
          </ac:spMkLst>
        </pc:spChg>
      </pc:sldChg>
      <pc:sldChg chg="addSp modSp mod ord modClrScheme chgLayout">
        <pc:chgData name="John Miller" userId="70e70d2d-fa72-4952-98cf-67858fa4ef7a" providerId="ADAL" clId="{3C0F8D48-B805-4732-975A-89F26263F015}" dt="2026-03-23T02:44:57.557" v="1398"/>
        <pc:sldMkLst>
          <pc:docMk/>
          <pc:sldMk cId="0" sldId="393"/>
        </pc:sldMkLst>
        <pc:spChg chg="mod ord">
          <ac:chgData name="John Miller" userId="70e70d2d-fa72-4952-98cf-67858fa4ef7a" providerId="ADAL" clId="{3C0F8D48-B805-4732-975A-89F26263F015}" dt="2026-03-23T02:44:24.550" v="1394" actId="700"/>
          <ac:spMkLst>
            <pc:docMk/>
            <pc:sldMk cId="0" sldId="393"/>
            <ac:spMk id="2" creationId="{00000000-0000-0000-0000-000000000000}"/>
          </ac:spMkLst>
        </pc:spChg>
        <pc:spChg chg="mod ord">
          <ac:chgData name="John Miller" userId="70e70d2d-fa72-4952-98cf-67858fa4ef7a" providerId="ADAL" clId="{3C0F8D48-B805-4732-975A-89F26263F015}" dt="2026-03-23T02:44:34.376" v="1396" actId="6549"/>
          <ac:spMkLst>
            <pc:docMk/>
            <pc:sldMk cId="0" sldId="393"/>
            <ac:spMk id="3" creationId="{00000000-0000-0000-0000-000000000000}"/>
          </ac:spMkLst>
        </pc:spChg>
        <pc:spChg chg="add mod ord">
          <ac:chgData name="John Miller" userId="70e70d2d-fa72-4952-98cf-67858fa4ef7a" providerId="ADAL" clId="{3C0F8D48-B805-4732-975A-89F26263F015}" dt="2026-03-23T02:44:28.591" v="1395"/>
          <ac:spMkLst>
            <pc:docMk/>
            <pc:sldMk cId="0" sldId="393"/>
            <ac:spMk id="4" creationId="{A73F9B89-F98D-6FCD-3AD3-620A4D15C465}"/>
          </ac:spMkLst>
        </pc:spChg>
      </pc:sldChg>
      <pc:sldChg chg="modSp mod">
        <pc:chgData name="John Miller" userId="70e70d2d-fa72-4952-98cf-67858fa4ef7a" providerId="ADAL" clId="{3C0F8D48-B805-4732-975A-89F26263F015}" dt="2026-03-23T02:45:27.450" v="1401" actId="6549"/>
        <pc:sldMkLst>
          <pc:docMk/>
          <pc:sldMk cId="0" sldId="394"/>
        </pc:sldMkLst>
        <pc:spChg chg="mod">
          <ac:chgData name="John Miller" userId="70e70d2d-fa72-4952-98cf-67858fa4ef7a" providerId="ADAL" clId="{3C0F8D48-B805-4732-975A-89F26263F015}" dt="2026-03-23T02:45:14.517" v="1400" actId="20577"/>
          <ac:spMkLst>
            <pc:docMk/>
            <pc:sldMk cId="0" sldId="394"/>
            <ac:spMk id="2" creationId="{00000000-0000-0000-0000-000000000000}"/>
          </ac:spMkLst>
        </pc:spChg>
        <pc:spChg chg="mod">
          <ac:chgData name="John Miller" userId="70e70d2d-fa72-4952-98cf-67858fa4ef7a" providerId="ADAL" clId="{3C0F8D48-B805-4732-975A-89F26263F015}" dt="2026-03-23T02:45:27.450" v="1401" actId="6549"/>
          <ac:spMkLst>
            <pc:docMk/>
            <pc:sldMk cId="0" sldId="394"/>
            <ac:spMk id="3" creationId="{00000000-0000-0000-0000-000000000000}"/>
          </ac:spMkLst>
        </pc:spChg>
      </pc:sldChg>
      <pc:sldChg chg="modSp mod modNotesTx">
        <pc:chgData name="John Miller" userId="70e70d2d-fa72-4952-98cf-67858fa4ef7a" providerId="ADAL" clId="{3C0F8D48-B805-4732-975A-89F26263F015}" dt="2026-03-23T02:48:05.706" v="1457" actId="6549"/>
        <pc:sldMkLst>
          <pc:docMk/>
          <pc:sldMk cId="0" sldId="395"/>
        </pc:sldMkLst>
        <pc:spChg chg="mod">
          <ac:chgData name="John Miller" userId="70e70d2d-fa72-4952-98cf-67858fa4ef7a" providerId="ADAL" clId="{3C0F8D48-B805-4732-975A-89F26263F015}" dt="2026-03-23T02:46:48.613" v="1427" actId="27636"/>
          <ac:spMkLst>
            <pc:docMk/>
            <pc:sldMk cId="0" sldId="395"/>
            <ac:spMk id="2" creationId="{00000000-0000-0000-0000-000000000000}"/>
          </ac:spMkLst>
        </pc:spChg>
        <pc:spChg chg="mod">
          <ac:chgData name="John Miller" userId="70e70d2d-fa72-4952-98cf-67858fa4ef7a" providerId="ADAL" clId="{3C0F8D48-B805-4732-975A-89F26263F015}" dt="2026-03-23T02:48:05.706" v="1457" actId="6549"/>
          <ac:spMkLst>
            <pc:docMk/>
            <pc:sldMk cId="0" sldId="395"/>
            <ac:spMk id="3" creationId="{00000000-0000-0000-0000-000000000000}"/>
          </ac:spMkLst>
        </pc:spChg>
      </pc:sldChg>
      <pc:sldChg chg="modSp mod modNotesTx">
        <pc:chgData name="John Miller" userId="70e70d2d-fa72-4952-98cf-67858fa4ef7a" providerId="ADAL" clId="{3C0F8D48-B805-4732-975A-89F26263F015}" dt="2026-03-23T02:49:42.665" v="1490" actId="6549"/>
        <pc:sldMkLst>
          <pc:docMk/>
          <pc:sldMk cId="0" sldId="396"/>
        </pc:sldMkLst>
        <pc:spChg chg="mod">
          <ac:chgData name="John Miller" userId="70e70d2d-fa72-4952-98cf-67858fa4ef7a" providerId="ADAL" clId="{3C0F8D48-B805-4732-975A-89F26263F015}" dt="2026-03-23T02:48:22.524" v="1459" actId="6549"/>
          <ac:spMkLst>
            <pc:docMk/>
            <pc:sldMk cId="0" sldId="396"/>
            <ac:spMk id="2" creationId="{00000000-0000-0000-0000-000000000000}"/>
          </ac:spMkLst>
        </pc:spChg>
        <pc:spChg chg="mod">
          <ac:chgData name="John Miller" userId="70e70d2d-fa72-4952-98cf-67858fa4ef7a" providerId="ADAL" clId="{3C0F8D48-B805-4732-975A-89F26263F015}" dt="2026-03-23T02:49:21.126" v="1481" actId="27636"/>
          <ac:spMkLst>
            <pc:docMk/>
            <pc:sldMk cId="0" sldId="396"/>
            <ac:spMk id="3" creationId="{00000000-0000-0000-0000-000000000000}"/>
          </ac:spMkLst>
        </pc:spChg>
      </pc:sldChg>
      <pc:sldChg chg="modSp mod ord">
        <pc:chgData name="John Miller" userId="70e70d2d-fa72-4952-98cf-67858fa4ef7a" providerId="ADAL" clId="{3C0F8D48-B805-4732-975A-89F26263F015}" dt="2026-03-23T02:50:18.793" v="1500" actId="6549"/>
        <pc:sldMkLst>
          <pc:docMk/>
          <pc:sldMk cId="0" sldId="397"/>
        </pc:sldMkLst>
        <pc:spChg chg="mod">
          <ac:chgData name="John Miller" userId="70e70d2d-fa72-4952-98cf-67858fa4ef7a" providerId="ADAL" clId="{3C0F8D48-B805-4732-975A-89F26263F015}" dt="2026-03-23T02:50:12.440" v="1497" actId="6549"/>
          <ac:spMkLst>
            <pc:docMk/>
            <pc:sldMk cId="0" sldId="397"/>
            <ac:spMk id="2" creationId="{00000000-0000-0000-0000-000000000000}"/>
          </ac:spMkLst>
        </pc:spChg>
        <pc:spChg chg="mod">
          <ac:chgData name="John Miller" userId="70e70d2d-fa72-4952-98cf-67858fa4ef7a" providerId="ADAL" clId="{3C0F8D48-B805-4732-975A-89F26263F015}" dt="2026-03-23T02:50:18.793" v="1500" actId="6549"/>
          <ac:spMkLst>
            <pc:docMk/>
            <pc:sldMk cId="0" sldId="397"/>
            <ac:spMk id="3" creationId="{00000000-0000-0000-0000-000000000000}"/>
          </ac:spMkLst>
        </pc:spChg>
      </pc:sldChg>
      <pc:sldChg chg="modSp mod">
        <pc:chgData name="John Miller" userId="70e70d2d-fa72-4952-98cf-67858fa4ef7a" providerId="ADAL" clId="{3C0F8D48-B805-4732-975A-89F26263F015}" dt="2026-03-23T02:51:32.313" v="1524" actId="6549"/>
        <pc:sldMkLst>
          <pc:docMk/>
          <pc:sldMk cId="0" sldId="398"/>
        </pc:sldMkLst>
        <pc:spChg chg="mod">
          <ac:chgData name="John Miller" userId="70e70d2d-fa72-4952-98cf-67858fa4ef7a" providerId="ADAL" clId="{3C0F8D48-B805-4732-975A-89F26263F015}" dt="2026-03-23T02:50:49.879" v="1502" actId="20577"/>
          <ac:spMkLst>
            <pc:docMk/>
            <pc:sldMk cId="0" sldId="398"/>
            <ac:spMk id="2" creationId="{00000000-0000-0000-0000-000000000000}"/>
          </ac:spMkLst>
        </pc:spChg>
        <pc:spChg chg="mod">
          <ac:chgData name="John Miller" userId="70e70d2d-fa72-4952-98cf-67858fa4ef7a" providerId="ADAL" clId="{3C0F8D48-B805-4732-975A-89F26263F015}" dt="2026-03-23T02:51:32.313" v="1524" actId="6549"/>
          <ac:spMkLst>
            <pc:docMk/>
            <pc:sldMk cId="0" sldId="398"/>
            <ac:spMk id="3" creationId="{00000000-0000-0000-0000-000000000000}"/>
          </ac:spMkLst>
        </pc:spChg>
      </pc:sldChg>
      <pc:sldChg chg="modSp mod">
        <pc:chgData name="John Miller" userId="70e70d2d-fa72-4952-98cf-67858fa4ef7a" providerId="ADAL" clId="{3C0F8D48-B805-4732-975A-89F26263F015}" dt="2026-03-23T02:52:49.066" v="1549" actId="6549"/>
        <pc:sldMkLst>
          <pc:docMk/>
          <pc:sldMk cId="0" sldId="399"/>
        </pc:sldMkLst>
        <pc:spChg chg="mod">
          <ac:chgData name="John Miller" userId="70e70d2d-fa72-4952-98cf-67858fa4ef7a" providerId="ADAL" clId="{3C0F8D48-B805-4732-975A-89F26263F015}" dt="2026-03-23T02:52:49.066" v="1549" actId="6549"/>
          <ac:spMkLst>
            <pc:docMk/>
            <pc:sldMk cId="0" sldId="399"/>
            <ac:spMk id="3" creationId="{00000000-0000-0000-0000-000000000000}"/>
          </ac:spMkLst>
        </pc:spChg>
      </pc:sldChg>
      <pc:sldChg chg="modSp mod">
        <pc:chgData name="John Miller" userId="70e70d2d-fa72-4952-98cf-67858fa4ef7a" providerId="ADAL" clId="{3C0F8D48-B805-4732-975A-89F26263F015}" dt="2026-03-23T02:53:15.574" v="1561" actId="27636"/>
        <pc:sldMkLst>
          <pc:docMk/>
          <pc:sldMk cId="0" sldId="400"/>
        </pc:sldMkLst>
        <pc:spChg chg="mod">
          <ac:chgData name="John Miller" userId="70e70d2d-fa72-4952-98cf-67858fa4ef7a" providerId="ADAL" clId="{3C0F8D48-B805-4732-975A-89F26263F015}" dt="2026-03-23T02:53:15.574" v="1561" actId="27636"/>
          <ac:spMkLst>
            <pc:docMk/>
            <pc:sldMk cId="0" sldId="400"/>
            <ac:spMk id="3" creationId="{00000000-0000-0000-0000-000000000000}"/>
          </ac:spMkLst>
        </pc:spChg>
      </pc:sldChg>
      <pc:sldChg chg="modSp mod">
        <pc:chgData name="John Miller" userId="70e70d2d-fa72-4952-98cf-67858fa4ef7a" providerId="ADAL" clId="{3C0F8D48-B805-4732-975A-89F26263F015}" dt="2026-03-23T02:53:45.116" v="1568" actId="403"/>
        <pc:sldMkLst>
          <pc:docMk/>
          <pc:sldMk cId="0" sldId="401"/>
        </pc:sldMkLst>
        <pc:graphicFrameChg chg="mod modGraphic">
          <ac:chgData name="John Miller" userId="70e70d2d-fa72-4952-98cf-67858fa4ef7a" providerId="ADAL" clId="{3C0F8D48-B805-4732-975A-89F26263F015}" dt="2026-03-23T02:53:45.116" v="1568" actId="403"/>
          <ac:graphicFrameMkLst>
            <pc:docMk/>
            <pc:sldMk cId="0" sldId="401"/>
            <ac:graphicFrameMk id="3" creationId="{00000000-0000-0000-0000-000000000000}"/>
          </ac:graphicFrameMkLst>
        </pc:graphicFrameChg>
      </pc:sldChg>
      <pc:sldChg chg="modSp mod modShow">
        <pc:chgData name="John Miller" userId="70e70d2d-fa72-4952-98cf-67858fa4ef7a" providerId="ADAL" clId="{3C0F8D48-B805-4732-975A-89F26263F015}" dt="2026-03-23T02:53:54.832" v="1569" actId="729"/>
        <pc:sldMkLst>
          <pc:docMk/>
          <pc:sldMk cId="0" sldId="402"/>
        </pc:sldMkLst>
        <pc:spChg chg="mod">
          <ac:chgData name="John Miller" userId="70e70d2d-fa72-4952-98cf-67858fa4ef7a" providerId="ADAL" clId="{3C0F8D48-B805-4732-975A-89F26263F015}" dt="2026-03-22T21:48:40.304" v="166" actId="27636"/>
          <ac:spMkLst>
            <pc:docMk/>
            <pc:sldMk cId="0" sldId="402"/>
            <ac:spMk id="3" creationId="{00000000-0000-0000-0000-000000000000}"/>
          </ac:spMkLst>
        </pc:spChg>
      </pc:sldChg>
      <pc:sldChg chg="modSp mod modShow">
        <pc:chgData name="John Miller" userId="70e70d2d-fa72-4952-98cf-67858fa4ef7a" providerId="ADAL" clId="{3C0F8D48-B805-4732-975A-89F26263F015}" dt="2026-03-23T02:54:11.231" v="1570" actId="729"/>
        <pc:sldMkLst>
          <pc:docMk/>
          <pc:sldMk cId="0" sldId="403"/>
        </pc:sldMkLst>
        <pc:spChg chg="mod">
          <ac:chgData name="John Miller" userId="70e70d2d-fa72-4952-98cf-67858fa4ef7a" providerId="ADAL" clId="{3C0F8D48-B805-4732-975A-89F26263F015}" dt="2026-03-22T21:48:40.629" v="167" actId="27636"/>
          <ac:spMkLst>
            <pc:docMk/>
            <pc:sldMk cId="0" sldId="403"/>
            <ac:spMk id="3" creationId="{00000000-0000-0000-0000-000000000000}"/>
          </ac:spMkLst>
        </pc:spChg>
      </pc:sldChg>
      <pc:sldChg chg="modSp mod modShow">
        <pc:chgData name="John Miller" userId="70e70d2d-fa72-4952-98cf-67858fa4ef7a" providerId="ADAL" clId="{3C0F8D48-B805-4732-975A-89F26263F015}" dt="2026-03-23T02:54:16.219" v="1571" actId="729"/>
        <pc:sldMkLst>
          <pc:docMk/>
          <pc:sldMk cId="0" sldId="404"/>
        </pc:sldMkLst>
        <pc:spChg chg="mod">
          <ac:chgData name="John Miller" userId="70e70d2d-fa72-4952-98cf-67858fa4ef7a" providerId="ADAL" clId="{3C0F8D48-B805-4732-975A-89F26263F015}" dt="2026-03-22T21:48:40.690" v="168" actId="27636"/>
          <ac:spMkLst>
            <pc:docMk/>
            <pc:sldMk cId="0" sldId="404"/>
            <ac:spMk id="3" creationId="{00000000-0000-0000-0000-000000000000}"/>
          </ac:spMkLst>
        </pc:spChg>
      </pc:sldChg>
      <pc:sldChg chg="modSp mod modShow">
        <pc:chgData name="John Miller" userId="70e70d2d-fa72-4952-98cf-67858fa4ef7a" providerId="ADAL" clId="{3C0F8D48-B805-4732-975A-89F26263F015}" dt="2026-03-23T02:54:28.728" v="1572" actId="729"/>
        <pc:sldMkLst>
          <pc:docMk/>
          <pc:sldMk cId="0" sldId="405"/>
        </pc:sldMkLst>
        <pc:spChg chg="mod">
          <ac:chgData name="John Miller" userId="70e70d2d-fa72-4952-98cf-67858fa4ef7a" providerId="ADAL" clId="{3C0F8D48-B805-4732-975A-89F26263F015}" dt="2026-03-22T21:48:40.733" v="169" actId="27636"/>
          <ac:spMkLst>
            <pc:docMk/>
            <pc:sldMk cId="0" sldId="405"/>
            <ac:spMk id="3" creationId="{00000000-0000-0000-0000-000000000000}"/>
          </ac:spMkLst>
        </pc:spChg>
      </pc:sldChg>
      <pc:sldChg chg="modSp mod">
        <pc:chgData name="John Miller" userId="70e70d2d-fa72-4952-98cf-67858fa4ef7a" providerId="ADAL" clId="{3C0F8D48-B805-4732-975A-89F26263F015}" dt="2026-03-22T21:48:40.754" v="170" actId="27636"/>
        <pc:sldMkLst>
          <pc:docMk/>
          <pc:sldMk cId="0" sldId="406"/>
        </pc:sldMkLst>
        <pc:spChg chg="mod">
          <ac:chgData name="John Miller" userId="70e70d2d-fa72-4952-98cf-67858fa4ef7a" providerId="ADAL" clId="{3C0F8D48-B805-4732-975A-89F26263F015}" dt="2026-03-22T21:48:40.754" v="170" actId="27636"/>
          <ac:spMkLst>
            <pc:docMk/>
            <pc:sldMk cId="0" sldId="406"/>
            <ac:spMk id="3" creationId="{00000000-0000-0000-0000-000000000000}"/>
          </ac:spMkLst>
        </pc:spChg>
      </pc:sldChg>
      <pc:sldChg chg="modSp mod modShow">
        <pc:chgData name="John Miller" userId="70e70d2d-fa72-4952-98cf-67858fa4ef7a" providerId="ADAL" clId="{3C0F8D48-B805-4732-975A-89F26263F015}" dt="2026-03-23T02:55:08.578" v="1573" actId="729"/>
        <pc:sldMkLst>
          <pc:docMk/>
          <pc:sldMk cId="0" sldId="407"/>
        </pc:sldMkLst>
        <pc:spChg chg="mod">
          <ac:chgData name="John Miller" userId="70e70d2d-fa72-4952-98cf-67858fa4ef7a" providerId="ADAL" clId="{3C0F8D48-B805-4732-975A-89F26263F015}" dt="2026-03-22T21:48:40.805" v="171" actId="27636"/>
          <ac:spMkLst>
            <pc:docMk/>
            <pc:sldMk cId="0" sldId="407"/>
            <ac:spMk id="3" creationId="{00000000-0000-0000-0000-000000000000}"/>
          </ac:spMkLst>
        </pc:spChg>
      </pc:sldChg>
      <pc:sldChg chg="modSp mod modShow">
        <pc:chgData name="John Miller" userId="70e70d2d-fa72-4952-98cf-67858fa4ef7a" providerId="ADAL" clId="{3C0F8D48-B805-4732-975A-89F26263F015}" dt="2026-03-23T02:55:11.251" v="1574" actId="729"/>
        <pc:sldMkLst>
          <pc:docMk/>
          <pc:sldMk cId="0" sldId="408"/>
        </pc:sldMkLst>
        <pc:spChg chg="mod">
          <ac:chgData name="John Miller" userId="70e70d2d-fa72-4952-98cf-67858fa4ef7a" providerId="ADAL" clId="{3C0F8D48-B805-4732-975A-89F26263F015}" dt="2026-03-22T21:48:40.830" v="172" actId="27636"/>
          <ac:spMkLst>
            <pc:docMk/>
            <pc:sldMk cId="0" sldId="408"/>
            <ac:spMk id="3" creationId="{00000000-0000-0000-0000-000000000000}"/>
          </ac:spMkLst>
        </pc:spChg>
      </pc:sldChg>
      <pc:sldChg chg="mod modShow">
        <pc:chgData name="John Miller" userId="70e70d2d-fa72-4952-98cf-67858fa4ef7a" providerId="ADAL" clId="{3C0F8D48-B805-4732-975A-89F26263F015}" dt="2026-03-23T02:55:16.626" v="1575" actId="729"/>
        <pc:sldMkLst>
          <pc:docMk/>
          <pc:sldMk cId="0" sldId="409"/>
        </pc:sldMkLst>
      </pc:sldChg>
      <pc:sldChg chg="mod modShow">
        <pc:chgData name="John Miller" userId="70e70d2d-fa72-4952-98cf-67858fa4ef7a" providerId="ADAL" clId="{3C0F8D48-B805-4732-975A-89F26263F015}" dt="2026-03-23T02:56:21.220" v="1576" actId="729"/>
        <pc:sldMkLst>
          <pc:docMk/>
          <pc:sldMk cId="0" sldId="410"/>
        </pc:sldMkLst>
      </pc:sldChg>
      <pc:sldChg chg="modSp mod">
        <pc:chgData name="John Miller" userId="70e70d2d-fa72-4952-98cf-67858fa4ef7a" providerId="ADAL" clId="{3C0F8D48-B805-4732-975A-89F26263F015}" dt="2026-03-22T21:48:40.837" v="173" actId="27636"/>
        <pc:sldMkLst>
          <pc:docMk/>
          <pc:sldMk cId="0" sldId="411"/>
        </pc:sldMkLst>
        <pc:spChg chg="mod">
          <ac:chgData name="John Miller" userId="70e70d2d-fa72-4952-98cf-67858fa4ef7a" providerId="ADAL" clId="{3C0F8D48-B805-4732-975A-89F26263F015}" dt="2026-03-22T21:48:40.837" v="173" actId="27636"/>
          <ac:spMkLst>
            <pc:docMk/>
            <pc:sldMk cId="0" sldId="411"/>
            <ac:spMk id="2" creationId="{00000000-0000-0000-0000-000000000000}"/>
          </ac:spMkLst>
        </pc:spChg>
      </pc:sldChg>
      <pc:sldChg chg="modSp mod">
        <pc:chgData name="John Miller" userId="70e70d2d-fa72-4952-98cf-67858fa4ef7a" providerId="ADAL" clId="{3C0F8D48-B805-4732-975A-89F26263F015}" dt="2026-03-22T21:48:40.849" v="175" actId="27636"/>
        <pc:sldMkLst>
          <pc:docMk/>
          <pc:sldMk cId="0" sldId="412"/>
        </pc:sldMkLst>
        <pc:spChg chg="mod">
          <ac:chgData name="John Miller" userId="70e70d2d-fa72-4952-98cf-67858fa4ef7a" providerId="ADAL" clId="{3C0F8D48-B805-4732-975A-89F26263F015}" dt="2026-03-22T21:48:40.849" v="175" actId="27636"/>
          <ac:spMkLst>
            <pc:docMk/>
            <pc:sldMk cId="0" sldId="412"/>
            <ac:spMk id="2" creationId="{00000000-0000-0000-0000-000000000000}"/>
          </ac:spMkLst>
        </pc:spChg>
        <pc:spChg chg="mod">
          <ac:chgData name="John Miller" userId="70e70d2d-fa72-4952-98cf-67858fa4ef7a" providerId="ADAL" clId="{3C0F8D48-B805-4732-975A-89F26263F015}" dt="2026-03-22T21:48:40.847" v="174" actId="27636"/>
          <ac:spMkLst>
            <pc:docMk/>
            <pc:sldMk cId="0" sldId="412"/>
            <ac:spMk id="3" creationId="{00000000-0000-0000-0000-000000000000}"/>
          </ac:spMkLst>
        </pc:spChg>
      </pc:sldChg>
      <pc:sldChg chg="modSp mod">
        <pc:chgData name="John Miller" userId="70e70d2d-fa72-4952-98cf-67858fa4ef7a" providerId="ADAL" clId="{3C0F8D48-B805-4732-975A-89F26263F015}" dt="2026-03-23T02:57:08.460" v="1583" actId="27636"/>
        <pc:sldMkLst>
          <pc:docMk/>
          <pc:sldMk cId="0" sldId="413"/>
        </pc:sldMkLst>
        <pc:spChg chg="mod">
          <ac:chgData name="John Miller" userId="70e70d2d-fa72-4952-98cf-67858fa4ef7a" providerId="ADAL" clId="{3C0F8D48-B805-4732-975A-89F26263F015}" dt="2026-03-22T21:48:40.862" v="177" actId="27636"/>
          <ac:spMkLst>
            <pc:docMk/>
            <pc:sldMk cId="0" sldId="413"/>
            <ac:spMk id="2" creationId="{00000000-0000-0000-0000-000000000000}"/>
          </ac:spMkLst>
        </pc:spChg>
        <pc:spChg chg="mod">
          <ac:chgData name="John Miller" userId="70e70d2d-fa72-4952-98cf-67858fa4ef7a" providerId="ADAL" clId="{3C0F8D48-B805-4732-975A-89F26263F015}" dt="2026-03-23T02:57:08.460" v="1583" actId="27636"/>
          <ac:spMkLst>
            <pc:docMk/>
            <pc:sldMk cId="0" sldId="413"/>
            <ac:spMk id="3" creationId="{00000000-0000-0000-0000-000000000000}"/>
          </ac:spMkLst>
        </pc:spChg>
      </pc:sldChg>
      <pc:sldChg chg="modSp mod modShow">
        <pc:chgData name="John Miller" userId="70e70d2d-fa72-4952-98cf-67858fa4ef7a" providerId="ADAL" clId="{3C0F8D48-B805-4732-975A-89F26263F015}" dt="2026-03-23T02:57:19.183" v="1584" actId="729"/>
        <pc:sldMkLst>
          <pc:docMk/>
          <pc:sldMk cId="0" sldId="414"/>
        </pc:sldMkLst>
        <pc:spChg chg="mod">
          <ac:chgData name="John Miller" userId="70e70d2d-fa72-4952-98cf-67858fa4ef7a" providerId="ADAL" clId="{3C0F8D48-B805-4732-975A-89F26263F015}" dt="2026-03-22T21:48:40.885" v="178" actId="27636"/>
          <ac:spMkLst>
            <pc:docMk/>
            <pc:sldMk cId="0" sldId="414"/>
            <ac:spMk id="3" creationId="{00000000-0000-0000-0000-000000000000}"/>
          </ac:spMkLst>
        </pc:spChg>
      </pc:sldChg>
      <pc:sldChg chg="modSp mod modShow">
        <pc:chgData name="John Miller" userId="70e70d2d-fa72-4952-98cf-67858fa4ef7a" providerId="ADAL" clId="{3C0F8D48-B805-4732-975A-89F26263F015}" dt="2026-03-23T02:57:28.968" v="1585" actId="729"/>
        <pc:sldMkLst>
          <pc:docMk/>
          <pc:sldMk cId="0" sldId="415"/>
        </pc:sldMkLst>
        <pc:spChg chg="mod">
          <ac:chgData name="John Miller" userId="70e70d2d-fa72-4952-98cf-67858fa4ef7a" providerId="ADAL" clId="{3C0F8D48-B805-4732-975A-89F26263F015}" dt="2026-03-22T21:48:40.893" v="179" actId="27636"/>
          <ac:spMkLst>
            <pc:docMk/>
            <pc:sldMk cId="0" sldId="415"/>
            <ac:spMk id="2" creationId="{00000000-0000-0000-0000-000000000000}"/>
          </ac:spMkLst>
        </pc:spChg>
        <pc:spChg chg="mod">
          <ac:chgData name="John Miller" userId="70e70d2d-fa72-4952-98cf-67858fa4ef7a" providerId="ADAL" clId="{3C0F8D48-B805-4732-975A-89F26263F015}" dt="2026-03-22T21:48:40.902" v="180" actId="27636"/>
          <ac:spMkLst>
            <pc:docMk/>
            <pc:sldMk cId="0" sldId="415"/>
            <ac:spMk id="3" creationId="{00000000-0000-0000-0000-000000000000}"/>
          </ac:spMkLst>
        </pc:spChg>
      </pc:sldChg>
      <pc:sldChg chg="modSp mod modShow">
        <pc:chgData name="John Miller" userId="70e70d2d-fa72-4952-98cf-67858fa4ef7a" providerId="ADAL" clId="{3C0F8D48-B805-4732-975A-89F26263F015}" dt="2026-03-23T02:57:45.823" v="1586" actId="729"/>
        <pc:sldMkLst>
          <pc:docMk/>
          <pc:sldMk cId="0" sldId="416"/>
        </pc:sldMkLst>
        <pc:spChg chg="mod">
          <ac:chgData name="John Miller" userId="70e70d2d-fa72-4952-98cf-67858fa4ef7a" providerId="ADAL" clId="{3C0F8D48-B805-4732-975A-89F26263F015}" dt="2026-03-22T21:48:40.917" v="182" actId="27636"/>
          <ac:spMkLst>
            <pc:docMk/>
            <pc:sldMk cId="0" sldId="416"/>
            <ac:spMk id="2" creationId="{00000000-0000-0000-0000-000000000000}"/>
          </ac:spMkLst>
        </pc:spChg>
        <pc:spChg chg="mod">
          <ac:chgData name="John Miller" userId="70e70d2d-fa72-4952-98cf-67858fa4ef7a" providerId="ADAL" clId="{3C0F8D48-B805-4732-975A-89F26263F015}" dt="2026-03-22T21:48:40.916" v="181" actId="27636"/>
          <ac:spMkLst>
            <pc:docMk/>
            <pc:sldMk cId="0" sldId="416"/>
            <ac:spMk id="3" creationId="{00000000-0000-0000-0000-000000000000}"/>
          </ac:spMkLst>
        </pc:spChg>
      </pc:sldChg>
      <pc:sldChg chg="mod modShow">
        <pc:chgData name="John Miller" userId="70e70d2d-fa72-4952-98cf-67858fa4ef7a" providerId="ADAL" clId="{3C0F8D48-B805-4732-975A-89F26263F015}" dt="2026-03-23T02:57:57.537" v="1587" actId="729"/>
        <pc:sldMkLst>
          <pc:docMk/>
          <pc:sldMk cId="0" sldId="417"/>
        </pc:sldMkLst>
      </pc:sldChg>
      <pc:sldChg chg="addSp modSp mod modClrScheme chgLayout">
        <pc:chgData name="John Miller" userId="70e70d2d-fa72-4952-98cf-67858fa4ef7a" providerId="ADAL" clId="{3C0F8D48-B805-4732-975A-89F26263F015}" dt="2026-03-23T02:59:13.957" v="1615"/>
        <pc:sldMkLst>
          <pc:docMk/>
          <pc:sldMk cId="0" sldId="418"/>
        </pc:sldMkLst>
        <pc:spChg chg="mod ord">
          <ac:chgData name="John Miller" userId="70e70d2d-fa72-4952-98cf-67858fa4ef7a" providerId="ADAL" clId="{3C0F8D48-B805-4732-975A-89F26263F015}" dt="2026-03-23T02:58:05.689" v="1588" actId="700"/>
          <ac:spMkLst>
            <pc:docMk/>
            <pc:sldMk cId="0" sldId="418"/>
            <ac:spMk id="2" creationId="{00000000-0000-0000-0000-000000000000}"/>
          </ac:spMkLst>
        </pc:spChg>
        <pc:spChg chg="mod ord">
          <ac:chgData name="John Miller" userId="70e70d2d-fa72-4952-98cf-67858fa4ef7a" providerId="ADAL" clId="{3C0F8D48-B805-4732-975A-89F26263F015}" dt="2026-03-23T02:59:10.193" v="1614" actId="27636"/>
          <ac:spMkLst>
            <pc:docMk/>
            <pc:sldMk cId="0" sldId="418"/>
            <ac:spMk id="3" creationId="{00000000-0000-0000-0000-000000000000}"/>
          </ac:spMkLst>
        </pc:spChg>
        <pc:spChg chg="add mod ord">
          <ac:chgData name="John Miller" userId="70e70d2d-fa72-4952-98cf-67858fa4ef7a" providerId="ADAL" clId="{3C0F8D48-B805-4732-975A-89F26263F015}" dt="2026-03-23T02:59:13.957" v="1615"/>
          <ac:spMkLst>
            <pc:docMk/>
            <pc:sldMk cId="0" sldId="418"/>
            <ac:spMk id="4" creationId="{2205F32E-3CE1-A082-475F-316E5C11DE2B}"/>
          </ac:spMkLst>
        </pc:spChg>
      </pc:sldChg>
      <pc:sldChg chg="mod modShow">
        <pc:chgData name="John Miller" userId="70e70d2d-fa72-4952-98cf-67858fa4ef7a" providerId="ADAL" clId="{3C0F8D48-B805-4732-975A-89F26263F015}" dt="2026-03-23T02:59:26.267" v="1616" actId="729"/>
        <pc:sldMkLst>
          <pc:docMk/>
          <pc:sldMk cId="0" sldId="420"/>
        </pc:sldMkLst>
      </pc:sldChg>
      <pc:sldChg chg="modSp mod">
        <pc:chgData name="John Miller" userId="70e70d2d-fa72-4952-98cf-67858fa4ef7a" providerId="ADAL" clId="{3C0F8D48-B805-4732-975A-89F26263F015}" dt="2026-03-22T21:48:40.993" v="185" actId="27636"/>
        <pc:sldMkLst>
          <pc:docMk/>
          <pc:sldMk cId="0" sldId="422"/>
        </pc:sldMkLst>
        <pc:spChg chg="mod">
          <ac:chgData name="John Miller" userId="70e70d2d-fa72-4952-98cf-67858fa4ef7a" providerId="ADAL" clId="{3C0F8D48-B805-4732-975A-89F26263F015}" dt="2026-03-22T21:48:40.993" v="185" actId="27636"/>
          <ac:spMkLst>
            <pc:docMk/>
            <pc:sldMk cId="0" sldId="422"/>
            <ac:spMk id="2" creationId="{00000000-0000-0000-0000-000000000000}"/>
          </ac:spMkLst>
        </pc:spChg>
      </pc:sldChg>
      <pc:sldChg chg="modSp mod">
        <pc:chgData name="John Miller" userId="70e70d2d-fa72-4952-98cf-67858fa4ef7a" providerId="ADAL" clId="{3C0F8D48-B805-4732-975A-89F26263F015}" dt="2026-03-22T21:48:41.009" v="187" actId="27636"/>
        <pc:sldMkLst>
          <pc:docMk/>
          <pc:sldMk cId="0" sldId="424"/>
        </pc:sldMkLst>
        <pc:spChg chg="mod">
          <ac:chgData name="John Miller" userId="70e70d2d-fa72-4952-98cf-67858fa4ef7a" providerId="ADAL" clId="{3C0F8D48-B805-4732-975A-89F26263F015}" dt="2026-03-22T21:48:41" v="186" actId="27636"/>
          <ac:spMkLst>
            <pc:docMk/>
            <pc:sldMk cId="0" sldId="424"/>
            <ac:spMk id="2" creationId="{00000000-0000-0000-0000-000000000000}"/>
          </ac:spMkLst>
        </pc:spChg>
        <pc:spChg chg="mod">
          <ac:chgData name="John Miller" userId="70e70d2d-fa72-4952-98cf-67858fa4ef7a" providerId="ADAL" clId="{3C0F8D48-B805-4732-975A-89F26263F015}" dt="2026-03-22T21:48:41.009" v="187" actId="27636"/>
          <ac:spMkLst>
            <pc:docMk/>
            <pc:sldMk cId="0" sldId="424"/>
            <ac:spMk id="3" creationId="{00000000-0000-0000-0000-000000000000}"/>
          </ac:spMkLst>
        </pc:spChg>
      </pc:sldChg>
      <pc:sldChg chg="modSp mod">
        <pc:chgData name="John Miller" userId="70e70d2d-fa72-4952-98cf-67858fa4ef7a" providerId="ADAL" clId="{3C0F8D48-B805-4732-975A-89F26263F015}" dt="2026-03-22T21:48:41.014" v="188" actId="27636"/>
        <pc:sldMkLst>
          <pc:docMk/>
          <pc:sldMk cId="0" sldId="425"/>
        </pc:sldMkLst>
        <pc:spChg chg="mod">
          <ac:chgData name="John Miller" userId="70e70d2d-fa72-4952-98cf-67858fa4ef7a" providerId="ADAL" clId="{3C0F8D48-B805-4732-975A-89F26263F015}" dt="2026-03-22T21:48:41.014" v="188" actId="27636"/>
          <ac:spMkLst>
            <pc:docMk/>
            <pc:sldMk cId="0" sldId="425"/>
            <ac:spMk id="2" creationId="{00000000-0000-0000-0000-000000000000}"/>
          </ac:spMkLst>
        </pc:spChg>
      </pc:sldChg>
      <pc:sldChg chg="modSp mod">
        <pc:chgData name="John Miller" userId="70e70d2d-fa72-4952-98cf-67858fa4ef7a" providerId="ADAL" clId="{3C0F8D48-B805-4732-975A-89F26263F015}" dt="2026-03-23T03:00:22.379" v="1624" actId="27636"/>
        <pc:sldMkLst>
          <pc:docMk/>
          <pc:sldMk cId="0" sldId="426"/>
        </pc:sldMkLst>
        <pc:spChg chg="mod">
          <ac:chgData name="John Miller" userId="70e70d2d-fa72-4952-98cf-67858fa4ef7a" providerId="ADAL" clId="{3C0F8D48-B805-4732-975A-89F26263F015}" dt="2026-03-23T03:00:22.379" v="1624" actId="27636"/>
          <ac:spMkLst>
            <pc:docMk/>
            <pc:sldMk cId="0" sldId="426"/>
            <ac:spMk id="3" creationId="{00000000-0000-0000-0000-000000000000}"/>
          </ac:spMkLst>
        </pc:spChg>
      </pc:sldChg>
      <pc:sldChg chg="modSp mod">
        <pc:chgData name="John Miller" userId="70e70d2d-fa72-4952-98cf-67858fa4ef7a" providerId="ADAL" clId="{3C0F8D48-B805-4732-975A-89F26263F015}" dt="2026-03-22T21:48:41.043" v="190" actId="27636"/>
        <pc:sldMkLst>
          <pc:docMk/>
          <pc:sldMk cId="0" sldId="427"/>
        </pc:sldMkLst>
        <pc:spChg chg="mod">
          <ac:chgData name="John Miller" userId="70e70d2d-fa72-4952-98cf-67858fa4ef7a" providerId="ADAL" clId="{3C0F8D48-B805-4732-975A-89F26263F015}" dt="2026-03-22T21:48:41.043" v="190" actId="27636"/>
          <ac:spMkLst>
            <pc:docMk/>
            <pc:sldMk cId="0" sldId="427"/>
            <ac:spMk id="2" creationId="{00000000-0000-0000-0000-000000000000}"/>
          </ac:spMkLst>
        </pc:spChg>
      </pc:sldChg>
      <pc:sldChg chg="modSp mod">
        <pc:chgData name="John Miller" userId="70e70d2d-fa72-4952-98cf-67858fa4ef7a" providerId="ADAL" clId="{3C0F8D48-B805-4732-975A-89F26263F015}" dt="2026-03-23T03:00:58.455" v="1631" actId="27636"/>
        <pc:sldMkLst>
          <pc:docMk/>
          <pc:sldMk cId="0" sldId="428"/>
        </pc:sldMkLst>
        <pc:spChg chg="mod">
          <ac:chgData name="John Miller" userId="70e70d2d-fa72-4952-98cf-67858fa4ef7a" providerId="ADAL" clId="{3C0F8D48-B805-4732-975A-89F26263F015}" dt="2026-03-23T03:00:58.455" v="1631" actId="27636"/>
          <ac:spMkLst>
            <pc:docMk/>
            <pc:sldMk cId="0" sldId="428"/>
            <ac:spMk id="3" creationId="{00000000-0000-0000-0000-000000000000}"/>
          </ac:spMkLst>
        </pc:spChg>
      </pc:sldChg>
      <pc:sldChg chg="modSp mod modShow">
        <pc:chgData name="John Miller" userId="70e70d2d-fa72-4952-98cf-67858fa4ef7a" providerId="ADAL" clId="{3C0F8D48-B805-4732-975A-89F26263F015}" dt="2026-03-23T03:01:12.818" v="1632" actId="729"/>
        <pc:sldMkLst>
          <pc:docMk/>
          <pc:sldMk cId="0" sldId="429"/>
        </pc:sldMkLst>
        <pc:spChg chg="mod">
          <ac:chgData name="John Miller" userId="70e70d2d-fa72-4952-98cf-67858fa4ef7a" providerId="ADAL" clId="{3C0F8D48-B805-4732-975A-89F26263F015}" dt="2026-03-22T21:48:41.063" v="192" actId="27636"/>
          <ac:spMkLst>
            <pc:docMk/>
            <pc:sldMk cId="0" sldId="429"/>
            <ac:spMk id="2" creationId="{00000000-0000-0000-0000-000000000000}"/>
          </ac:spMkLst>
        </pc:spChg>
        <pc:spChg chg="mod">
          <ac:chgData name="John Miller" userId="70e70d2d-fa72-4952-98cf-67858fa4ef7a" providerId="ADAL" clId="{3C0F8D48-B805-4732-975A-89F26263F015}" dt="2026-03-22T21:48:41.089" v="193" actId="27636"/>
          <ac:spMkLst>
            <pc:docMk/>
            <pc:sldMk cId="0" sldId="429"/>
            <ac:spMk id="3" creationId="{00000000-0000-0000-0000-000000000000}"/>
          </ac:spMkLst>
        </pc:spChg>
      </pc:sldChg>
      <pc:sldChg chg="modSp mod">
        <pc:chgData name="John Miller" userId="70e70d2d-fa72-4952-98cf-67858fa4ef7a" providerId="ADAL" clId="{3C0F8D48-B805-4732-975A-89F26263F015}" dt="2026-03-23T03:01:55.075" v="1657" actId="20577"/>
        <pc:sldMkLst>
          <pc:docMk/>
          <pc:sldMk cId="0" sldId="430"/>
        </pc:sldMkLst>
        <pc:spChg chg="mod">
          <ac:chgData name="John Miller" userId="70e70d2d-fa72-4952-98cf-67858fa4ef7a" providerId="ADAL" clId="{3C0F8D48-B805-4732-975A-89F26263F015}" dt="2026-03-22T21:48:41.094" v="194" actId="27636"/>
          <ac:spMkLst>
            <pc:docMk/>
            <pc:sldMk cId="0" sldId="430"/>
            <ac:spMk id="2" creationId="{00000000-0000-0000-0000-000000000000}"/>
          </ac:spMkLst>
        </pc:spChg>
        <pc:spChg chg="mod">
          <ac:chgData name="John Miller" userId="70e70d2d-fa72-4952-98cf-67858fa4ef7a" providerId="ADAL" clId="{3C0F8D48-B805-4732-975A-89F26263F015}" dt="2026-03-23T03:01:55.075" v="1657" actId="20577"/>
          <ac:spMkLst>
            <pc:docMk/>
            <pc:sldMk cId="0" sldId="430"/>
            <ac:spMk id="3" creationId="{00000000-0000-0000-0000-000000000000}"/>
          </ac:spMkLst>
        </pc:spChg>
      </pc:sldChg>
      <pc:sldChg chg="modSp mod">
        <pc:chgData name="John Miller" userId="70e70d2d-fa72-4952-98cf-67858fa4ef7a" providerId="ADAL" clId="{3C0F8D48-B805-4732-975A-89F26263F015}" dt="2026-03-23T03:02:23.332" v="1665" actId="27636"/>
        <pc:sldMkLst>
          <pc:docMk/>
          <pc:sldMk cId="0" sldId="431"/>
        </pc:sldMkLst>
        <pc:spChg chg="mod">
          <ac:chgData name="John Miller" userId="70e70d2d-fa72-4952-98cf-67858fa4ef7a" providerId="ADAL" clId="{3C0F8D48-B805-4732-975A-89F26263F015}" dt="2026-03-23T03:02:23.332" v="1665" actId="27636"/>
          <ac:spMkLst>
            <pc:docMk/>
            <pc:sldMk cId="0" sldId="431"/>
            <ac:spMk id="3" creationId="{00000000-0000-0000-0000-000000000000}"/>
          </ac:spMkLst>
        </pc:spChg>
      </pc:sldChg>
      <pc:sldChg chg="modSp mod modShow">
        <pc:chgData name="John Miller" userId="70e70d2d-fa72-4952-98cf-67858fa4ef7a" providerId="ADAL" clId="{3C0F8D48-B805-4732-975A-89F26263F015}" dt="2026-03-23T03:02:51.926" v="1666" actId="729"/>
        <pc:sldMkLst>
          <pc:docMk/>
          <pc:sldMk cId="0" sldId="432"/>
        </pc:sldMkLst>
        <pc:spChg chg="mod">
          <ac:chgData name="John Miller" userId="70e70d2d-fa72-4952-98cf-67858fa4ef7a" providerId="ADAL" clId="{3C0F8D48-B805-4732-975A-89F26263F015}" dt="2026-03-22T21:48:41.138" v="197" actId="27636"/>
          <ac:spMkLst>
            <pc:docMk/>
            <pc:sldMk cId="0" sldId="432"/>
            <ac:spMk id="3" creationId="{00000000-0000-0000-0000-000000000000}"/>
          </ac:spMkLst>
        </pc:spChg>
      </pc:sldChg>
      <pc:sldChg chg="add modNotesTx">
        <pc:chgData name="John Miller" userId="70e70d2d-fa72-4952-98cf-67858fa4ef7a" providerId="ADAL" clId="{3C0F8D48-B805-4732-975A-89F26263F015}" dt="2026-03-22T21:49:12.618" v="204" actId="20577"/>
        <pc:sldMkLst>
          <pc:docMk/>
          <pc:sldMk cId="3914607603" sldId="2141411852"/>
        </pc:sldMkLst>
      </pc:sldChg>
      <pc:sldChg chg="modSp add">
        <pc:chgData name="John Miller" userId="70e70d2d-fa72-4952-98cf-67858fa4ef7a" providerId="ADAL" clId="{3C0F8D48-B805-4732-975A-89F26263F015}" dt="2026-03-23T02:04:15.417" v="965"/>
        <pc:sldMkLst>
          <pc:docMk/>
          <pc:sldMk cId="0" sldId="2141411853"/>
        </pc:sldMkLst>
        <pc:spChg chg="mod">
          <ac:chgData name="John Miller" userId="70e70d2d-fa72-4952-98cf-67858fa4ef7a" providerId="ADAL" clId="{3C0F8D48-B805-4732-975A-89F26263F015}" dt="2026-03-23T02:04:15.417" v="965"/>
          <ac:spMkLst>
            <pc:docMk/>
            <pc:sldMk cId="0" sldId="2141411853"/>
            <ac:spMk id="4" creationId="{EE15C421-1FEB-44BA-7370-3687D6CF573B}"/>
          </ac:spMkLst>
        </pc:spChg>
      </pc:sldChg>
      <pc:sldChg chg="modSp add">
        <pc:chgData name="John Miller" userId="70e70d2d-fa72-4952-98cf-67858fa4ef7a" providerId="ADAL" clId="{3C0F8D48-B805-4732-975A-89F26263F015}" dt="2026-03-23T02:04:15.417" v="965"/>
        <pc:sldMkLst>
          <pc:docMk/>
          <pc:sldMk cId="0" sldId="2141411854"/>
        </pc:sldMkLst>
        <pc:spChg chg="mod">
          <ac:chgData name="John Miller" userId="70e70d2d-fa72-4952-98cf-67858fa4ef7a" providerId="ADAL" clId="{3C0F8D48-B805-4732-975A-89F26263F015}" dt="2026-03-23T02:04:15.417" v="965"/>
          <ac:spMkLst>
            <pc:docMk/>
            <pc:sldMk cId="0" sldId="2141411854"/>
            <ac:spMk id="3" creationId="{00000000-0000-0000-0000-000000000000}"/>
          </ac:spMkLst>
        </pc:spChg>
        <pc:spChg chg="mod">
          <ac:chgData name="John Miller" userId="70e70d2d-fa72-4952-98cf-67858fa4ef7a" providerId="ADAL" clId="{3C0F8D48-B805-4732-975A-89F26263F015}" dt="2026-03-23T02:04:15.417" v="965"/>
          <ac:spMkLst>
            <pc:docMk/>
            <pc:sldMk cId="0" sldId="2141411854"/>
            <ac:spMk id="4" creationId="{6AC87856-8EF6-EC84-6433-57263D81079F}"/>
          </ac:spMkLst>
        </pc:spChg>
      </pc:sldChg>
      <pc:sldChg chg="add">
        <pc:chgData name="John Miller" userId="70e70d2d-fa72-4952-98cf-67858fa4ef7a" providerId="ADAL" clId="{3C0F8D48-B805-4732-975A-89F26263F015}" dt="2026-03-23T00:13:50.971" v="308"/>
        <pc:sldMkLst>
          <pc:docMk/>
          <pc:sldMk cId="0" sldId="2141411855"/>
        </pc:sldMkLst>
      </pc:sldChg>
      <pc:sldChg chg="add">
        <pc:chgData name="John Miller" userId="70e70d2d-fa72-4952-98cf-67858fa4ef7a" providerId="ADAL" clId="{3C0F8D48-B805-4732-975A-89F26263F015}" dt="2026-03-23T00:13:50.971" v="308"/>
        <pc:sldMkLst>
          <pc:docMk/>
          <pc:sldMk cId="0" sldId="21414118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participants to the AI Assisted Software Development course. This is your opening slide, so set a positive and engaging tone. Introduce the course name and tagline "From Code to Copilot" which emphasizes the journey from traditional software development to AI-augmented practices.</a:t>
            </a:r>
          </a:p>
          <a:p>
            <a:endParaRPr/>
          </a:p>
          <a:p>
            <a:r>
              <a:t>Key talking points:</a:t>
            </a:r>
          </a:p>
          <a:p>
            <a:endParaRPr/>
          </a:p>
          <a:p>
            <a:r>
              <a:t>- Express enthusiasm about the learning journey ahead</a:t>
            </a:r>
          </a:p>
          <a:p>
            <a:r>
              <a:t>- Acknowledge the transformative nature of AI in software development</a:t>
            </a:r>
          </a:p>
          <a:p>
            <a:r>
              <a:t>- Set expectations that this will be hands-on and practical</a:t>
            </a:r>
          </a:p>
          <a:p>
            <a:r>
              <a:t>- Encourage questions and participation throughout</a:t>
            </a:r>
          </a:p>
          <a:p>
            <a:endParaRPr/>
          </a:p>
          <a:p>
            <a:r>
              <a:t>Transition: "Let's start by introducing ourselves..."</a:t>
            </a:r>
          </a:p>
          <a:p>
            <a:endParaRPr/>
          </a:p>
          <a:p>
            <a:r>
              <a:t>---</a:t>
            </a:r>
          </a:p>
          <a:p>
            <a:endParaRPr/>
          </a:p>
          <a:p>
            <a:r>
              <a:t>Source: Slides\individual-slides\welcome-to-aiasd.md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John Michael Miller is a Principal Software Engineer at CODE with over 15 years of experience in software development. He has held various roles including developer, architect, DevOps engineer, platform engineer, test architect, and release manager. John is an AI/ML enthusiast and advocates for effectively using AI to write code. You can connect with him on LinkedIn, reach out via email, or read his blog posts on AI-assisted software development.</a:t>
            </a:r>
          </a:p>
          <a:p>
            <a:r>
              <a:t>- [AI Practitioner Resources](codemag.com/aipractitioner)</a:t>
            </a:r>
          </a:p>
          <a:p>
            <a:endParaRPr/>
          </a:p>
          <a:p>
            <a:r>
              <a:t>---</a:t>
            </a:r>
          </a:p>
          <a:p>
            <a:endParaRPr/>
          </a:p>
          <a:p>
            <a:r>
              <a:t>Source: Slides\individual-slides\john-michael-miller-intro.md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One: Outline the day's goals and emphasize participation and hands-on exercises.</a:t>
            </a:r>
          </a:p>
          <a:p>
            <a:endParaRPr/>
          </a:p>
          <a:p>
            <a:r>
              <a:t>---</a:t>
            </a:r>
          </a:p>
          <a:p>
            <a:endParaRPr/>
          </a:p>
          <a:p>
            <a:r>
              <a:t>Source: Slides\individual-slides\introductions.md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a:p>
            <a:endParaRPr dirty="0"/>
          </a:p>
          <a:p>
            <a:r>
              <a:rPr dirty="0"/>
              <a:t>---</a:t>
            </a:r>
          </a:p>
          <a:p>
            <a:endParaRPr dirty="0"/>
          </a:p>
          <a:p>
            <a:r>
              <a:rPr dirty="0"/>
              <a:t>Source: Slides\individual-slides\about-code.md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a:p>
            <a:endParaRPr lang="en-US" dirty="0"/>
          </a:p>
          <a:p>
            <a:r>
              <a:rPr lang="en-US" dirty="0"/>
              <a:t>---</a:t>
            </a:r>
          </a:p>
          <a:p>
            <a:endParaRPr lang="en-US" dirty="0"/>
          </a:p>
          <a:p>
            <a:r>
              <a:rPr lang="en-US" dirty="0"/>
              <a:t>Source: Slides\individual-slides\about-code.md</a:t>
            </a:r>
          </a:p>
        </p:txBody>
      </p:sp>
      <p:sp>
        <p:nvSpPr>
          <p:cNvPr id="4" name="Slide Number Placeholder 3"/>
          <p:cNvSpPr>
            <a:spLocks noGrp="1"/>
          </p:cNvSpPr>
          <p:nvPr>
            <p:ph type="sldNum" sz="quarter" idx="5"/>
          </p:nvPr>
        </p:nvSpPr>
        <p:spPr/>
        <p:txBody>
          <a:bodyPr/>
          <a:lstStyle/>
          <a:p>
            <a:fld id="{DA455780-D264-4D52-A390-D35F9E51885A}" type="slidenum">
              <a:rPr lang="en-US" smtClean="0"/>
              <a:t>5</a:t>
            </a:fld>
            <a:endParaRPr lang="en-US"/>
          </a:p>
        </p:txBody>
      </p:sp>
    </p:spTree>
    <p:extLst>
      <p:ext uri="{BB962C8B-B14F-4D97-AF65-F5344CB8AC3E}">
        <p14:creationId xmlns:p14="http://schemas.microsoft.com/office/powerpoint/2010/main" val="1905676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week-long course structure. This overview helps participants understand the progression and big-picture organization of the training.</a:t>
            </a:r>
          </a:p>
          <a:p>
            <a:endParaRPr/>
          </a:p>
          <a:p>
            <a:r>
              <a:t>Key talking points:</a:t>
            </a:r>
          </a:p>
          <a:p>
            <a:endParaRPr/>
          </a:p>
          <a:p>
            <a:r>
              <a:t>- Days 1-3 focus on building AI guardrails through instructions, prompts, and agents</a:t>
            </a:r>
          </a:p>
          <a:p>
            <a:r>
              <a:t>- Thursday shifts to brownfield (existing codebases) scenarios</a:t>
            </a:r>
          </a:p>
          <a:p>
            <a:r>
              <a:t>- Friday covers greenfield (new projects) development</a:t>
            </a:r>
          </a:p>
          <a:p>
            <a:r>
              <a:t>- Each day builds on previous concepts</a:t>
            </a:r>
          </a:p>
          <a:p>
            <a:r>
              <a:t>- The progression moves from foundational controls to practical application</a:t>
            </a:r>
          </a:p>
          <a:p>
            <a:endParaRPr/>
          </a:p>
          <a:p>
            <a:r>
              <a:t>Emphasize that guardrails come first because they're essential for safe, effective AI-assisted development. The brownfield/greenfield split acknowledges that these scenarios have different challenges and considerations.</a:t>
            </a:r>
          </a:p>
          <a:p>
            <a:endParaRPr/>
          </a:p>
          <a:p>
            <a:r>
              <a:t>Transition: "Today we'll start with the foundation..."</a:t>
            </a:r>
          </a:p>
          <a:p>
            <a:endParaRPr/>
          </a:p>
          <a:p>
            <a:r>
              <a:t>---</a:t>
            </a:r>
          </a:p>
          <a:p>
            <a:endParaRPr/>
          </a:p>
          <a:p>
            <a:r>
              <a:t>Source: Slides\individual-slides\daily-themes.md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header slide to announce the section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agenda slide listing slide titles from manifest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Start with the provocative quote to capture attention. Pause for effect after reading it aloud. **Key Message**: Emphasize that we're not witnessing a revolution but an evolution—AI tools are the latest step in a continuous chain of improvements. **Delivery**: Speak slowly and deliberately on the core thesis. Ask audience: "How many of you thought AI was going to replace programmers?" Acknowledge concerns but pivot to optimism. **Transition**: "To understand why this is evolutionary, let's look at where we've been..."</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**Historical Context**: Paint a vivid picture of early programming—physically laborious and error-prone. Mention famous anecdote about Grace Hopper debugging a literal bug (moth) from hardware. **Key Point**: Assembly was the first major abstraction—replacing binary with human-readable mnemonics. **Example**: "MOV AX, BX" is much easier than "10001001 11011000". **Modern Relevance**: Note that assembly is still used today in systems programming, making this history relevant not ancient. **Transition**: "Assembly was a huge leap, but we were still thinking in machine terms. The next step was thinking in human terms..."</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**Big Picture**: This era marked the shift from "speaking machine" to "speaking math" or "speaking business logic". **FORTRAN Example**: Scientists could write formulas directly rather than translating them into assembly. **COBOL Context**: COBOL's English-like syntax ("ADD SALES TO TOTAL") made programming accessible to business professionals, not just engineers. **C's Significance**: Portability revolution—write once, compile for different hardware. **Sensory Evolution**: Note the shift in human interface—from physical cards to keyboards. Ask audience if anyone has used punch cards. **Transition**: "But even high-level languages required thinking like a computer. The next step was thinking in terms of real-world objects and structures..."</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**Conceptual Shift**: This era introduced thinking in terms of real-world objects and relationships. **Pascal**: Emphasized structured programming—breaking code into procedures and functions with clear flow control. **OOP Revolution**: C++ enabled modeling real-world entities as objects with properties and behaviors. **Example**: "Instead of separate functions for customer data, you have a Customer object that knows how to save itself, validate itself, etc." **Memory Lane**: If your audience includes older developers, ask about their experience with green-screen terminals and 5.25" floppy disks. **Transition**: "Objects were powerful, but developers still spent too much time on plumbing. The 90s brought integration..."</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**Integration Theme**: This era wasn't about new languages but about bringing tools together. **IDE Impact**: No more switching between separate compiler, debugger, and editor windows—everything integrated. **Visual Studio Example**: Drag-and-drop form design, IntelliSense autocomplete—made programming more visual and immediate. **Java's Promise**: "Write once, run anywhere" was revolutionary—JVM abstracted away hardware differences. **Libraries Evolution**: Don't write your own database connector, HTTP client, or encryption—use proven libraries. **Interactive Element**: Ask audience to raise hands if they remember life before IntelliSense. **Transition**: "While desktops became powerful, the internet was about to change everything..."</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**Web Revolution**: Internet shifted computing from desktop applications to browser-based services. **JavaScript Ubiquity**: Initially a toy language, became essential when V8 made it fast enough for serious applications. **Python's Versatility**: Started in web development, evolved into the dominant language for data science and AI/ML. **Rails Magic**: "Convention over configuration"—Rails showed that frameworks could make common tasks trivial. **Portability Shift**: Note the lifestyle change—developers could work from anywhere with WiFi. **Modern Context**: These languages and frameworks still dominate today. **Transition**: "But web apps still ran on physical servers in data centers. Cloud computing changed that..."</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**Orchestration Concept**: Developers became conductors—composing systems from managed services rather than building everything from scratch. **Cloud Impact**: "Need a database? Click button, get database. Need 100 servers? Auto-scale." Infrastructure became code. **API Economy**: Modern apps are mashups—Stripe for payments, Twilio for SMS, Auth0 for authentication. You orchestrate services, not write everything. **Low-Code**: Controversial topic—some see it as dumbing down, others as appropriate tool for business apps. Acknowledge both views. **Key Insight**: This is when programming truly shifted from "making hardware do things" to "composing services and logic". **Transition**: "Cloud and APIs raised the abstraction level. AI assistance raises it even higher..."</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**Synthesis Point**: This slide ties together the history—every era raised the abstraction level. **Visual Metaphor**: "Think of programming as a ladder—each rung takes you higher above the hardware, making it easier to see the big picture but relying on more layers below." **Modern Developer Reality**: Today's developers rarely think about memory management, CPU registers, or even which physical server runs their code. They think in terms of business logic and user experiences. **Key Question for Audience**: "How many of you have ever written assembly or C code?" Then: "How many wrote Java or Python today?" Shows the abstraction trajectory. **Transition**: "Now here comes AI. It's not a different ladder—it's another rung on the same ladder we've been climbing."</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**Paradigm Shift**: This is the key slide—AI enables expressing intent in natural language, not just formal syntax. **LLM Training**: Models trained on billions of lines of public code (GitHub, Stack Overflow, etc.) learn patterns and best practices. **IDE Integration**: Copilot, Cursor, Tabnine—AI is embedded in our daily tools, not separate applications. **Dialogue Metaphor**: "Programming becomes conversation. You say what you want, AI suggests how to do it, you refine through iteration." **Live Demo Opportunity**: If appropriate, show quick Copilot example here. **Audience Engagement**: "How many of you have tried GitHub Copilot or ChatGPT for coding?" **Transition**: "This natural language interaction is the crucial breakthrough. Let's explore what that means..."</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**Role Evolution**: This is about identity—developers worry "Am I being replaced?" Address this directly. **Curator of Context**: You provide requirements, constraints, examples, test cases. The better the context, the better the AI output. **Validator Role**: AI generates fast, but you must verify it's correct, secure, performant, maintainable. Critical thinking is MORE important, not less. **Steward of Alignment**: Ensuring the code does what users need, not just what you asked for. **Example**: "AI can generate a sorting algorithm, but you decide if sorting is even the right solution." **Reassurance**: "Your expertise shifts from syntax to strategy, from typing to thinking." **Transition**: "Let's look at specific examples of how AI understands intent..."</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 Understanding**: This is what makes AI different from traditional autocomplete or code snippets. **Examples Walkthrough**: Go through each example slowly. "Make this faster" could mean caching, algorithm optimization, database indexing—AI considers context to choose. **Test-Driven Development**: "You can write tests first, AI generates implementation that passes tests. TDD on steroids!" **Bug Reports as Input**: Show how AI can read a bug report ("Users getting 500 error when submitting form") and suggest fixes. **Conversational Iteration**: "Too much like code that..." "Actually, make it more like..." — Natural back-and-forth refinement. **Live Example Opportunity**: If time permits, demonstrate a conversational refinement with AI. **Transition**: "This sounds revolutionary, but remember—it's just another tool in a long line of tools..."</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**Reassurance Slide**: This slide is the antidote to hype and fear. Speak with calm authority. **Historical Pattern**: Every new tool was feared—"High-level languages will make us lazy!" "IDEs will dumb down programmers!" Didn't happen. **Tool, Not Replacement**: Hammer didn't replace carpenters. Calculator didn't replace mathematicians. AI won't replace developers. **Speed and Scale**: "AI lets you work faster, tackle bigger problems, spend more time on creative and strategic work rather than boilerplate." **Personal Testimony**: If you have personal experience where AI helped you—share it. Humanizes the technology. **Address Anxiety**: Acknowledge that change is uncomfortable but emphasize continuity. **Transition**: "But this doesn't mean we can skip the hard parts..."</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Reality Check**: This slide balances the optimism. AI is powerful but not infallible. **Testing Remains Essential**: AI-generated code needs the same rigorous testing as human-written code. Maybe more, since you didn't write it. **Security Responsibility**: AI doesn't understand your threat model, compliance requirements, or security policies. You do. **Ethics and Bias**: AI trained on public code may reproduce problematic patterns (hardcoded credentials, insecure practices, biased algorithms). You're the filter. **Architecture Decisions**: AI can implement patterns, but you choose which patterns fit your system's needs. **Analogy**: "GPS tells you the route, but you still drive the car. You watch for hazards, make judgment calls, take responsibility." **Transition**: "So what does the future actually look like?"</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Vision**: This slide looks forward while maintaining historical perspective. **Intent-Driven Continuity**: From assembly to C to Python to AI prompts—each step made intent clearer, implementation more abstracted. **Skills Evolution**: "Learning Python took time. Learning prompt engineering will take time. But it's the same kind of skill acquisition we've always done." **Learning Curve Reality**: Don't sugarcoat—there will be frustration, mistakes, and learning. But also breakthroughs and productivity gains. **Continuity Message**: "You're not starting over. You're building on everything you know. Your domain knowledge, debugging skills, design sense—all still essential." **Encouragement**: "This is an exciting time to be a developer. AI removes drudgery, letting us focus on the interesting problems." **Transition**: "Let me wrap up with the key takeaways..."</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Message**: This is your mic-drop moment. Speak with conviction and optimism. **Core Thesis Callback**: Circle back to opening quote—"Programming hasn't changed, but how we go about it has changed, again." **Fundamental Continuity**: Emphasize that this entire journey (70+ years) has been about expressing intent with increasing ease. AI is the latest, not the last, step. **Human Centrality**: "AI is a tool we wield, not a replacement for our judgment. We remain at the center—designers, validators, ethical stewards." **Accessibility Point**: AI will bring more people into programming by lowering barriers. That's a good thing. **Call to Action**: "The future belongs to developers who embrace these tools while maintaining the critical thinking and expertise that makes great software." **Ending Note**: Pause briefly after final sentence, let it land, then invite questions. **Optional**: If time, ask "What questions do you have?" and address 2-3 before moving on.</a:t>
            </a:r>
          </a:p>
          <a:p>
            <a:endParaRPr/>
          </a:p>
          <a:p>
            <a:r>
              <a:t>---</a:t>
            </a:r>
          </a:p>
          <a:p>
            <a:endParaRPr/>
          </a:p>
          <a:p>
            <a:r>
              <a:t>Source: Slides\individual-slides\whats-the-big-deal.md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endParaRPr/>
          </a:p>
          <a:p>
            <a: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endParaRPr/>
          </a:p>
          <a:p>
            <a: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endParaRPr/>
          </a:p>
          <a:p>
            <a:r>
              <a:t>Key message: AI doesn't replace developers—it amplifies their capabilities</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AI-First is the broad philosophy. Prompt-First is the tactical layer that enables predictable AI behavior. You can do Prompt-First without being AI-First, but not the reverse.</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heart of the comparison. AI-First is about organizational and architectural change. Prompt-First is about artifact discipline and predictable outputs.</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AI-First changes what you build and how you build it. Prompt-First changes how you communicate intent to the AI.</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conceptual hierarchy. Prompt-First is necessary but not sufficient for AI-First maturity.</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endParaRPr/>
          </a:p>
          <a:p>
            <a:r>
              <a:t>Why AI-First</a:t>
            </a:r>
          </a:p>
          <a:p>
            <a:r>
              <a:t>“Teams increasingly express requirements in natural language. AI can interpret those requirements and generate scaffolding, code, tests, and documentation.”</a:t>
            </a:r>
          </a:p>
          <a:p>
            <a:r>
              <a:t>“This shifts the developer's role from writing every line of code to defining intent, constraints, and quality expectations.”</a:t>
            </a:r>
          </a:p>
          <a:p>
            <a:r>
              <a:t>“The goal isn't to replace engineering judgment—it's to amplify it.”</a:t>
            </a:r>
          </a:p>
          <a:p>
            <a:endParaRPr/>
          </a:p>
          <a:p>
            <a:r>
              <a:t>Core Principles</a:t>
            </a:r>
          </a:p>
          <a:p>
            <a:endParaRPr/>
          </a:p>
          <a:p>
            <a:r>
              <a:t>Prompt-First Design</a:t>
            </a:r>
          </a:p>
          <a:p>
            <a:r>
              <a:t>“We start with structured prompts that capture behaviors, invariants, and interfaces. These become durable artifacts, just like design docs.”</a:t>
            </a:r>
          </a:p>
          <a:p>
            <a:endParaRPr/>
          </a:p>
          <a:p>
            <a:r>
              <a:t>AI-Native Architecture</a:t>
            </a:r>
          </a:p>
          <a:p>
            <a:r>
              <a:t>“We design modules with clear boundaries so AI-generated components remain predictable and testable. Deterministic interfaces are essential.”</a:t>
            </a:r>
          </a:p>
          <a:p>
            <a:endParaRPr/>
          </a:p>
          <a:p>
            <a:r>
              <a:t>Human-in-the-Loop</a:t>
            </a:r>
          </a:p>
          <a:p>
            <a:r>
              <a:t>“AI accelerates creation, but humans validate correctness, safety, and alignment with business intent. Review is built into the workflow.”</a:t>
            </a:r>
          </a:p>
          <a:p>
            <a:endParaRPr/>
          </a:p>
          <a:p>
            <a:r>
              <a:t>Continuous Verification</a:t>
            </a:r>
          </a:p>
          <a:p>
            <a:r>
              <a:t>“Every AI-generated artifact—code, tests, docs—runs through automated checks. Static analysis, unit tests, and guardrails catch drift early.”</a:t>
            </a:r>
          </a:p>
          <a:p>
            <a:endParaRPr/>
          </a:p>
          <a:p>
            <a:r>
              <a:t>Lifecycle Governance</a:t>
            </a:r>
          </a:p>
          <a:p>
            <a:r>
              <a:t>“We treat prompts, outputs, and revisions as versioned assets. Provenance and traceability matter for compliance, debugging, and long-term maintainability.”</a:t>
            </a:r>
          </a:p>
          <a:p>
            <a:endParaRPr/>
          </a:p>
          <a:p>
            <a:r>
              <a:t>Outcomes</a:t>
            </a:r>
          </a:p>
          <a:p>
            <a:r>
              <a:t>“Teams iterate faster because intent moves directly into working prototypes.”</a:t>
            </a:r>
          </a:p>
          <a:p>
            <a:r>
              <a:t>“Documentation and test coverage improve because AI can generate them continuously.”</a:t>
            </a:r>
          </a:p>
          <a:p>
            <a:r>
              <a:t>“Developers spend more time on architecture and correctness, less on boilerplate.”</a:t>
            </a:r>
          </a:p>
          <a:p>
            <a:r>
              <a:t>“The result is software that's more adaptable and resilient over time.”</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core idea behind Prompt-First development. Instead of starting with code, we start with intent. Prompts become the primary design artifact, and AI becomes the mechanism that turns intent into implementation.”</a:t>
            </a:r>
          </a:p>
          <a:p>
            <a:endParaRPr/>
          </a:p>
          <a:p>
            <a:r>
              <a:t>Why Prompt-First</a:t>
            </a:r>
          </a:p>
          <a:p>
            <a:r>
              <a:t>“Modern development increasingly begins with natural-language descriptions of behavior. Prompt-First formalizes that by treating prompts as first-class inputs to the software lifecycle.”</a:t>
            </a:r>
          </a:p>
          <a:p>
            <a:r>
              <a:t>“The developer's role shifts from writing code line-by-line to defining outcomes, constraints, invariants, and interfaces.”</a:t>
            </a:r>
          </a:p>
          <a:p>
            <a:r>
              <a:t>“This creates a tighter alignment between business intent and the resulting system.”</a:t>
            </a:r>
          </a:p>
          <a:p>
            <a:endParaRPr/>
          </a:p>
          <a:p>
            <a:r>
              <a:t>Core Practices</a:t>
            </a:r>
          </a:p>
          <a:p>
            <a:endParaRPr/>
          </a:p>
          <a:p>
            <a:r>
              <a:t>Structured Prompts</a:t>
            </a:r>
          </a:p>
          <a:p>
            <a:r>
              <a:t>“We don't rely on ad-hoc prompting. We use templates for features, APIs, data models, tests, and refactors. This creates consistency and reduces ambiguity.”</a:t>
            </a:r>
          </a:p>
          <a:p>
            <a:endParaRPr/>
          </a:p>
          <a:p>
            <a:r>
              <a:t>Instruction Files</a:t>
            </a:r>
          </a:p>
          <a:p>
            <a:r>
              <a:t>“These are durable, versioned prompt artifacts that guide AI generation. They act like living design documents that the AI reads every time it produces code.”</a:t>
            </a:r>
          </a:p>
          <a:p>
            <a:endParaRPr/>
          </a:p>
          <a:p>
            <a:r>
              <a:t>Deterministic Boundaries</a:t>
            </a:r>
          </a:p>
          <a:p>
            <a:r>
              <a:t>“We design modules with clear contracts so AI-generated code stays predictable. The AI can generate the internals, but the interfaces remain stable and human-controlled.”</a:t>
            </a:r>
          </a:p>
          <a:p>
            <a:endParaRPr/>
          </a:p>
          <a:p>
            <a:r>
              <a:t>Validation Loops</a:t>
            </a:r>
          </a:p>
          <a:p>
            <a:r>
              <a:t>“Every AI-generated artifact goes through automated tests and human review. The goal is to catch drift early and ensure correctness.”</a:t>
            </a:r>
          </a:p>
          <a:p>
            <a:endParaRPr/>
          </a:p>
          <a:p>
            <a:r>
              <a:t>Prompt Versioning</a:t>
            </a:r>
          </a:p>
          <a:p>
            <a:r>
              <a:t>“Prompts evolve just like code. Tracking changes helps with debugging, reproducibility, and compliance.”</a:t>
            </a:r>
          </a:p>
          <a:p>
            <a:endParaRPr/>
          </a:p>
          <a:p>
            <a:r>
              <a:t>Benefits</a:t>
            </a:r>
          </a:p>
          <a:p>
            <a:r>
              <a:t>“Teams move from idea to working software much faster because intent flows directly into generation.”</a:t>
            </a:r>
          </a:p>
          <a:p>
            <a:r>
              <a:t>“Generated components become more consistent because they're driven by structured prompts, not one-off instructions.”</a:t>
            </a:r>
          </a:p>
          <a:p>
            <a:r>
              <a:t>“Developers spend more time on architecture and correctness, less on boilerplate.”</a:t>
            </a:r>
          </a:p>
          <a:p>
            <a:r>
              <a:t>“The end result is a system that's easier to maintain and adapt over time.”</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these examples to help teams visualize the difference.</a:t>
            </a:r>
          </a:p>
          <a:p>
            <a:r>
              <a:t>Prompt-First is about interfaces; AI-First is about the entire workflow.</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this summary to reinforce the distinction.</a:t>
            </a:r>
          </a:p>
          <a:p>
            <a:r>
              <a:t>It's the cleanest way to remember the relationship.</a:t>
            </a:r>
          </a:p>
          <a:p>
            <a:endParaRPr/>
          </a:p>
          <a:p>
            <a:r>
              <a:t>---</a:t>
            </a:r>
          </a:p>
          <a:p>
            <a:endParaRPr/>
          </a:p>
          <a:p>
            <a:r>
              <a:t>Source: Slides\individual-slides\the-ai-revolution.md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header slide to announce the section</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agenda slide listing slide titles from manifest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Slides\individual-slides\repository-and-tool-setup.md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Objective: Fork the course repos Tasks</a:t>
            </a:r>
          </a:p>
          <a:p>
            <a:r>
              <a:t>Search GitHub for</a:t>
            </a:r>
          </a:p>
          <a:p>
            <a:r>
              <a:t>AI-Assisted-Software-Development</a:t>
            </a:r>
          </a:p>
          <a:p>
            <a:r>
              <a:t>Fork this repo</a:t>
            </a:r>
          </a:p>
          <a:p>
            <a:r>
              <a:t>This will create a personal copy under your GitHub account</a:t>
            </a:r>
          </a:p>
          <a:p>
            <a:r>
              <a:t>You can make changes without affecting the original repo</a:t>
            </a:r>
          </a:p>
          <a:p>
            <a:endParaRPr/>
          </a:p>
          <a:p>
            <a:r>
              <a:t>---</a:t>
            </a:r>
          </a:p>
          <a:p>
            <a:endParaRPr/>
          </a:p>
          <a:p>
            <a:r>
              <a:t>Source: Slides\individual-slides\repository-and-tool-setup.md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Guide participants through creating a fork of the brownfield exercise repository, cloning it locally, and creating a GitHub PAT for authenticated access. Emphasize that this setup work enables the later brownfield labs.</a:t>
            </a:r>
          </a:p>
          <a:p>
            <a:endParaRPr/>
          </a:p>
          <a:p>
            <a:r>
              <a:t>---</a:t>
            </a:r>
          </a:p>
          <a:p>
            <a:endParaRPr/>
          </a:p>
          <a:p>
            <a:r>
              <a:t>Source: Slides\individual-slides\repository-and-tool-setup.md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Slides\individual-slides\repository-and-tool-setup.md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installation, auth, and a quick coding session; encourage participants to follow along.</a:t>
            </a:r>
          </a:p>
          <a:p>
            <a:endParaRPr/>
          </a:p>
          <a:p>
            <a:r>
              <a:t>---</a:t>
            </a:r>
          </a:p>
          <a:p>
            <a:endParaRPr/>
          </a:p>
          <a:p>
            <a:r>
              <a:t>Source: Slides\individual-slides\hands-on-with-github-copilot-vs-code.md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r>
              <a:t>Use this lab as the onboarding checkpoint for all remaining Copilot exercises. Start by confirming everyone has VS Code open and can reach the extension marketplace, then walk the room while participants sign in and complete authentication. Pause after each interface element so learners can find it before moving forward, especially quick chat and model selection since these are easy to miss for first-time users. Close by asking each participant to start one test chat so you can confirm readiness before transitioning to context management.</a:t>
            </a:r>
          </a:p>
          <a:p>
            <a:endParaRPr/>
          </a:p>
          <a:p>
            <a:r>
              <a:t>---</a:t>
            </a:r>
          </a:p>
          <a:p>
            <a:endParaRPr/>
          </a:p>
          <a:p>
            <a:r>
              <a:t>Source: Slides\individual-slides\exercise-github-copilot-vscode-workflows.md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**Delivery Instructions:**</a:t>
            </a:r>
          </a:p>
          <a:p>
            <a:r>
              <a:t>This slide demonstrates the progression from terrible to excellent prompts—walk through each example deliberately.</a:t>
            </a:r>
          </a:p>
          <a:p>
            <a:endParaRPr/>
          </a:p>
          <a:p>
            <a:r>
              <a:t>**Example 1 (Bad):** "Add error handling to my code" - Read this with a slightly exasperated tone. Point out: What code? What language? What kind of errors? Copilot literally has no context to work with. This is like asking a contractor to "fix your house" with no other information.</a:t>
            </a:r>
          </a:p>
          <a:p>
            <a:endParaRPr/>
          </a:p>
          <a:p>
            <a:r>
              <a:t>**Example 2 (Better):** Read the second prompt and note improvements: specifies JavaScript, specifies function purpose (external API call), lists specific error types (network timeouts, 404, JSON parsing). But emphasize the problem: "still generic without seeing actual code structure." Copilot doesn't know your coding patterns, your existing error handling approach, or your project structure.</a:t>
            </a:r>
          </a:p>
          <a:p>
            <a:endParaRPr/>
          </a:p>
          <a:p>
            <a:r>
              <a:t>**Example 3 (Best):** Read the third prompt slowly, highlighting key improvements:</a:t>
            </a:r>
          </a:p>
          <a:p>
            <a:endParaRPr/>
          </a:p>
          <a:p>
            <a:r>
              <a:t>- Uses `@file:api-client.js` to reference specific file (Copilot can see the actual code)</a:t>
            </a:r>
          </a:p>
          <a:p>
            <a:r>
              <a:t>- Names the exact function (`fetchUserData`)</a:t>
            </a:r>
          </a:p>
          <a:p>
            <a:r>
              <a:t>- Provides precise timeout threshold (&gt;5s, not just "timeouts")</a:t>
            </a:r>
          </a:p>
          <a:p>
            <a:r>
              <a:t>- Lists specific HTTP codes (404, 500, etc.)</a:t>
            </a:r>
          </a:p>
          <a:p>
            <a:r>
              <a:t>- References another file `@file:error-types.js` for consistency with existing patterns</a:t>
            </a:r>
          </a:p>
          <a:p>
            <a:endParaRPr/>
          </a:p>
          <a:p>
            <a:r>
              <a:t>**Key Teaching Point:** "The difference between prompt 1 and prompt 3 is the difference between Copilot asking YOU 10 clarifying questions versus Copilot just doing exactly what you need. Specificity saves time."</a:t>
            </a:r>
          </a:p>
          <a:p>
            <a:endParaRPr/>
          </a:p>
          <a:p>
            <a:r>
              <a:t>**Audience Interaction:** Ask: "How many of you have written prompts like example 1? Don't worry—we all start there. By the end of today, you'll be writing prompts like example 3 automatically."</a:t>
            </a:r>
          </a:p>
          <a:p>
            <a:endParaRPr/>
          </a:p>
          <a:p>
            <a:r>
              <a:t>**Transition:** "Now let's practice this in a hands-on lab where you'll learn to add context using @ symbols..."</a:t>
            </a:r>
          </a:p>
          <a:p>
            <a:endParaRPr/>
          </a:p>
          <a:p>
            <a:r>
              <a:t>---</a:t>
            </a:r>
          </a:p>
          <a:p>
            <a:endParaRPr/>
          </a:p>
          <a:p>
            <a:r>
              <a:t>Source: Slides\individual-slides\hands-on-with-github-copilot-vs-code.md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Frame this as the first skill that directly improves Copilot output quality without changing tools or models. During the @ symbol walkthrough, have participants perform each step live and explain what new information Copilot gains from each context type. For the prompt comparison, ask learners to keep the same goal and only change context quality so the difference is obvious and measurable. End by normalizing context window limits as expected behavior, then reinforce the habit that new topic equals new chat.</a:t>
            </a:r>
          </a:p>
          <a:p>
            <a:endParaRPr/>
          </a:p>
          <a:p>
            <a:r>
              <a:t>---</a:t>
            </a:r>
          </a:p>
          <a:p>
            <a:endParaRPr/>
          </a:p>
          <a:p>
            <a:r>
              <a:t>Source: Slides\individual-slides\exercise-github-copilot-vscode-workflows.md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Introduce this lab as productivity hygiene that prevents context fatigue and low-quality responses later in the day. Coach participants to separate work streams by topic, and use quick chat for interruptions so their main conversation remains coherent and reusable. During the history review, have each learner identify one prompt that worked well and explain why it worked, which helps them build a personal prompting playbook. Finish with the context window management bullets as operational rules they can apply in every future session.</a:t>
            </a:r>
          </a:p>
          <a:p>
            <a:endParaRPr/>
          </a:p>
          <a:p>
            <a:r>
              <a:t>---</a:t>
            </a:r>
          </a:p>
          <a:p>
            <a:endParaRPr/>
          </a:p>
          <a:p>
            <a:r>
              <a:t>Source: Slides\individual-slides\exercise-github-copilot-vscode-workflows.md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Position this lab as decision-making practice so participants learn to match the mode to the work, not just default to one interface. In Ask mode, emphasize low-risk exploration and comparative learning with different models before making any code changes. In Edit mode, slow down and review diffs so learners build trust through verification rather than blind acceptance. In Agent mode, demonstrate value on a task that justifies automation, then connect the result to token usage so participants can balance cost and productivity in real workflows.</a:t>
            </a:r>
          </a:p>
          <a:p>
            <a:endParaRPr/>
          </a:p>
          <a:p>
            <a:r>
              <a:t>---</a:t>
            </a:r>
          </a:p>
          <a:p>
            <a:endParaRPr/>
          </a:p>
          <a:p>
            <a:r>
              <a:t>Source: Slides\individual-slides\exercise-github-copilot-vscode-workflows.md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Ask vs Edit modes and when each is most useful. Speak to Agent Mode and Custom Chat Modes briefly. We'll work with those later.</a:t>
            </a:r>
          </a:p>
          <a:p>
            <a:endParaRPr/>
          </a:p>
          <a:p>
            <a:r>
              <a:t>---</a:t>
            </a:r>
          </a:p>
          <a:p>
            <a:endParaRPr/>
          </a:p>
          <a:p>
            <a:r>
              <a:t>Source: Slides\individual-slides\hands-on-with-github-copilot-vs-code.md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Slides\individual-slides\hands-on-with-github-copilot-vs-code.md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header slide to announce the section</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agenda slide listing slide titles from manifest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the collaborative development process we'll follow for building our calculator application — and mob programming will be central to how we work together.</a:t>
            </a:r>
          </a:p>
          <a:p>
            <a:endParaRPr/>
          </a:p>
          <a:p>
            <a: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a:p>
          <a:p>
            <a:r>
              <a:t>We begin with Project Setup, where the team configures the environment, aligns on goals, and prepares the repo. This is done as a mob — one keyboard, one screen, and everyone contributing ideas in real time. It ensures shared understanding from the start.</a:t>
            </a:r>
          </a:p>
          <a:p>
            <a:endParaRPr/>
          </a:p>
          <a:p>
            <a:r>
              <a:t>At the end of the day, we introduce Evergreen Software Development — a mindset of continuous improvement.</a:t>
            </a:r>
          </a:p>
          <a:p>
            <a:endParaRPr/>
          </a:p>
          <a:p>
            <a:r>
              <a:t>Random ideas:</a:t>
            </a:r>
          </a:p>
          <a:p>
            <a:r>
              <a:t>Implementing Observability</a:t>
            </a:r>
          </a:p>
          <a:p>
            <a:endParaRPr/>
          </a:p>
          <a:p>
            <a:r>
              <a:t>Scaffold a new C# command line project using .NET. The project should include:</a:t>
            </a:r>
          </a:p>
          <a:p>
            <a:r>
              <a:t>A Program.cs file with a simple "Hello, World!" example.</a:t>
            </a:r>
          </a:p>
          <a:p>
            <a:r>
              <a:t>A .csproj file configured for a console application.</a:t>
            </a:r>
          </a:p>
          <a:p>
            <a:r>
              <a:t>A README.md with build and run instructions.</a:t>
            </a:r>
          </a:p>
          <a:p>
            <a:r>
              <a:t>The project should be ready to build and run from the command line.</a:t>
            </a:r>
          </a:p>
          <a:p>
            <a:endParaRPr/>
          </a:p>
          <a:p>
            <a:r>
              <a:t>---</a:t>
            </a:r>
          </a:p>
          <a:p>
            <a:endParaRPr/>
          </a:p>
          <a:p>
            <a:r>
              <a:t>Source: Slides\individual-slides\vibe-coding.md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~01:00</a:t>
            </a:r>
          </a:p>
          <a:p>
            <a:endParaRPr/>
          </a:p>
          <a:p>
            <a:endParaRPr/>
          </a:p>
          <a:p>
            <a:r>
              <a:t>**Prerequisites:** Calculator project context available</a:t>
            </a:r>
          </a:p>
          <a:p>
            <a:endParaRPr/>
          </a:p>
          <a:p>
            <a:r>
              <a:t>### Objectives</a:t>
            </a:r>
          </a:p>
          <a:p>
            <a:endParaRPr/>
          </a:p>
          <a:p>
            <a:r>
              <a:t>- Scaffold core operations with AI assistance.</a:t>
            </a:r>
          </a:p>
          <a:p>
            <a:r>
              <a:t>- Validate generated logic before accepting changes.</a:t>
            </a:r>
          </a:p>
          <a:p>
            <a:r>
              <a:t>- Deliver a working baseline calculator.</a:t>
            </a:r>
          </a:p>
          <a:p>
            <a:endParaRPr/>
          </a:p>
          <a:p>
            <a:r>
              <a:t>### Activities</a:t>
            </a:r>
          </a:p>
          <a:p>
            <a:endParaRPr/>
          </a:p>
          <a:p>
            <a:r>
              <a:t>- Build project skeleton, implement 4 operations, and verify behavior.</a:t>
            </a:r>
          </a:p>
          <a:p>
            <a:r>
              <a:t>- Emphasize manual review of AI output before merge.</a:t>
            </a:r>
          </a:p>
          <a:p>
            <a:endParaRPr/>
          </a:p>
          <a:p>
            <a:r>
              <a:t>### Success Criteria</a:t>
            </a:r>
          </a:p>
          <a:p>
            <a:endParaRPr/>
          </a:p>
          <a:p>
            <a:r>
              <a:t>- Four operations work end-to-end.</a:t>
            </a:r>
          </a:p>
          <a:p>
            <a:r>
              <a:t>- Build is green.</a:t>
            </a:r>
          </a:p>
          <a:p>
            <a:r>
              <a:t>- Team can explain logic and edge-case handling.</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endParaRPr/>
          </a:p>
          <a:p>
            <a:r>
              <a:t>**Prerequisites:** Basic calculator state model</a:t>
            </a:r>
          </a:p>
          <a:p>
            <a:endParaRPr/>
          </a:p>
          <a:p>
            <a:r>
              <a:t>### Objectives</a:t>
            </a:r>
          </a:p>
          <a:p>
            <a:endParaRPr/>
          </a:p>
          <a:p>
            <a:r>
              <a:t>- Separate entry-level clear from full reset behavior.</a:t>
            </a:r>
          </a:p>
          <a:p>
            <a:r>
              <a:t>- Verify expected transitions from each action.</a:t>
            </a:r>
          </a:p>
          <a:p>
            <a:endParaRPr/>
          </a:p>
          <a:p>
            <a:r>
              <a:t>### Activities</a:t>
            </a:r>
          </a:p>
          <a:p>
            <a:endParaRPr/>
          </a:p>
          <a:p>
            <a:r>
              <a:t>- Use focused prompts and test state transitions quickly.</a:t>
            </a:r>
          </a:p>
          <a:p>
            <a:endParaRPr/>
          </a:p>
          <a:p>
            <a:r>
              <a:t>### Success Criteria</a:t>
            </a:r>
          </a:p>
          <a:p>
            <a:endParaRPr/>
          </a:p>
          <a:p>
            <a:r>
              <a:t>- CE and C behaviors are consistent and explainable.</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~00:12</a:t>
            </a:r>
          </a:p>
          <a:p>
            <a:endParaRPr/>
          </a:p>
          <a:p>
            <a:endParaRPr/>
          </a:p>
          <a:p>
            <a:r>
              <a:t>**Prerequisites:** Input parser in place</a:t>
            </a:r>
          </a:p>
          <a:p>
            <a:endParaRPr/>
          </a:p>
          <a:p>
            <a:r>
              <a:t>### Objectives</a:t>
            </a:r>
          </a:p>
          <a:p>
            <a:endParaRPr/>
          </a:p>
          <a:p>
            <a:r>
              <a:t>- Implement robust decimal parsing and validation.</a:t>
            </a:r>
          </a:p>
          <a:p>
            <a:endParaRPr/>
          </a:p>
          <a:p>
            <a:r>
              <a:t>### Activities</a:t>
            </a:r>
          </a:p>
          <a:p>
            <a:endParaRPr/>
          </a:p>
          <a:p>
            <a:r>
              <a:t>- Target parser rules, then validate with focused tests.</a:t>
            </a:r>
          </a:p>
          <a:p>
            <a:endParaRPr/>
          </a:p>
          <a:p>
            <a:r>
              <a:t>### Success Criteria</a:t>
            </a:r>
          </a:p>
          <a:p>
            <a:endParaRPr/>
          </a:p>
          <a:p>
            <a:r>
              <a:t>- No duplicate decimal points accepted.</a:t>
            </a:r>
          </a:p>
          <a:p>
            <a:r>
              <a:t>- Decimal math behaves correctly.</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~00:08</a:t>
            </a:r>
          </a:p>
          <a:p>
            <a:endParaRPr/>
          </a:p>
          <a:p>
            <a:endParaRPr/>
          </a:p>
          <a:p>
            <a:r>
              <a:t>**Prerequisites:** Numeric input flow functioning</a:t>
            </a:r>
          </a:p>
          <a:p>
            <a:endParaRPr/>
          </a:p>
          <a:p>
            <a:r>
              <a:t>### Objectives</a:t>
            </a:r>
          </a:p>
          <a:p>
            <a:endParaRPr/>
          </a:p>
          <a:p>
            <a:r>
              <a:t>- Add predictable sign toggling.</a:t>
            </a:r>
          </a:p>
          <a:p>
            <a:endParaRPr/>
          </a:p>
          <a:p>
            <a:r>
              <a:t>### Activities</a:t>
            </a:r>
          </a:p>
          <a:p>
            <a:endParaRPr/>
          </a:p>
          <a:p>
            <a:r>
              <a:t>- Keep implementation minimal and test transitions.</a:t>
            </a:r>
          </a:p>
          <a:p>
            <a:endParaRPr/>
          </a:p>
          <a:p>
            <a:r>
              <a:t>### Success Criteria</a:t>
            </a:r>
          </a:p>
          <a:p>
            <a:endParaRPr/>
          </a:p>
          <a:p>
            <a:r>
              <a:t>- Toggle is stable across value states.</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endParaRPr/>
          </a:p>
          <a:p>
            <a:r>
              <a:t>**Prerequisites:** Core arithmetic implemented</a:t>
            </a:r>
          </a:p>
          <a:p>
            <a:endParaRPr/>
          </a:p>
          <a:p>
            <a:r>
              <a:t>### Objectives</a:t>
            </a:r>
          </a:p>
          <a:p>
            <a:endParaRPr/>
          </a:p>
          <a:p>
            <a:r>
              <a:t>- Align percentage behavior with user expectations.</a:t>
            </a:r>
          </a:p>
          <a:p>
            <a:endParaRPr/>
          </a:p>
          <a:p>
            <a:r>
              <a:t>### Activities</a:t>
            </a:r>
          </a:p>
          <a:p>
            <a:endParaRPr/>
          </a:p>
          <a:p>
            <a:r>
              <a:t>- Compare generated logic with known calculator semantics.</a:t>
            </a:r>
          </a:p>
          <a:p>
            <a:endParaRPr/>
          </a:p>
          <a:p>
            <a:r>
              <a:t>### Success Criteria</a:t>
            </a:r>
          </a:p>
          <a:p>
            <a:endParaRPr/>
          </a:p>
          <a:p>
            <a:r>
              <a:t>- Three key percentage patterns operate correctly.</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~00:18</a:t>
            </a:r>
          </a:p>
          <a:p>
            <a:endParaRPr/>
          </a:p>
          <a:p>
            <a:endParaRPr/>
          </a:p>
          <a:p>
            <a:r>
              <a:t>**Prerequisites:** Calculator state architecture defined</a:t>
            </a:r>
          </a:p>
          <a:p>
            <a:endParaRPr/>
          </a:p>
          <a:p>
            <a:r>
              <a:t>### Objectives</a:t>
            </a:r>
          </a:p>
          <a:p>
            <a:endParaRPr/>
          </a:p>
          <a:p>
            <a:r>
              <a:t>- Add reliable memory operations.</a:t>
            </a:r>
          </a:p>
          <a:p>
            <a:endParaRPr/>
          </a:p>
          <a:p>
            <a:r>
              <a:t>### Activities</a:t>
            </a:r>
          </a:p>
          <a:p>
            <a:endParaRPr/>
          </a:p>
          <a:p>
            <a:r>
              <a:t>- Ensure memory state is explicit and testable.</a:t>
            </a:r>
          </a:p>
          <a:p>
            <a:endParaRPr/>
          </a:p>
          <a:p>
            <a:r>
              <a:t>### Success Criteria</a:t>
            </a:r>
          </a:p>
          <a:p>
            <a:endParaRPr/>
          </a:p>
          <a:p>
            <a:r>
              <a:t>- Memory operations are consistent and validated.</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endParaRPr/>
          </a:p>
          <a:p>
            <a:r>
              <a:t>**Prerequisites:** Core operations implemented</a:t>
            </a:r>
          </a:p>
          <a:p>
            <a:endParaRPr/>
          </a:p>
          <a:p>
            <a:r>
              <a:t>### Objectives</a:t>
            </a:r>
          </a:p>
          <a:p>
            <a:endParaRPr/>
          </a:p>
          <a:p>
            <a:r>
              <a:t>- Build robust error paths without breaking user flow.</a:t>
            </a:r>
          </a:p>
          <a:p>
            <a:endParaRPr/>
          </a:p>
          <a:p>
            <a:r>
              <a:t>### Activities</a:t>
            </a:r>
          </a:p>
          <a:p>
            <a:endParaRPr/>
          </a:p>
          <a:p>
            <a:r>
              <a:t>- Validate both error detection and post-error recovery.</a:t>
            </a:r>
          </a:p>
          <a:p>
            <a:endParaRPr/>
          </a:p>
          <a:p>
            <a:r>
              <a:t>### Success Criteria</a:t>
            </a:r>
          </a:p>
          <a:p>
            <a:endParaRPr/>
          </a:p>
          <a:p>
            <a:r>
              <a:t>- Error handling is visible, predictable, and recoverable.</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endParaRPr/>
          </a:p>
          <a:p>
            <a:r>
              <a:t>**Prerequisites:** Advanced operation framework available</a:t>
            </a:r>
          </a:p>
          <a:p>
            <a:endParaRPr/>
          </a:p>
          <a:p>
            <a:r>
              <a:t>### Objectives</a:t>
            </a:r>
          </a:p>
          <a:p>
            <a:endParaRPr/>
          </a:p>
          <a:p>
            <a:r>
              <a:t>- Add trig support with explicit angle-mode handling.</a:t>
            </a:r>
          </a:p>
          <a:p>
            <a:endParaRPr/>
          </a:p>
          <a:p>
            <a:r>
              <a:t>### Activities</a:t>
            </a:r>
          </a:p>
          <a:p>
            <a:endParaRPr/>
          </a:p>
          <a:p>
            <a:r>
              <a:t>- Implement and validate both behavior and mode switching.</a:t>
            </a:r>
          </a:p>
          <a:p>
            <a:endParaRPr/>
          </a:p>
          <a:p>
            <a:r>
              <a:t>### Success Criteria</a:t>
            </a:r>
          </a:p>
          <a:p>
            <a:endParaRPr/>
          </a:p>
          <a:p>
            <a:r>
              <a:t>- Trig pipeline works end-to-end with tested expectations.</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endParaRPr/>
          </a:p>
          <a:p>
            <a:r>
              <a:t>**Prerequisites:** Core logic stable and testable</a:t>
            </a:r>
          </a:p>
          <a:p>
            <a:endParaRPr/>
          </a:p>
          <a:p>
            <a:r>
              <a:t>### Objectives</a:t>
            </a:r>
          </a:p>
          <a:p>
            <a:endParaRPr/>
          </a:p>
          <a:p>
            <a:r>
              <a:t>- Wire UI interactions cleanly to existing logic.</a:t>
            </a:r>
          </a:p>
          <a:p>
            <a:endParaRPr/>
          </a:p>
          <a:p>
            <a:r>
              <a:t>### Activities</a:t>
            </a:r>
          </a:p>
          <a:p>
            <a:endParaRPr/>
          </a:p>
          <a:p>
            <a:r>
              <a:t>- Prioritize event mapping clarity over visual polish.</a:t>
            </a:r>
          </a:p>
          <a:p>
            <a:endParaRPr/>
          </a:p>
          <a:p>
            <a:r>
              <a:t>### Success Criteria</a:t>
            </a:r>
          </a:p>
          <a:p>
            <a:endParaRPr/>
          </a:p>
          <a:p>
            <a:r>
              <a:t>- Workflow passes from input to output with no breaks.</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~01:00</a:t>
            </a:r>
          </a:p>
          <a:p>
            <a:endParaRPr/>
          </a:p>
          <a:p>
            <a:endParaRPr/>
          </a:p>
          <a:p>
            <a:r>
              <a:t>**Prerequisites:** Calculator logic implemented</a:t>
            </a:r>
          </a:p>
          <a:p>
            <a:endParaRPr/>
          </a:p>
          <a:p>
            <a:r>
              <a:t>### Objectives</a:t>
            </a:r>
          </a:p>
          <a:p>
            <a:endParaRPr/>
          </a:p>
          <a:p>
            <a:r>
              <a:t>- Improve test quality, not just test count.</a:t>
            </a:r>
          </a:p>
          <a:p>
            <a:endParaRPr/>
          </a:p>
          <a:p>
            <a:r>
              <a:t>### Activities</a:t>
            </a:r>
          </a:p>
          <a:p>
            <a:endParaRPr/>
          </a:p>
          <a:p>
            <a:r>
              <a:t>- Review generated tests critically before accepting.</a:t>
            </a:r>
          </a:p>
          <a:p>
            <a:endParaRPr/>
          </a:p>
          <a:p>
            <a:r>
              <a:t>### Success Criteria</a:t>
            </a:r>
          </a:p>
          <a:p>
            <a:endParaRPr/>
          </a:p>
          <a:p>
            <a:r>
              <a:t>- Test suite is meaningful, comprehensive, and green.</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~00:40</a:t>
            </a:r>
          </a:p>
          <a:p>
            <a:endParaRPr/>
          </a:p>
          <a:p>
            <a:endParaRPr/>
          </a:p>
          <a:p>
            <a:r>
              <a:t>**Prerequisites:** Stable test suite</a:t>
            </a:r>
          </a:p>
          <a:p>
            <a:endParaRPr/>
          </a:p>
          <a:p>
            <a:r>
              <a:t>### Objectives</a:t>
            </a:r>
          </a:p>
          <a:p>
            <a:endParaRPr/>
          </a:p>
          <a:p>
            <a:r>
              <a:t>- Use coverage as a guide for targeted testing.</a:t>
            </a:r>
          </a:p>
          <a:p>
            <a:endParaRPr/>
          </a:p>
          <a:p>
            <a:r>
              <a:t>### Activities</a:t>
            </a:r>
          </a:p>
          <a:p>
            <a:endParaRPr/>
          </a:p>
          <a:p>
            <a:r>
              <a:t>- Treat uncovered code as investigation points, not automatic defects.</a:t>
            </a:r>
          </a:p>
          <a:p>
            <a:endParaRPr/>
          </a:p>
          <a:p>
            <a:r>
              <a:t>### Success Criteria</a:t>
            </a:r>
          </a:p>
          <a:p>
            <a:endParaRPr/>
          </a:p>
          <a:p>
            <a:r>
              <a:t>- Coverage setup works and leads to actionable improvements.</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~00:40</a:t>
            </a:r>
          </a:p>
          <a:p>
            <a:endParaRPr/>
          </a:p>
          <a:p>
            <a:endParaRPr/>
          </a:p>
          <a:p>
            <a:r>
              <a:t>**Prerequisites:** Build/test environment configured</a:t>
            </a:r>
          </a:p>
          <a:p>
            <a:endParaRPr/>
          </a:p>
          <a:p>
            <a:r>
              <a:t>### Objectives</a:t>
            </a:r>
          </a:p>
          <a:p>
            <a:endParaRPr/>
          </a:p>
          <a:p>
            <a:r>
              <a:t>- Build confidence in diagnosing and fixing dependency failures.</a:t>
            </a:r>
          </a:p>
          <a:p>
            <a:endParaRPr/>
          </a:p>
          <a:p>
            <a:r>
              <a:t>### Activities</a:t>
            </a:r>
          </a:p>
          <a:p>
            <a:endParaRPr/>
          </a:p>
          <a:p>
            <a:r>
              <a:t>- Emphasize iterative debugging and evidence-based prompts.</a:t>
            </a:r>
          </a:p>
          <a:p>
            <a:endParaRPr/>
          </a:p>
          <a:p>
            <a:r>
              <a:t>### Success Criteria</a:t>
            </a:r>
          </a:p>
          <a:p>
            <a:endParaRPr/>
          </a:p>
          <a:p>
            <a:r>
              <a:t>- Issue resolution is repeatable and well-documented.</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~00:40</a:t>
            </a:r>
          </a:p>
          <a:p>
            <a:endParaRPr/>
          </a:p>
          <a:p>
            <a:endParaRPr/>
          </a:p>
          <a:p>
            <a:r>
              <a:t>**Prerequisites:** Working project baseline</a:t>
            </a:r>
          </a:p>
          <a:p>
            <a:endParaRPr/>
          </a:p>
          <a:p>
            <a:r>
              <a:t>### Objectives</a:t>
            </a:r>
          </a:p>
          <a:p>
            <a:endParaRPr/>
          </a:p>
          <a:p>
            <a:r>
              <a:t>- Turn AI suggestions into intentional quality improvements.</a:t>
            </a:r>
          </a:p>
          <a:p>
            <a:endParaRPr/>
          </a:p>
          <a:p>
            <a:r>
              <a:t>### Activities</a:t>
            </a:r>
          </a:p>
          <a:p>
            <a:endParaRPr/>
          </a:p>
          <a:p>
            <a:r>
              <a:t>- Keep only changes with clear maintainability value.</a:t>
            </a:r>
          </a:p>
          <a:p>
            <a:endParaRPr/>
          </a:p>
          <a:p>
            <a:r>
              <a:t>### Success Criteria</a:t>
            </a:r>
          </a:p>
          <a:p>
            <a:endParaRPr/>
          </a:p>
          <a:p>
            <a:r>
              <a:t>- Improvements are justified and validated.</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endParaRPr/>
          </a:p>
          <a:p>
            <a:r>
              <a:t>**Prerequisites:** Access to multiple model options</a:t>
            </a:r>
          </a:p>
          <a:p>
            <a:endParaRPr/>
          </a:p>
          <a:p>
            <a:r>
              <a:t>### Objectives</a:t>
            </a:r>
          </a:p>
          <a:p>
            <a:endParaRPr/>
          </a:p>
          <a:p>
            <a:r>
              <a:t>- Build practical model-selection judgment.</a:t>
            </a:r>
          </a:p>
          <a:p>
            <a:endParaRPr/>
          </a:p>
          <a:p>
            <a:r>
              <a:t>### Activities</a:t>
            </a:r>
          </a:p>
          <a:p>
            <a:endParaRPr/>
          </a:p>
          <a:p>
            <a:r>
              <a:t>- Compare quality, speed, and token cost for same prompt.</a:t>
            </a:r>
          </a:p>
          <a:p>
            <a:endParaRPr/>
          </a:p>
          <a:p>
            <a:r>
              <a:t>### Success Criteria</a:t>
            </a:r>
          </a:p>
          <a:p>
            <a:endParaRPr/>
          </a:p>
          <a:p>
            <a:r>
              <a:t>- Team can explain when premium models are worth it.</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endParaRPr/>
          </a:p>
          <a:p>
            <a:r>
              <a:t>**Prerequisites:** UI and logic currently coupled</a:t>
            </a:r>
          </a:p>
          <a:p>
            <a:endParaRPr/>
          </a:p>
          <a:p>
            <a:r>
              <a:t>### Objectives</a:t>
            </a:r>
          </a:p>
          <a:p>
            <a:endParaRPr/>
          </a:p>
          <a:p>
            <a:r>
              <a:t>- Improve architecture through separation of concerns.</a:t>
            </a:r>
          </a:p>
          <a:p>
            <a:endParaRPr/>
          </a:p>
          <a:p>
            <a:r>
              <a:t>### Activities</a:t>
            </a:r>
          </a:p>
          <a:p>
            <a:endParaRPr/>
          </a:p>
          <a:p>
            <a:r>
              <a:t>- Create clear, testable boundaries between UI and engine.</a:t>
            </a:r>
          </a:p>
          <a:p>
            <a:endParaRPr/>
          </a:p>
          <a:p>
            <a:r>
              <a:t>### Success Criteria</a:t>
            </a:r>
          </a:p>
          <a:p>
            <a:endParaRPr/>
          </a:p>
          <a:p>
            <a:r>
              <a:t>- Core logic is isolated and reusable.</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~00:40</a:t>
            </a:r>
          </a:p>
          <a:p>
            <a:endParaRPr/>
          </a:p>
          <a:p>
            <a:endParaRPr/>
          </a:p>
          <a:p>
            <a:r>
              <a:t>**Prerequisites:** Functional calculator project</a:t>
            </a:r>
          </a:p>
          <a:p>
            <a:endParaRPr/>
          </a:p>
          <a:p>
            <a:r>
              <a:t>### Objectives</a:t>
            </a:r>
          </a:p>
          <a:p>
            <a:endParaRPr/>
          </a:p>
          <a:p>
            <a:r>
              <a:t>- Apply practical security checks to working code.</a:t>
            </a:r>
          </a:p>
          <a:p>
            <a:endParaRPr/>
          </a:p>
          <a:p>
            <a:r>
              <a:t>### Activities</a:t>
            </a:r>
          </a:p>
          <a:p>
            <a:endParaRPr/>
          </a:p>
          <a:p>
            <a:r>
              <a:t>- Validate fixes with tests and review, not assumptions.</a:t>
            </a:r>
          </a:p>
          <a:p>
            <a:endParaRPr/>
          </a:p>
          <a:p>
            <a:r>
              <a:t>### Success Criteria</a:t>
            </a:r>
          </a:p>
          <a:p>
            <a:endParaRPr/>
          </a:p>
          <a:p>
            <a:r>
              <a:t>- Security posture improves with documented rationale.</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~00:40</a:t>
            </a:r>
          </a:p>
          <a:p>
            <a:endParaRPr/>
          </a:p>
          <a:p>
            <a:endParaRPr/>
          </a:p>
          <a:p>
            <a:r>
              <a:t>**Prerequisites:** Stable code to document</a:t>
            </a:r>
          </a:p>
          <a:p>
            <a:endParaRPr/>
          </a:p>
          <a:p>
            <a:r>
              <a:t>### Objectives</a:t>
            </a:r>
          </a:p>
          <a:p>
            <a:endParaRPr/>
          </a:p>
          <a:p>
            <a:r>
              <a:t>- Produce maintainable, user-focused documentation.</a:t>
            </a:r>
          </a:p>
          <a:p>
            <a:endParaRPr/>
          </a:p>
          <a:p>
            <a:r>
              <a:t>### Activities</a:t>
            </a:r>
          </a:p>
          <a:p>
            <a:endParaRPr/>
          </a:p>
          <a:p>
            <a:r>
              <a:t>- Treat generated docs as drafts requiring technical review.</a:t>
            </a:r>
          </a:p>
          <a:p>
            <a:endParaRPr/>
          </a:p>
          <a:p>
            <a:r>
              <a:t>### Success Criteria</a:t>
            </a:r>
          </a:p>
          <a:p>
            <a:endParaRPr/>
          </a:p>
          <a:p>
            <a:r>
              <a:t>- Docs are complete, correct, and actionable.</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~00:40</a:t>
            </a:r>
          </a:p>
          <a:p>
            <a:endParaRPr/>
          </a:p>
          <a:p>
            <a:endParaRPr/>
          </a:p>
          <a:p>
            <a:r>
              <a:t>**Prerequisites:** Existing implementation with improvement opportunities</a:t>
            </a:r>
          </a:p>
          <a:p>
            <a:endParaRPr/>
          </a:p>
          <a:p>
            <a:r>
              <a:t>### Objectives</a:t>
            </a:r>
          </a:p>
          <a:p>
            <a:endParaRPr/>
          </a:p>
          <a:p>
            <a:r>
              <a:t>- Use AI for option generation, then apply engineering judgment.</a:t>
            </a:r>
          </a:p>
          <a:p>
            <a:endParaRPr/>
          </a:p>
          <a:p>
            <a:r>
              <a:t>### Activities</a:t>
            </a:r>
          </a:p>
          <a:p>
            <a:endParaRPr/>
          </a:p>
          <a:p>
            <a:r>
              <a:t>- Compare alternatives using explicit criteria.</a:t>
            </a:r>
          </a:p>
          <a:p>
            <a:endParaRPr/>
          </a:p>
          <a:p>
            <a:r>
              <a:t>### Success Criteria</a:t>
            </a:r>
          </a:p>
          <a:p>
            <a:endParaRPr/>
          </a:p>
          <a:p>
            <a:r>
              <a:t>- Selected refactor improves clarity without regressions.</a:t>
            </a:r>
          </a:p>
          <a:p>
            <a:endParaRPr/>
          </a:p>
          <a:p>
            <a:r>
              <a:t>---</a:t>
            </a:r>
          </a:p>
          <a:p>
            <a:endParaRPr/>
          </a:p>
          <a:p>
            <a:r>
              <a:t>Source: Slides\individual-slides\exercise-calculator-project.md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~00:45</a:t>
            </a:r>
          </a:p>
          <a:p>
            <a:endParaRPr/>
          </a:p>
          <a:p>
            <a:endParaRPr/>
          </a:p>
          <a:p>
            <a:r>
              <a:t>**Prerequisites:** Lab 1 completed, existing test suite</a:t>
            </a:r>
          </a:p>
          <a:p>
            <a:endParaRPr/>
          </a:p>
          <a:p>
            <a:r>
              <a:t>### Objectives</a:t>
            </a:r>
          </a:p>
          <a:p>
            <a:endParaRPr/>
          </a:p>
          <a:p>
            <a:r>
              <a:t>- Analyze code coverage reports</a:t>
            </a:r>
          </a:p>
          <a:p>
            <a:r>
              <a:t>- Use Copilot to intelligently add tests</a:t>
            </a:r>
          </a:p>
          <a:p>
            <a:r>
              <a:t>- Achieve target coverage percentage</a:t>
            </a:r>
          </a:p>
          <a:p>
            <a:r>
              <a:t>- Balance quantity vs. quality of tests</a:t>
            </a:r>
          </a:p>
          <a:p>
            <a:endParaRPr/>
          </a:p>
          <a:p>
            <a:r>
              <a:t>### Activities</a:t>
            </a:r>
          </a:p>
          <a:p>
            <a:endParaRPr/>
          </a:p>
          <a:p>
            <a:r>
              <a:t>1. Review current coverage metrics and identify weak areas by file/class.</a:t>
            </a:r>
          </a:p>
          <a:p>
            <a:r>
              <a:t>2. Use Copilot prompts to generate targeted tests for uncovered code paths.</a:t>
            </a:r>
          </a:p>
          <a:p>
            <a:r>
              <a:t>3. Improve strategically with edge-case and integration-focused prompts.</a:t>
            </a:r>
          </a:p>
          <a:p>
            <a:r>
              <a:t>4. Validate test quality to ensure behavior is truly verified.</a:t>
            </a:r>
          </a:p>
          <a:p>
            <a:r>
              <a:t>5. Re-run coverage and compare before/after outcomes.</a:t>
            </a:r>
          </a:p>
          <a:p>
            <a:endParaRPr/>
          </a:p>
          <a:p>
            <a:r>
              <a:t>### Success Criteria</a:t>
            </a:r>
          </a:p>
          <a:p>
            <a:endParaRPr/>
          </a:p>
          <a:p>
            <a:r>
              <a:t>- Coverage increases by at least 20 percentage points.</a:t>
            </a:r>
          </a:p>
          <a:p>
            <a:r>
              <a:t>- New tests are meaningful and exercise actual implementation logic.</a:t>
            </a:r>
          </a:p>
          <a:p>
            <a:r>
              <a:t>- Edge cases and error conditions are covered.</a:t>
            </a:r>
          </a:p>
          <a:p>
            <a:r>
              <a:t>- Coverage reporting clearly shows improvement.</a:t>
            </a:r>
          </a:p>
          <a:p>
            <a:r>
              <a:t>- Participants can explain quality vs. quantity trade-offs.</a:t>
            </a:r>
          </a:p>
          <a:p>
            <a:endParaRPr/>
          </a:p>
          <a:p>
            <a:r>
              <a:t>### Key Learning Point</a:t>
            </a:r>
          </a:p>
          <a:p>
            <a:endParaRPr/>
          </a:p>
          <a:p>
            <a:r>
              <a:t>As discovered in the session, asking Copilot to "increase coverage to 50%" can work because it can intelligently identify which code paths need testing. This can be more efficient than manually finding every gap, but quality checks are still required.</a:t>
            </a:r>
          </a:p>
          <a:p>
            <a:endParaRPr/>
          </a:p>
          <a:p>
            <a:r>
              <a:t>---</a:t>
            </a:r>
          </a:p>
          <a:p>
            <a:endParaRPr/>
          </a:p>
          <a:p>
            <a:r>
              <a:t>Source: Slides\individual-slides\exercise-test-coverage-improvement.md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~00:60</a:t>
            </a:r>
          </a:p>
          <a:p>
            <a:endParaRPr/>
          </a:p>
          <a:p>
            <a:endParaRPr/>
          </a:p>
          <a:p>
            <a:r>
              <a:t>**Prerequisites:** Understanding of TDD principles</a:t>
            </a:r>
          </a:p>
          <a:p>
            <a:endParaRPr/>
          </a:p>
          <a:p>
            <a:r>
              <a:t>### Objectives</a:t>
            </a:r>
          </a:p>
          <a:p>
            <a:endParaRPr/>
          </a:p>
          <a:p>
            <a:r>
              <a:t>- Practice TDD workflow with AI assistance</a:t>
            </a:r>
          </a:p>
          <a:p>
            <a:r>
              <a:t>- Write failing tests before implementation</a:t>
            </a:r>
          </a:p>
          <a:p>
            <a:r>
              <a:t>- Use tests to drive design decisions</a:t>
            </a:r>
          </a:p>
          <a:p>
            <a:r>
              <a:t>- Understand red-green-refactor cycle</a:t>
            </a:r>
          </a:p>
          <a:p>
            <a:endParaRPr/>
          </a:p>
          <a:p>
            <a:r>
              <a:t>### Activities</a:t>
            </a:r>
          </a:p>
          <a:p>
            <a:endParaRPr/>
          </a:p>
          <a:p>
            <a:r>
              <a:t>1. Select a small feature and define expected behavior.</a:t>
            </a:r>
          </a:p>
          <a:p>
            <a:r>
              <a:t>2. Ask Copilot for tests only, and confirm the implementation is still missing.</a:t>
            </a:r>
          </a:p>
          <a:p>
            <a:r>
              <a:t>3. Run tests and capture failures to validate the red phase.</a:t>
            </a:r>
          </a:p>
          <a:p>
            <a:r>
              <a:t>4. Implement the minimum code required to satisfy tests.</a:t>
            </a:r>
          </a:p>
          <a:p>
            <a:r>
              <a:t>5. Refactor for readability and maintainability while keeping tests green.</a:t>
            </a:r>
          </a:p>
          <a:p>
            <a:endParaRPr/>
          </a:p>
          <a:p>
            <a:r>
              <a:t>### Success Criteria</a:t>
            </a:r>
          </a:p>
          <a:p>
            <a:endParaRPr/>
          </a:p>
          <a:p>
            <a:r>
              <a:t>- Tests are authored before implementation code.</a:t>
            </a:r>
          </a:p>
          <a:p>
            <a:r>
              <a:t>- The first execution clearly fails (red).</a:t>
            </a:r>
          </a:p>
          <a:p>
            <a:r>
              <a:t>- Feature implementation makes tests pass (green).</a:t>
            </a:r>
          </a:p>
          <a:p>
            <a:r>
              <a:t>- Refactoring preserves passing tests.</a:t>
            </a:r>
          </a:p>
          <a:p>
            <a:r>
              <a:t>- Participants can explain the value of TDD in AI-assisted development.</a:t>
            </a:r>
          </a:p>
          <a:p>
            <a:endParaRPr/>
          </a:p>
          <a:p>
            <a:r>
              <a:t>### TDD Cycle</a:t>
            </a:r>
          </a:p>
          <a:p>
            <a:endParaRPr/>
          </a:p>
          <a:p>
            <a:r>
              <a:t>1. **Red:** Write a failing test.</a:t>
            </a:r>
          </a:p>
          <a:p>
            <a:r>
              <a:t>2. **Green:** Write minimal code to make it pass.</a:t>
            </a:r>
          </a:p>
          <a:p>
            <a:r>
              <a:t>3. **Refactor:** Improve code while keeping tests green.</a:t>
            </a:r>
          </a:p>
          <a:p>
            <a:endParaRPr/>
          </a:p>
          <a:p>
            <a:r>
              <a:t>---</a:t>
            </a:r>
          </a:p>
          <a:p>
            <a:endParaRPr/>
          </a:p>
          <a:p>
            <a:r>
              <a:t>Source: Slides\individual-slides\exercise-test-driven-development.md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practical guide to using AI — specifically GitHub Copilot — to design, generate, and maintain CI/CD pipelines on GitHub Actions. Emphasize that the goal is not to automate humans out of the loop but to reduce the friction between "intent" and "working YAML". Many teams struggle to get a pipeline right on the first try; AI dramatically shortens that feedback cycle.</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empathy. Most developers have lost an afternoon to a mis-indented YAML block or an unexpected breaking change in a third-party action. These are not skill failures — they are complexity failures. AI closes the gap between "I know what I want" and "here is the correct YAML to achieve it."</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mental model: the developer provides intent, the AI provides syntactically correct, contextually appropriate YAML. This is not magic — the AI has seen thousands of pipelines. Stress that the developer still reviews and owns every line. AI accelerates the first draft and the debugging loop, not the decision-making.</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opportunity: open a blank `.github/workflows/ci.yml` and type the prompt as a comment. Show how Copilot completes the file. Point out that the model understands dotnet CLI, the Coverlet report format, and the `codecov/codecov-action` convention. Then ask it to explain each step — students can use this to build mental models, not just cargo-cult YAML.</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section: triggers, runner, checkout, SDK setup, restore, build, test. Point out `actions/checkout@v4` — a pinned major version. Ask students: what happens if you omit the `--no-restore` flag on build? What if `ubuntu-latest` changes? These are exactly the questions AI can help answer in context. Normalize asking the AI "why is this step here?" as a learning technique.</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Coverage thresholds are one of the most common sources of confusion: where does the threshold live? In the test runner config? In the upload action? In a separate tool? AI answers this correctly for the specific framework in use. Demo: ask Copilot the same question for Jest, pytest, and dotnet — show that the answer differs and the AI knows the difference. Emphasize that a threshold without enforcement is just aspirational documentation.</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Matrix builds and caching are two patterns that dramatically improve pipeline performance but are tedious to hand-write. Show how asking Copilot "add a matrix build for Windows and Ubuntu across .NET 7 and 8" produces the correct strategy block. Ask it to explain the cache key hash — students often do not realize that changing a .csproj file correctly invalidates the cache. Artifact upload is another common gap; AI fills it without needing to hunt through documentation.</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Maintenance is where AI pays long-term dividends. Demo: paste a failing workflow log into Copilot Chat and ask what is wrong. The model can identify common error patterns — missing permissions, wrong branch reference, deprecated node version warnings. Also show the refactoring use case: large workflows become hard to read; AI can extract shared steps into reusable workflows with `workflow_call` triggers without breaking existing runs.</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Reusable workflows (`workflow_call`) are a powerful but often underused GitHub Actions feature. Teams that copy-paste CI logic across repos accumulate drift. AI can audit an existing set of workflows, identify duplicated patterns, and generate a reusable workflow plus updated callers in a single conversation. Show the prompt: "Here are our five workflow files. Extract the test steps into a reusable workflow and update each caller." This is a real time-saver in large organizations.</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AI can suggest correct permission scopes but cannot see your repository's secret store or org policies. The developer must verify secret names and confirm that the minimum-privilege principle is applied. This is a great moment to discuss GITHUB_TOKEN permissions — defaulting to read-all is a common mistake that AI will flag if prompted. The key habit: ask AI "what permissions does this step need?" rather than granting write-all and moving on.</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this five-step workflow live or in a recorded demo. The goal is to show the conversation as a dialogue, not a one-shot prompt. Each ask builds on the previous output. Encourage students to try this with their own stack immediately after the session. The pipeline does not need to be perfect on step 2 — that is the point. Iteration with AI is fast.</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 Circulate and watch for students who try to use Copilot as a black box without reading the output. Prompt them: "Can you explain line 12 to me?" That question forces engagement. Common issues: students forget to create the `.github/workflows/` directory, or they use the wrong indentation. AI usually catches these if students paste the file back and ask "is this correct YAML?" Debrief: what surprised you? What did the AI get wrong?</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reinforcing ownership. Students may be tempted to treat AI-generated pipelines as authoritative. Remind them that the AI has no knowledge of their org's compliance requirements, runner quotas, or secret naming conventions. The value is in speed and correctness of syntax — the developer still provides judgment. Leave time for questions; common ones are about self-hosted runners, environments and approval gates, and how to handle monorepos.</a:t>
            </a:r>
          </a:p>
          <a:p>
            <a:endParaRPr/>
          </a:p>
          <a:p>
            <a:r>
              <a:t>---</a:t>
            </a:r>
          </a:p>
          <a:p>
            <a:endParaRPr/>
          </a:p>
          <a:p>
            <a:r>
              <a:t>Source: Slides\individual-slides\ai-assisted-cicd-pipelines.md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this session on using AI to improve the pull request workflow. GitHub Copilot and related AI tools can dramatically reduce the friction of creating, reviewing, and merging pull requests.</a:t>
            </a:r>
          </a:p>
          <a:p>
            <a:endParaRPr/>
          </a:p>
          <a:p>
            <a:r>
              <a:t>**Key Points**:</a:t>
            </a:r>
          </a:p>
          <a:p>
            <a:endParaRPr/>
          </a:p>
          <a:p>
            <a:r>
              <a:t>- PRs are a critical communication artifact in software development</a:t>
            </a:r>
          </a:p>
          <a:p>
            <a:r>
              <a:t>- AI can help at every stage: drafting, describing, reviewing, and summarizing</a:t>
            </a:r>
          </a:p>
          <a:p>
            <a:r>
              <a:t>- The goal is not to replace human judgment but to reduce toil</a:t>
            </a:r>
          </a:p>
          <a:p>
            <a:endParaRPr/>
          </a:p>
          <a:p>
            <a:r>
              <a:t>**Delivery**: Open by asking the audience how much time they spend writing PR descriptions or waiting for code review. Frame AI assistance as a way to reclaim that time.</a:t>
            </a:r>
          </a:p>
          <a:p>
            <a:endParaRPr/>
          </a:p>
          <a:p>
            <a:r>
              <a:t>**Transition**: "Let's look at where AI fits in the pull request lifecycle."</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The PR lifecycle is a feedback loop, not a one-way street</a:t>
            </a:r>
          </a:p>
          <a:p>
            <a:r>
              <a:t>2. Most developers focus on the code-writing stage but spend significant time on communication tasks</a:t>
            </a:r>
          </a:p>
          <a:p>
            <a:r>
              <a:t>3. AI assistance compresses the non-coding parts of the cycle</a:t>
            </a:r>
          </a:p>
          <a:p>
            <a:endParaRPr/>
          </a:p>
          <a:p>
            <a:r>
              <a:t>**Examples to Share**:</a:t>
            </a:r>
          </a:p>
          <a:p>
            <a:endParaRPr/>
          </a:p>
          <a:p>
            <a:r>
              <a:t>- A developer who writes great code but struggles with clear PR descriptions benefits from AI drafting</a:t>
            </a:r>
          </a:p>
          <a:p>
            <a:r>
              <a:t>- A reviewer who is overwhelmed with large PRs benefits from AI summaries</a:t>
            </a:r>
          </a:p>
          <a:p>
            <a:endParaRPr/>
          </a:p>
          <a:p>
            <a:r>
              <a:t>**Audience Interaction**: "Which stage do you find most time-consuming or frustrating?"</a:t>
            </a:r>
          </a:p>
          <a:p>
            <a:endParaRPr/>
          </a:p>
          <a:p>
            <a:r>
              <a:t>**Transition**: "Let's start with where most of the AI value is—creating the PR itself."</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Copilot analyzes the diff and generates a structured description automatically</a:t>
            </a:r>
          </a:p>
          <a:p>
            <a:r>
              <a:t>2. Good PR descriptions save reviewers time and reduce back-and-forth questions</a:t>
            </a:r>
          </a:p>
          <a:p>
            <a:r>
              <a:t>3. The AI draft is a starting point—always review and personalize it</a:t>
            </a:r>
          </a:p>
          <a:p>
            <a:endParaRPr/>
          </a:p>
          <a:p>
            <a:r>
              <a:t>**Demo Tip**: If demoing live, show `gh pr create` in the terminal and trigger Copilot suggestions in the description field.</a:t>
            </a:r>
          </a:p>
          <a:p>
            <a:endParaRPr/>
          </a:p>
          <a:p>
            <a:r>
              <a:t>**Common Pitfall**: AI descriptions can be verbose. Encourage developers to trim and focus on the "why" rather than just the "what."</a:t>
            </a:r>
          </a:p>
          <a:p>
            <a:endParaRPr/>
          </a:p>
          <a:p>
            <a:r>
              <a:t>**Audience Interaction**: "How many of you write a detailed PR description every time? How many leave it mostly empty?"</a:t>
            </a:r>
          </a:p>
          <a:p>
            <a:endParaRPr/>
          </a:p>
          <a:p>
            <a:r>
              <a:t>**Transition**: "Once the PR is open, AI continues to help on the review side."</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AI output quality is proportional to the context you provide</a:t>
            </a:r>
          </a:p>
          <a:p>
            <a:r>
              <a:t>2. Referencing the issue number or user story helps Copilot add business context</a:t>
            </a:r>
          </a:p>
          <a:p>
            <a:r>
              <a:t>3. Structuring the prompt mirrors the structure you want in the output</a:t>
            </a:r>
          </a:p>
          <a:p>
            <a:endParaRPr/>
          </a:p>
          <a:p>
            <a:r>
              <a:t>**Template to Share**:</a:t>
            </a:r>
          </a:p>
          <a:p>
            <a:r>
              <a:t>Show the three-section template on screen. Encourage teams to add this as a PR template in `.github/pull_request_template.md` so Copilot has a consistent structure to fill.</a:t>
            </a:r>
          </a:p>
          <a:p>
            <a:endParaRPr/>
          </a:p>
          <a:p>
            <a:r>
              <a:t>**Pro Tip**: Commit messages also feed into the PR description. Good commit messages mean better AI-generated PRs.</a:t>
            </a:r>
          </a:p>
          <a:p>
            <a:endParaRPr/>
          </a:p>
          <a:p>
            <a:r>
              <a:t>**Transition**: "Let's look at how AI helps on the review side of the process."</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AI doesn't replace human reviewers—it reduces the cognitive load so reviewers can focus on design and logic</a:t>
            </a:r>
          </a:p>
          <a:p>
            <a:r>
              <a:t>2. Copilot Chat in the PR view lets reviewers ask questions like "What does this function do?" without leaving the review</a:t>
            </a:r>
          </a:p>
          <a:p>
            <a:r>
              <a:t>3. Security scanning tools (GitHub Advanced Security + Copilot Autofix) can suggest fixes for flagged issues</a:t>
            </a:r>
          </a:p>
          <a:p>
            <a:endParaRPr/>
          </a:p>
          <a:p>
            <a:r>
              <a:t>**Examples to Share**:</a:t>
            </a:r>
          </a:p>
          <a:p>
            <a:endParaRPr/>
          </a:p>
          <a:p>
            <a:r>
              <a:t>- Reviewer asks: "Is there a simpler way to write this?" → Copilot suggests a refactored version</a:t>
            </a:r>
          </a:p>
          <a:p>
            <a:r>
              <a:t>- Reviewer asks: "Does this handle null input?" → Copilot analyzes and flags a potential null reference</a:t>
            </a:r>
          </a:p>
          <a:p>
            <a:endParaRPr/>
          </a:p>
          <a:p>
            <a:r>
              <a:t>**Audience Interaction**: "Have you used Copilot Chat during a code review? What kinds of questions did you ask?"</a:t>
            </a:r>
          </a:p>
          <a:p>
            <a:endParaRPr/>
          </a:p>
          <a:p>
            <a:r>
              <a:t>**Transition**: "Beyond individual comments, AI can also summarize entire PRs."</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This feature is particularly valuable for large PRs with many files changed</a:t>
            </a:r>
          </a:p>
          <a:p>
            <a:r>
              <a:t>2. Summaries help async teams where reviewers may not have full context</a:t>
            </a:r>
          </a:p>
          <a:p>
            <a:r>
              <a:t>3. The summary can be copied directly into release notes or changelogs</a:t>
            </a:r>
          </a:p>
          <a:p>
            <a:endParaRPr/>
          </a:p>
          <a:p>
            <a:r>
              <a:t>**Demo Tip**: Show the Copilot summary button on GitHub.com if doing a live demo. Highlight how it categorizes changes.</a:t>
            </a:r>
          </a:p>
          <a:p>
            <a:endParaRPr/>
          </a:p>
          <a:p>
            <a:r>
              <a:t>**Pro Tip**: Teams can require a Copilot summary as part of their PR checklist to ensure all PRs are self-documenting.</a:t>
            </a:r>
          </a:p>
          <a:p>
            <a:endParaRPr/>
          </a:p>
          <a:p>
            <a:r>
              <a:t>**Transition**: "Now let's look at how Copilot helps you respond to review feedback."</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The most time-consuming part of PR iteration is addressing multiple review comments</a:t>
            </a:r>
          </a:p>
          <a:p>
            <a:r>
              <a:t>2. Copilot can read a review comment and suggest the corresponding code change</a:t>
            </a:r>
          </a:p>
          <a:p>
            <a:r>
              <a:t>3. Autofix is especially powerful for security alerts—it not only flags the issue but provides the patched code</a:t>
            </a:r>
          </a:p>
          <a:p>
            <a:endParaRPr/>
          </a:p>
          <a:p>
            <a:r>
              <a:t>**Workflow to Describe**:</a:t>
            </a:r>
          </a:p>
          <a:p>
            <a:endParaRPr/>
          </a:p>
          <a:p>
            <a:r>
              <a:t>1. Reviewer leaves a comment: "This should use a parameterized query"</a:t>
            </a:r>
          </a:p>
          <a:p>
            <a:r>
              <a:t>2. Developer clicks Copilot suggestion next to the comment</a:t>
            </a:r>
          </a:p>
          <a:p>
            <a:r>
              <a:t>3. Copilot generates the parameterized version</a:t>
            </a:r>
          </a:p>
          <a:p>
            <a:r>
              <a:t>4. Developer reviews and commits</a:t>
            </a:r>
          </a:p>
          <a:p>
            <a:endParaRPr/>
          </a:p>
          <a:p>
            <a:r>
              <a:t>**Audience Interaction**: "How many review cycles does a typical PR go through on your team? Could AI reduce that?"</a:t>
            </a:r>
          </a:p>
          <a:p>
            <a:endParaRPr/>
          </a:p>
          <a:p>
            <a:r>
              <a:t>**Transition**: "Let's talk about automating the checks that run on every PR."</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Automating AI checks ensures consistency—every PR gets the same baseline review</a:t>
            </a:r>
          </a:p>
          <a:p>
            <a:r>
              <a:t>2. This is not a replacement for human review but a first pass that catches common issues</a:t>
            </a:r>
          </a:p>
          <a:p>
            <a:r>
              <a:t>3. Teams can configure severity thresholds to control which findings block merges</a:t>
            </a:r>
          </a:p>
          <a:p>
            <a:endParaRPr/>
          </a:p>
          <a:p>
            <a:r>
              <a:t>**Architecture Note**: These actions run in GitHub Actions and post results as PR check statuses, integrating with existing branch protection rules.</a:t>
            </a:r>
          </a:p>
          <a:p>
            <a:endParaRPr/>
          </a:p>
          <a:p>
            <a:r>
              <a:t>**Pro Tip**: Combine AI code review with conventional linting and testing so developers get a single, unified set of feedback.</a:t>
            </a:r>
          </a:p>
          <a:p>
            <a:endParaRPr/>
          </a:p>
          <a:p>
            <a:r>
              <a:t>**Caution**: Avoid too many automated checks that create noise. Focus on high-signal rules.</a:t>
            </a:r>
          </a:p>
          <a:p>
            <a:endParaRPr/>
          </a:p>
          <a:p>
            <a:r>
              <a:t>**Transition**: "Let's look at some real-world patterns teams are using today."</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The biggest gains are in communication overhead, not code writing speed</a:t>
            </a:r>
          </a:p>
          <a:p>
            <a:r>
              <a:t>2. New team members benefit most because AI helps them match team standards faster</a:t>
            </a:r>
          </a:p>
          <a:p>
            <a:r>
              <a:t>3. Reviewers focus on what matters—architecture, correctness, maintainability—when AI handles style and common issues</a:t>
            </a:r>
          </a:p>
          <a:p>
            <a:endParaRPr/>
          </a:p>
          <a:p>
            <a:r>
              <a:t>**Story to Share**: A team at a large enterprise reduced PR cycle time from 3 days to less than 1 day by combining AI-generated descriptions, automated checks, and Copilot Autofix. The change was primarily in the communication and iteration loop, not the code itself.</a:t>
            </a:r>
          </a:p>
          <a:p>
            <a:endParaRPr/>
          </a:p>
          <a:p>
            <a:r>
              <a:t>**Transition**: "Before we wrap up, let's talk about best practices."</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AI is a collaborator, not an autopilot. Human oversight remains essential.</a:t>
            </a:r>
          </a:p>
          <a:p>
            <a:r>
              <a:t>2. The PR template acts as a contract between the author and the AI—providing structure improves output quality</a:t>
            </a:r>
          </a:p>
          <a:p>
            <a:r>
              <a:t>3. Alert fatigue is real. Configure automated checks to surface only actionable findings.</a:t>
            </a:r>
          </a:p>
          <a:p>
            <a:endParaRPr/>
          </a:p>
          <a:p>
            <a:r>
              <a:t>**Common Mistakes**:</a:t>
            </a:r>
          </a:p>
          <a:p>
            <a:endParaRPr/>
          </a:p>
          <a:p>
            <a:r>
              <a:t>- Teams that enable every available check end up ignoring them all</a:t>
            </a:r>
          </a:p>
          <a:p>
            <a:r>
              <a:t>- Developers who merge AI descriptions verbatim lose the "why" context that only they know</a:t>
            </a:r>
          </a:p>
          <a:p>
            <a:r>
              <a:t>- Over-reliance on AI review can erode human review skills over time</a:t>
            </a:r>
          </a:p>
          <a:p>
            <a:endParaRPr/>
          </a:p>
          <a:p>
            <a:r>
              <a:t>**Audience Interaction**: "What guardrails does your team have around AI-generated content in PRs?"</a:t>
            </a:r>
          </a:p>
          <a:p>
            <a:endParaRPr/>
          </a:p>
          <a:p>
            <a:r>
              <a:t>**Transition**: "Let's summarize what we covered and talk about next steps."</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Gradual adoption works better than a big-bang rollout</a:t>
            </a:r>
          </a:p>
          <a:p>
            <a:r>
              <a:t>2. Starting with PR descriptions has no risk and immediate value</a:t>
            </a:r>
          </a:p>
          <a:p>
            <a:r>
              <a:t>3. As teams build confidence, they can layer in automated checks</a:t>
            </a:r>
          </a:p>
          <a:p>
            <a:endParaRPr/>
          </a:p>
          <a:p>
            <a:r>
              <a:t>**Call to Action**: Encourage each attendee to write their next PR description with Copilot's help and note the difference.</a:t>
            </a:r>
          </a:p>
          <a:p>
            <a:endParaRPr/>
          </a:p>
          <a:p>
            <a:r>
              <a:t>**Resources**: Point to the GitHub Copilot docs and the gh CLI documentation for hands-on exploration.</a:t>
            </a:r>
          </a:p>
          <a:p>
            <a:endParaRPr/>
          </a:p>
          <a:p>
            <a:r>
              <a:t>**Transition**: "Let's open it up for questions."</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The table reinforces the before/after contrast—anchor the value proposition</a:t>
            </a:r>
          </a:p>
          <a:p>
            <a:r>
              <a:t>2. The key insight: PRs shift from a documentation burden to a collaborative artifact</a:t>
            </a:r>
          </a:p>
          <a:p>
            <a:r>
              <a:t>3. The human role shifts from doing all the communication work to reviewing and approving AI-assisted communication</a:t>
            </a:r>
          </a:p>
          <a:p>
            <a:endParaRPr/>
          </a:p>
          <a:p>
            <a:r>
              <a:t>**Closing Message**: AI doesn't change what a good PR looks like—it reduces the effort required to create one. The standards, the review culture, and the human judgment remain essential.</a:t>
            </a:r>
          </a:p>
          <a:p>
            <a:endParaRPr/>
          </a:p>
          <a:p>
            <a:r>
              <a:t>**Final Question for Audience**: "What's one part of your PR workflow you'd like AI to help with first?"</a:t>
            </a:r>
          </a:p>
          <a:p>
            <a:endParaRPr/>
          </a:p>
          <a:p>
            <a:r>
              <a:t>**Thank the audience and open for Q&amp;A.**</a:t>
            </a:r>
          </a:p>
          <a:p>
            <a:endParaRPr/>
          </a:p>
          <a:p>
            <a:r>
              <a:t>---</a:t>
            </a:r>
          </a:p>
          <a:p>
            <a:endParaRPr/>
          </a:p>
          <a:p>
            <a:r>
              <a:t>Source: Slides\individual-slides\ai-assisted-github-pull-requests.md</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no single model is perfect. Using multiple models gives teams a broader perspective and helps catch errors or blind spots that one model alone might miss.</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Encourage participants to treat model outputs like multiple drafts from different engineers. The goal is not to pick a winner — it's to synthesize the best ideas.</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risk assessment is essential in brownfield systems. Even if a model produces elegant code, it may be too risky without proper guardrails.</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synthesis is the real power of multi-model workflows. Teams can build a composite solution that is better than any single model's output.</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Encourage participants to think like reviewers comparing multiple PRs. The goal is to understand model behavior, not to pick a favorite.</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helps participants see how different models interpret the same instructions — a key skill for multi-model workflows.</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This exercise builds confidence in orchestrating multiple models as collaborators. The goal is synthesis, not competition.</a:t>
            </a:r>
          </a:p>
          <a:p>
            <a:endParaRPr/>
          </a:p>
          <a:p>
            <a:r>
              <a:t>---</a:t>
            </a:r>
          </a:p>
          <a:p>
            <a:endParaRPr/>
          </a:p>
          <a:p>
            <a:r>
              <a:t>Source: Slides\individual-slides\multi-model-implementation-comparison.md</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  Introduce Evergreen Software Development as a philosophy for building systems that can evolve indefinitely without degrading. This is crucial for AI-assisted development.</a:t>
            </a:r>
          </a:p>
          <a:p>
            <a:endParaRPr/>
          </a:p>
          <a:p>
            <a:r>
              <a:t>Explain each principle:</a:t>
            </a:r>
          </a:p>
          <a:p>
            <a:endParaRPr/>
          </a:p>
          <a:p>
            <a:r>
              <a:t>1. Intent-First Design: Document WHY before WHAT. AI can regenerate code but needs clear intent.</a:t>
            </a:r>
          </a:p>
          <a:p>
            <a:r>
              <a:t>2. Stable Interfaces: Public contracts stay stable while implementations improve continuously.</a:t>
            </a:r>
          </a:p>
          <a:p>
            <a:r>
              <a:t>3. Continuous Regeneration: AI can safely rewrite components when guardrails (tests, specs) exist.</a:t>
            </a:r>
          </a:p>
          <a:p>
            <a:r>
              <a:t>4. Modular Components: Any piece can be regenerated without breaking the system.</a:t>
            </a:r>
          </a:p>
          <a:p>
            <a:r>
              <a:t>5. Lifecycle Governance: Quality maintained through automation and human oversight.</a:t>
            </a:r>
          </a:p>
          <a:p>
            <a:endParaRPr/>
          </a:p>
          <a:p>
            <a:r>
              <a:t>Key insight: Traditional software rots over time. Evergreen software is designed to be continuously regenerated and improved.</a:t>
            </a:r>
          </a:p>
          <a:p>
            <a:endParaRPr/>
          </a:p>
          <a:p>
            <a:r>
              <a:t>Transition: "Let's see why software fails to be evergreen..."</a:t>
            </a:r>
          </a:p>
          <a:p>
            <a:endParaRPr/>
          </a:p>
          <a:p>
            <a:r>
              <a:t>---</a:t>
            </a:r>
          </a:p>
          <a:p>
            <a:endParaRPr/>
          </a:p>
          <a:p>
            <a:r>
              <a:t>Source: Slides\individual-slides\evergreen-software-core-principles.md</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  Explain the common anti-patterns that prevent software from being evergreen. These are the enemies of long-term maintainability.</a:t>
            </a:r>
          </a:p>
          <a:p>
            <a:endParaRPr/>
          </a:p>
          <a:p>
            <a:r>
              <a:t>1. Intent Rot: Documentation becomes outdated or nonexistent. AI can't regenerate code when it doesn't know the purpose.</a:t>
            </a:r>
          </a:p>
          <a:p>
            <a:r>
              <a:t>2. Unstable Interfaces: Breaking changes cascade through the system. AI regeneration requires stable contracts.</a:t>
            </a:r>
          </a:p>
          <a:p>
            <a:r>
              <a:t>3. Tight Coupling: Changes in one component break others. AI can't safely regenerate tightly coupled code.</a:t>
            </a:r>
          </a:p>
          <a:p>
            <a:r>
              <a:t>4. Insufficient Guardrails: Without tests and specs, AI-generated code can't be validated.</a:t>
            </a:r>
          </a:p>
          <a:p>
            <a:r>
              <a:t>5. Drift: Ad-hoc fixes create divergence from the design. The system becomes unpredictable.</a:t>
            </a:r>
          </a:p>
          <a:p>
            <a:endParaRPr/>
          </a:p>
          <a:p>
            <a:r>
              <a:t>Real-world examples:</a:t>
            </a:r>
          </a:p>
          <a:p>
            <a:endParaRPr/>
          </a:p>
          <a:p>
            <a:r>
              <a:t>- Legacy system with no documentation (intent rot)</a:t>
            </a:r>
          </a:p>
          <a:p>
            <a:r>
              <a:t>- Microservices with frequently changing APIs (unstable interfaces)</a:t>
            </a:r>
          </a:p>
          <a:p>
            <a:r>
              <a:t>- Monolith with circular dependencies (tight coupling)</a:t>
            </a:r>
          </a:p>
          <a:p>
            <a:endParaRPr/>
          </a:p>
          <a:p>
            <a:r>
              <a:t>Transition: "Let's see how to avoid these pitfalls..."</a:t>
            </a:r>
          </a:p>
          <a:p>
            <a:endParaRPr/>
          </a:p>
          <a:p>
            <a:r>
              <a:t>---</a:t>
            </a:r>
          </a:p>
          <a:p>
            <a:endParaRPr/>
          </a:p>
          <a:p>
            <a:r>
              <a:t>Source: Slides\individual-slides\evergreen-software-core-principles.md</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header slide to announce the section</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agenda slide listing slide titles from manifest</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foundation for safe, predictable AI-assisted development.</a:t>
            </a:r>
          </a:p>
          <a:p>
            <a:endParaRPr/>
          </a:p>
          <a:p>
            <a:r>
              <a:t>Guardrails ensure that AI output is intentional, reviewable, and aligned with architectural and organizational standards.</a:t>
            </a:r>
          </a:p>
          <a:p>
            <a:endParaRPr/>
          </a:p>
          <a:p>
            <a:r>
              <a:t>These practices turn AI from a novelty into a disciplined engineering tool.</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the distinctions: instructions are stable, prompts are ephemeral, and Agents define how the model behaves in a particular role.</a:t>
            </a:r>
          </a:p>
          <a:p>
            <a:endParaRPr/>
          </a:p>
          <a:p>
            <a:r>
              <a:t>Together, they form a layered control system that shapes AI behavior and reduces drift.</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storing these artifacts as files allows teams to version them, review them, and reuse them.</a:t>
            </a:r>
          </a:p>
          <a:p>
            <a:endParaRPr/>
          </a:p>
          <a:p>
            <a:r>
              <a:t>This is essential for brownfield modernization, where consistency and traceability matter.</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Meta prompts are prompts about prompts.</a:t>
            </a:r>
          </a:p>
          <a:p>
            <a:endParaRPr/>
          </a:p>
          <a:p>
            <a:r>
              <a:t>They let the AI generate structured artifacts on demand.</a:t>
            </a:r>
          </a:p>
          <a:p>
            <a:endParaRPr/>
          </a:p>
          <a:p>
            <a:r>
              <a:t>This reduces manual effort and ensures that all artifacts follow a consistent pattern.</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asking AI to generate an artifact, be explicit about structure and constraints.</a:t>
            </a:r>
          </a:p>
          <a:p>
            <a:endParaRPr/>
          </a:p>
          <a:p>
            <a:r>
              <a:t>This prevents drift and ensures the output is usable without heavy editing.</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This is the title slide introducing the concept of instruction files. **Keep It Brief**: Simply say "Let's talk about instruction files—a powerful way to guide AI behavior persistently across your projects." **Visual Cue**: Let the title appear, pause for 2-3 seconds. **No Content Yet**: Don't explain what they are—that's the next slide's job. **Transition**: "First, let me frame what we mean by 'persistent AI behavioral guidelines'..."</a:t>
            </a:r>
          </a:p>
          <a:p>
            <a:endParaRPr/>
          </a:p>
          <a:p>
            <a:r>
              <a:t>---</a:t>
            </a:r>
          </a:p>
          <a:p>
            <a:endParaRPr/>
          </a:p>
          <a:p>
            <a:r>
              <a:t>Source: Slides\individual-slides\instruction-files.md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Concept**: This subtitle slide sets up the key mental model. **Persistent**: Emphasize that unlike one-time prompts, these rules stay active across multiple interactions. **Behavioral**: These files tell AI _how_ to work, not _what_ to build. **Guidelines vs Commands**: "Think of instruction files as automated code review rules that apply every time AI generates code." **Analogy**: "Like .editorconfig or .eslintrc files, but for AI behavior instead of code formatting." **Transition**: "So what exactly are instruction files? Let's define them..."</a:t>
            </a:r>
          </a:p>
          <a:p>
            <a:endParaRPr/>
          </a:p>
          <a:p>
            <a:r>
              <a:t>---</a:t>
            </a:r>
          </a:p>
          <a:p>
            <a:endParaRPr/>
          </a:p>
          <a:p>
            <a:r>
              <a:t>Source: Slides\individual-slides\instruction-files.md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 Emphasis**: Read the definition slowly—this is foundational. **Configuration Metaphor**: "Just like you configure your IDE or linter, you configure your AI assistant with instruction files." **Automatic Application**: Key point: once created, they're automatically applied. No need to paste instructions repeatedly. **Standards Example**: "Example: All Azure code must use managed identities, no hardcoded keys. Put that in azure-dev.instructions.md, and AI will follow it automatically." **Scope Explanation**: Can apply broadly (`applyTo: "**"`) or narrowly (`applyTo: "*.cs"`). **How vs What**: Clarify: Instructions define _style_ ("use dependency injection") not _tasks_ ("build a login system"). **Audience Check**: "Does this distinction make sense—how versus what?" **Transition**: "Let me show you what one looks like..."</a:t>
            </a:r>
          </a:p>
          <a:p>
            <a:endParaRPr/>
          </a:p>
          <a:p>
            <a:r>
              <a:t>---</a:t>
            </a:r>
          </a:p>
          <a:p>
            <a:endParaRPr/>
          </a:p>
          <a:p>
            <a:r>
              <a:t>Source: Slides\individual-slides\instruction-files.md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Example**: Go section by section, don't rush. **YAML Front Matter**: "Every instruction file starts with metadata. Description explains purpose, applyTo defines scope." **ApplyTo Pattern**: Explain glob patterns—`"**"` means all files, `"*.py"` means Python only, `"src/**/*.ts"` means TypeScript in src folder. **Core Instructions**: "This section defines high-level principles—use Azure-specific tools, enforce security, proper error handling." **Code Generation Rules**: "This section gets tactical—TDD approach, dependency injection, naming standards, logging requirements." **Live Demo Opportunity**: If time permits, show a real instruction file from the repo. **Practical Point**: "AI reads this file automatically when working in your repo—no copy-paste needed." **Transition**: "When should you use instruction files? Let's look at common use cases..."</a:t>
            </a:r>
          </a:p>
          <a:p>
            <a:endParaRPr/>
          </a:p>
          <a:p>
            <a:r>
              <a:t>---</a:t>
            </a:r>
          </a:p>
          <a:p>
            <a:endParaRPr/>
          </a:p>
          <a:p>
            <a:r>
              <a:t>Source: Slides\individual-slides\instruction-files.md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Cases Overview**: These are the "why" behind instruction files. **Coding Standards**: "Every team has style preferences—indentation, naming, file organization. Instruction files codify this for AI." **Security Example**: "You can mandate: 'Never log passwords', 'Always sanitize user input', 'Use parameterized queries'. AI will follow these rules automatically." **Quality Gates**: "Require test coverage thresholds, code review checklists, documentation standards." **Technology Constraints**: "Enterprise scenario: only approved libraries/frameworks allowed. Instruction file enforces this." **Real Examples**: Point to each example filename and briefly explain: azure-development covers cloud-specific patterns, testing-standards defines test structure, security-requirements enforces security policies. **Team Benefit**: "This is especially powerful for teams—everyone's AI assistant follows the same rules, producing consistent output." **Transition**: "Before we move on, let me share some best practices..."</a:t>
            </a:r>
          </a:p>
          <a:p>
            <a:endParaRPr/>
          </a:p>
          <a:p>
            <a:r>
              <a:t>---</a:t>
            </a:r>
          </a:p>
          <a:p>
            <a:endParaRPr/>
          </a:p>
          <a:p>
            <a:r>
              <a:t>Source: Slides\individual-slides\instruction-files.md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 applyTo field is part of the YAML front matter in instruction files. It uses glob patterns to match file paths. When you open a file in VS Code, Copilot checks all instruction files and loads only those whose applyTo pattern matches the current file.</a:t>
            </a:r>
          </a:p>
          <a:p>
            <a:endParaRPr/>
          </a:p>
          <a:p>
            <a:r>
              <a:t>**Why this matters**: Without proper applyTo patterns, you might have documentation standards trying to apply to code files, or architecture patterns trying to apply to configuration files. This creates confusion and can lead to poor AI suggestions.</a:t>
            </a:r>
          </a:p>
          <a:p>
            <a:endParaRPr/>
          </a:p>
          <a:p>
            <a:r>
              <a:t>**Example to share**: "Imagine having CQRS architecture instructions applying to your README files - that would be nonsensical. The applyTo field prevents this."</a:t>
            </a:r>
          </a:p>
          <a:p>
            <a:endParaRPr/>
          </a:p>
          <a:p>
            <a:r>
              <a:t>**Transition**: "Now let's look at the most common pattern types you'll use"</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this presentation on instruction file applyTo patterns. This is a critical concept for managing GitHub Copilot's behavior across your codebase. By the end of this session, you'll understand how to precisely control which files your instruction files apply to using glob patterns.</a:t>
            </a:r>
          </a:p>
          <a:p>
            <a:endParaRPr/>
          </a:p>
          <a:p>
            <a:r>
              <a:t>**Key Point**: This is about precision - getting Copilot to apply the right rules to the right files</a:t>
            </a:r>
          </a:p>
          <a:p>
            <a:r>
              <a:t>**Transition**: "Let's start by understanding what the applyTo field actually does"</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Slides\individual-slides\instruction-file-applyto-patterns.md</a:t>
            </a:r>
            <a:endParaRPr lang="en-US" dirty="0"/>
          </a:p>
          <a:p>
            <a:endParaRPr lang="en-US" dirty="0"/>
          </a:p>
          <a:p>
            <a:r>
              <a:rPr lang="en-US" dirty="0"/>
              <a:t>`</a:t>
            </a:r>
            <a:r>
              <a:rPr lang="en-US" dirty="0" err="1"/>
              <a:t>appliesTo</a:t>
            </a:r>
            <a:r>
              <a:rPr lang="en-US" dirty="0"/>
              <a:t>` is not a guardrail itself. It's a routing</a:t>
            </a:r>
          </a:p>
          <a:p>
            <a:r>
              <a:rPr lang="en-US" dirty="0"/>
              <a:t>rule. It prevents irrelevant instructions from polluting the stack and</a:t>
            </a:r>
          </a:p>
          <a:p>
            <a:r>
              <a:rPr lang="en-US" dirty="0"/>
              <a:t>keeps the assistant focused.</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Slides\individual-slides\instruction-file-applyto-patterns.md</a:t>
            </a:r>
            <a:endParaRPr lang="en-US" dirty="0"/>
          </a:p>
          <a:p>
            <a:endParaRPr lang="en-US" dirty="0"/>
          </a:p>
          <a:p>
            <a:pPr marL="0" marR="0" lvl="0" indent="0" algn="l" defTabSz="1219170" rtl="0" eaLnBrk="1" fontAlgn="auto" latinLnBrk="0" hangingPunct="1">
              <a:lnSpc>
                <a:spcPct val="100000"/>
              </a:lnSpc>
              <a:spcBef>
                <a:spcPts val="0"/>
              </a:spcBef>
              <a:spcAft>
                <a:spcPts val="0"/>
              </a:spcAft>
              <a:buClrTx/>
              <a:buSzTx/>
              <a:buFontTx/>
              <a:buNone/>
              <a:tabLst/>
              <a:defRPr/>
            </a:pPr>
            <a:r>
              <a:rPr lang="en-US" dirty="0"/>
              <a:t>This means you can have many instruction files in .</a:t>
            </a:r>
            <a:r>
              <a:rPr lang="en-US" dirty="0" err="1"/>
              <a:t>github</a:t>
            </a:r>
            <a:r>
              <a:rPr lang="en-US" dirty="0"/>
              <a:t>/instructions/, but only the ones whose </a:t>
            </a:r>
            <a:r>
              <a:rPr lang="en-US" dirty="0" err="1"/>
              <a:t>appliesTo</a:t>
            </a:r>
            <a:r>
              <a:rPr lang="en-US" dirty="0"/>
              <a:t> match the current context will be included.</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 double asterisk wildcard is the universal matcher. Use this for repository-wide policies that should apply everywhere - things like your AI-assisted output instructions, general quality standards, or compliance requirements.</a:t>
            </a:r>
          </a:p>
          <a:p>
            <a:endParaRPr/>
          </a:p>
          <a:p>
            <a:r>
              <a:t>**Important warning**: Overusing universal patterns is a common mistake. Every universal instruction adds to the context Copilot needs to process for every file. If you have 10 instruction files all using "\*\*", Copilot has to load all 10 for every single file you open.</a:t>
            </a:r>
          </a:p>
          <a:p>
            <a:endParaRPr/>
          </a:p>
          <a:p>
            <a:r>
              <a:t>**Best practice**: Reserve universal patterns for truly universal policies. Most instructions should be more specific.</a:t>
            </a:r>
          </a:p>
          <a:p>
            <a:endParaRPr/>
          </a:p>
          <a:p>
            <a:r>
              <a:t>**Real example from the repo**: The ai-assisted-output.instructions.md uses "\*_/_" because AI provenance metadata requirements apply to all AI-generated content regardless of file type.</a:t>
            </a:r>
          </a:p>
          <a:p>
            <a:endParaRPr/>
          </a:p>
          <a:p>
            <a:r>
              <a:t>**Ask audience**: "How many instruction files do you think should realistically use universal patterns? Usually no more than 2-3."</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File extension matching is probably the most common pattern you'll use. The key syntax here is the brace expansion - that's the curly braces with comma-separated extensions.</a:t>
            </a:r>
          </a:p>
          <a:p>
            <a:endParaRPr/>
          </a:p>
          <a:p>
            <a:r>
              <a:t>**Walking through the examples**:</a:t>
            </a:r>
          </a:p>
          <a:p>
            <a:endParaRPr/>
          </a:p>
          <a:p>
            <a:r>
              <a:t>1. "\*_/_.md" - Double star means any directory depth, forward slash, star means any filename, dot md means must end with .md</a:t>
            </a:r>
          </a:p>
          <a:p>
            <a:r>
              <a:t>2. The brace expansion lets you list multiple extensions without repeating the pattern</a:t>
            </a:r>
          </a:p>
          <a:p>
            <a:r>
              <a:t>3. You can be even more specific with compound extensions like .instructions.md</a:t>
            </a:r>
          </a:p>
          <a:p>
            <a:endParaRPr/>
          </a:p>
          <a:p>
            <a:r>
              <a:t>**Pro tip**: When you need to apply instructions to code files across multiple languages, use the brace expansion. In this repo, vertical slice architecture instructions use "\*_/_.{cs,ts,js,py,java,go,rb}" to cover all supported languages.</a:t>
            </a:r>
          </a:p>
          <a:p>
            <a:endParaRPr/>
          </a:p>
          <a:p>
            <a:r>
              <a:t>**Common mistake**: Forgetting the **/ at the start means only files in the root directory match</a:t>
            </a:r>
          </a:p>
          <a:p>
            <a:r>
              <a:t>**Correct**: "**/_.md" matches all markdown files recursively</a:t>
            </a:r>
          </a:p>
          <a:p>
            <a:r>
              <a:t>**Incorrect**: "_.md" only matches markdown files in root directory</a:t>
            </a:r>
          </a:p>
          <a:p>
            <a:endParaRPr/>
          </a:p>
          <a:p>
            <a:r>
              <a:t>**Demonstrate**: Show how the pattern breaks down visually</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Directory-specific patterns are crucial for organizing large codebases. They let you say "these architecture rules only apply to source code" or "these formatting rules only apply to slides."</a:t>
            </a:r>
          </a:p>
          <a:p>
            <a:endParaRPr/>
          </a:p>
          <a:p>
            <a:r>
              <a:t>**Breaking down the syntax**:</a:t>
            </a:r>
          </a:p>
          <a:p>
            <a:endParaRPr/>
          </a:p>
          <a:p>
            <a:r>
              <a:t>- "Slides/individual-slides/**" - Note there's no leading slash or asterisks. This matches the specific directory path, then /** means everything underneath it</a:t>
            </a:r>
          </a:p>
          <a:p>
            <a:r>
              <a:t>- "src/Features/\*_/_.cs" - Combines directory path with file extension filter</a:t>
            </a:r>
          </a:p>
          <a:p>
            <a:r>
              <a:t>- The pattern is always relative to the repository root</a:t>
            </a:r>
          </a:p>
          <a:p>
            <a:endParaRPr/>
          </a:p>
          <a:p>
            <a:r>
              <a:t>**Real-world example from this repo**: The marp-slides.instructions.md uses "Slides/individual-slides/\*\*" because those formatting rules should only apply to presentation slides, not to other markdown files like README.md or documentation.</a:t>
            </a:r>
          </a:p>
          <a:p>
            <a:endParaRPr/>
          </a:p>
          <a:p>
            <a:r>
              <a:t>**Another example**: You might have vertical-slice.instructions.md with "src/Features/\*_/_.cs" so those architectural patterns only apply to feature code, not to infrastructure or configuration code.</a:t>
            </a:r>
          </a:p>
          <a:p>
            <a:endParaRPr/>
          </a:p>
          <a:p>
            <a:r>
              <a:t>**Visual aid**: If possible, show the repository structure and how the pattern matches</a:t>
            </a:r>
          </a:p>
          <a:p>
            <a:r>
              <a:t>**Transition**: "Let's dive deeper into the glob syntax itself"</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slide is your reference guide for glob pattern syntax. Let's walk through each one with careful attention to the distinctions:</a:t>
            </a:r>
          </a:p>
          <a:p>
            <a:endParaRPr/>
          </a:p>
          <a:p>
            <a:r>
              <a:t>**Single asterisk (\*)**:</a:t>
            </a:r>
          </a:p>
          <a:p>
            <a:endParaRPr/>
          </a:p>
          <a:p>
            <a:r>
              <a:t>- Matches any characters EXCEPT forward slash</a:t>
            </a:r>
          </a:p>
          <a:p>
            <a:r>
              <a:t>- "\*.md" matches "README.md" in the current directory</a:t>
            </a:r>
          </a:p>
          <a:p>
            <a:r>
              <a:t>- Does NOT match "docs/README.md" - the slash breaks the match</a:t>
            </a:r>
          </a:p>
          <a:p>
            <a:r>
              <a:t>- Think of it as "wildcard within one directory level"</a:t>
            </a:r>
          </a:p>
          <a:p>
            <a:endParaRPr/>
          </a:p>
          <a:p>
            <a:r>
              <a:t>**Double asterisk (**)\*\*:</a:t>
            </a:r>
          </a:p>
          <a:p>
            <a:endParaRPr/>
          </a:p>
          <a:p>
            <a:r>
              <a:t>- This is the recursive directory matcher</a:t>
            </a:r>
          </a:p>
          <a:p>
            <a:r>
              <a:t>- Can match zero or more directory levels</a:t>
            </a:r>
          </a:p>
          <a:p>
            <a:r>
              <a:t>- "\*_/_.md" matches files at any depth</a:t>
            </a:r>
          </a:p>
          <a:p>
            <a:r>
              <a:t>- Critical: It must be its own path segment - "**/" not "**/file.md"</a:t>
            </a:r>
          </a:p>
          <a:p>
            <a:endParaRPr/>
          </a:p>
          <a:p>
            <a:r>
              <a:t>**Question mark (?)**:</a:t>
            </a:r>
          </a:p>
          <a:p>
            <a:endParaRPr/>
          </a:p>
          <a:p>
            <a:r>
              <a:t>- Exactly one character (useful for versioned files)</a:t>
            </a:r>
          </a:p>
          <a:p>
            <a:r>
              <a:t>- "config?.json" matches "config1.json" and "configA.json"</a:t>
            </a:r>
          </a:p>
          <a:p>
            <a:r>
              <a:t>- Does NOT match "config10.json" (that's two characters)</a:t>
            </a:r>
          </a:p>
          <a:p>
            <a:endParaRPr/>
          </a:p>
          <a:p>
            <a:r>
              <a:t>**Brackets [abc] and [a-z]**:</a:t>
            </a:r>
          </a:p>
          <a:p>
            <a:endParaRPr/>
          </a:p>
          <a:p>
            <a:r>
              <a:t>- Character classes - match one character from the set</a:t>
            </a:r>
          </a:p>
          <a:p>
            <a:r>
              <a:t>- Useful for version numbers or variant files</a:t>
            </a:r>
          </a:p>
          <a:p>
            <a:r>
              <a:t>- "file[123].md" matches file1.md, file2.md, file3.md</a:t>
            </a:r>
          </a:p>
          <a:p>
            <a:endParaRPr/>
          </a:p>
          <a:p>
            <a:r>
              <a:t>**Braces {a,b}**:</a:t>
            </a:r>
          </a:p>
          <a:p>
            <a:endParaRPr/>
          </a:p>
          <a:p>
            <a:r>
              <a:t>- This is alternation - match any of the alternatives</a:t>
            </a:r>
          </a:p>
          <a:p>
            <a:r>
              <a:t>- Most commonly used for file extensions</a:t>
            </a:r>
          </a:p>
          <a:p>
            <a:r>
              <a:t>- "\*.{js,ts,jsx,tsx}" matches all JavaScript/TypeScript files</a:t>
            </a:r>
          </a:p>
          <a:p>
            <a:r>
              <a:t>- Each alternative can itself be a pattern</a:t>
            </a:r>
          </a:p>
          <a:p>
            <a:endParaRPr/>
          </a:p>
          <a:p>
            <a:r>
              <a:t>**Demonstrate**: Show 2-3 concrete examples with actual files</a:t>
            </a:r>
          </a:p>
          <a:p>
            <a:r>
              <a:t>**Transition**: "Now let's see these patterns in action with real examples from this repository"</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These are actual examples from the AI-Assisted-Software-Development-Course repository. Let's analyze why each pattern was chosen:</a:t>
            </a:r>
          </a:p>
          <a:p>
            <a:endParaRPr/>
          </a:p>
          <a:p>
            <a:r>
              <a:t>**Example 1 - AI Output Standards**:</a:t>
            </a:r>
          </a:p>
          <a:p>
            <a:endParaRPr/>
          </a:p>
          <a:p>
            <a:r>
              <a:t>- Uses "\*_/_" because AI provenance requirements apply to ALL artifacts</a:t>
            </a:r>
          </a:p>
          <a:p>
            <a:r>
              <a:t>- This includes code, docs, config files, images (via sidecar metadata)</a:t>
            </a:r>
          </a:p>
          <a:p>
            <a:r>
              <a:t>- Appropriate use of universal pattern because it's a universal policy</a:t>
            </a:r>
          </a:p>
          <a:p>
            <a:endParaRPr/>
          </a:p>
          <a:p>
            <a:r>
              <a:t>**Example 2 - Vertical Slice Architecture**:</a:t>
            </a:r>
          </a:p>
          <a:p>
            <a:endParaRPr/>
          </a:p>
          <a:p>
            <a:r>
              <a:t>- Targets only programming language source files</a:t>
            </a:r>
          </a:p>
          <a:p>
            <a:r>
              <a:t>- Notice it includes 7 different languages</a:t>
            </a:r>
          </a:p>
          <a:p>
            <a:r>
              <a:t>- Does NOT apply to config files (JSON, YAML) or documentation</a:t>
            </a:r>
          </a:p>
          <a:p>
            <a:r>
              <a:t>- This prevents architecture patterns from being suggested in README files</a:t>
            </a:r>
          </a:p>
          <a:p>
            <a:endParaRPr/>
          </a:p>
          <a:p>
            <a:r>
              <a:t>**Example 3 - Business Rules Documentation**:</a:t>
            </a:r>
          </a:p>
          <a:p>
            <a:endParaRPr/>
          </a:p>
          <a:p>
            <a:r>
              <a:t>- Only Markdown and text files</a:t>
            </a:r>
          </a:p>
          <a:p>
            <a:r>
              <a:t>- Instructions about translating business rules to documentation</a:t>
            </a:r>
          </a:p>
          <a:p>
            <a:r>
              <a:t>- Deliberately excludes code files</a:t>
            </a:r>
          </a:p>
          <a:p>
            <a:endParaRPr/>
          </a:p>
          <a:p>
            <a:r>
              <a:t>**Example 4 - Marp Slide Formatting**:</a:t>
            </a:r>
          </a:p>
          <a:p>
            <a:endParaRPr/>
          </a:p>
          <a:p>
            <a:r>
              <a:t>- Highly specific - only the slides directory</a:t>
            </a:r>
          </a:p>
          <a:p>
            <a:r>
              <a:t>- Even though slides are .md files, they have different formatting rules than regular docs</a:t>
            </a:r>
          </a:p>
          <a:p>
            <a:r>
              <a:t>- This specificity prevents slide formatting rules from applying to README.md</a:t>
            </a:r>
          </a:p>
          <a:p>
            <a:endParaRPr/>
          </a:p>
          <a:p>
            <a:r>
              <a:t>**Example 5 - Prompt File Authoring**:</a:t>
            </a:r>
          </a:p>
          <a:p>
            <a:endParaRPr/>
          </a:p>
          <a:p>
            <a:r>
              <a:t>- Targets the specialized .prompt.md file extension</a:t>
            </a:r>
          </a:p>
          <a:p>
            <a:r>
              <a:t>- These files have specific structure requirements</a:t>
            </a:r>
          </a:p>
          <a:p>
            <a:r>
              <a:t>- Using the exact extension prevents these rules from applying to regular markdown</a:t>
            </a:r>
          </a:p>
          <a:p>
            <a:endParaRPr/>
          </a:p>
          <a:p>
            <a:r>
              <a:t>**Key lesson**: Notice how each pattern precisely targets its intended scope. There's no overlap or ambiguity.</a:t>
            </a:r>
          </a:p>
          <a:p>
            <a:endParaRPr/>
          </a:p>
          <a:p>
            <a:r>
              <a:t>**Ask**: "Can anyone think of what would happen if example 4 used '\*_/_.md' instead? Right - slide formatting rules would apply to all markdown, including README files, causing conflicts."</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**Best Practices Summary**: This slide prevents common mistakes. **Clear and Actionable**: Bad: "Code should be good." Good: "Use async/await for I/O operations." Be specific. **File Patterns**: Explain `applyTo` strategy—broad patterns for general rules, narrow patterns for specific contexts. **Version Control**: "Instruction files are code. Commit them, review changes, track evolution." **Test Effectiveness**: "After creating an instruction file, test it—ask AI to generate code and verify it follows the rules." **Avoid Complexity**: "If AI can't understand your instructions, they won't work. Keep language simple, rules unambiguous." **Cognitive Overload**: "Don't create 50 instruction files. AI (like humans) can only track so much. Consolidate related rules." **Conflicts**: "Instruction files apply automatically, prompts are one-time. Make sure they don't contradict each other." **No Hardcoding**: "Use parameters and environment variables, not hardcoded URLs or credentials." **Practical Advice**: "Start small—one or two instruction files. Expand based on team needs." **Transition**: Depending on agenda, either "Let's see this in action with a hands-on demo..." or "Questions about instruction files before we move on?"</a:t>
            </a:r>
          </a:p>
          <a:p>
            <a:endParaRPr/>
          </a:p>
          <a:p>
            <a:r>
              <a:t>---</a:t>
            </a:r>
          </a:p>
          <a:p>
            <a:endParaRPr/>
          </a:p>
          <a:p>
            <a:r>
              <a:t>Source: Slides\individual-slides\instruction-files.md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Let's establish three core best practices that will guide your applyTo pattern decisions:</a:t>
            </a:r>
          </a:p>
          <a:p>
            <a:endParaRPr/>
          </a:p>
          <a:p>
            <a:r>
              <a:t>**Best Practice 1: Be Specific When Possible**</a:t>
            </a:r>
          </a:p>
          <a:p>
            <a:endParaRPr/>
          </a:p>
          <a:p>
            <a:r>
              <a:t>The more specific your pattern, the better. Why?</a:t>
            </a:r>
          </a:p>
          <a:p>
            <a:endParaRPr/>
          </a:p>
          <a:p>
            <a:r>
              <a:t>- Reduces Copilot context size (faster responses)</a:t>
            </a:r>
          </a:p>
          <a:p>
            <a:r>
              <a:t>- Prevents instruction conflicts</a:t>
            </a:r>
          </a:p>
          <a:p>
            <a:r>
              <a:t>- Makes intent clear to other developers</a:t>
            </a:r>
          </a:p>
          <a:p>
            <a:r>
              <a:t>- Easier to debug when instructions aren't applying as expected</a:t>
            </a:r>
          </a:p>
          <a:p>
            <a:endParaRPr/>
          </a:p>
          <a:p>
            <a:r>
              <a:t>Counter-example: If you use "\*\*" for styling instructions that really only apply to frontend components, Copilot will load those instructions even when editing backend API code or database migrations. That's wasteful and confusing.</a:t>
            </a:r>
          </a:p>
          <a:p>
            <a:endParaRPr/>
          </a:p>
          <a:p>
            <a:r>
              <a:t>**Best Practice 2: Use Brace Expansion**</a:t>
            </a:r>
          </a:p>
          <a:p>
            <a:endParaRPr/>
          </a:p>
          <a:p>
            <a:r>
              <a:t>When instructions apply to multiple file types, use brace expansion rather than creating multiple instruction files:</a:t>
            </a:r>
          </a:p>
          <a:p>
            <a:endParaRPr/>
          </a:p>
          <a:p>
            <a:r>
              <a:t>- Maintains single source of truth</a:t>
            </a:r>
          </a:p>
          <a:p>
            <a:r>
              <a:t>- Easier to update (one file instead of many)</a:t>
            </a:r>
          </a:p>
          <a:p>
            <a:r>
              <a:t>- Consistent rules across languages</a:t>
            </a:r>
          </a:p>
          <a:p>
            <a:endParaRPr/>
          </a:p>
          <a:p>
            <a:r>
              <a:t>But be careful: Only group file types that truly need the same instructions. Don't group Python and JavaScript just because they're both "code" if the instructions differ.</a:t>
            </a:r>
          </a:p>
          <a:p>
            <a:endParaRPr/>
          </a:p>
          <a:p>
            <a:r>
              <a:t>**Best Practice 3: Match Scope to Purpose**</a:t>
            </a:r>
          </a:p>
          <a:p>
            <a:endParaRPr/>
          </a:p>
          <a:p>
            <a:r>
              <a:t>This is about semantic clarity:</a:t>
            </a:r>
          </a:p>
          <a:p>
            <a:endParaRPr/>
          </a:p>
          <a:p>
            <a:r>
              <a:t>- Architecture patterns → Source code directories</a:t>
            </a:r>
          </a:p>
          <a:p>
            <a:r>
              <a:t>- Documentation standards → Docs directories</a:t>
            </a:r>
          </a:p>
          <a:p>
            <a:r>
              <a:t>- Testing guidelines → Test directories</a:t>
            </a:r>
          </a:p>
          <a:p>
            <a:r>
              <a:t>- Deployment instructions → CI/CD configs</a:t>
            </a:r>
          </a:p>
          <a:p>
            <a:endParaRPr/>
          </a:p>
          <a:p>
            <a:r>
              <a:t>The pattern should make the instruction's purpose obvious at a glance.</a:t>
            </a:r>
          </a:p>
          <a:p>
            <a:endParaRPr/>
          </a:p>
          <a:p>
            <a:r>
              <a:t>**Example of bad scope**: Having security scanning instructions with "\*_/_.md" - security scans don't apply to markdown files.</a:t>
            </a:r>
          </a:p>
          <a:p>
            <a:endParaRPr/>
          </a:p>
          <a:p>
            <a:r>
              <a:t>**Example of good scope**: Having security scanning with "src/\*_/_.{cs,js,py}" - clearly applies to source code only.</a:t>
            </a:r>
          </a:p>
          <a:p>
            <a:endParaRPr/>
          </a:p>
          <a:p>
            <a:r>
              <a:t>**Emphasize**: "Specificity is not just a performance optimization - it's about clarity and maintainability"</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Let's look at three common mistakes and how to avoid them:</a:t>
            </a:r>
          </a:p>
          <a:p>
            <a:endParaRPr/>
          </a:p>
          <a:p>
            <a:r>
              <a:t>**Pitfall 1: Too Broad**</a:t>
            </a:r>
          </a:p>
          <a:p>
            <a:endParaRPr/>
          </a:p>
          <a:p>
            <a:r>
              <a:t>This happens when you use a universal pattern for something specific. The example shows slide formatting instructions using "\*\*" - this would apply formatting rules designed for Marp presentations to every file in your repository, including C# code, JSON configs, and shell scripts. That's confusing for both developers and Copilot.</a:t>
            </a:r>
          </a:p>
          <a:p>
            <a:endParaRPr/>
          </a:p>
          <a:p>
            <a:r>
              <a:t>**How to identify**: If your instruction file has a specific purpose that doesn't apply to ALL files, don't use "\*\*"</a:t>
            </a:r>
          </a:p>
          <a:p>
            <a:endParaRPr/>
          </a:p>
          <a:p>
            <a:r>
              <a:t>**Fix**: Narrow to the specific directory or file types</a:t>
            </a:r>
          </a:p>
          <a:p>
            <a:endParaRPr/>
          </a:p>
          <a:p>
            <a:r>
              <a:t>**Pitfall 2: Too Narrow**</a:t>
            </a:r>
          </a:p>
          <a:p>
            <a:endParaRPr/>
          </a:p>
          <a:p>
            <a:r>
              <a:t>This is the opposite problem - being so specific that the instructions become brittle and hard to maintain. In the example, targeting only the UserManagement feature means:</a:t>
            </a:r>
          </a:p>
          <a:p>
            <a:endParaRPr/>
          </a:p>
          <a:p>
            <a:r>
              <a:t>- You need separate instruction files for each feature</a:t>
            </a:r>
          </a:p>
          <a:p>
            <a:r>
              <a:t>- Adding a new feature requires a new instruction file</a:t>
            </a:r>
          </a:p>
          <a:p>
            <a:r>
              <a:t>- The same architectural patterns can't be shared across features</a:t>
            </a:r>
          </a:p>
          <a:p>
            <a:endParaRPr/>
          </a:p>
          <a:p>
            <a:r>
              <a:t>**How to identify**: If you find yourself creating many nearly-identical instruction files, your patterns are too narrow</a:t>
            </a:r>
          </a:p>
          <a:p>
            <a:endParaRPr/>
          </a:p>
          <a:p>
            <a:r>
              <a:t>**Fix**: Identify the common scope (like "src/Features/\*\*") and use that</a:t>
            </a:r>
          </a:p>
          <a:p>
            <a:endParaRPr/>
          </a:p>
          <a:p>
            <a:r>
              <a:t>**Pitfall 3: Overlapping Instructions**</a:t>
            </a:r>
          </a:p>
          <a:p>
            <a:endParaRPr/>
          </a:p>
          <a:p>
            <a:r>
              <a:t>This is the trickiest pitfall. When multiple instruction files match the same file path, Copilot loads all of them. Sometimes that's intentional (general coding standards + language-specific patterns), but often it's accidental and creates conflicts.</a:t>
            </a:r>
          </a:p>
          <a:p>
            <a:endParaRPr/>
          </a:p>
          <a:p>
            <a:r>
              <a:t>**Concrete example**:</a:t>
            </a:r>
          </a:p>
          <a:p>
            <a:endParaRPr/>
          </a:p>
          <a:p>
            <a:r>
              <a:t>- vertical-slice.instructions.md has "\*_/_.cs"</a:t>
            </a:r>
          </a:p>
          <a:p>
            <a:r>
              <a:t>- cqrs-architecture.instructions.md also has "\*_/_.cs"</a:t>
            </a:r>
          </a:p>
          <a:p>
            <a:r>
              <a:t>- Both get loaded for every C# file</a:t>
            </a:r>
          </a:p>
          <a:p>
            <a:r>
              <a:t>- If they have conflicting guidance (which architectural style to use), Copilot gets confused</a:t>
            </a:r>
          </a:p>
          <a:p>
            <a:endParaRPr/>
          </a:p>
          <a:p>
            <a:r>
              <a:t>**How to identify**: List all your instruction files and their patterns side-by-side. Look for overlaps.</a:t>
            </a:r>
          </a:p>
          <a:p>
            <a:endParaRPr/>
          </a:p>
          <a:p>
            <a:r>
              <a:t>**Fix strategies**:</a:t>
            </a:r>
          </a:p>
          <a:p>
            <a:endParaRPr/>
          </a:p>
          <a:p>
            <a:r>
              <a:t>1. Make patterns mutually exclusive (one uses "src/Domain/**", the other uses "src/Infrastructure/**")</a:t>
            </a:r>
          </a:p>
          <a:p>
            <a:r>
              <a:t>2. Use more specific file naming patterns (one targets "_.Commands.cs", the other "_.Queries.cs")</a:t>
            </a:r>
          </a:p>
          <a:p>
            <a:r>
              <a:t>3. If overlap is intentional, ensure instructions are complementary, not contradictory</a:t>
            </a:r>
          </a:p>
          <a:p>
            <a:endParaRPr/>
          </a:p>
          <a:p>
            <a:r>
              <a:t>**Interactive element**: "Has anyone experienced unexpected Copilot behavior? It might be due to overlapping instructions."</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Testing your applyTo patterns before committing is crucial. Here are three methods, in order of sophistication:</a:t>
            </a:r>
          </a:p>
          <a:p>
            <a:endParaRPr/>
          </a:p>
          <a:p>
            <a:r>
              <a:t>**Method 1: File System Commands**</a:t>
            </a:r>
          </a:p>
          <a:p>
            <a:endParaRPr/>
          </a:p>
          <a:p>
            <a:r>
              <a:t>Use your shell's file finding capabilities to preview what matches:</a:t>
            </a:r>
          </a:p>
          <a:p>
            <a:endParaRPr/>
          </a:p>
          <a:p>
            <a:r>
              <a:t>PowerShell (Windows):</a:t>
            </a:r>
          </a:p>
          <a:p>
            <a:endParaRPr/>
          </a:p>
          <a:p>
            <a:r>
              <a:t>- Get-ChildItem with -Filter and -Recurse shows what files match</a:t>
            </a:r>
          </a:p>
          <a:p>
            <a:r>
              <a:t>- Can pipe to Where-Object for complex filtering</a:t>
            </a:r>
          </a:p>
          <a:p>
            <a:r>
              <a:t>- Example: Get-ChildItem -Path ".\src" -Filter "\*.cs" -Recurse | Select-Object FullName</a:t>
            </a:r>
          </a:p>
          <a:p>
            <a:endParaRPr/>
          </a:p>
          <a:p>
            <a:r>
              <a:t>Bash/Zsh (Linux/Mac):</a:t>
            </a:r>
          </a:p>
          <a:p>
            <a:endParaRPr/>
          </a:p>
          <a:p>
            <a:r>
              <a:t>- find command with -name flag</a:t>
            </a:r>
          </a:p>
          <a:p>
            <a:r>
              <a:t>- Can combine with grep for more complex patterns</a:t>
            </a:r>
          </a:p>
          <a:p>
            <a:r>
              <a:t>- Example: find ./src -name "\*.cs" -type f</a:t>
            </a:r>
          </a:p>
          <a:p>
            <a:endParaRPr/>
          </a:p>
          <a:p>
            <a:r>
              <a:t>**Why this matters**: If your pattern matches more or fewer files than expected, you'll catch it before Copilot does.</a:t>
            </a:r>
          </a:p>
          <a:p>
            <a:endParaRPr/>
          </a:p>
          <a:p>
            <a:r>
              <a:t>**Method 2: Online Glob Testers**</a:t>
            </a:r>
          </a:p>
          <a:p>
            <a:endParaRPr/>
          </a:p>
          <a:p>
            <a:r>
              <a:t>Tools like globster.xyz let you:</a:t>
            </a:r>
          </a:p>
          <a:p>
            <a:endParaRPr/>
          </a:p>
          <a:p>
            <a:r>
              <a:t>- Enter a glob pattern</a:t>
            </a:r>
          </a:p>
          <a:p>
            <a:r>
              <a:t>- Paste a list of file paths</a:t>
            </a:r>
          </a:p>
          <a:p>
            <a:r>
              <a:t>- See visually which paths match</a:t>
            </a:r>
          </a:p>
          <a:p>
            <a:endParaRPr/>
          </a:p>
          <a:p>
            <a:r>
              <a:t>This is especially useful for complex patterns with brace expansion or character classes. You can experiment with patterns and see results immediately without touching your repository.</a:t>
            </a:r>
          </a:p>
          <a:p>
            <a:endParaRPr/>
          </a:p>
          <a:p>
            <a:r>
              <a:t>**Pro tip**: Keep a browser tab with globster open when writing complex patterns</a:t>
            </a:r>
          </a:p>
          <a:p>
            <a:endParaRPr/>
          </a:p>
          <a:p>
            <a:r>
              <a:t>**Method 3: Behavioral Testing**</a:t>
            </a:r>
          </a:p>
          <a:p>
            <a:endParaRPr/>
          </a:p>
          <a:p>
            <a:r>
              <a:t>The ultimate test - does Copilot actually behave as expected?</a:t>
            </a:r>
          </a:p>
          <a:p>
            <a:endParaRPr/>
          </a:p>
          <a:p>
            <a:r>
              <a:t>Steps:</a:t>
            </a:r>
          </a:p>
          <a:p>
            <a:endParaRPr/>
          </a:p>
          <a:p>
            <a:r>
              <a:t>1. Add your instruction file with applyTo pattern</a:t>
            </a:r>
          </a:p>
          <a:p>
            <a:r>
              <a:t>2. Open a file that SHOULD match</a:t>
            </a:r>
          </a:p>
          <a:p>
            <a:r>
              <a:t>3. Ask Copilot to do something covered by the instruction</a:t>
            </a:r>
          </a:p>
          <a:p>
            <a:r>
              <a:t>4. Verify it follows the rules</a:t>
            </a:r>
          </a:p>
          <a:p>
            <a:r>
              <a:t>5. Open a file that SHOULD NOT match</a:t>
            </a:r>
          </a:p>
          <a:p>
            <a:r>
              <a:t>6. Verify Copilot doesn't apply those rules</a:t>
            </a:r>
          </a:p>
          <a:p>
            <a:endParaRPr/>
          </a:p>
          <a:p>
            <a:r>
              <a:t>**Example**: After adding a vertical-slice.instructions.md with "src/\*_/_.cs", open a C# file in src/ and ask Copilot to create a new feature. It should use vertical slice architecture. Then open a C# file in tests/ and verify it doesn't try to apply feature architecture to test code.</a:t>
            </a:r>
          </a:p>
          <a:p>
            <a:endParaRPr/>
          </a:p>
          <a:p>
            <a:r>
              <a:t>**Practical tip**: "I recommend testing every new instruction file pattern with method 1 or 2 before pushing to your team"</a:t>
            </a:r>
          </a:p>
          <a:p>
            <a:r>
              <a:t>**Transition**: "Let's wrap up with key takeaways"</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Let's consolidate the technical details about how pattern matching actually works in practice:</a:t>
            </a:r>
          </a:p>
          <a:p>
            <a:endParaRPr/>
          </a:p>
          <a:p>
            <a:r>
              <a:t>**Evaluation Timing**:</a:t>
            </a:r>
          </a:p>
          <a:p>
            <a:r>
              <a:t>Pattern matching happens dynamically. When you open a file, VS Code/Copilot:</a:t>
            </a:r>
          </a:p>
          <a:p>
            <a:endParaRPr/>
          </a:p>
          <a:p>
            <a:r>
              <a:t>1. Scans all instruction files in the workspace</a:t>
            </a:r>
          </a:p>
          <a:p>
            <a:r>
              <a:t>2. Evaluates each applyTo pattern against the current file path</a:t>
            </a:r>
          </a:p>
          <a:p>
            <a:r>
              <a:t>3. Loads matching instructions into Copilot's context window</a:t>
            </a:r>
          </a:p>
          <a:p>
            <a:r>
              <a:t>4. This context is then used for all Copilot operations in that file</a:t>
            </a:r>
          </a:p>
          <a:p>
            <a:endParaRPr/>
          </a:p>
          <a:p>
            <a:r>
              <a:t>This is important because it means pattern matching is NOT a one-time operation at startup - it happens constantly as you switch between files.</a:t>
            </a:r>
          </a:p>
          <a:p>
            <a:endParaRPr/>
          </a:p>
          <a:p>
            <a:r>
              <a:t>**Multiple Matches**:</a:t>
            </a:r>
          </a:p>
          <a:p>
            <a:r>
              <a:t>It's perfectly valid for multiple instruction files to match the same file. Copilot will try to follow all applicable instructions. This is why avoiding conflicts is so important - if two instructions contradict each other, Copilot will struggle.</a:t>
            </a:r>
          </a:p>
          <a:p>
            <a:endParaRPr/>
          </a:p>
          <a:p>
            <a:r>
              <a:t>**Example of intentional multiple matches**:</a:t>
            </a:r>
          </a:p>
          <a:p>
            <a:endParaRPr/>
          </a:p>
          <a:p>
            <a:r>
              <a:t>- general-coding-standards.instructions.md with "\*_/_.cs"</a:t>
            </a:r>
          </a:p>
          <a:p>
            <a:r>
              <a:t>- vertical-slice-architecture.instructions.md with "src/Features/\*_/_.cs"</a:t>
            </a:r>
          </a:p>
          <a:p>
            <a:r>
              <a:t>- A file at "src/Features/Users/CreateUser.cs" matches both</a:t>
            </a:r>
          </a:p>
          <a:p>
            <a:r>
              <a:t>- Both instruction sets apply (general standards + architecture patterns)</a:t>
            </a:r>
          </a:p>
          <a:p>
            <a:r>
              <a:t>- This works if the instructions are complementary</a:t>
            </a:r>
          </a:p>
          <a:p>
            <a:endParaRPr/>
          </a:p>
          <a:p>
            <a:r>
              <a:t>**Specificity and Precedence**:</a:t>
            </a:r>
          </a:p>
          <a:p>
            <a:r>
              <a:t>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endParaRPr/>
          </a:p>
          <a:p>
            <a:r>
              <a:t>**Repository Root**:</a:t>
            </a:r>
          </a:p>
          <a:p>
            <a:r>
              <a:t>All patterns are relative to the workspace root (where .git directory is located). There's no way to use absolute paths, which is good for portability.</a:t>
            </a:r>
          </a:p>
          <a:p>
            <a:endParaRPr/>
          </a:p>
          <a:p>
            <a:r>
              <a:t>**Case Sensitivity**:</a:t>
            </a:r>
          </a:p>
          <a:p>
            <a:r>
              <a:t>Critical detail - this depends on the underlying file system:</a:t>
            </a:r>
          </a:p>
          <a:p>
            <a:endParaRPr/>
          </a:p>
          <a:p>
            <a:r>
              <a:t>- Windows: case-insensitive ("\*.MD" matches "file.md")</a:t>
            </a:r>
          </a:p>
          <a:p>
            <a:r>
              <a:t>- Linux: case-sensitive ("\*.MD" matches "file.MD" but not "file.md")</a:t>
            </a:r>
          </a:p>
          <a:p>
            <a:r>
              <a:t>- macOS: depends on file system format (usually case-insensitive)</a:t>
            </a:r>
          </a:p>
          <a:p>
            <a:endParaRPr/>
          </a:p>
          <a:p>
            <a:r>
              <a:t>Best practice: Always use lowercase in patterns and standardize file naming to lowercase to avoid cross-platform issues.</a:t>
            </a:r>
          </a:p>
          <a:p>
            <a:endParaRPr/>
          </a:p>
          <a:p>
            <a:r>
              <a:t>**Important**: "The dynamic evaluation means you can test instruction changes immediately - just close and reopen a file"</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Let's wrap up with a practical decision-making framework:</a:t>
            </a:r>
          </a:p>
          <a:p>
            <a:endParaRPr/>
          </a:p>
          <a:p>
            <a:r>
              <a:t>**The Four Essential Pattern Categories**:</a:t>
            </a:r>
          </a:p>
          <a:p>
            <a:endParaRPr/>
          </a:p>
          <a:p>
            <a:r>
              <a:t>These four patterns cover 95% of real-world use cases. Let me give you concrete examples of when to use each:</a:t>
            </a:r>
          </a:p>
          <a:p>
            <a:endParaRPr/>
          </a:p>
          <a:p>
            <a:r>
              <a:t>1. **Universal `**/\*`\*\*:</a:t>
            </a:r>
          </a:p>
          <a:p>
            <a:r>
              <a:t>- AI provenance policies</a:t>
            </a:r>
          </a:p>
          <a:p>
            <a:r>
              <a:t>- Security compliance requirements</a:t>
            </a:r>
          </a:p>
          <a:p>
            <a:r>
              <a:t>- Legal/licensing standards</a:t>
            </a:r>
          </a:p>
          <a:p>
            <a:r>
              <a:t>- Organization-wide conventions</a:t>
            </a:r>
          </a:p>
          <a:p>
            <a:r>
              <a:t>- Should be max 2-3 instruction files in your entire repo</a:t>
            </a:r>
          </a:p>
          <a:p>
            <a:endParaRPr/>
          </a:p>
          <a:p>
            <a:r>
              <a:t>2. **Multi-extension `**/\*.{ext1,ext2}`\*\*:</a:t>
            </a:r>
          </a:p>
          <a:p>
            <a:r>
              <a:t>- Language-agnostic code quality patterns</a:t>
            </a:r>
          </a:p>
          <a:p>
            <a:r>
              <a:t>- Cross-language architecture styles</a:t>
            </a:r>
          </a:p>
          <a:p>
            <a:r>
              <a:t>- Multi-language testing strategies</a:t>
            </a:r>
          </a:p>
          <a:p>
            <a:r>
              <a:t>- Example: Vertical slice could apply to C#, TypeScript, Python features</a:t>
            </a:r>
          </a:p>
          <a:p>
            <a:endParaRPr/>
          </a:p>
          <a:p>
            <a:r>
              <a:t>3. **Directory scope `directory/**`\*\*:</a:t>
            </a:r>
          </a:p>
          <a:p>
            <a:r>
              <a:t>- Slide formatting (Slides/\*)</a:t>
            </a:r>
          </a:p>
          <a:p>
            <a:r>
              <a:t>- API documentation (docs/api/\*\*)</a:t>
            </a:r>
          </a:p>
          <a:p>
            <a:r>
              <a:t>- Feature isolation (src/Features/\*\*)</a:t>
            </a:r>
          </a:p>
          <a:p>
            <a:r>
              <a:t>- Test organization (tests/\*\*)</a:t>
            </a:r>
          </a:p>
          <a:p>
            <a:endParaRPr/>
          </a:p>
          <a:p>
            <a:r>
              <a:t>4. **Specialized naming `**/\*.pattern.ext`\*\*:</a:t>
            </a:r>
          </a:p>
          <a:p>
            <a:r>
              <a:t>- Instruction files themselves (\*.instructions.md)</a:t>
            </a:r>
          </a:p>
          <a:p>
            <a:r>
              <a:t>- Prompt files (\*.prompt.md)</a:t>
            </a:r>
          </a:p>
          <a:p>
            <a:r>
              <a:t>- Test files (_.test.js, _.spec.ts)</a:t>
            </a:r>
          </a:p>
          <a:p>
            <a:r>
              <a:t>- Generated files (\*.generated.cs)</a:t>
            </a:r>
          </a:p>
          <a:p>
            <a:endParaRPr/>
          </a:p>
          <a:p>
            <a:r>
              <a:t>**Using the Decision Tree**:</a:t>
            </a:r>
          </a:p>
          <a:p>
            <a:endParaRPr/>
          </a:p>
          <a:p>
            <a:r>
              <a:t>Work through the questions in order. The first "yes" answer tells you which pattern category to use. Then refine within that category.</a:t>
            </a:r>
          </a:p>
          <a:p>
            <a:endParaRPr/>
          </a:p>
          <a:p>
            <a:r>
              <a:t>Example walkthrough:</a:t>
            </a:r>
          </a:p>
          <a:p>
            <a:endParaRPr/>
          </a:p>
          <a:p>
            <a:r>
              <a:t>- "I'm creating architecture guidelines for CQRS"</a:t>
            </a:r>
          </a:p>
          <a:p>
            <a:r>
              <a:t>- Q1: All files? No (config files don't need CQRS patterns)</a:t>
            </a:r>
          </a:p>
          <a:p>
            <a:r>
              <a:t>- Q2: Specific file types? Yes - code files</a:t>
            </a:r>
          </a:p>
          <a:p>
            <a:r>
              <a:t>- → Use `**/*.{cs,ts,js,py}`</a:t>
            </a:r>
          </a:p>
          <a:p>
            <a:r>
              <a:t>- Refinement: Maybe only src directory: `src/**/*.{cs,ts,js,py}`</a:t>
            </a:r>
          </a:p>
          <a:p>
            <a:endParaRPr/>
          </a:p>
          <a:p>
            <a:r>
              <a:t>**Documentation is Critical**:</a:t>
            </a:r>
          </a:p>
          <a:p>
            <a:endParaRPr/>
          </a:p>
          <a:p>
            <a:r>
              <a:t>In your instruction file, add a comment in the front matter explaining the pattern choice:</a:t>
            </a:r>
          </a:p>
          <a:p>
            <a:endParaRPr/>
          </a:p>
          <a:p>
            <a:r>
              <a:t>```yaml</a:t>
            </a:r>
          </a:p>
          <a:p>
            <a:r>
              <a:t>applyTo: "src/Features/**/*.cs"</a:t>
            </a:r>
          </a:p>
          <a:p>
            <a:r>
              <a:t>```</a:t>
            </a:r>
          </a:p>
          <a:p>
            <a:endParaRPr/>
          </a:p>
          <a:p>
            <a:r>
              <a:t>This helps future developers (including yourself) understand the reasoning.</a:t>
            </a:r>
          </a:p>
          <a:p>
            <a:endParaRPr/>
          </a:p>
          <a:p>
            <a:r>
              <a:t>**Review and Iterate**:</a:t>
            </a:r>
          </a:p>
          <a:p>
            <a:endParaRPr/>
          </a:p>
          <a:p>
            <a:r>
              <a:t>Patterns aren't set in stone. If you notice:</a:t>
            </a:r>
          </a:p>
          <a:p>
            <a:endParaRPr/>
          </a:p>
          <a:p>
            <a:r>
              <a:t>- Instructions not being applied when expected</a:t>
            </a:r>
          </a:p>
          <a:p>
            <a:r>
              <a:t>- Instructions being applied to wrong files</a:t>
            </a:r>
          </a:p>
          <a:p>
            <a:r>
              <a:t>- Need to refactor directory structure</a:t>
            </a:r>
          </a:p>
          <a:p>
            <a:endParaRPr/>
          </a:p>
          <a:p>
            <a:r>
              <a:t>Then review and update your patterns. This is normal maintenance.</a:t>
            </a:r>
          </a:p>
          <a:p>
            <a:endParaRPr/>
          </a:p>
          <a:p>
            <a:r>
              <a:t>**Final thought**: "Good applyTo patterns make Copilot predictable and reliable. Take the time to get them right."</a:t>
            </a:r>
          </a:p>
          <a:p>
            <a:endParaRPr/>
          </a:p>
          <a:p>
            <a:r>
              <a:t>**End with**: "Questions about applyTo patterns or glob syntax?"</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closing slide - keep it brief and actionable.</a:t>
            </a:r>
          </a:p>
          <a:p>
            <a:endParaRPr/>
          </a:p>
          <a:p>
            <a:r>
              <a:t>**Resources to Share**:</a:t>
            </a:r>
          </a:p>
          <a:p>
            <a:endParaRPr/>
          </a:p>
          <a:p>
            <a:r>
              <a:t>Point attendees to:</a:t>
            </a:r>
          </a:p>
          <a:p>
            <a:endParaRPr/>
          </a:p>
          <a:p>
            <a:r>
              <a:t>1. The globster.xyz website - they should bookmark this</a:t>
            </a:r>
          </a:p>
          <a:p>
            <a:r>
              <a:t>2. Official GitHub documentation on instruction files (if available)</a:t>
            </a:r>
          </a:p>
          <a:p>
            <a:r>
              <a:t>3. This repository's .github/instructions/ directory as examples</a:t>
            </a:r>
          </a:p>
          <a:p>
            <a:endParaRPr/>
          </a:p>
          <a:p>
            <a:r>
              <a:t>**Practice Exercise**:</a:t>
            </a:r>
          </a:p>
          <a:p>
            <a:endParaRPr/>
          </a:p>
          <a:p>
            <a:r>
              <a:t>These three exercises cover the main pattern categories:</a:t>
            </a:r>
          </a:p>
          <a:p>
            <a:endParaRPr/>
          </a:p>
          <a:p>
            <a:r>
              <a:t>Exercise 1 - CQRS Architecture:</a:t>
            </a:r>
          </a:p>
          <a:p>
            <a:endParaRPr/>
          </a:p>
          <a:p>
            <a:r>
              <a:t>- Should apply to: C#, TypeScript, Python code files</a:t>
            </a:r>
          </a:p>
          <a:p>
            <a:r>
              <a:t>- Suggested pattern: `src/**/*.{cs,ts,py}`</a:t>
            </a:r>
          </a:p>
          <a:p>
            <a:r>
              <a:t>- Excludes: tests, config files, documentation</a:t>
            </a:r>
          </a:p>
          <a:p>
            <a:r>
              <a:t>- Learning goal: Multi-extension file type targeting</a:t>
            </a:r>
          </a:p>
          <a:p>
            <a:endParaRPr/>
          </a:p>
          <a:p>
            <a:r>
              <a:t>Exercise 2 - Mermaid Diagram Standards:</a:t>
            </a:r>
          </a:p>
          <a:p>
            <a:endParaRPr/>
          </a:p>
          <a:p>
            <a:r>
              <a:t>- Should apply to: All markdown files with diagrams</a:t>
            </a:r>
          </a:p>
          <a:p>
            <a:r>
              <a:t>- Suggested pattern: `**/*.md` or `docs/**/*.md` if narrower</a:t>
            </a:r>
          </a:p>
          <a:p>
            <a:r>
              <a:t>- Excludes: Non-markdown files</a:t>
            </a:r>
          </a:p>
          <a:p>
            <a:r>
              <a:t>- Learning goal: Extension-based filtering</a:t>
            </a:r>
          </a:p>
          <a:p>
            <a:endParaRPr/>
          </a:p>
          <a:p>
            <a:r>
              <a:t>Exercise 3 - Test Naming Conventions:</a:t>
            </a:r>
          </a:p>
          <a:p>
            <a:endParaRPr/>
          </a:p>
          <a:p>
            <a:r>
              <a:t>- Should apply to: Test files only</a:t>
            </a:r>
          </a:p>
          <a:p>
            <a:r>
              <a:t>- Suggested pattern: `**/*.{test,spec}.{js,ts}` or `tests/**/*`</a:t>
            </a:r>
          </a:p>
          <a:p>
            <a:r>
              <a:t>- Excludes: Source code</a:t>
            </a:r>
          </a:p>
          <a:p>
            <a:r>
              <a:t>- Learning goal: Specialized naming patterns or directory scoping</a:t>
            </a:r>
          </a:p>
          <a:p>
            <a:endParaRPr/>
          </a:p>
          <a:p>
            <a:r>
              <a:t>Have them create these instruction files with proper applyTo patterns and test whether they match the expected files using the methods from slide 9.</a:t>
            </a:r>
          </a:p>
          <a:p>
            <a:endParaRPr/>
          </a:p>
          <a:p>
            <a:r>
              <a:t>**Timing for Q&amp;A**: Budget at least 5 minutes</a:t>
            </a:r>
          </a:p>
          <a:p>
            <a:r>
              <a:t>**Common questions to expect**:</a:t>
            </a:r>
          </a:p>
          <a:p>
            <a:endParaRPr/>
          </a:p>
          <a:p>
            <a:r>
              <a:t>- "Can I use regex in applyTo?" (No, only glob patterns)</a:t>
            </a:r>
          </a:p>
          <a:p>
            <a:r>
              <a:t>- "What if I need NOT patterns?" (Use specific inclusion instead)</a:t>
            </a:r>
          </a:p>
          <a:p>
            <a:r>
              <a:t>- "Can patterns match directories themselves?" (Patterns match files, but `dir/**` matches all files in dir)</a:t>
            </a:r>
          </a:p>
          <a:p>
            <a:r>
              <a:t>- "How do I debug when patterns don't work?" (Use the testing methods from slide 9)</a:t>
            </a:r>
          </a:p>
          <a:p>
            <a:endParaRPr/>
          </a:p>
          <a:p>
            <a:r>
              <a:t>**Closing statement**: "Remember, good applyTo patterns are the key to making Copilot instruction files reliable and maintainable. Start with these patterns, test them thoroughly, and iterate based on real-world usage."</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**Closing Remarks**:</a:t>
            </a:r>
          </a:p>
          <a:p>
            <a:endParaRPr/>
          </a:p>
          <a:p>
            <a:r>
              <a:t>Thank you all for your attention. The applyTo pattern system might seem simple on the surface, but as we've seen, there's real depth to using it effectively.</a:t>
            </a:r>
          </a:p>
          <a:p>
            <a:endParaRPr/>
          </a:p>
          <a:p>
            <a:r>
              <a:t>**Key messages to leave with**:</a:t>
            </a:r>
          </a:p>
          <a:p>
            <a:endParaRPr/>
          </a:p>
          <a:p>
            <a:r>
              <a:t>1. Specificity prevents conflicts</a:t>
            </a:r>
          </a:p>
          <a:p>
            <a:r>
              <a:t>2. Test your patterns before committing</a:t>
            </a:r>
          </a:p>
          <a:p>
            <a:r>
              <a:t>3. Document your pattern choices</a:t>
            </a:r>
          </a:p>
          <a:p>
            <a:r>
              <a:t>4. Review and refine based on real usage</a:t>
            </a:r>
          </a:p>
          <a:p>
            <a:endParaRPr/>
          </a:p>
          <a:p>
            <a:r>
              <a:t>**Engagement**:</a:t>
            </a:r>
          </a:p>
          <a:p>
            <a:endParaRPr/>
          </a:p>
          <a:p>
            <a:r>
              <a:t>- "Please reach out with questions as you implement these patterns in your projects"</a:t>
            </a:r>
          </a:p>
          <a:p>
            <a:r>
              <a:t>- "Share your experiences - both successes and challenges - with the team"</a:t>
            </a:r>
          </a:p>
          <a:p>
            <a:r>
              <a:t>- "The GitHub repository has many examples in the .github/instructions/ directory"</a:t>
            </a:r>
          </a:p>
          <a:p>
            <a:endParaRPr/>
          </a:p>
          <a:p>
            <a:r>
              <a:t>**Next Steps**:</a:t>
            </a:r>
          </a:p>
          <a:p>
            <a:endParaRPr/>
          </a:p>
          <a:p>
            <a:r>
              <a:t>- Review the instruction files in this repository</a:t>
            </a:r>
          </a:p>
          <a:p>
            <a:r>
              <a:t>- Try the practice exercises</a:t>
            </a:r>
          </a:p>
          <a:p>
            <a:r>
              <a:t>- Start applying these patterns to your own projects</a:t>
            </a:r>
          </a:p>
          <a:p>
            <a:r>
              <a:t>- Share learnings with your team</a:t>
            </a:r>
          </a:p>
          <a:p>
            <a:endParaRPr/>
          </a:p>
          <a:p>
            <a:r>
              <a:t>**Call to Action**:</a:t>
            </a:r>
          </a:p>
          <a:p>
            <a:r>
              <a:t>"I'd encourage everyone to audit one of your existing projects this week - look at your instruction files and their applyTo patterns. Are they as specific as they could be? Are there conflicts? Use the testing methods we discussed to verify them."</a:t>
            </a:r>
          </a:p>
          <a:p>
            <a:endParaRPr/>
          </a:p>
          <a:p>
            <a:r>
              <a:t>**Tone**: Encouraging and supportive - this is about continuous improvement</a:t>
            </a:r>
          </a:p>
          <a:p>
            <a:endParaRPr/>
          </a:p>
          <a:p>
            <a:r>
              <a:t>---</a:t>
            </a:r>
          </a:p>
          <a:p>
            <a:endParaRPr/>
          </a:p>
          <a:p>
            <a:r>
              <a:t>Source: Slides\individual-slides\instruction-file-applyto-patterns.md</a:t>
            </a:r>
          </a:p>
        </p:txBody>
      </p:sp>
      <p:sp>
        <p:nvSpPr>
          <p:cNvPr id="4" name="Slide Number Placeholder 3"/>
          <p:cNvSpPr>
            <a:spLocks noGrp="1"/>
          </p:cNvSpPr>
          <p:nvPr>
            <p:ph type="sldNum" sz="quarter" idx="5"/>
          </p:nvPr>
        </p:nvSpPr>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purpose of the AI-Assisted Output Instructions file: to enforce traceability, quality, and compliance for all AI-generated artifacts in the repository.</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lists the mandatory metadata fields that must be embedded in every AI-generated file.</a:t>
            </a:r>
          </a:p>
          <a:p>
            <a:endParaRPr/>
          </a:p>
          <a:p>
            <a:r>
              <a:t>These fields ensure each artifact can be traced back to its origin, model, and operator.</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where and how to place provenance metadata.</a:t>
            </a:r>
          </a:p>
          <a:p>
            <a:endParaRPr/>
          </a:p>
          <a:p>
            <a:r>
              <a:t>Markdown files must use embedded YAML front matter; only non-embeddable formats use sidecar files.</a:t>
            </a:r>
          </a:p>
          <a:p>
            <a:endParaRPr/>
          </a:p>
          <a:p>
            <a:r>
              <a:t>Note: Instructions files have limited support for metadata and must use sidecar files</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describes the logging structure for AI chats.</a:t>
            </a:r>
          </a:p>
          <a:p>
            <a:endParaRPr/>
          </a:p>
          <a:p>
            <a:r>
              <a:t>Each session gets its own folder, transcript, and summary, ensuring clear separation and traceability.</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the quality gates and PR requirements.</a:t>
            </a:r>
          </a:p>
          <a:p>
            <a:endParaRPr/>
          </a:p>
          <a:p>
            <a:r>
              <a:t>Artifacts must be fully documented, logs must exist, and sensitive data must be avoided.</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highlights the requirements for GitHub Copilot integration.</a:t>
            </a:r>
          </a:p>
          <a:p>
            <a:endParaRPr/>
          </a:p>
          <a:p>
            <a:r>
              <a:t>Copilot should automate chat management, metadata injection, and enforce compliance before generating files.</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enforcement:</a:t>
            </a:r>
          </a:p>
          <a:p>
            <a:endParaRPr/>
          </a:p>
          <a:p>
            <a:r>
              <a:t>PRs are blocked if requirements are not met.</a:t>
            </a:r>
          </a:p>
          <a:p>
            <a:endParaRPr/>
          </a:p>
          <a:p>
            <a:r>
              <a:t>Any missing provenance must be remediated before merging.</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reinforces the value of these instructions: they ensure every AI-assisted artifact is trustworthy, auditable, and compliant with team and industry standards.</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This reinforces the evergreen mindset and produces a reusable artifact for future AI-assisted work.</a:t>
            </a:r>
          </a:p>
          <a:p>
            <a:endParaRPr/>
          </a:p>
          <a:p>
            <a:r>
              <a:t>Prompt: Submit the prompt #file:create-evergreen-software-instructions.prompt.md</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builds foundational prompt-writing skills. Encourage participants to choose a real task to make the exercise concrete.</a:t>
            </a:r>
          </a:p>
          <a:p>
            <a:endParaRPr/>
          </a:p>
          <a:p>
            <a:r>
              <a:t>Prompt: Create a prompt file that creates an instruction file for evergreen software development</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helps participants shape AI behavior to match brownfield realities.</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Participants experience the leverage of meta prompts and see how AI can accelerate documentation.</a:t>
            </a:r>
          </a:p>
          <a:p>
            <a:endParaRPr/>
          </a:p>
          <a:p>
            <a:r>
              <a:t>Prompts:</a:t>
            </a:r>
          </a:p>
          <a:p>
            <a:endParaRPr/>
          </a:p>
          <a:p>
            <a:r>
              <a:t>Create instruction files for the backend technologies</a:t>
            </a:r>
          </a:p>
          <a:p>
            <a:endParaRPr/>
          </a:p>
          <a:p>
            <a:r>
              <a:t>Create instruction files for the front-end technologies</a:t>
            </a:r>
          </a:p>
          <a:p>
            <a:endParaRPr/>
          </a:p>
          <a:p>
            <a:r>
              <a:t>Create instruction files for the front-end technologies</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builds intuition for context management—one of the most important AI-era engineering skills.</a:t>
            </a:r>
          </a:p>
          <a:p>
            <a:endParaRPr/>
          </a:p>
          <a:p>
            <a:r>
              <a:t>---</a:t>
            </a:r>
          </a:p>
          <a:p>
            <a:endParaRPr/>
          </a:p>
          <a:p>
            <a:r>
              <a:t>Source: Slides\individual-slides\adding-ai-guardrails.md</a:t>
            </a:r>
          </a:p>
        </p:txBody>
      </p:sp>
      <p:sp>
        <p:nvSpPr>
          <p:cNvPr id="4" name="Slide Number Placeholder 3"/>
          <p:cNvSpPr>
            <a:spLocks noGrp="1"/>
          </p:cNvSpPr>
          <p:nvPr>
            <p:ph type="sldNum" sz="quarter" idx="5"/>
          </p:nvPr>
        </p:nvSpPr>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core instruction files that govern AI-assisted development in this repository. These files are the foundation of the guardrails system.</a:t>
            </a:r>
          </a:p>
          <a:p>
            <a:endParaRPr/>
          </a:p>
          <a:p>
            <a:r>
              <a:t>Explain each file's purpose:</a:t>
            </a:r>
          </a:p>
          <a:p>
            <a:endParaRPr/>
          </a:p>
          <a:p>
            <a:r>
              <a:t>- ai-assisted-output.instructions.md: The master policy for ALL AI-generated content, covering provenance, logging, and compliance</a:t>
            </a:r>
          </a:p>
          <a:p>
            <a:r>
              <a:t>- chatmode-file.instructions.md: Defines how to create custom chat modes for specific development workflows</a:t>
            </a:r>
          </a:p>
          <a:p>
            <a:r>
              <a:t>- instruction-files.instructions.md: Meta-instructions for creating new instruction files</a:t>
            </a:r>
          </a:p>
          <a:p>
            <a:r>
              <a:t>- prompt-file.instructions.md: Guidelines for creating reusable prompt files</a:t>
            </a:r>
          </a:p>
          <a:p>
            <a:r>
              <a:t>- instruction-prompt-files.instructions.md: Meta-prompts that generate instruction files</a:t>
            </a:r>
          </a:p>
          <a:p>
            <a:endParaRPr/>
          </a:p>
          <a:p>
            <a:r>
              <a:t>Emphasize the hierarchical nature: ai-assisted-output is the root policy that all others reference.</a:t>
            </a:r>
          </a:p>
          <a:p>
            <a:endParaRPr/>
          </a:p>
          <a:p>
            <a:r>
              <a:t>Transition: "Let's dive into how to use these..."</a:t>
            </a:r>
          </a:p>
          <a:p>
            <a:endParaRPr/>
          </a:p>
          <a:p>
            <a:r>
              <a:t>---</a:t>
            </a:r>
          </a:p>
          <a:p>
            <a:endParaRPr/>
          </a:p>
          <a:p>
            <a:r>
              <a:t>Source: Slides\individual-slides\core-instruction-files.md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layering strategy, not an either-or choice. The audience should leave with a practical model for deciding what belongs at enterprise scope versus repository scope. Keep this opening to about 60-90 seconds.</a:t>
            </a:r>
          </a:p>
          <a:p>
            <a:endParaRPr/>
          </a:p>
          <a:p>
            <a:r>
              <a:t>---</a:t>
            </a:r>
          </a:p>
          <a:p>
            <a:endParaRPr/>
          </a:p>
          <a:p>
            <a:r>
              <a:t>Source: Slides\individual-slides\organizational-vs-repository-instruction-files.md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usually fail by over-centralizing or over-fragmenting. Centralize non-negotiables, decentralize implementation guidance. Emphasize this prevents policy drift while keeping day-to-day delivery fast.</a:t>
            </a:r>
          </a:p>
          <a:p>
            <a:endParaRPr/>
          </a:p>
          <a:p>
            <a:r>
              <a:t>---</a:t>
            </a:r>
          </a:p>
          <a:p>
            <a:endParaRPr/>
          </a:p>
          <a:p>
            <a:r>
              <a:t>Source: Slides\individual-slides\organizational-vs-repository-instruction-files.md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that enterprise-tier files should be stable and short. They should define constraints, not feature behavior. Give examples: required metadata fields, approved hosts, restricted operations, and mandatory security checks.</a:t>
            </a:r>
          </a:p>
          <a:p>
            <a:endParaRPr/>
          </a:p>
          <a:p>
            <a:r>
              <a:t>---</a:t>
            </a:r>
          </a:p>
          <a:p>
            <a:endParaRPr/>
          </a:p>
          <a:p>
            <a:r>
              <a:t>Source: Slides\individual-slides\organizational-vs-repository-instruction-files.md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path scoping is the precision tool. Show that slide-authoring rules should not apply to backend code, and coding constraints should not apply to markdown content. Mention that good glob design reduces noisy or conflicting behavior.</a:t>
            </a:r>
          </a:p>
          <a:p>
            <a:endParaRPr/>
          </a:p>
          <a:p>
            <a:r>
              <a:t>---</a:t>
            </a:r>
          </a:p>
          <a:p>
            <a:endParaRPr/>
          </a:p>
          <a:p>
            <a:r>
              <a:t>Source: Slides\individual-slides\organizational-vs-repository-instruction-files.md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proximity: put guidance where teams actually work. This improves discoverability and lowers onboarding time. Mention that folder-level rules should refine enterprise policy, not duplicate it.</a:t>
            </a:r>
          </a:p>
          <a:p>
            <a:endParaRPr/>
          </a:p>
          <a:p>
            <a:r>
              <a:t>---</a:t>
            </a:r>
          </a:p>
          <a:p>
            <a:endParaRPr/>
          </a:p>
          <a:p>
            <a:r>
              <a:t>Source: Slides\individual-slides\organizational-vs-repository-instruction-files.md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stack top-to-bottom. Describe how specificity should increase as scope narrows. If conflicts appear, resolve by specificity first, then by explicit policy precedence defined by your organization.</a:t>
            </a:r>
          </a:p>
          <a:p>
            <a:endParaRPr/>
          </a:p>
          <a:p>
            <a:r>
              <a:t>---</a:t>
            </a:r>
          </a:p>
          <a:p>
            <a:endParaRPr/>
          </a:p>
          <a:p>
            <a:r>
              <a:t>Source: Slides\individual-slides\organizational-vs-repository-instruction-files.md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action items. Suggest teams pilot this in one repo before scaling. Encourage adding quick validation prompts in CI or review checklists so instruction drift is detected early.</a:t>
            </a:r>
          </a:p>
          <a:p>
            <a:endParaRPr/>
          </a:p>
          <a:p>
            <a:r>
              <a:t>---</a:t>
            </a:r>
          </a:p>
          <a:p>
            <a:endParaRPr/>
          </a:p>
          <a:p>
            <a:r>
              <a:t>Source: Slides\individual-slides\organizational-vs-repository-instruction-files.md</a:t>
            </a:r>
          </a:p>
        </p:txBody>
      </p:sp>
      <p:sp>
        <p:nvSpPr>
          <p:cNvPr id="4" name="Slide Number Placeholder 3"/>
          <p:cNvSpPr>
            <a:spLocks noGrp="1"/>
          </p:cNvSpPr>
          <p:nvPr>
            <p:ph type="sldNum" sz="quarter" idx="5"/>
          </p:nvPr>
        </p:nvSpPr>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endParaRPr/>
          </a:p>
          <a:p>
            <a:r>
              <a:t>**Prerequisites:** Access to repository tree, instruction conventions, and team roles for parallel work</a:t>
            </a:r>
          </a:p>
          <a:p>
            <a:endParaRPr/>
          </a:p>
          <a:p>
            <a:r>
              <a:t>### Objectives</a:t>
            </a:r>
          </a:p>
          <a:p>
            <a:endParaRPr/>
          </a:p>
          <a:p>
            <a:r>
              <a:t>- Build a practical technology inventory that informs instruction planning.</a:t>
            </a:r>
          </a:p>
          <a:p>
            <a:r>
              <a:t>- Execute concurrent work safely with background sessions.</a:t>
            </a:r>
          </a:p>
          <a:p>
            <a:r>
              <a:t>- Produce multiple scoped instruction files in one coordinated workflow.</a:t>
            </a:r>
          </a:p>
          <a:p>
            <a:r>
              <a:t>- Use the session management interface to maintain control and traceability.</a:t>
            </a:r>
          </a:p>
          <a:p>
            <a:endParaRPr/>
          </a:p>
          <a:p>
            <a:r>
              <a:t>### Activities</a:t>
            </a:r>
          </a:p>
          <a:p>
            <a:endParaRPr/>
          </a:p>
          <a:p>
            <a:r>
              <a:t>1. Build a structured inventory first; avoid writing instruction files until the landscape is clear.</a:t>
            </a:r>
          </a:p>
          <a:p>
            <a:r>
              <a:t>2. Split participants into concurrent roles: inventory lead, instruction generator, and session coordinator.</a:t>
            </a:r>
          </a:p>
          <a:p>
            <a:r>
              <a:t>3. Generate scoped instruction files in parallel, then run a conflict review before acceptance.</a:t>
            </a:r>
          </a:p>
          <a:p>
            <a:r>
              <a:t>4. Finalize with a short session-management retrospective: what scaled, what collided, what to improve.</a:t>
            </a:r>
          </a:p>
          <a:p>
            <a:endParaRPr/>
          </a:p>
          <a:p>
            <a:r>
              <a:t>### Success Criteria</a:t>
            </a:r>
          </a:p>
          <a:p>
            <a:endParaRPr/>
          </a:p>
          <a:p>
            <a:r>
              <a:t>- Inventory coverage is complete enough to drive instruction priorities.</a:t>
            </a:r>
          </a:p>
          <a:p>
            <a:r>
              <a:t>- Parallel sessions finish with non-conflicting outputs.</a:t>
            </a:r>
          </a:p>
          <a:p>
            <a:r>
              <a:t>- Generated instruction files include clear scoping and ownership boundaries.</a:t>
            </a:r>
          </a:p>
          <a:p>
            <a:r>
              <a:t>- Team can reproduce the same workflow on another repository without redesigning the process.</a:t>
            </a:r>
          </a:p>
          <a:p>
            <a:endParaRPr/>
          </a:p>
          <a:p>
            <a:r>
              <a:t>### Facilitation Tip</a:t>
            </a:r>
          </a:p>
          <a:p>
            <a:endParaRPr/>
          </a:p>
          <a:p>
            <a:r>
              <a:t>Use a visible board (status: active, blocked, complete) for each session stream so the team can rebalance quickly when one stream stalls.</a:t>
            </a:r>
          </a:p>
          <a:p>
            <a:endParaRPr/>
          </a:p>
          <a:p>
            <a:r>
              <a:t>---</a:t>
            </a:r>
          </a:p>
          <a:p>
            <a:endParaRPr/>
          </a:p>
          <a:p>
            <a:r>
              <a:t>Source: Slides\individual-slides\exercise-technology-inventory-instructions.md</a:t>
            </a:r>
          </a:p>
        </p:txBody>
      </p:sp>
      <p:sp>
        <p:nvSpPr>
          <p:cNvPr id="4" name="Slide Number Placeholder 3"/>
          <p:cNvSpPr>
            <a:spLocks noGrp="1"/>
          </p:cNvSpPr>
          <p:nvPr>
            <p:ph type="sldNum" sz="quarter" idx="5"/>
          </p:nvPr>
        </p:nvSpPr>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header slide to announce the section</a:t>
            </a:r>
          </a:p>
        </p:txBody>
      </p:sp>
      <p:sp>
        <p:nvSpPr>
          <p:cNvPr id="4" name="Slide Number Placeholder 3"/>
          <p:cNvSpPr>
            <a:spLocks noGrp="1"/>
          </p:cNvSpPr>
          <p:nvPr>
            <p:ph type="sldNum" sz="quarter" idx="5"/>
          </p:nvPr>
        </p:nvSpPr>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section agenda slide listing slide titles from manifest</a:t>
            </a:r>
          </a:p>
        </p:txBody>
      </p:sp>
      <p:sp>
        <p:nvSpPr>
          <p:cNvPr id="4" name="Slide Number Placeholder 3"/>
          <p:cNvSpPr>
            <a:spLocks noGrp="1"/>
          </p:cNvSpPr>
          <p:nvPr>
            <p:ph type="sldNum" sz="quarter" idx="5"/>
          </p:nvPr>
        </p:nvSpPr>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Copilot as a tool that amplifies engineering discipline rather than replacing it.</a:t>
            </a:r>
          </a:p>
          <a:p>
            <a:endParaRPr/>
          </a:p>
          <a:p>
            <a:r>
              <a:t>The message is: Copilot is not magic.</a:t>
            </a:r>
          </a:p>
          <a:p>
            <a:endParaRPr/>
          </a:p>
          <a:p>
            <a:r>
              <a:t>It's a reasoning engine that responds to structure, clarity, and context.</a:t>
            </a:r>
          </a:p>
          <a:p>
            <a:endParaRPr/>
          </a:p>
          <a:p>
            <a:r>
              <a:t>When managed well, it becomes a force multiplier.</a:t>
            </a:r>
          </a:p>
          <a:p>
            <a:endParaRPr/>
          </a:p>
          <a:p>
            <a:r>
              <a:t>When unmanaged, it becomes unpredictable.</a:t>
            </a:r>
          </a:p>
          <a:p>
            <a:endParaRPr/>
          </a:p>
          <a:p>
            <a:r>
              <a:t>---</a:t>
            </a:r>
          </a:p>
          <a:p>
            <a:endParaRPr/>
          </a:p>
          <a:p>
            <a:r>
              <a:t>Source: Slides\individual-slides\managing-github-copilot-effectively.md</a:t>
            </a:r>
          </a:p>
        </p:txBody>
      </p:sp>
      <p:sp>
        <p:nvSpPr>
          <p:cNvPr id="4" name="Slide Number Placeholder 3"/>
          <p:cNvSpPr>
            <a:spLocks noGrp="1"/>
          </p:cNvSpPr>
          <p:nvPr>
            <p:ph type="sldNum" sz="quarter" idx="5"/>
          </p:nvPr>
        </p:nvSpPr>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analogy resonates with engineering teams.</a:t>
            </a:r>
          </a:p>
          <a:p>
            <a:endParaRPr/>
          </a:p>
          <a:p>
            <a:r>
              <a:t>Copilot behaves like a junior developer: capable, but lacking context and judgment.</a:t>
            </a:r>
          </a:p>
          <a:p>
            <a:endParaRPr/>
          </a:p>
          <a:p>
            <a:r>
              <a:t>It thrives when you give it structure and feedback.</a:t>
            </a:r>
          </a:p>
          <a:p>
            <a:endParaRPr/>
          </a:p>
          <a:p>
            <a:r>
              <a:t>It struggles when you ask it to “just figure it out.”</a:t>
            </a:r>
          </a:p>
          <a:p>
            <a:endParaRPr/>
          </a:p>
          <a:p>
            <a:r>
              <a:t>The more intentional your guidance, the more reliable its output becomes.</a:t>
            </a:r>
          </a:p>
          <a:p>
            <a:endParaRPr/>
          </a:p>
          <a:p>
            <a:r>
              <a:t>---</a:t>
            </a:r>
          </a:p>
          <a:p>
            <a:endParaRPr/>
          </a:p>
          <a:p>
            <a:r>
              <a:t>Source: Slides\individual-slides\managing-github-copilot-effectively.md</a:t>
            </a:r>
          </a:p>
        </p:txBody>
      </p:sp>
      <p:sp>
        <p:nvSpPr>
          <p:cNvPr id="4" name="Slide Number Placeholder 3"/>
          <p:cNvSpPr>
            <a:spLocks noGrp="1"/>
          </p:cNvSpPr>
          <p:nvPr>
            <p:ph type="sldNum" sz="quarter" idx="5"/>
          </p:nvPr>
        </p:nvSpPr>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Context windows are invisible but critical.</a:t>
            </a:r>
          </a:p>
          <a:p>
            <a:endParaRPr/>
          </a:p>
          <a:p>
            <a:r>
              <a:t>When Copilot misses requirements or contradicts earlier decisions, it's often because the relevant information fell outside its context window.</a:t>
            </a:r>
          </a:p>
          <a:p>
            <a:endParaRPr/>
          </a:p>
          <a:p>
            <a:r>
              <a:t>The solution is not to “prompt harder” – it's to structure the environment so the model always has the right information in view.</a:t>
            </a:r>
          </a:p>
          <a:p>
            <a:endParaRPr/>
          </a:p>
          <a:p>
            <a:r>
              <a:t>---</a:t>
            </a:r>
          </a:p>
          <a:p>
            <a:endParaRPr/>
          </a:p>
          <a:p>
            <a:r>
              <a:t>Source: Slides\individual-slides\managing-github-copilot-effectively.md</a:t>
            </a:r>
          </a:p>
        </p:txBody>
      </p:sp>
      <p:sp>
        <p:nvSpPr>
          <p:cNvPr id="4" name="Slide Number Placeholder 3"/>
          <p:cNvSpPr>
            <a:spLocks noGrp="1"/>
          </p:cNvSpPr>
          <p:nvPr>
            <p:ph type="sldNum" sz="quarter" idx="5"/>
          </p:nvPr>
        </p:nvSpPr>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Prompting is not about clever phrasing – it's about clarity.</a:t>
            </a:r>
          </a:p>
          <a:p>
            <a:endParaRPr/>
          </a:p>
          <a:p>
            <a:r>
              <a:t>Copilot performs best when you define intent, boundaries, and examples.</a:t>
            </a:r>
          </a:p>
          <a:p>
            <a:endParaRPr/>
          </a:p>
          <a:p>
            <a:r>
              <a:t>Instruction files are especially powerful because they give Copilot a persistent “north star” for your codebase.</a:t>
            </a:r>
          </a:p>
          <a:p>
            <a:endParaRPr/>
          </a:p>
          <a:p>
            <a:r>
              <a:t>Think of prompts as design briefs, not commands.</a:t>
            </a:r>
          </a:p>
          <a:p>
            <a:endParaRPr/>
          </a:p>
          <a:p>
            <a:r>
              <a:t>---</a:t>
            </a:r>
          </a:p>
          <a:p>
            <a:endParaRPr/>
          </a:p>
          <a:p>
            <a:r>
              <a:t>Source: Slides\individual-slides\managing-github-copilot-effectively.md</a:t>
            </a:r>
          </a:p>
        </p:txBody>
      </p:sp>
      <p:sp>
        <p:nvSpPr>
          <p:cNvPr id="4" name="Slide Number Placeholder 3"/>
          <p:cNvSpPr>
            <a:spLocks noGrp="1"/>
          </p:cNvSpPr>
          <p:nvPr>
            <p:ph type="sldNum" sz="quarter" idx="5"/>
          </p:nvPr>
        </p:nvSpPr>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selection is a strategic decision.</a:t>
            </a:r>
          </a:p>
          <a:p>
            <a:endParaRPr/>
          </a:p>
          <a:p>
            <a:r>
              <a:t>High-end models are great for deep reasoning but can be slower or more expensive.</a:t>
            </a:r>
          </a:p>
          <a:p>
            <a:endParaRPr/>
          </a:p>
          <a:p>
            <a:r>
              <a:t>Smaller models are fast and efficient but less capable.</a:t>
            </a:r>
          </a:p>
          <a:p>
            <a:endParaRPr/>
          </a:p>
          <a:p>
            <a:r>
              <a:t>The key is to choose based on task complexity.</a:t>
            </a:r>
          </a:p>
          <a:p>
            <a:endParaRPr/>
          </a:p>
          <a:p>
            <a:r>
              <a:t>For example: use a reasoning-heavy model for designing a module, then switch to a lighter model for generating tests or scaffolding</a:t>
            </a:r>
          </a:p>
          <a:p>
            <a:endParaRPr/>
          </a:p>
          <a:p>
            <a:r>
              <a:t>---</a:t>
            </a:r>
          </a:p>
          <a:p>
            <a:endParaRPr/>
          </a:p>
          <a:p>
            <a:r>
              <a:t>Source: Slides\individual-slides\managing-github-copilot-effectively.md</a:t>
            </a:r>
          </a:p>
        </p:txBody>
      </p:sp>
      <p:sp>
        <p:nvSpPr>
          <p:cNvPr id="4" name="Slide Number Placeholder 3"/>
          <p:cNvSpPr>
            <a:spLocks noGrp="1"/>
          </p:cNvSpPr>
          <p:nvPr>
            <p:ph type="sldNum" sz="quarter" idx="5"/>
          </p:nvPr>
        </p:nvSpPr>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for a practical session focused on repeatable team workflows. Emphasize that instruction quality and context discipline are the two biggest multipliers for reliable AI-assisted development.</a:t>
            </a:r>
          </a:p>
          <a:p>
            <a:endParaRPr/>
          </a:p>
          <a:p>
            <a:r>
              <a:t>---</a:t>
            </a:r>
          </a:p>
          <a:p>
            <a:endParaRPr/>
          </a:p>
          <a:p>
            <a:r>
              <a:t>Source: Slides\individual-slides\managing-instruction-files-context-windows.md</a:t>
            </a:r>
          </a:p>
        </p:txBody>
      </p:sp>
      <p:sp>
        <p:nvSpPr>
          <p:cNvPr id="4" name="Slide Number Placeholder 3"/>
          <p:cNvSpPr>
            <a:spLocks noGrp="1"/>
          </p:cNvSpPr>
          <p:nvPr>
            <p:ph type="sldNum" sz="quarter" idx="5"/>
          </p:nvPr>
        </p:nvSpPr>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should avoid copy-paste drift by maintaining canonical files and linking to them. Encourage pull-request reviews specifically for instruction changes, not just code changes.</a:t>
            </a:r>
          </a:p>
          <a:p>
            <a:endParaRPr/>
          </a:p>
          <a:p>
            <a:r>
              <a:t>---</a:t>
            </a:r>
          </a:p>
          <a:p>
            <a:endParaRPr/>
          </a:p>
          <a:p>
            <a:r>
              <a:t>Source: Slides\individual-slides\managing-instruction-files-context-windows.md</a:t>
            </a:r>
          </a:p>
        </p:txBody>
      </p:sp>
      <p:sp>
        <p:nvSpPr>
          <p:cNvPr id="4" name="Slide Number Placeholder 3"/>
          <p:cNvSpPr>
            <a:spLocks noGrp="1"/>
          </p:cNvSpPr>
          <p:nvPr>
            <p:ph type="sldNum" sz="quarter" idx="5"/>
          </p:nvPr>
        </p:nvSpPr>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broad-to-narrow scoping. Clarify that broad scopes are for policy and compliance, while narrow scopes are for stack-specific implementation rules.</a:t>
            </a:r>
          </a:p>
          <a:p>
            <a:endParaRPr/>
          </a:p>
          <a:p>
            <a:r>
              <a:t>---</a:t>
            </a:r>
          </a:p>
          <a:p>
            <a:endParaRPr/>
          </a:p>
          <a:p>
            <a:r>
              <a:t>Source: Slides\individual-slides\managing-instruction-files-context-windows.md</a:t>
            </a:r>
          </a:p>
        </p:txBody>
      </p:sp>
      <p:sp>
        <p:nvSpPr>
          <p:cNvPr id="4" name="Slide Number Placeholder 3"/>
          <p:cNvSpPr>
            <a:spLocks noGrp="1"/>
          </p:cNvSpPr>
          <p:nvPr>
            <p:ph type="sldNum" sz="quarter" idx="5"/>
          </p:nvPr>
        </p:nvSpPr>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 participants to recognize degradation early rather than trying to salvage overloaded context. A clean new chat is usually cheaper than continued correction loops.</a:t>
            </a:r>
          </a:p>
          <a:p>
            <a:endParaRPr/>
          </a:p>
          <a:p>
            <a:r>
              <a:t>---</a:t>
            </a:r>
          </a:p>
          <a:p>
            <a:endParaRPr/>
          </a:p>
          <a:p>
            <a:r>
              <a:t>Source: Slides\individual-slides\managing-instruction-files-context-windows.md</a:t>
            </a:r>
          </a:p>
        </p:txBody>
      </p:sp>
      <p:sp>
        <p:nvSpPr>
          <p:cNvPr id="4" name="Slide Number Placeholder 3"/>
          <p:cNvSpPr>
            <a:spLocks noGrp="1"/>
          </p:cNvSpPr>
          <p:nvPr>
            <p:ph type="sldNum" sz="quarter" idx="5"/>
          </p:nvPr>
        </p:nvSpPr>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token efficiency is not only cost control; it improves response quality by reducing noise. Show that structured prompts plus instruction files usually outperform long conversational buildup.</a:t>
            </a:r>
          </a:p>
          <a:p>
            <a:endParaRPr/>
          </a:p>
          <a:p>
            <a:r>
              <a:t>---</a:t>
            </a:r>
          </a:p>
          <a:p>
            <a:endParaRPr/>
          </a:p>
          <a:p>
            <a:r>
              <a:t>Source: Slides\individual-slides\managing-instruction-files-context-windows.md</a:t>
            </a:r>
          </a:p>
        </p:txBody>
      </p:sp>
      <p:sp>
        <p:nvSpPr>
          <p:cNvPr id="4" name="Slide Number Placeholder 3"/>
          <p:cNvSpPr>
            <a:spLocks noGrp="1"/>
          </p:cNvSpPr>
          <p:nvPr>
            <p:ph type="sldNum" sz="quarter" idx="5"/>
          </p:nvPr>
        </p:nvSpPr>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the operational model teams can adopt immediately. Recommend adding this flow to onboarding docs so new contributors learn instruction and context discipline from day one.</a:t>
            </a:r>
          </a:p>
          <a:p>
            <a:endParaRPr/>
          </a:p>
          <a:p>
            <a:r>
              <a:t>---</a:t>
            </a:r>
          </a:p>
          <a:p>
            <a:endParaRPr/>
          </a:p>
          <a:p>
            <a:r>
              <a:t>Source: Slides\individual-slides\managing-instruction-files-context-windows.md</a:t>
            </a:r>
          </a:p>
        </p:txBody>
      </p:sp>
      <p:sp>
        <p:nvSpPr>
          <p:cNvPr id="4" name="Slide Number Placeholder 3"/>
          <p:cNvSpPr>
            <a:spLocks noGrp="1"/>
          </p:cNvSpPr>
          <p:nvPr>
            <p:ph type="sldNum" sz="quarter" idx="5"/>
          </p:nvPr>
        </p:nvSpPr>
        <p:spPr/>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execution guidance. Suggest running a short retrospective after one sprint to measure improvements in output quality, rework rate, and token efficiency.</a:t>
            </a:r>
          </a:p>
          <a:p>
            <a:endParaRPr/>
          </a:p>
          <a:p>
            <a:r>
              <a:t>---</a:t>
            </a:r>
          </a:p>
          <a:p>
            <a:endParaRPr/>
          </a:p>
          <a:p>
            <a:r>
              <a:t>Source: Slides\individual-slides\managing-instruction-files-context-windows.md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Welcome to AI Assisted Software Development</a:t>
            </a:r>
          </a:p>
        </p:txBody>
      </p:sp>
      <p:sp>
        <p:nvSpPr>
          <p:cNvPr id="3" name="Subtitle 2"/>
          <p:cNvSpPr>
            <a:spLocks noGrp="1"/>
          </p:cNvSpPr>
          <p:nvPr>
            <p:ph type="subTitle" idx="1"/>
          </p:nvPr>
        </p:nvSpPr>
        <p:spPr/>
        <p:txBody>
          <a:bodyPr/>
          <a:lstStyle/>
          <a:p>
            <a:r>
              <a:rPr dirty="0"/>
              <a:t>From Cod</a:t>
            </a:r>
            <a:r>
              <a:rPr lang="en-US" dirty="0"/>
              <a:t>ing</a:t>
            </a:r>
            <a:r>
              <a:rPr dirty="0"/>
              <a:t> to Copilot</a:t>
            </a:r>
            <a:r>
              <a:rPr lang="en-US" dirty="0"/>
              <a:t>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John Michael Miller</a:t>
            </a:r>
          </a:p>
        </p:txBody>
      </p:sp>
      <p:sp>
        <p:nvSpPr>
          <p:cNvPr id="3" name="Content Placeholder 2"/>
          <p:cNvSpPr>
            <a:spLocks noGrp="1"/>
          </p:cNvSpPr>
          <p:nvPr>
            <p:ph idx="1"/>
          </p:nvPr>
        </p:nvSpPr>
        <p:spPr/>
        <p:txBody>
          <a:bodyPr wrap="square">
            <a:normAutofit fontScale="92500" lnSpcReduction="20000"/>
          </a:bodyPr>
          <a:lstStyle/>
          <a:p>
            <a:endParaRPr dirty="0"/>
          </a:p>
          <a:p>
            <a:r>
              <a:rPr b="1" dirty="0"/>
              <a:t>Principal Software Engineer at CODE</a:t>
            </a:r>
          </a:p>
          <a:p>
            <a:r>
              <a:rPr dirty="0"/>
              <a:t>Played roles of developer, architect, </a:t>
            </a:r>
            <a:r>
              <a:rPr dirty="0" err="1"/>
              <a:t>devops</a:t>
            </a:r>
            <a:r>
              <a:rPr dirty="0"/>
              <a:t> engineer, platform engineer, test architect, release manager</a:t>
            </a:r>
          </a:p>
          <a:p>
            <a:r>
              <a:rPr dirty="0"/>
              <a:t>AI/ML Enthusiast and advocate for effectively using AI to write code</a:t>
            </a:r>
          </a:p>
          <a:p>
            <a:endParaRPr dirty="0"/>
          </a:p>
          <a:p>
            <a:r>
              <a:rPr dirty="0"/>
              <a:t>LinkedIn: www.linkedin.com/in/johnmichaelmiller</a:t>
            </a:r>
          </a:p>
          <a:p>
            <a:r>
              <a:rPr dirty="0"/>
              <a:t>Email: john.miller@codemag.com</a:t>
            </a:r>
          </a:p>
          <a:p>
            <a:r>
              <a:rPr dirty="0"/>
              <a:t>Blog: codemag.com/blog/</a:t>
            </a:r>
            <a:r>
              <a:rPr dirty="0" err="1"/>
              <a:t>AIPractitioner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Introductions</a:t>
            </a:r>
          </a:p>
        </p:txBody>
      </p:sp>
      <p:sp>
        <p:nvSpPr>
          <p:cNvPr id="3" name="Content Placeholder 2"/>
          <p:cNvSpPr>
            <a:spLocks noGrp="1"/>
          </p:cNvSpPr>
          <p:nvPr>
            <p:ph idx="1"/>
          </p:nvPr>
        </p:nvSpPr>
        <p:spPr/>
        <p:txBody>
          <a:bodyPr wrap="square">
            <a:normAutofit/>
          </a:bodyPr>
          <a:lstStyle/>
          <a:p>
            <a:endParaRPr/>
          </a:p>
          <a:p>
            <a:r>
              <a:t>Who you are</a:t>
            </a:r>
          </a:p>
          <a:p>
            <a:r>
              <a:t>Who do you work for</a:t>
            </a:r>
          </a:p>
          <a:p>
            <a:r>
              <a:t>What you do</a:t>
            </a:r>
          </a:p>
          <a:p>
            <a:r>
              <a:t>What you've done with AI tools</a:t>
            </a:r>
          </a:p>
          <a:p>
            <a:r>
              <a:t>What you want to learn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About CODE</a:t>
            </a:r>
          </a:p>
        </p:txBody>
      </p:sp>
      <p:sp>
        <p:nvSpPr>
          <p:cNvPr id="3" name="Content Placeholder 2"/>
          <p:cNvSpPr>
            <a:spLocks noGrp="1"/>
          </p:cNvSpPr>
          <p:nvPr>
            <p:ph idx="1"/>
          </p:nvPr>
        </p:nvSpPr>
        <p:spPr/>
        <p:txBody>
          <a:bodyPr wrap="square">
            <a:normAutofit/>
          </a:bodyPr>
          <a:lstStyle/>
          <a:p>
            <a:endParaRPr/>
          </a:p>
          <a:p>
            <a:r>
              <a:t>&lt;img src="images/CODE-30.jpg" style="width: 100%;" /&gt;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sp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1460760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Daily Themes</a:t>
            </a:r>
          </a:p>
        </p:txBody>
      </p:sp>
      <p:graphicFrame>
        <p:nvGraphicFramePr>
          <p:cNvPr id="3" name="Table 2"/>
          <p:cNvGraphicFramePr>
            <a:graphicFrameLocks noGrp="1"/>
          </p:cNvGraphicFramePr>
          <p:nvPr>
            <p:extLst>
              <p:ext uri="{D42A27DB-BD31-4B8C-83A1-F6EECF244321}">
                <p14:modId xmlns:p14="http://schemas.microsoft.com/office/powerpoint/2010/main" val="3851980192"/>
              </p:ext>
            </p:extLst>
          </p:nvPr>
        </p:nvGraphicFramePr>
        <p:xfrm>
          <a:off x="457200" y="1828800"/>
          <a:ext cx="10754436" cy="4260348"/>
        </p:xfrm>
        <a:graphic>
          <a:graphicData uri="http://schemas.openxmlformats.org/drawingml/2006/table">
            <a:tbl>
              <a:tblPr firstRow="1" bandRow="1">
                <a:tableStyleId>{00A15C55-8517-42AA-B614-E9B94910E393}</a:tableStyleId>
              </a:tblPr>
              <a:tblGrid>
                <a:gridCol w="5377218">
                  <a:extLst>
                    <a:ext uri="{9D8B030D-6E8A-4147-A177-3AD203B41FA5}">
                      <a16:colId xmlns:a16="http://schemas.microsoft.com/office/drawing/2014/main" val="20000"/>
                    </a:ext>
                  </a:extLst>
                </a:gridCol>
                <a:gridCol w="5377218">
                  <a:extLst>
                    <a:ext uri="{9D8B030D-6E8A-4147-A177-3AD203B41FA5}">
                      <a16:colId xmlns:a16="http://schemas.microsoft.com/office/drawing/2014/main" val="20001"/>
                    </a:ext>
                  </a:extLst>
                </a:gridCol>
              </a:tblGrid>
              <a:tr h="624184">
                <a:tc>
                  <a:txBody>
                    <a:bodyPr/>
                    <a:lstStyle/>
                    <a:p>
                      <a:pPr>
                        <a:defRPr sz="1296" b="1"/>
                      </a:pPr>
                      <a:r>
                        <a:rPr sz="3200"/>
                        <a:t>Day</a:t>
                      </a:r>
                    </a:p>
                  </a:txBody>
                  <a:tcPr/>
                </a:tc>
                <a:tc>
                  <a:txBody>
                    <a:bodyPr/>
                    <a:lstStyle/>
                    <a:p>
                      <a:pPr>
                        <a:defRPr sz="1296" b="1"/>
                      </a:pPr>
                      <a:r>
                        <a:rPr sz="3200" dirty="0"/>
                        <a:t>Theme</a:t>
                      </a:r>
                    </a:p>
                  </a:txBody>
                  <a:tcPr/>
                </a:tc>
                <a:extLst>
                  <a:ext uri="{0D108BD9-81ED-4DB2-BD59-A6C34878D82A}">
                    <a16:rowId xmlns:a16="http://schemas.microsoft.com/office/drawing/2014/main" val="10000"/>
                  </a:ext>
                </a:extLst>
              </a:tr>
              <a:tr h="624184">
                <a:tc>
                  <a:txBody>
                    <a:bodyPr/>
                    <a:lstStyle/>
                    <a:p>
                      <a:r>
                        <a:t>Monday</a:t>
                      </a:r>
                    </a:p>
                  </a:txBody>
                  <a:tcPr/>
                </a:tc>
                <a:tc>
                  <a:txBody>
                    <a:bodyPr/>
                    <a:lstStyle/>
                    <a:p>
                      <a:r>
                        <a:rPr lang="en-US" dirty="0"/>
                        <a:t>AI-First, Prompt-First, </a:t>
                      </a:r>
                      <a:r>
                        <a:rPr dirty="0"/>
                        <a:t>AI Guardrails, Instructions</a:t>
                      </a:r>
                    </a:p>
                  </a:txBody>
                  <a:tcPr/>
                </a:tc>
                <a:extLst>
                  <a:ext uri="{0D108BD9-81ED-4DB2-BD59-A6C34878D82A}">
                    <a16:rowId xmlns:a16="http://schemas.microsoft.com/office/drawing/2014/main" val="10001"/>
                  </a:ext>
                </a:extLst>
              </a:tr>
              <a:tr h="624184">
                <a:tc>
                  <a:txBody>
                    <a:bodyPr/>
                    <a:lstStyle/>
                    <a:p>
                      <a:r>
                        <a:t>Tuesday</a:t>
                      </a:r>
                    </a:p>
                  </a:txBody>
                  <a:tcPr/>
                </a:tc>
                <a:tc>
                  <a:txBody>
                    <a:bodyPr/>
                    <a:lstStyle/>
                    <a:p>
                      <a:r>
                        <a:rPr lang="en-US" dirty="0"/>
                        <a:t>LLMs, Teams, </a:t>
                      </a:r>
                      <a:r>
                        <a:rPr dirty="0"/>
                        <a:t>AI Guardrails, Prompts</a:t>
                      </a:r>
                      <a:r>
                        <a:rPr lang="en-US" dirty="0"/>
                        <a:t>, Documentation, Test Automation</a:t>
                      </a:r>
                      <a:endParaRPr dirty="0"/>
                    </a:p>
                  </a:txBody>
                  <a:tcPr/>
                </a:tc>
                <a:extLst>
                  <a:ext uri="{0D108BD9-81ED-4DB2-BD59-A6C34878D82A}">
                    <a16:rowId xmlns:a16="http://schemas.microsoft.com/office/drawing/2014/main" val="10002"/>
                  </a:ext>
                </a:extLst>
              </a:tr>
              <a:tr h="624184">
                <a:tc>
                  <a:txBody>
                    <a:bodyPr/>
                    <a:lstStyle/>
                    <a:p>
                      <a:r>
                        <a:t>Wednesday</a:t>
                      </a:r>
                    </a:p>
                  </a:txBody>
                  <a:tcPr/>
                </a:tc>
                <a:tc>
                  <a:txBody>
                    <a:bodyPr/>
                    <a:lstStyle/>
                    <a:p>
                      <a:r>
                        <a:rPr dirty="0"/>
                        <a:t>AI Guardrails, Agents</a:t>
                      </a:r>
                      <a:r>
                        <a:rPr lang="en-US"/>
                        <a:t>, Skills, MCP</a:t>
                      </a:r>
                      <a:endParaRPr/>
                    </a:p>
                  </a:txBody>
                  <a:tcPr/>
                </a:tc>
                <a:extLst>
                  <a:ext uri="{0D108BD9-81ED-4DB2-BD59-A6C34878D82A}">
                    <a16:rowId xmlns:a16="http://schemas.microsoft.com/office/drawing/2014/main" val="10003"/>
                  </a:ext>
                </a:extLst>
              </a:tr>
              <a:tr h="873858">
                <a:tc>
                  <a:txBody>
                    <a:bodyPr/>
                    <a:lstStyle/>
                    <a:p>
                      <a:r>
                        <a:rPr dirty="0"/>
                        <a:t>Thursday</a:t>
                      </a:r>
                    </a:p>
                  </a:txBody>
                  <a:tcPr/>
                </a:tc>
                <a:tc>
                  <a:txBody>
                    <a:bodyPr/>
                    <a:lstStyle/>
                    <a:p>
                      <a:r>
                        <a:rPr dirty="0"/>
                        <a:t>AI Assisted Brownfield Software Development</a:t>
                      </a:r>
                    </a:p>
                  </a:txBody>
                  <a:tcPr/>
                </a:tc>
                <a:extLst>
                  <a:ext uri="{0D108BD9-81ED-4DB2-BD59-A6C34878D82A}">
                    <a16:rowId xmlns:a16="http://schemas.microsoft.com/office/drawing/2014/main" val="10004"/>
                  </a:ext>
                </a:extLst>
              </a:tr>
              <a:tr h="873858">
                <a:tc>
                  <a:txBody>
                    <a:bodyPr/>
                    <a:lstStyle/>
                    <a:p>
                      <a:r>
                        <a:t>Friday</a:t>
                      </a:r>
                    </a:p>
                  </a:txBody>
                  <a:tcPr/>
                </a:tc>
                <a:tc>
                  <a:txBody>
                    <a:bodyPr/>
                    <a:lstStyle/>
                    <a:p>
                      <a:r>
                        <a:rPr dirty="0"/>
                        <a:t>AI Assisted Greenfield Software Development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endParaRPr/>
          </a:p>
          <a:p>
            <a:r>
              <a:t>Intro</a:t>
            </a:r>
          </a:p>
          <a:p>
            <a:r>
              <a:rPr b="1"/>
              <a:t>▶ AI Assisted Software Development</a:t>
            </a:r>
          </a:p>
          <a:p>
            <a:r>
              <a:t>Intro to Copilot</a:t>
            </a:r>
          </a:p>
          <a:p>
            <a:r>
              <a:t>AI Assistance in Action</a:t>
            </a:r>
          </a:p>
          <a:p>
            <a:r>
              <a:t>Adding AI Guardrails</a:t>
            </a:r>
          </a:p>
          <a:p>
            <a:r>
              <a:t>Managing Context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AI Assisted Software Development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AI Assisted Software Development</a:t>
            </a:r>
          </a:p>
        </p:txBody>
      </p:sp>
      <p:sp>
        <p:nvSpPr>
          <p:cNvPr id="3" name="Content Placeholder 2"/>
          <p:cNvSpPr>
            <a:spLocks noGrp="1"/>
          </p:cNvSpPr>
          <p:nvPr>
            <p:ph idx="1"/>
          </p:nvPr>
        </p:nvSpPr>
        <p:spPr/>
        <p:txBody>
          <a:bodyPr wrap="square">
            <a:normAutofit/>
          </a:bodyPr>
          <a:lstStyle/>
          <a:p>
            <a:endParaRPr/>
          </a:p>
          <a:p>
            <a:r>
              <a:t>WTBD - The Core Thesis</a:t>
            </a:r>
          </a:p>
          <a:p>
            <a:r>
              <a:t>The AI Revolution?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WTBD - The Core Thesis</a:t>
            </a:r>
          </a:p>
        </p:txBody>
      </p:sp>
      <p:sp>
        <p:nvSpPr>
          <p:cNvPr id="3" name="Content Placeholder 2"/>
          <p:cNvSpPr>
            <a:spLocks noGrp="1"/>
          </p:cNvSpPr>
          <p:nvPr>
            <p:ph idx="1"/>
          </p:nvPr>
        </p:nvSpPr>
        <p:spPr/>
        <p:txBody>
          <a:bodyPr wrap="square">
            <a:normAutofit fontScale="92500" lnSpcReduction="20000"/>
          </a:bodyPr>
          <a:lstStyle/>
          <a:p>
            <a:endParaRPr/>
          </a:p>
          <a:p>
            <a:r>
              <a:rPr i="1"/>
              <a:t>"Programming hasn't changed, but how we go about it has changed, again."</a:t>
            </a:r>
          </a:p>
          <a:p>
            <a:endParaRPr i="1"/>
          </a:p>
          <a:p>
            <a:r>
              <a:t>AI-assisted development is </a:t>
            </a:r>
            <a:r>
              <a:rPr b="1"/>
              <a:t>evolutionary</a:t>
            </a:r>
            <a:r>
              <a:t>, not revolutionary</a:t>
            </a:r>
          </a:p>
          <a:p>
            <a:r>
              <a:t>Programming has always been about </a:t>
            </a:r>
            <a:r>
              <a:rPr b="1"/>
              <a:t>expressing human intent</a:t>
            </a:r>
            <a:r>
              <a:t> to machines</a:t>
            </a:r>
          </a:p>
          <a:p>
            <a:r>
              <a:t>What changes is the </a:t>
            </a:r>
            <a:r>
              <a:rPr b="1"/>
              <a:t>sophistication of our tools</a:t>
            </a:r>
            <a:r>
              <a:t> for expressing intent</a:t>
            </a:r>
          </a:p>
          <a:p>
            <a:r>
              <a:t>The essence remains: bridging the gap between what we want and what machines can do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 Brief History: Machine Code &amp; Assembly (1940s)</a:t>
            </a:r>
          </a:p>
        </p:txBody>
      </p:sp>
      <p:sp>
        <p:nvSpPr>
          <p:cNvPr id="3" name="Content Placeholder 2"/>
          <p:cNvSpPr>
            <a:spLocks noGrp="1"/>
          </p:cNvSpPr>
          <p:nvPr>
            <p:ph idx="1"/>
          </p:nvPr>
        </p:nvSpPr>
        <p:spPr/>
        <p:txBody>
          <a:bodyPr wrap="square">
            <a:normAutofit fontScale="62500" lnSpcReduction="20000"/>
          </a:bodyPr>
          <a:lstStyle/>
          <a:p>
            <a:endParaRPr dirty="0"/>
          </a:p>
          <a:p>
            <a:r>
              <a:rPr b="1" dirty="0"/>
              <a:t>Machine Code</a:t>
            </a:r>
            <a:r>
              <a:rPr dirty="0"/>
              <a:t>: Raw binary language executed directly by hardware</a:t>
            </a:r>
          </a:p>
          <a:p>
            <a:r>
              <a:rPr b="1" dirty="0"/>
              <a:t>Physical Programming</a:t>
            </a:r>
            <a:r>
              <a:rPr dirty="0"/>
              <a:t>:</a:t>
            </a:r>
          </a:p>
          <a:p>
            <a:r>
              <a:rPr dirty="0"/>
              <a:t>Flipping panel switches</a:t>
            </a:r>
          </a:p>
          <a:p>
            <a:r>
              <a:rPr dirty="0"/>
              <a:t>Plugging cables</a:t>
            </a:r>
          </a:p>
          <a:p>
            <a:r>
              <a:rPr dirty="0"/>
              <a:t>Feeding punched cards into IBM readers</a:t>
            </a:r>
          </a:p>
          <a:p>
            <a:r>
              <a:rPr dirty="0"/>
              <a:t>Threading perforated paper tape</a:t>
            </a:r>
          </a:p>
          <a:p>
            <a:endParaRPr dirty="0"/>
          </a:p>
          <a:p>
            <a:r>
              <a:rPr b="1" dirty="0"/>
              <a:t>Assembly Language</a:t>
            </a:r>
            <a:r>
              <a:rPr dirty="0"/>
              <a:t>: Introduced symbolic mnemonics (MOV, ADD, JMP)</a:t>
            </a:r>
          </a:p>
          <a:p>
            <a:endParaRPr dirty="0"/>
          </a:p>
          <a:p>
            <a:r>
              <a:rPr b="1" dirty="0"/>
              <a:t>Enabling Technology</a:t>
            </a:r>
            <a:r>
              <a:rPr dirty="0"/>
              <a:t>: Assemblers that translated mnemonics into machine code</a:t>
            </a:r>
          </a:p>
          <a:p>
            <a:r>
              <a:rPr dirty="0"/>
              <a:t>Still mainstream today in embedded systems and OS kernels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High-Level Languages (1950s-1970s)</a:t>
            </a:r>
          </a:p>
        </p:txBody>
      </p:sp>
      <p:sp>
        <p:nvSpPr>
          <p:cNvPr id="3" name="Content Placeholder 2"/>
          <p:cNvSpPr>
            <a:spLocks noGrp="1"/>
          </p:cNvSpPr>
          <p:nvPr>
            <p:ph idx="1"/>
          </p:nvPr>
        </p:nvSpPr>
        <p:spPr/>
        <p:txBody>
          <a:bodyPr wrap="square">
            <a:normAutofit fontScale="55000" lnSpcReduction="20000"/>
          </a:bodyPr>
          <a:lstStyle/>
          <a:p>
            <a:endParaRPr dirty="0"/>
          </a:p>
          <a:p>
            <a:r>
              <a:rPr b="1" dirty="0"/>
              <a:t>The Abstraction Revolution</a:t>
            </a:r>
            <a:r>
              <a:rPr dirty="0"/>
              <a:t>:</a:t>
            </a:r>
          </a:p>
          <a:p>
            <a:endParaRPr dirty="0"/>
          </a:p>
          <a:p>
            <a:r>
              <a:rPr dirty="0"/>
              <a:t>Math-like and business-oriented syntax</a:t>
            </a:r>
          </a:p>
          <a:p>
            <a:r>
              <a:rPr b="1" dirty="0"/>
              <a:t>Enabling Technologies</a:t>
            </a:r>
            <a:r>
              <a:rPr dirty="0"/>
              <a:t>: Compilers and interpreters</a:t>
            </a:r>
          </a:p>
          <a:p>
            <a:endParaRPr dirty="0"/>
          </a:p>
          <a:p>
            <a:r>
              <a:rPr b="1" dirty="0"/>
              <a:t>Key Languages</a:t>
            </a:r>
            <a:r>
              <a:rPr dirty="0"/>
              <a:t>:</a:t>
            </a:r>
          </a:p>
          <a:p>
            <a:endParaRPr dirty="0"/>
          </a:p>
          <a:p>
            <a:r>
              <a:rPr b="1" dirty="0"/>
              <a:t>FORTRAN (1957)</a:t>
            </a:r>
            <a:r>
              <a:rPr dirty="0"/>
              <a:t>: Pioneered scientific programming</a:t>
            </a:r>
          </a:p>
          <a:p>
            <a:r>
              <a:rPr b="1" dirty="0"/>
              <a:t>COBOL (1959)</a:t>
            </a:r>
            <a:r>
              <a:rPr dirty="0"/>
              <a:t>: Mainstream in business and government</a:t>
            </a:r>
          </a:p>
          <a:p>
            <a:r>
              <a:rPr b="1" dirty="0"/>
              <a:t>C (1972)</a:t>
            </a:r>
            <a:r>
              <a:rPr dirty="0"/>
              <a:t>: Spread with UNIX thanks to portable compilers</a:t>
            </a:r>
          </a:p>
          <a:p>
            <a:endParaRPr dirty="0"/>
          </a:p>
          <a:p>
            <a:r>
              <a:rPr b="1" dirty="0"/>
              <a:t>Sensory Shift</a:t>
            </a:r>
            <a:r>
              <a:rPr dirty="0"/>
              <a:t>: From mechanical card punches to typewriter-style terminals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Structured &amp; Object-Oriented Programming (1970s-1980s)</a:t>
            </a:r>
          </a:p>
        </p:txBody>
      </p:sp>
      <p:sp>
        <p:nvSpPr>
          <p:cNvPr id="3" name="Content Placeholder 2"/>
          <p:cNvSpPr>
            <a:spLocks noGrp="1"/>
          </p:cNvSpPr>
          <p:nvPr>
            <p:ph idx="1"/>
          </p:nvPr>
        </p:nvSpPr>
        <p:spPr/>
        <p:txBody>
          <a:bodyPr wrap="square">
            <a:normAutofit fontScale="55000" lnSpcReduction="20000"/>
          </a:bodyPr>
          <a:lstStyle/>
          <a:p>
            <a:endParaRPr/>
          </a:p>
          <a:p>
            <a:r>
              <a:rPr b="1"/>
              <a:t>Focus</a:t>
            </a:r>
            <a:r>
              <a:t>: Modularity, reuse, and abstraction</a:t>
            </a:r>
          </a:p>
          <a:p>
            <a:endParaRPr/>
          </a:p>
          <a:p>
            <a:r>
              <a:rPr b="1"/>
              <a:t>Key Developments</a:t>
            </a:r>
            <a:r>
              <a:t>:</a:t>
            </a:r>
          </a:p>
          <a:p>
            <a:endParaRPr/>
          </a:p>
          <a:p>
            <a:r>
              <a:rPr b="1"/>
              <a:t>Pascal (1970)</a:t>
            </a:r>
            <a:r>
              <a:t>: Structured paradigms with compiler innovations</a:t>
            </a:r>
          </a:p>
          <a:p>
            <a:r>
              <a:rPr b="1"/>
              <a:t>C++ (1985)</a:t>
            </a:r>
            <a:r>
              <a:t>: Object-oriented compilers supporting inheritance and polymorphism</a:t>
            </a:r>
          </a:p>
          <a:p>
            <a:endParaRPr/>
          </a:p>
          <a:p>
            <a:r>
              <a:rPr b="1"/>
              <a:t>Enabling Technologies</a:t>
            </a:r>
            <a:r>
              <a:t>:</a:t>
            </a:r>
          </a:p>
          <a:p>
            <a:endParaRPr/>
          </a:p>
          <a:p>
            <a:r>
              <a:t>Advanced compiler innovations</a:t>
            </a:r>
          </a:p>
          <a:p>
            <a:r>
              <a:t>Support for inheritance and polymorphism</a:t>
            </a:r>
          </a:p>
          <a:p>
            <a:endParaRPr/>
          </a:p>
          <a:p>
            <a:r>
              <a:rPr b="1"/>
              <a:t>Era Experience</a:t>
            </a:r>
            <a:r>
              <a:t>: CRT monitors with green text, floppy disks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IDEs &amp; Libraries (1990s)</a:t>
            </a:r>
          </a:p>
        </p:txBody>
      </p:sp>
      <p:sp>
        <p:nvSpPr>
          <p:cNvPr id="3" name="Content Placeholder 2"/>
          <p:cNvSpPr>
            <a:spLocks noGrp="1"/>
          </p:cNvSpPr>
          <p:nvPr>
            <p:ph idx="1"/>
          </p:nvPr>
        </p:nvSpPr>
        <p:spPr/>
        <p:txBody>
          <a:bodyPr wrap="square">
            <a:normAutofit fontScale="55000" lnSpcReduction="20000"/>
          </a:bodyPr>
          <a:lstStyle/>
          <a:p>
            <a:endParaRPr/>
          </a:p>
          <a:p>
            <a:r>
              <a:rPr b="1"/>
              <a:t>The Integration Era</a:t>
            </a:r>
            <a:r>
              <a:t>:</a:t>
            </a:r>
          </a:p>
          <a:p>
            <a:endParaRPr/>
          </a:p>
          <a:p>
            <a:r>
              <a:rPr b="1"/>
              <a:t>IDEs</a:t>
            </a:r>
            <a:r>
              <a:t>: Combined compilers, debuggers, and editors in graphical interfaces</a:t>
            </a:r>
          </a:p>
          <a:p>
            <a:r>
              <a:rPr b="1"/>
              <a:t>Visual Studio</a:t>
            </a:r>
            <a:r>
              <a:t>: Enabled by faster processors and GUI toolkits</a:t>
            </a:r>
          </a:p>
          <a:p>
            <a:r>
              <a:rPr b="1"/>
              <a:t>Java &amp; JVM (1995)</a:t>
            </a:r>
            <a:r>
              <a:t>: "Write once, run anywhere"</a:t>
            </a:r>
          </a:p>
          <a:p>
            <a:r>
              <a:rPr b="1"/>
              <a:t>Reusable Libraries</a:t>
            </a:r>
            <a:r>
              <a:t>: Abstracted common functionality</a:t>
            </a:r>
          </a:p>
          <a:p>
            <a:endParaRPr/>
          </a:p>
          <a:p>
            <a:r>
              <a:rPr b="1"/>
              <a:t>Enabling Technologies</a:t>
            </a:r>
            <a:r>
              <a:t>:</a:t>
            </a:r>
          </a:p>
          <a:p>
            <a:endParaRPr/>
          </a:p>
          <a:p>
            <a:r>
              <a:t>Faster processors, GUI toolkits, extensible plug-in architectures</a:t>
            </a:r>
          </a:p>
          <a:p>
            <a:r>
              <a:t>Virtual machines</a:t>
            </a:r>
          </a:p>
          <a:p>
            <a:endParaRPr/>
          </a:p>
          <a:p>
            <a:r>
              <a:rPr b="1"/>
              <a:t>Experience</a:t>
            </a:r>
            <a:r>
              <a:t>: Mouse clicks, drag-and-drop, desktop computing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Web &amp; Scripting Languages (Late 1990s-2000s)</a:t>
            </a:r>
          </a:p>
        </p:txBody>
      </p:sp>
      <p:sp>
        <p:nvSpPr>
          <p:cNvPr id="3" name="Content Placeholder 2"/>
          <p:cNvSpPr>
            <a:spLocks noGrp="1"/>
          </p:cNvSpPr>
          <p:nvPr>
            <p:ph idx="1"/>
          </p:nvPr>
        </p:nvSpPr>
        <p:spPr/>
        <p:txBody>
          <a:bodyPr wrap="square">
            <a:normAutofit fontScale="55000" lnSpcReduction="20000"/>
          </a:bodyPr>
          <a:lstStyle/>
          <a:p>
            <a:endParaRPr/>
          </a:p>
          <a:p>
            <a:r>
              <a:rPr b="1"/>
              <a:t>The Dynamic Web Era</a:t>
            </a:r>
            <a:r>
              <a:t>:</a:t>
            </a:r>
          </a:p>
          <a:p>
            <a:endParaRPr/>
          </a:p>
          <a:p>
            <a:r>
              <a:rPr b="1"/>
              <a:t>JavaScript (1995)</a:t>
            </a:r>
            <a:r>
              <a:t>: Powered by Netscape, later V8 engine (2008)</a:t>
            </a:r>
          </a:p>
          <a:p>
            <a:r>
              <a:rPr b="1"/>
              <a:t>Python</a:t>
            </a:r>
            <a:r>
              <a:t>: Web development in 2000s, data science dominance</a:t>
            </a:r>
          </a:p>
          <a:p>
            <a:r>
              <a:rPr b="1"/>
              <a:t>Ruby on Rails (2004)</a:t>
            </a:r>
            <a:r>
              <a:t>: Abstracted web complexity</a:t>
            </a:r>
          </a:p>
          <a:p>
            <a:endParaRPr/>
          </a:p>
          <a:p>
            <a:r>
              <a:rPr b="1"/>
              <a:t>Enabling Technologies</a:t>
            </a:r>
            <a:r>
              <a:t>:</a:t>
            </a:r>
          </a:p>
          <a:p>
            <a:endParaRPr/>
          </a:p>
          <a:p>
            <a:r>
              <a:t>Browser engines, dynamic interpreters, frameworks</a:t>
            </a:r>
          </a:p>
          <a:p>
            <a:r>
              <a:t>Eclipse IDE (2001)</a:t>
            </a:r>
          </a:p>
          <a:p>
            <a:endParaRPr/>
          </a:p>
          <a:p>
            <a:r>
              <a:rPr b="1"/>
              <a:t>Experience</a:t>
            </a:r>
            <a:r>
              <a:t>: Portable coding on laptops, coffee shop programming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Cloud, APIs &amp; Low-Code Platforms (2010s)</a:t>
            </a:r>
          </a:p>
        </p:txBody>
      </p:sp>
      <p:sp>
        <p:nvSpPr>
          <p:cNvPr id="3" name="Content Placeholder 2"/>
          <p:cNvSpPr>
            <a:spLocks noGrp="1"/>
          </p:cNvSpPr>
          <p:nvPr>
            <p:ph idx="1"/>
          </p:nvPr>
        </p:nvSpPr>
        <p:spPr/>
        <p:txBody>
          <a:bodyPr wrap="square">
            <a:normAutofit fontScale="77500" lnSpcReduction="20000"/>
          </a:bodyPr>
          <a:lstStyle/>
          <a:p>
            <a:endParaRPr/>
          </a:p>
          <a:p>
            <a:r>
              <a:rPr b="1"/>
              <a:t>The Orchestration Era</a:t>
            </a:r>
            <a:r>
              <a:t>:</a:t>
            </a:r>
          </a:p>
          <a:p>
            <a:endParaRPr/>
          </a:p>
          <a:p>
            <a:r>
              <a:rPr b="1"/>
              <a:t>Cloud Computing</a:t>
            </a:r>
            <a:r>
              <a:t>: Virtualization and containerization (Docker, Kubernetes)</a:t>
            </a:r>
          </a:p>
          <a:p>
            <a:r>
              <a:rPr b="1"/>
              <a:t>APIs</a:t>
            </a:r>
            <a:r>
              <a:t>: REST and GraphQL enabled modular integration</a:t>
            </a:r>
          </a:p>
          <a:p>
            <a:r>
              <a:rPr b="1"/>
              <a:t>Low-Code Platforms</a:t>
            </a:r>
            <a:r>
              <a:t>: Mendix, OutSystems, PowerApps with visual compilers</a:t>
            </a:r>
          </a:p>
          <a:p>
            <a:endParaRPr/>
          </a:p>
          <a:p>
            <a:r>
              <a:rPr b="1"/>
              <a:t>Transformation</a:t>
            </a:r>
            <a:r>
              <a:t>: Programming shifted from hardware-bound tasks to orchestration</a:t>
            </a:r>
          </a:p>
          <a:p>
            <a:endParaRPr/>
          </a:p>
          <a:p>
            <a:r>
              <a:rPr b="1"/>
              <a:t>Experience</a:t>
            </a:r>
            <a:r>
              <a:t>: Browser dashboards, swiping, clicking, dragging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Modern Mainstream Coding Experience</a:t>
            </a:r>
          </a:p>
        </p:txBody>
      </p:sp>
      <p:sp>
        <p:nvSpPr>
          <p:cNvPr id="3" name="Content Placeholder 2"/>
          <p:cNvSpPr>
            <a:spLocks noGrp="1"/>
          </p:cNvSpPr>
          <p:nvPr>
            <p:ph idx="1"/>
          </p:nvPr>
        </p:nvSpPr>
        <p:spPr/>
        <p:txBody>
          <a:bodyPr wrap="square">
            <a:normAutofit fontScale="77500" lnSpcReduction="20000"/>
          </a:bodyPr>
          <a:lstStyle/>
          <a:p>
            <a:endParaRPr/>
          </a:p>
          <a:p>
            <a:r>
              <a:rPr b="1"/>
              <a:t>Intent Interpretation</a:t>
            </a:r>
            <a:r>
              <a:t>:</a:t>
            </a:r>
          </a:p>
          <a:p>
            <a:endParaRPr/>
          </a:p>
          <a:p>
            <a:r>
              <a:t>Developers express intent in higher-level languages, frameworks, and APIs</a:t>
            </a:r>
          </a:p>
          <a:p>
            <a:r>
              <a:t>Compilers, interpreters, and VMs translate intent into executable code</a:t>
            </a:r>
          </a:p>
          <a:p>
            <a:r>
              <a:t>Libraries and cloud services provide ready-made building blocks</a:t>
            </a:r>
          </a:p>
          <a:p>
            <a:r>
              <a:t>Less about micromanaging hardware, more about shaping logic and workflows</a:t>
            </a:r>
          </a:p>
          <a:p>
            <a:endParaRPr/>
          </a:p>
          <a:p>
            <a:r>
              <a:rPr b="1"/>
              <a:t>The Core</a:t>
            </a:r>
            <a:r>
              <a:t>: Bridging human goals with machine execution through layers of abstraction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AI-Assisted Coding (Present/Future)</a:t>
            </a:r>
          </a:p>
        </p:txBody>
      </p:sp>
      <p:sp>
        <p:nvSpPr>
          <p:cNvPr id="3" name="Content Placeholder 2"/>
          <p:cNvSpPr>
            <a:spLocks noGrp="1"/>
          </p:cNvSpPr>
          <p:nvPr>
            <p:ph idx="1"/>
          </p:nvPr>
        </p:nvSpPr>
        <p:spPr/>
        <p:txBody>
          <a:bodyPr wrap="square">
            <a:normAutofit fontScale="55000" lnSpcReduction="20000"/>
          </a:bodyPr>
          <a:lstStyle/>
          <a:p>
            <a:endParaRPr/>
          </a:p>
          <a:p>
            <a:r>
              <a:rPr b="1"/>
              <a:t>The Natural Language Era</a:t>
            </a:r>
            <a:r>
              <a:t>:</a:t>
            </a:r>
          </a:p>
          <a:p>
            <a:endParaRPr/>
          </a:p>
          <a:p>
            <a:r>
              <a:rPr b="1"/>
              <a:t>Enabling Technologies</a:t>
            </a:r>
            <a:r>
              <a:t>:</a:t>
            </a:r>
          </a:p>
          <a:p>
            <a:endParaRPr/>
          </a:p>
          <a:p>
            <a:r>
              <a:t>Large language models trained on vast code repositories</a:t>
            </a:r>
          </a:p>
          <a:p>
            <a:r>
              <a:t>Contextual intent recognition</a:t>
            </a:r>
          </a:p>
          <a:p>
            <a:r>
              <a:t>IDE integration</a:t>
            </a:r>
          </a:p>
          <a:p>
            <a:endParaRPr/>
          </a:p>
          <a:p>
            <a:r>
              <a:rPr b="1"/>
              <a:t>The Paradigm Shift</a:t>
            </a:r>
            <a:r>
              <a:t>: Programming becomes </a:t>
            </a:r>
            <a:r>
              <a:rPr b="1"/>
              <a:t>dialogue</a:t>
            </a:r>
          </a:p>
          <a:p>
            <a:endParaRPr b="1"/>
          </a:p>
          <a:p>
            <a:r>
              <a:t>Express goals in plain language</a:t>
            </a:r>
          </a:p>
          <a:p>
            <a:r>
              <a:t>AI generates code, tests, and documentation</a:t>
            </a:r>
          </a:p>
          <a:p>
            <a:r>
              <a:t>Example: "Create a function that validates email addresses" → Complete implementation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Natural Language Coding: The Game Changer</a:t>
            </a:r>
          </a:p>
        </p:txBody>
      </p:sp>
      <p:sp>
        <p:nvSpPr>
          <p:cNvPr id="3" name="Content Placeholder 2"/>
          <p:cNvSpPr>
            <a:spLocks noGrp="1"/>
          </p:cNvSpPr>
          <p:nvPr>
            <p:ph idx="1"/>
          </p:nvPr>
        </p:nvSpPr>
        <p:spPr/>
        <p:txBody>
          <a:bodyPr wrap="square">
            <a:normAutofit fontScale="55000" lnSpcReduction="20000"/>
          </a:bodyPr>
          <a:lstStyle/>
          <a:p>
            <a:endParaRPr/>
          </a:p>
          <a:p>
            <a:r>
              <a:rPr b="1"/>
              <a:t>Responsibility Shift</a:t>
            </a:r>
            <a:r>
              <a:t>:</a:t>
            </a:r>
          </a:p>
          <a:p>
            <a:endParaRPr/>
          </a:p>
          <a:p>
            <a:r>
              <a:t>Previously: Coder translates intent into executable code</a:t>
            </a:r>
          </a:p>
          <a:p>
            <a:r>
              <a:t>Now: Intent expressed in natural language, AI interprets and generates</a:t>
            </a:r>
          </a:p>
          <a:p>
            <a:endParaRPr/>
          </a:p>
          <a:p>
            <a:r>
              <a:rPr b="1"/>
              <a:t>New Role of Programmer</a:t>
            </a:r>
            <a:r>
              <a:t>:</a:t>
            </a:r>
          </a:p>
          <a:p>
            <a:endParaRPr/>
          </a:p>
          <a:p>
            <a:r>
              <a:rPr b="1"/>
              <a:t>Curator of context</a:t>
            </a:r>
          </a:p>
          <a:p>
            <a:r>
              <a:rPr b="1"/>
              <a:t>Validator of output</a:t>
            </a:r>
          </a:p>
          <a:p>
            <a:r>
              <a:rPr b="1"/>
              <a:t>Steward of alignment</a:t>
            </a:r>
            <a:r>
              <a:t> between human goals and machine behavior</a:t>
            </a:r>
          </a:p>
          <a:p>
            <a:endParaRPr/>
          </a:p>
          <a:p>
            <a:r>
              <a:rPr b="1"/>
              <a:t>Boundary Movement</a:t>
            </a:r>
            <a:r>
              <a:t>: Between domain expertise and implementation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AI Understands Intent—Not Just Commands</a:t>
            </a:r>
          </a:p>
        </p:txBody>
      </p:sp>
      <p:sp>
        <p:nvSpPr>
          <p:cNvPr id="3" name="Content Placeholder 2"/>
          <p:cNvSpPr>
            <a:spLocks noGrp="1"/>
          </p:cNvSpPr>
          <p:nvPr>
            <p:ph idx="1"/>
          </p:nvPr>
        </p:nvSpPr>
        <p:spPr/>
        <p:txBody>
          <a:bodyPr wrap="square">
            <a:normAutofit fontScale="62500" lnSpcReduction="20000"/>
          </a:bodyPr>
          <a:lstStyle/>
          <a:p>
            <a:endParaRPr/>
          </a:p>
          <a:p>
            <a:r>
              <a:rPr b="1"/>
              <a:t>Beyond Parsing</a:t>
            </a:r>
            <a:r>
              <a:t>: AI understands what you mean</a:t>
            </a:r>
          </a:p>
          <a:p>
            <a:endParaRPr/>
          </a:p>
          <a:p>
            <a:r>
              <a:t>"Make this faster" → Performance optimizations</a:t>
            </a:r>
          </a:p>
          <a:p>
            <a:r>
              <a:t>"Add error handling" → Proper exception management</a:t>
            </a:r>
          </a:p>
          <a:p>
            <a:r>
              <a:t>"Log the output" → Appropriate logging implementation</a:t>
            </a:r>
          </a:p>
          <a:p>
            <a:endParaRPr/>
          </a:p>
          <a:p>
            <a:r>
              <a:rPr b="1"/>
              <a:t>New Interaction Modes</a:t>
            </a:r>
            <a:r>
              <a:t>:</a:t>
            </a:r>
          </a:p>
          <a:p>
            <a:endParaRPr/>
          </a:p>
          <a:p>
            <a:r>
              <a:t>Sketches and examples as expressions of intent</a:t>
            </a:r>
          </a:p>
          <a:p>
            <a:r>
              <a:t>Test cases and bug reports → Code generation</a:t>
            </a:r>
          </a:p>
          <a:p>
            <a:r>
              <a:t>Conversational iteration like human collaboration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It's Just Another Tool</a:t>
            </a:r>
          </a:p>
        </p:txBody>
      </p:sp>
      <p:sp>
        <p:nvSpPr>
          <p:cNvPr id="3" name="Content Placeholder 2"/>
          <p:cNvSpPr>
            <a:spLocks noGrp="1"/>
          </p:cNvSpPr>
          <p:nvPr>
            <p:ph idx="1"/>
          </p:nvPr>
        </p:nvSpPr>
        <p:spPr/>
        <p:txBody>
          <a:bodyPr wrap="square">
            <a:normAutofit fontScale="62500" lnSpcReduction="20000"/>
          </a:bodyPr>
          <a:lstStyle/>
          <a:p>
            <a:endParaRPr/>
          </a:p>
          <a:p>
            <a:r>
              <a:rPr b="1"/>
              <a:t>Historical Perspective</a:t>
            </a:r>
            <a:r>
              <a:t>:</a:t>
            </a:r>
          </a:p>
          <a:p>
            <a:endParaRPr/>
          </a:p>
          <a:p>
            <a:r>
              <a:rPr b="1"/>
              <a:t>IDEs</a:t>
            </a:r>
            <a:r>
              <a:t>: Auto-complete and debugging</a:t>
            </a:r>
          </a:p>
          <a:p>
            <a:r>
              <a:rPr b="1"/>
              <a:t>Libraries</a:t>
            </a:r>
            <a:r>
              <a:t>: Reusable components</a:t>
            </a:r>
          </a:p>
          <a:p>
            <a:r>
              <a:rPr b="1"/>
              <a:t>AI</a:t>
            </a:r>
            <a:r>
              <a:t>: Intelligent scaffolding, pattern recognition, code generation</a:t>
            </a:r>
          </a:p>
          <a:p>
            <a:endParaRPr/>
          </a:p>
          <a:p>
            <a:r>
              <a:rPr b="1"/>
              <a:t>Reality Check</a:t>
            </a:r>
            <a:r>
              <a:t>:</a:t>
            </a:r>
          </a:p>
          <a:p>
            <a:endParaRPr/>
          </a:p>
          <a:p>
            <a:r>
              <a:t>AI is not replacing developers</a:t>
            </a:r>
          </a:p>
          <a:p>
            <a:r>
              <a:t>It's helping them move faster and think bigger</a:t>
            </a:r>
          </a:p>
          <a:p>
            <a:r>
              <a:t>Following the same pattern as previous innovations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Verification Still Matters</a:t>
            </a:r>
          </a:p>
        </p:txBody>
      </p:sp>
      <p:sp>
        <p:nvSpPr>
          <p:cNvPr id="3" name="Content Placeholder 2"/>
          <p:cNvSpPr>
            <a:spLocks noGrp="1"/>
          </p:cNvSpPr>
          <p:nvPr>
            <p:ph idx="1"/>
          </p:nvPr>
        </p:nvSpPr>
        <p:spPr/>
        <p:txBody>
          <a:bodyPr wrap="square">
            <a:normAutofit fontScale="92500" lnSpcReduction="20000"/>
          </a:bodyPr>
          <a:lstStyle/>
          <a:p>
            <a:endParaRPr/>
          </a:p>
          <a:p>
            <a:r>
              <a:rPr b="1"/>
              <a:t>Unchanged Responsibilities</a:t>
            </a:r>
            <a:r>
              <a:t>:</a:t>
            </a:r>
          </a:p>
          <a:p>
            <a:endParaRPr/>
          </a:p>
          <a:p>
            <a:r>
              <a:rPr b="1"/>
              <a:t>Testing, review, and validation</a:t>
            </a:r>
            <a:r>
              <a:t> still required</a:t>
            </a:r>
          </a:p>
          <a:p>
            <a:r>
              <a:rPr b="1"/>
              <a:t>Architecture, correctness, security, ethics</a:t>
            </a:r>
            <a:r>
              <a:t> remain developer duties</a:t>
            </a:r>
          </a:p>
          <a:p>
            <a:r>
              <a:t>Critical thinking is still essential</a:t>
            </a:r>
          </a:p>
          <a:p>
            <a:endParaRPr/>
          </a:p>
          <a:p>
            <a:r>
              <a:rPr b="1"/>
              <a:t>What Changed</a:t>
            </a:r>
            <a:r>
              <a:t>: How we express our goals</a:t>
            </a:r>
          </a:p>
          <a:p>
            <a:r>
              <a:rPr b="1"/>
              <a:t>What Didn't Change</a:t>
            </a:r>
            <a:r>
              <a:t>: Whether we need to think critically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The Future Is Still Intent-Driven Development</a:t>
            </a:r>
          </a:p>
        </p:txBody>
      </p:sp>
      <p:sp>
        <p:nvSpPr>
          <p:cNvPr id="3" name="Content Placeholder 2"/>
          <p:cNvSpPr>
            <a:spLocks noGrp="1"/>
          </p:cNvSpPr>
          <p:nvPr>
            <p:ph idx="1"/>
          </p:nvPr>
        </p:nvSpPr>
        <p:spPr/>
        <p:txBody>
          <a:bodyPr wrap="square">
            <a:normAutofit fontScale="92500" lnSpcReduction="20000"/>
          </a:bodyPr>
          <a:lstStyle/>
          <a:p>
            <a:endParaRPr/>
          </a:p>
          <a:p>
            <a:r>
              <a:rPr b="1"/>
              <a:t>Continuity</a:t>
            </a:r>
            <a:r>
              <a:t>:</a:t>
            </a:r>
          </a:p>
          <a:p>
            <a:endParaRPr/>
          </a:p>
          <a:p>
            <a:r>
              <a:t>Core goal remains: getting computers to do what we need</a:t>
            </a:r>
          </a:p>
          <a:p>
            <a:r>
              <a:t>Instead of writing/debugging code → creating prompts and refining context</a:t>
            </a:r>
          </a:p>
          <a:p>
            <a:r>
              <a:t>Same learning curve pattern as all previous improvements</a:t>
            </a:r>
          </a:p>
          <a:p>
            <a:endParaRPr/>
          </a:p>
          <a:p>
            <a:r>
              <a:rPr b="1"/>
              <a:t>Essential Truth</a:t>
            </a:r>
            <a:r>
              <a:t>: AI assistance is just another improvement in the long line of programming evolution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wrap="square">
            <a:normAutofit fontScale="47500" lnSpcReduction="20000"/>
          </a:bodyPr>
          <a:lstStyle/>
          <a:p>
            <a:endParaRPr/>
          </a:p>
          <a:p>
            <a:r>
              <a:rPr b="1"/>
              <a:t>The Fundamental Truth</a:t>
            </a:r>
            <a:r>
              <a:t>:</a:t>
            </a:r>
          </a:p>
          <a:p>
            <a:endParaRPr/>
          </a:p>
          <a:p>
            <a:r>
              <a:t>Programming has </a:t>
            </a:r>
            <a:r>
              <a:rPr b="1"/>
              <a:t>always</a:t>
            </a:r>
            <a:r>
              <a:t> been about translating human intent into machine action</a:t>
            </a:r>
          </a:p>
          <a:p>
            <a:r>
              <a:t>From punch cards to Python to AI prompts—the core challenge remains unchanged</a:t>
            </a:r>
          </a:p>
          <a:p>
            <a:r>
              <a:t>What evolves is not the essence of programming, but the sophistication of our tools</a:t>
            </a:r>
          </a:p>
          <a:p>
            <a:endParaRPr/>
          </a:p>
          <a:p>
            <a:r>
              <a:rPr b="1"/>
              <a:t>AI's Role</a:t>
            </a:r>
            <a:r>
              <a:t>:</a:t>
            </a:r>
          </a:p>
          <a:p>
            <a:endParaRPr/>
          </a:p>
          <a:p>
            <a:r>
              <a:t>Latest chapter in the ongoing story</a:t>
            </a:r>
          </a:p>
          <a:p>
            <a:r>
              <a:t>More intuitive ways to communicate with computers</a:t>
            </a:r>
          </a:p>
          <a:p>
            <a:r>
              <a:t>Preserves essential human responsibilities: design, validation, ethical oversight</a:t>
            </a:r>
          </a:p>
          <a:p>
            <a:endParaRPr/>
          </a:p>
          <a:p>
            <a:r>
              <a:rPr b="1"/>
              <a:t>The Future</a:t>
            </a:r>
            <a:r>
              <a:t>: Not abandoning programming, but refining it—making it more accessible and efficient while keeping human creativity and judgment at the center.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AI Revolution?</a:t>
            </a:r>
          </a:p>
        </p:txBody>
      </p:sp>
      <p:sp>
        <p:nvSpPr>
          <p:cNvPr id="3" name="Content Placeholder 2"/>
          <p:cNvSpPr>
            <a:spLocks noGrp="1"/>
          </p:cNvSpPr>
          <p:nvPr>
            <p:ph idx="1"/>
          </p:nvPr>
        </p:nvSpPr>
        <p:spPr/>
        <p:txBody>
          <a:bodyPr wrap="square">
            <a:normAutofit/>
          </a:bodyPr>
          <a:lstStyle/>
          <a:p>
            <a:endParaRPr/>
          </a:p>
          <a:p>
            <a:r>
              <a:t>What hasn't changed and what has.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Why AI Assisted Software Development</a:t>
            </a:r>
          </a:p>
        </p:txBody>
      </p:sp>
      <p:sp>
        <p:nvSpPr>
          <p:cNvPr id="3" name="Content Placeholder 2"/>
          <p:cNvSpPr>
            <a:spLocks noGrp="1"/>
          </p:cNvSpPr>
          <p:nvPr>
            <p:ph idx="1"/>
          </p:nvPr>
        </p:nvSpPr>
        <p:spPr/>
        <p:txBody>
          <a:bodyPr wrap="square">
            <a:normAutofit fontScale="92500"/>
          </a:bodyPr>
          <a:lstStyle/>
          <a:p>
            <a:endParaRPr dirty="0"/>
          </a:p>
          <a:p>
            <a:r>
              <a:rPr dirty="0"/>
              <a:t>If used effectively, it will give you superpowers</a:t>
            </a:r>
          </a:p>
          <a:p>
            <a:endParaRPr dirty="0"/>
          </a:p>
          <a:p>
            <a:r>
              <a:rPr dirty="0"/>
              <a:t>The courage to</a:t>
            </a:r>
          </a:p>
          <a:p>
            <a:r>
              <a:rPr dirty="0"/>
              <a:t>Take on codebases that few would touch</a:t>
            </a:r>
          </a:p>
          <a:p>
            <a:r>
              <a:rPr dirty="0"/>
              <a:t>Use technologies you should know but don't</a:t>
            </a:r>
          </a:p>
          <a:p>
            <a:r>
              <a:rPr dirty="0"/>
              <a:t>Write more high-quality code than you have ever written before</a:t>
            </a:r>
          </a:p>
          <a:p>
            <a:r>
              <a:rPr dirty="0"/>
              <a:t>Take on the nice to haves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AI-First &amp; Prompt-First</a:t>
            </a:r>
          </a:p>
        </p:txBody>
      </p:sp>
      <p:sp>
        <p:nvSpPr>
          <p:cNvPr id="3" name="Content Placeholder 2"/>
          <p:cNvSpPr>
            <a:spLocks noGrp="1"/>
          </p:cNvSpPr>
          <p:nvPr>
            <p:ph idx="1"/>
          </p:nvPr>
        </p:nvSpPr>
        <p:spPr/>
        <p:txBody>
          <a:bodyPr wrap="square">
            <a:normAutofit fontScale="92500"/>
          </a:bodyPr>
          <a:lstStyle/>
          <a:p>
            <a:endParaRPr/>
          </a:p>
          <a:p>
            <a:r>
              <a:t>AI-First Development</a:t>
            </a:r>
          </a:p>
          <a:p>
            <a:r>
              <a:t>A software engineering philosophy where AI is embedded across the entire SDLC–requirements, design, implementation, testing, documentation, compliance, and maintenance.</a:t>
            </a:r>
          </a:p>
          <a:p>
            <a:r>
              <a:t>Prompt-First Development</a:t>
            </a:r>
          </a:p>
          <a:p>
            <a:r>
              <a:t>A workflow pattern where prompts, instruction files, and chat modes are treated as first-class, version-controlled artifacts.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Optimizes For</a:t>
            </a:r>
          </a:p>
        </p:txBody>
      </p:sp>
      <p:graphicFrame>
        <p:nvGraphicFramePr>
          <p:cNvPr id="3" name="Table 2"/>
          <p:cNvGraphicFramePr>
            <a:graphicFrameLocks noGrp="1"/>
          </p:cNvGraphicFramePr>
          <p:nvPr>
            <p:extLst>
              <p:ext uri="{D42A27DB-BD31-4B8C-83A1-F6EECF244321}">
                <p14:modId xmlns:p14="http://schemas.microsoft.com/office/powerpoint/2010/main" val="1748573"/>
              </p:ext>
            </p:extLst>
          </p:nvPr>
        </p:nvGraphicFramePr>
        <p:xfrm>
          <a:off x="457199" y="1828800"/>
          <a:ext cx="11060724" cy="3358664"/>
        </p:xfrm>
        <a:graphic>
          <a:graphicData uri="http://schemas.openxmlformats.org/drawingml/2006/table">
            <a:tbl>
              <a:tblPr firstRow="1" bandRow="1">
                <a:tableStyleId>{00A15C55-8517-42AA-B614-E9B94910E393}</a:tableStyleId>
              </a:tblPr>
              <a:tblGrid>
                <a:gridCol w="3686908">
                  <a:extLst>
                    <a:ext uri="{9D8B030D-6E8A-4147-A177-3AD203B41FA5}">
                      <a16:colId xmlns:a16="http://schemas.microsoft.com/office/drawing/2014/main" val="20000"/>
                    </a:ext>
                  </a:extLst>
                </a:gridCol>
                <a:gridCol w="3686908">
                  <a:extLst>
                    <a:ext uri="{9D8B030D-6E8A-4147-A177-3AD203B41FA5}">
                      <a16:colId xmlns:a16="http://schemas.microsoft.com/office/drawing/2014/main" val="20001"/>
                    </a:ext>
                  </a:extLst>
                </a:gridCol>
                <a:gridCol w="3686908">
                  <a:extLst>
                    <a:ext uri="{9D8B030D-6E8A-4147-A177-3AD203B41FA5}">
                      <a16:colId xmlns:a16="http://schemas.microsoft.com/office/drawing/2014/main" val="20002"/>
                    </a:ext>
                  </a:extLst>
                </a:gridCol>
              </a:tblGrid>
              <a:tr h="579080">
                <a:tc>
                  <a:txBody>
                    <a:bodyPr/>
                    <a:lstStyle/>
                    <a:p>
                      <a:pPr>
                        <a:defRPr sz="1296" b="1"/>
                      </a:pPr>
                      <a:r>
                        <a:rPr sz="2400"/>
                        <a:t>Focus Area</a:t>
                      </a:r>
                    </a:p>
                  </a:txBody>
                  <a:tcPr/>
                </a:tc>
                <a:tc>
                  <a:txBody>
                    <a:bodyPr/>
                    <a:lstStyle/>
                    <a:p>
                      <a:pPr>
                        <a:defRPr sz="1296" b="1"/>
                      </a:pPr>
                      <a:r>
                        <a:rPr sz="2400"/>
                        <a:t>AI-First</a:t>
                      </a:r>
                    </a:p>
                  </a:txBody>
                  <a:tcPr/>
                </a:tc>
                <a:tc>
                  <a:txBody>
                    <a:bodyPr/>
                    <a:lstStyle/>
                    <a:p>
                      <a:pPr>
                        <a:defRPr sz="1296" b="1"/>
                      </a:pPr>
                      <a:r>
                        <a:rPr sz="2400" dirty="0"/>
                        <a:t>Prompt-First</a:t>
                      </a:r>
                    </a:p>
                  </a:txBody>
                  <a:tcPr/>
                </a:tc>
                <a:extLst>
                  <a:ext uri="{0D108BD9-81ED-4DB2-BD59-A6C34878D82A}">
                    <a16:rowId xmlns:a16="http://schemas.microsoft.com/office/drawing/2014/main" val="10000"/>
                  </a:ext>
                </a:extLst>
              </a:tr>
              <a:tr h="579080">
                <a:tc>
                  <a:txBody>
                    <a:bodyPr/>
                    <a:lstStyle/>
                    <a:p>
                      <a:r>
                        <a:t>Scope</a:t>
                      </a:r>
                    </a:p>
                  </a:txBody>
                  <a:tcPr/>
                </a:tc>
                <a:tc>
                  <a:txBody>
                    <a:bodyPr/>
                    <a:lstStyle/>
                    <a:p>
                      <a:r>
                        <a:t>Entire SDLC</a:t>
                      </a:r>
                    </a:p>
                  </a:txBody>
                  <a:tcPr/>
                </a:tc>
                <a:tc>
                  <a:txBody>
                    <a:bodyPr/>
                    <a:lstStyle/>
                    <a:p>
                      <a:r>
                        <a:t>Interaction layer</a:t>
                      </a:r>
                    </a:p>
                  </a:txBody>
                  <a:tcPr/>
                </a:tc>
                <a:extLst>
                  <a:ext uri="{0D108BD9-81ED-4DB2-BD59-A6C34878D82A}">
                    <a16:rowId xmlns:a16="http://schemas.microsoft.com/office/drawing/2014/main" val="10001"/>
                  </a:ext>
                </a:extLst>
              </a:tr>
              <a:tr h="579080">
                <a:tc>
                  <a:txBody>
                    <a:bodyPr/>
                    <a:lstStyle/>
                    <a:p>
                      <a:r>
                        <a:t>Goal</a:t>
                      </a:r>
                    </a:p>
                  </a:txBody>
                  <a:tcPr/>
                </a:tc>
                <a:tc>
                  <a:txBody>
                    <a:bodyPr/>
                    <a:lstStyle/>
                    <a:p>
                      <a:r>
                        <a:t>Lifecycle integration</a:t>
                      </a:r>
                    </a:p>
                  </a:txBody>
                  <a:tcPr/>
                </a:tc>
                <a:tc>
                  <a:txBody>
                    <a:bodyPr/>
                    <a:lstStyle/>
                    <a:p>
                      <a:r>
                        <a:t>Deterministic AI behavior</a:t>
                      </a:r>
                    </a:p>
                  </a:txBody>
                  <a:tcPr/>
                </a:tc>
                <a:extLst>
                  <a:ext uri="{0D108BD9-81ED-4DB2-BD59-A6C34878D82A}">
                    <a16:rowId xmlns:a16="http://schemas.microsoft.com/office/drawing/2014/main" val="10002"/>
                  </a:ext>
                </a:extLst>
              </a:tr>
              <a:tr h="810712">
                <a:tc>
                  <a:txBody>
                    <a:bodyPr/>
                    <a:lstStyle/>
                    <a:p>
                      <a:r>
                        <a:rPr dirty="0"/>
                        <a:t>Optimization</a:t>
                      </a:r>
                    </a:p>
                  </a:txBody>
                  <a:tcPr/>
                </a:tc>
                <a:tc>
                  <a:txBody>
                    <a:bodyPr/>
                    <a:lstStyle/>
                    <a:p>
                      <a:r>
                        <a:t>Velocity, governance</a:t>
                      </a:r>
                    </a:p>
                  </a:txBody>
                  <a:tcPr/>
                </a:tc>
                <a:tc>
                  <a:txBody>
                    <a:bodyPr/>
                    <a:lstStyle/>
                    <a:p>
                      <a:r>
                        <a:t>Prompt quality, reproducibility</a:t>
                      </a:r>
                    </a:p>
                  </a:txBody>
                  <a:tcPr/>
                </a:tc>
                <a:extLst>
                  <a:ext uri="{0D108BD9-81ED-4DB2-BD59-A6C34878D82A}">
                    <a16:rowId xmlns:a16="http://schemas.microsoft.com/office/drawing/2014/main" val="10003"/>
                  </a:ext>
                </a:extLst>
              </a:tr>
              <a:tr h="810712">
                <a:tc>
                  <a:txBody>
                    <a:bodyPr/>
                    <a:lstStyle/>
                    <a:p>
                      <a:r>
                        <a:t>Risk Controls</a:t>
                      </a:r>
                    </a:p>
                  </a:txBody>
                  <a:tcPr/>
                </a:tc>
                <a:tc>
                  <a:txBody>
                    <a:bodyPr/>
                    <a:lstStyle/>
                    <a:p>
                      <a:r>
                        <a:t>Human-in-loop, provenance</a:t>
                      </a:r>
                    </a:p>
                  </a:txBody>
                  <a:tcPr/>
                </a:tc>
                <a:tc>
                  <a:txBody>
                    <a:bodyPr/>
                    <a:lstStyle/>
                    <a:p>
                      <a:r>
                        <a:rPr dirty="0"/>
                        <a:t>Versioned prompts, context control</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They Treat Artifacts</a:t>
            </a:r>
          </a:p>
        </p:txBody>
      </p:sp>
      <p:sp>
        <p:nvSpPr>
          <p:cNvPr id="3" name="Content Placeholder 2"/>
          <p:cNvSpPr>
            <a:spLocks noGrp="1"/>
          </p:cNvSpPr>
          <p:nvPr>
            <p:ph idx="1"/>
          </p:nvPr>
        </p:nvSpPr>
        <p:spPr/>
        <p:txBody>
          <a:bodyPr wrap="square">
            <a:normAutofit fontScale="77500" lnSpcReduction="20000"/>
          </a:bodyPr>
          <a:lstStyle/>
          <a:p>
            <a:endParaRPr/>
          </a:p>
          <a:p>
            <a:r>
              <a:t>AI-First</a:t>
            </a:r>
          </a:p>
          <a:p>
            <a:r>
              <a:t>Requirements written with AI collaboration in mind</a:t>
            </a:r>
          </a:p>
          <a:p>
            <a:r>
              <a:t>AI-generated scaffolds, tests, docs</a:t>
            </a:r>
          </a:p>
          <a:p>
            <a:r>
              <a:t>Provenance enforced across all AI outputs</a:t>
            </a:r>
          </a:p>
          <a:p>
            <a:r>
              <a:t>Architecture assumes AI participation</a:t>
            </a:r>
          </a:p>
          <a:p>
            <a:r>
              <a:t>Prompt-First</a:t>
            </a:r>
          </a:p>
          <a:p>
            <a:r>
              <a:t>Prompts and instruction files are version-controlled</a:t>
            </a:r>
          </a:p>
          <a:p>
            <a:r>
              <a:t>Prompts define behavioral contracts</a:t>
            </a:r>
          </a:p>
          <a:p>
            <a:r>
              <a:t>Reusable prompt modules</a:t>
            </a:r>
          </a:p>
          <a:p>
            <a:r>
              <a:t>Chat modes define safe, predictable interactions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Relationship Between the Two</a:t>
            </a:r>
          </a:p>
        </p:txBody>
      </p:sp>
      <p:sp>
        <p:nvSpPr>
          <p:cNvPr id="3" name="Content Placeholder 2"/>
          <p:cNvSpPr>
            <a:spLocks noGrp="1"/>
          </p:cNvSpPr>
          <p:nvPr>
            <p:ph idx="1"/>
          </p:nvPr>
        </p:nvSpPr>
        <p:spPr/>
        <p:txBody>
          <a:bodyPr wrap="square">
            <a:normAutofit/>
          </a:bodyPr>
          <a:lstStyle/>
          <a:p>
            <a:endParaRPr/>
          </a:p>
          <a:p>
            <a:r>
              <a:t>Prompt-First is a subset of AI-First.</a:t>
            </a:r>
          </a:p>
          <a:p>
            <a:r>
              <a:t>Prompt-First = mechanics</a:t>
            </a:r>
          </a:p>
          <a:p>
            <a:r>
              <a:t>AI-First = philosophy + architecture + lifecycle integration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First Software Development</a:t>
            </a:r>
          </a:p>
        </p:txBody>
      </p:sp>
      <p:sp>
        <p:nvSpPr>
          <p:cNvPr id="3" name="Content Placeholder 2"/>
          <p:cNvSpPr>
            <a:spLocks noGrp="1"/>
          </p:cNvSpPr>
          <p:nvPr>
            <p:ph sz="half" idx="1"/>
          </p:nvPr>
        </p:nvSpPr>
        <p:spPr/>
        <p:txBody>
          <a:bodyPr wrap="square">
            <a:normAutofit fontScale="47500" lnSpcReduction="20000"/>
          </a:bodyPr>
          <a:lstStyle/>
          <a:p>
            <a:endParaRPr dirty="0"/>
          </a:p>
          <a:p>
            <a:pPr marL="0" indent="0">
              <a:buNone/>
            </a:pPr>
            <a:r>
              <a:rPr dirty="0"/>
              <a:t>Building software where AI is a core capability, not an add-on</a:t>
            </a:r>
            <a:endParaRPr lang="en-US" dirty="0"/>
          </a:p>
          <a:p>
            <a:pPr marL="0" indent="0">
              <a:buNone/>
            </a:pPr>
            <a:endParaRPr dirty="0"/>
          </a:p>
          <a:p>
            <a:pPr marL="0" indent="0">
              <a:buNone/>
            </a:pPr>
            <a:r>
              <a:rPr b="1" dirty="0"/>
              <a:t>Why AI-First</a:t>
            </a:r>
          </a:p>
          <a:p>
            <a:r>
              <a:rPr dirty="0"/>
              <a:t>Software requirements increasingly expressed in natural language</a:t>
            </a:r>
          </a:p>
          <a:p>
            <a:r>
              <a:rPr dirty="0"/>
              <a:t>AI copilots accelerate architecture, coding, testing, and documentation</a:t>
            </a:r>
          </a:p>
          <a:p>
            <a:r>
              <a:rPr dirty="0"/>
              <a:t>Teams shift from “writing code” to “designing intent + validating outputs”</a:t>
            </a:r>
            <a:endParaRPr lang="en-US" dirty="0"/>
          </a:p>
          <a:p>
            <a:endParaRPr lang="en-US" dirty="0"/>
          </a:p>
          <a:p>
            <a:pPr marL="0" indent="0">
              <a:buNone/>
            </a:pPr>
            <a:r>
              <a:rPr lang="en-US" b="1" dirty="0"/>
              <a:t>Core Principles</a:t>
            </a:r>
          </a:p>
          <a:p>
            <a:r>
              <a:rPr lang="en-US" dirty="0"/>
              <a:t>Prompt-First Design: Requirements, architecture, and workflows expressed as structured prompts</a:t>
            </a:r>
          </a:p>
          <a:p>
            <a:r>
              <a:rPr lang="en-US" dirty="0"/>
              <a:t>AI-Native Architecture: Modular services, clear boundaries, deterministic interfaces for AI-generated components</a:t>
            </a:r>
          </a:p>
          <a:p>
            <a:endParaRPr dirty="0"/>
          </a:p>
        </p:txBody>
      </p:sp>
      <p:sp>
        <p:nvSpPr>
          <p:cNvPr id="4" name="Content Placeholder 3">
            <a:extLst>
              <a:ext uri="{FF2B5EF4-FFF2-40B4-BE49-F238E27FC236}">
                <a16:creationId xmlns:a16="http://schemas.microsoft.com/office/drawing/2014/main" id="{9C378202-2F7E-73EC-0CAD-3FCB72DDFB5A}"/>
              </a:ext>
            </a:extLst>
          </p:cNvPr>
          <p:cNvSpPr>
            <a:spLocks noGrp="1"/>
          </p:cNvSpPr>
          <p:nvPr>
            <p:ph sz="half" idx="2"/>
          </p:nvPr>
        </p:nvSpPr>
        <p:spPr/>
        <p:txBody>
          <a:bodyPr>
            <a:normAutofit fontScale="47500" lnSpcReduction="20000"/>
          </a:bodyPr>
          <a:lstStyle/>
          <a:p>
            <a:r>
              <a:rPr lang="en-US" dirty="0"/>
              <a:t>Human-in-the-Loop: Review, validation, and traceability baked into every stage</a:t>
            </a:r>
          </a:p>
          <a:p>
            <a:r>
              <a:rPr lang="en-US" dirty="0"/>
              <a:t>Continuous Verification: Automated tests, static analysis, and guardrails to ensure safe outputs</a:t>
            </a:r>
          </a:p>
          <a:p>
            <a:r>
              <a:rPr lang="en-US" dirty="0"/>
              <a:t>Lifecycle Governance: Versioning, provenance, and risk-based controls for AI-generated artifacts</a:t>
            </a:r>
          </a:p>
          <a:p>
            <a:pPr marL="0" indent="0">
              <a:buNone/>
            </a:pPr>
            <a:endParaRPr lang="en-US" dirty="0"/>
          </a:p>
          <a:p>
            <a:pPr marL="0" indent="0">
              <a:buNone/>
            </a:pPr>
            <a:r>
              <a:rPr lang="en-US" b="1" dirty="0"/>
              <a:t>Outcomes</a:t>
            </a:r>
          </a:p>
          <a:p>
            <a:r>
              <a:rPr lang="en-US" dirty="0"/>
              <a:t>Faster iteration cycles</a:t>
            </a:r>
          </a:p>
          <a:p>
            <a:r>
              <a:rPr lang="en-US" dirty="0"/>
              <a:t>Higher coverage of documentation and tests</a:t>
            </a:r>
          </a:p>
          <a:p>
            <a:r>
              <a:rPr lang="en-US" dirty="0"/>
              <a:t>Reduced cognitive load on developers</a:t>
            </a:r>
          </a:p>
          <a:p>
            <a:r>
              <a:rPr lang="en-US" dirty="0"/>
              <a:t>More resilient, adaptable systems</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Prompt-First Software Development</a:t>
            </a:r>
          </a:p>
        </p:txBody>
      </p:sp>
      <p:sp>
        <p:nvSpPr>
          <p:cNvPr id="3" name="Content Placeholder 2"/>
          <p:cNvSpPr>
            <a:spLocks noGrp="1"/>
          </p:cNvSpPr>
          <p:nvPr>
            <p:ph sz="half" idx="1"/>
          </p:nvPr>
        </p:nvSpPr>
        <p:spPr/>
        <p:txBody>
          <a:bodyPr wrap="square">
            <a:normAutofit fontScale="55000" lnSpcReduction="20000"/>
          </a:bodyPr>
          <a:lstStyle/>
          <a:p>
            <a:endParaRPr dirty="0"/>
          </a:p>
          <a:p>
            <a:pPr marL="0" indent="0">
              <a:buNone/>
            </a:pPr>
            <a:r>
              <a:rPr dirty="0"/>
              <a:t>Design the intent first — let AI generate the implementation</a:t>
            </a:r>
          </a:p>
          <a:p>
            <a:pPr marL="0" indent="0">
              <a:buNone/>
            </a:pPr>
            <a:endParaRPr lang="en-US" b="1" dirty="0"/>
          </a:p>
          <a:p>
            <a:pPr marL="0" indent="0">
              <a:buNone/>
            </a:pPr>
            <a:r>
              <a:rPr b="1" dirty="0"/>
              <a:t>Why Prompt-First</a:t>
            </a:r>
          </a:p>
          <a:p>
            <a:r>
              <a:rPr dirty="0"/>
              <a:t>Behaviors, and constraints expressed in structured natural language</a:t>
            </a:r>
          </a:p>
          <a:p>
            <a:r>
              <a:rPr dirty="0"/>
              <a:t>Prompts become the new “source of truth” artifacts</a:t>
            </a:r>
          </a:p>
          <a:p>
            <a:r>
              <a:rPr dirty="0"/>
              <a:t>Teams shift from writing functions to defining outcomes, invariants, and interfaces</a:t>
            </a:r>
          </a:p>
          <a:p>
            <a:pPr marL="0" indent="0">
              <a:buNone/>
            </a:pPr>
            <a:endParaRPr lang="en-US" dirty="0"/>
          </a:p>
          <a:p>
            <a:pPr marL="0" indent="0">
              <a:buNone/>
            </a:pPr>
            <a:r>
              <a:rPr b="1" dirty="0"/>
              <a:t>Core Practices</a:t>
            </a:r>
          </a:p>
          <a:p>
            <a:r>
              <a:rPr dirty="0"/>
              <a:t>Structured Prompts: Use templates for features, APIs, data models, tests, and refactors</a:t>
            </a:r>
          </a:p>
          <a:p>
            <a:r>
              <a:rPr dirty="0"/>
              <a:t>Instruction Files: Persistent, versioned artifacts guiding AI code generation</a:t>
            </a:r>
          </a:p>
        </p:txBody>
      </p:sp>
      <p:sp>
        <p:nvSpPr>
          <p:cNvPr id="4" name="Content Placeholder 3">
            <a:extLst>
              <a:ext uri="{FF2B5EF4-FFF2-40B4-BE49-F238E27FC236}">
                <a16:creationId xmlns:a16="http://schemas.microsoft.com/office/drawing/2014/main" id="{4B462608-93BE-6848-5D0B-F2C1996F8BE7}"/>
              </a:ext>
            </a:extLst>
          </p:cNvPr>
          <p:cNvSpPr>
            <a:spLocks noGrp="1"/>
          </p:cNvSpPr>
          <p:nvPr>
            <p:ph sz="half" idx="2"/>
          </p:nvPr>
        </p:nvSpPr>
        <p:spPr/>
        <p:txBody>
          <a:bodyPr>
            <a:normAutofit fontScale="55000" lnSpcReduction="20000"/>
          </a:bodyPr>
          <a:lstStyle/>
          <a:p>
            <a:r>
              <a:rPr lang="en-US" dirty="0"/>
              <a:t>Deterministic Boundaries: Clear module contracts so AI-generated code stays predictable</a:t>
            </a:r>
          </a:p>
          <a:p>
            <a:r>
              <a:rPr lang="en-US" dirty="0"/>
              <a:t>Validation Loops: Automated tests + human review ensure correctness and safety</a:t>
            </a:r>
          </a:p>
          <a:p>
            <a:r>
              <a:rPr lang="en-US" dirty="0"/>
              <a:t>Prompt Versioning: Track evolution of intent just like code changes</a:t>
            </a:r>
          </a:p>
          <a:p>
            <a:pPr marL="0" indent="0">
              <a:buNone/>
            </a:pPr>
            <a:endParaRPr lang="en-US" b="1" dirty="0"/>
          </a:p>
          <a:p>
            <a:pPr marL="0" indent="0">
              <a:buNone/>
            </a:pPr>
            <a:r>
              <a:rPr lang="en-US" b="1" dirty="0"/>
              <a:t>Benefits</a:t>
            </a:r>
          </a:p>
          <a:p>
            <a:r>
              <a:rPr lang="en-US" dirty="0"/>
              <a:t>Faster iteration from idea → working software</a:t>
            </a:r>
          </a:p>
          <a:p>
            <a:r>
              <a:rPr lang="en-US" dirty="0"/>
              <a:t>Higher consistency across generated components</a:t>
            </a:r>
          </a:p>
          <a:p>
            <a:r>
              <a:rPr lang="en-US" dirty="0"/>
              <a:t>Reduced cognitive load on developers</a:t>
            </a:r>
          </a:p>
          <a:p>
            <a:r>
              <a:rPr lang="en-US" dirty="0"/>
              <a:t>Better alignment between business intent and implementation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**Concrete Examples**</a:t>
            </a:r>
          </a:p>
        </p:txBody>
      </p:sp>
      <p:sp>
        <p:nvSpPr>
          <p:cNvPr id="3" name="Content Placeholder 2"/>
          <p:cNvSpPr>
            <a:spLocks noGrp="1"/>
          </p:cNvSpPr>
          <p:nvPr>
            <p:ph idx="1"/>
          </p:nvPr>
        </p:nvSpPr>
        <p:spPr/>
        <p:txBody>
          <a:bodyPr wrap="square">
            <a:normAutofit fontScale="55000" lnSpcReduction="20000"/>
          </a:bodyPr>
          <a:lstStyle/>
          <a:p>
            <a:endParaRPr/>
          </a:p>
          <a:p>
            <a:r>
              <a:rPr b="1"/>
              <a:t>Prompt-First Example</a:t>
            </a:r>
          </a:p>
          <a:p>
            <a:endParaRPr b="1"/>
          </a:p>
          <a:p>
            <a:r>
              <a:t>Promptfile for generating unit tests</a:t>
            </a:r>
          </a:p>
          <a:p>
            <a:r>
              <a:t>Instruction file for documentation</a:t>
            </a:r>
          </a:p>
          <a:p>
            <a:r>
              <a:t>Chat mode for brownfield developers</a:t>
            </a:r>
          </a:p>
          <a:p>
            <a:endParaRPr/>
          </a:p>
          <a:p>
            <a:r>
              <a:rPr b="1"/>
              <a:t>AI-First Example</a:t>
            </a:r>
          </a:p>
          <a:p>
            <a:endParaRPr b="1"/>
          </a:p>
          <a:p>
            <a:r>
              <a:t>Requirements → AI-generated scaffolds</a:t>
            </a:r>
          </a:p>
          <a:p>
            <a:r>
              <a:t>Code changes → AI-assisted reviews</a:t>
            </a:r>
          </a:p>
          <a:p>
            <a:r>
              <a:t>Docs → continuously AI-generated</a:t>
            </a:r>
          </a:p>
          <a:p>
            <a:r>
              <a:t>Modernization → AI-guided refactoring plans</a:t>
            </a:r>
          </a:p>
          <a:p>
            <a:r>
              <a:t>Provenance → enforced everywhere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Shortest Summary</a:t>
            </a:r>
          </a:p>
        </p:txBody>
      </p:sp>
      <p:sp>
        <p:nvSpPr>
          <p:cNvPr id="3" name="Content Placeholder 2"/>
          <p:cNvSpPr>
            <a:spLocks noGrp="1"/>
          </p:cNvSpPr>
          <p:nvPr>
            <p:ph idx="1"/>
          </p:nvPr>
        </p:nvSpPr>
        <p:spPr/>
        <p:txBody>
          <a:bodyPr wrap="square">
            <a:normAutofit/>
          </a:bodyPr>
          <a:lstStyle/>
          <a:p>
            <a:endParaRPr/>
          </a:p>
          <a:p>
            <a:r>
              <a:rPr b="1"/>
              <a:t>AI-First = philosophy + architecture + lifecycle integration</a:t>
            </a:r>
          </a:p>
          <a:p>
            <a:r>
              <a:rPr b="1"/>
              <a:t>Prompt-First = structured, version-controlled interfaces for interacting with AI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endParaRPr/>
          </a:p>
          <a:p>
            <a:r>
              <a:t>Intro</a:t>
            </a:r>
          </a:p>
          <a:p>
            <a:r>
              <a:t>AI Assisted Software Development</a:t>
            </a:r>
          </a:p>
          <a:p>
            <a:r>
              <a:rPr b="1"/>
              <a:t>▶ Intro to Copilot</a:t>
            </a:r>
          </a:p>
          <a:p>
            <a:r>
              <a:t>AI Assistance in Action</a:t>
            </a:r>
          </a:p>
          <a:p>
            <a:r>
              <a:t>Adding AI Guardrails</a:t>
            </a:r>
          </a:p>
          <a:p>
            <a:r>
              <a:t>Managing Context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 to Copilot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 to Copilot</a:t>
            </a:r>
          </a:p>
        </p:txBody>
      </p:sp>
      <p:sp>
        <p:nvSpPr>
          <p:cNvPr id="3" name="Content Placeholder 2"/>
          <p:cNvSpPr>
            <a:spLocks noGrp="1"/>
          </p:cNvSpPr>
          <p:nvPr>
            <p:ph idx="1"/>
          </p:nvPr>
        </p:nvSpPr>
        <p:spPr/>
        <p:txBody>
          <a:bodyPr wrap="square">
            <a:normAutofit/>
          </a:bodyPr>
          <a:lstStyle/>
          <a:p>
            <a:endParaRPr/>
          </a:p>
          <a:p>
            <a:r>
              <a:t>Repository and Tool Setup</a:t>
            </a:r>
          </a:p>
          <a:p>
            <a:r>
              <a:t>Hands-On with GitHub Copilot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Repository and Tool Setup</a:t>
            </a:r>
          </a:p>
        </p:txBody>
      </p:sp>
      <p:sp>
        <p:nvSpPr>
          <p:cNvPr id="3" name="Content Placeholder 2"/>
          <p:cNvSpPr>
            <a:spLocks noGrp="1"/>
          </p:cNvSpPr>
          <p:nvPr>
            <p:ph idx="1"/>
          </p:nvPr>
        </p:nvSpPr>
        <p:spPr/>
        <p:txBody>
          <a:bodyPr wrap="square">
            <a:normAutofit/>
          </a:bodyPr>
          <a:lstStyle/>
          <a:p>
            <a:endParaRPr/>
          </a:p>
          <a:p>
            <a:r>
              <a:t>Cloning course repository</a:t>
            </a:r>
          </a:p>
          <a:p>
            <a:r>
              <a:t>GitHub authentication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Lab: Clone the AI-Assisted-Software-Development Repository</a:t>
            </a:r>
          </a:p>
        </p:txBody>
      </p:sp>
      <p:sp>
        <p:nvSpPr>
          <p:cNvPr id="3" name="Content Placeholder 2"/>
          <p:cNvSpPr>
            <a:spLocks noGrp="1"/>
          </p:cNvSpPr>
          <p:nvPr>
            <p:ph idx="1"/>
          </p:nvPr>
        </p:nvSpPr>
        <p:spPr/>
        <p:txBody>
          <a:bodyPr wrap="square">
            <a:normAutofit fontScale="92500" lnSpcReduction="20000"/>
          </a:bodyPr>
          <a:lstStyle/>
          <a:p>
            <a:endParaRPr/>
          </a:p>
          <a:p>
            <a:r>
              <a:t>Prerequisites: Git, GitHub account</a:t>
            </a:r>
          </a:p>
          <a:p>
            <a:r>
              <a:t>Objectives</a:t>
            </a:r>
          </a:p>
          <a:p>
            <a:r>
              <a:t>Fork the AI-Assisted-Software-Development repo</a:t>
            </a:r>
          </a:p>
          <a:p>
            <a:r>
              <a:t>Activities</a:t>
            </a:r>
          </a:p>
          <a:p>
            <a:r>
              <a:t>Clone the git@github.com:johnmillerATcodemag-com/AI-Assisted-Software-Development.gitrepository</a:t>
            </a:r>
          </a:p>
          <a:p>
            <a:r>
              <a:t>Switch to the brownfield branch</a:t>
            </a:r>
          </a:p>
          <a:p>
            <a:r>
              <a:t>Success Criteria</a:t>
            </a:r>
          </a:p>
          <a:p>
            <a:r>
              <a:t>Cloned repository exists locally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Fork the AIASD-20260209-BF Repo</a:t>
            </a:r>
          </a:p>
        </p:txBody>
      </p:sp>
      <p:sp>
        <p:nvSpPr>
          <p:cNvPr id="3" name="Content Placeholder 2"/>
          <p:cNvSpPr>
            <a:spLocks noGrp="1"/>
          </p:cNvSpPr>
          <p:nvPr>
            <p:ph idx="1"/>
          </p:nvPr>
        </p:nvSpPr>
        <p:spPr/>
        <p:txBody>
          <a:bodyPr wrap="square">
            <a:normAutofit fontScale="92500" lnSpcReduction="20000"/>
          </a:bodyPr>
          <a:lstStyle/>
          <a:p>
            <a:endParaRPr/>
          </a:p>
          <a:p>
            <a:r>
              <a:t>Objectives: Explore an unfamiliar codebase</a:t>
            </a:r>
          </a:p>
          <a:p>
            <a:r>
              <a:t>Activities</a:t>
            </a:r>
          </a:p>
          <a:p>
            <a:r>
              <a:t>Fork this repo https://github.com/j0hnnymiller/AIASD-20260209-BF.git</a:t>
            </a:r>
          </a:p>
          <a:p>
            <a:r>
              <a:t>Clone the forked repo</a:t>
            </a:r>
          </a:p>
          <a:p>
            <a:r>
              <a:t>Create a GitHub PAT https://github.com/settings/tokens</a:t>
            </a:r>
          </a:p>
          <a:p>
            <a:r>
              <a:t>Store the PAT in the GITHUB_TOKEN environment variable</a:t>
            </a:r>
          </a:p>
          <a:p>
            <a:r>
              <a:t>Success Criteria</a:t>
            </a:r>
          </a:p>
          <a:p>
            <a:r>
              <a:t>Repo is available locally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Fork the repos</a:t>
            </a:r>
          </a:p>
        </p:txBody>
      </p:sp>
      <p:sp>
        <p:nvSpPr>
          <p:cNvPr id="3" name="Content Placeholder 2"/>
          <p:cNvSpPr>
            <a:spLocks noGrp="1"/>
          </p:cNvSpPr>
          <p:nvPr>
            <p:ph idx="1"/>
          </p:nvPr>
        </p:nvSpPr>
        <p:spPr/>
        <p:txBody>
          <a:bodyPr wrap="square">
            <a:normAutofit fontScale="92500" lnSpcReduction="10000"/>
          </a:bodyPr>
          <a:lstStyle/>
          <a:p>
            <a:endParaRPr/>
          </a:p>
          <a:p>
            <a:r>
              <a:t>Objective: Fork the course repos</a:t>
            </a:r>
          </a:p>
          <a:p>
            <a:r>
              <a:t>Search GitHub for</a:t>
            </a:r>
          </a:p>
          <a:p>
            <a:endParaRPr/>
          </a:p>
          <a:p>
            <a:r>
              <a:t>AI-Assisted-Software-Development</a:t>
            </a:r>
          </a:p>
          <a:p>
            <a:r>
              <a:t>zeus.academia.3b</a:t>
            </a:r>
          </a:p>
          <a:p>
            <a:r>
              <a:t>  Fork the repos</a:t>
            </a:r>
          </a:p>
          <a:p>
            <a:r>
              <a:t>This will create a personal copy under your GitHub account</a:t>
            </a:r>
          </a:p>
          <a:p>
            <a:r>
              <a:t>You can make changes without affecting the original repo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Hands-On with GitHub Copilot</a:t>
            </a:r>
          </a:p>
        </p:txBody>
      </p:sp>
      <p:sp>
        <p:nvSpPr>
          <p:cNvPr id="3" name="Content Placeholder 2"/>
          <p:cNvSpPr>
            <a:spLocks noGrp="1"/>
          </p:cNvSpPr>
          <p:nvPr>
            <p:ph idx="1"/>
          </p:nvPr>
        </p:nvSpPr>
        <p:spPr/>
        <p:txBody>
          <a:bodyPr wrap="square">
            <a:normAutofit fontScale="92500" lnSpcReduction="20000"/>
          </a:bodyPr>
          <a:lstStyle/>
          <a:p>
            <a:endParaRPr/>
          </a:p>
          <a:p>
            <a:r>
              <a:t>Installation and configuration</a:t>
            </a:r>
          </a:p>
          <a:p>
            <a:endParaRPr/>
          </a:p>
          <a:p>
            <a:r>
              <a:t>Installing the extension</a:t>
            </a:r>
          </a:p>
          <a:p>
            <a:r>
              <a:t>Setting up authentication</a:t>
            </a:r>
          </a:p>
          <a:p>
            <a:r>
              <a:t>Configuring settings</a:t>
            </a:r>
          </a:p>
          <a:p>
            <a:r>
              <a:t>  Sharing configuration across an organization</a:t>
            </a:r>
          </a:p>
          <a:p>
            <a:r>
              <a:t>Shared configuration templates (e.g., .copilot/settings.json) can be distributed across projects to standardize behavior.</a:t>
            </a:r>
          </a:p>
          <a:p>
            <a:r>
              <a:t>  https://www.codemag.com/Blog/AI/AIASD-install-guide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sz="3400" dirty="0"/>
              <a:t>Exercise</a:t>
            </a:r>
            <a:r>
              <a:rPr sz="3400" dirty="0"/>
              <a:t>: Getting Started with GitHub Copilot</a:t>
            </a:r>
          </a:p>
        </p:txBody>
      </p:sp>
      <p:sp>
        <p:nvSpPr>
          <p:cNvPr id="3" name="Content Placeholder 2"/>
          <p:cNvSpPr>
            <a:spLocks noGrp="1"/>
          </p:cNvSpPr>
          <p:nvPr>
            <p:ph sz="half" idx="1"/>
          </p:nvPr>
        </p:nvSpPr>
        <p:spPr/>
        <p:txBody>
          <a:bodyPr wrap="square">
            <a:noAutofit/>
          </a:bodyPr>
          <a:lstStyle/>
          <a:p>
            <a:pPr marL="0" indent="0">
              <a:buNone/>
            </a:pPr>
            <a:r>
              <a:rPr sz="1800" b="1" dirty="0"/>
              <a:t>Objectives</a:t>
            </a:r>
          </a:p>
          <a:p>
            <a:r>
              <a:rPr sz="1800" dirty="0"/>
              <a:t>Install and configure GitHub Copilot</a:t>
            </a:r>
          </a:p>
          <a:p>
            <a:r>
              <a:rPr sz="1800" dirty="0"/>
              <a:t>Verify authentication with your GitHub account</a:t>
            </a:r>
          </a:p>
          <a:p>
            <a:r>
              <a:rPr sz="1800" dirty="0"/>
              <a:t>Explore core Copilot UI components in VS Code</a:t>
            </a:r>
          </a:p>
          <a:p>
            <a:endParaRPr sz="1800" dirty="0"/>
          </a:p>
          <a:p>
            <a:pPr marL="0" indent="0">
              <a:buNone/>
            </a:pPr>
            <a:r>
              <a:rPr sz="1800" b="1" dirty="0"/>
              <a:t>Activities</a:t>
            </a:r>
          </a:p>
          <a:p>
            <a:r>
              <a:rPr sz="1800" dirty="0"/>
              <a:t>1. Install the GitHub Copilot extension from the VS Code marketplace.</a:t>
            </a:r>
          </a:p>
          <a:p>
            <a:r>
              <a:rPr sz="1800" dirty="0"/>
              <a:t>2. Sign in with your GitHub account and verify Copilot access.</a:t>
            </a:r>
          </a:p>
        </p:txBody>
      </p:sp>
      <p:sp>
        <p:nvSpPr>
          <p:cNvPr id="4" name="Content Placeholder 3">
            <a:extLst>
              <a:ext uri="{FF2B5EF4-FFF2-40B4-BE49-F238E27FC236}">
                <a16:creationId xmlns:a16="http://schemas.microsoft.com/office/drawing/2014/main" id="{EE15C421-1FEB-44BA-7370-3687D6CF573B}"/>
              </a:ext>
            </a:extLst>
          </p:cNvPr>
          <p:cNvSpPr>
            <a:spLocks noGrp="1"/>
          </p:cNvSpPr>
          <p:nvPr>
            <p:ph sz="half" idx="2"/>
          </p:nvPr>
        </p:nvSpPr>
        <p:spPr/>
        <p:txBody>
          <a:bodyPr>
            <a:normAutofit fontScale="47500" lnSpcReduction="20000"/>
          </a:bodyPr>
          <a:lstStyle/>
          <a:p>
            <a:endParaRPr lang="en-US" dirty="0"/>
          </a:p>
          <a:p>
            <a:r>
              <a:rPr lang="en-US" dirty="0"/>
              <a:t>3. Locate and explore:</a:t>
            </a:r>
          </a:p>
          <a:p>
            <a:r>
              <a:rPr lang="en-US" dirty="0"/>
              <a:t> Chat window and chat history</a:t>
            </a:r>
          </a:p>
          <a:p>
            <a:r>
              <a:rPr lang="en-US" dirty="0"/>
              <a:t> New chat button</a:t>
            </a:r>
          </a:p>
          <a:p>
            <a:r>
              <a:rPr lang="en-US" dirty="0"/>
              <a:t> Quick chat feature and keyboard shortcut</a:t>
            </a:r>
          </a:p>
          <a:p>
            <a:r>
              <a:rPr lang="en-US" dirty="0"/>
              <a:t> Settings menu</a:t>
            </a:r>
          </a:p>
          <a:p>
            <a:r>
              <a:rPr lang="en-US" dirty="0"/>
              <a:t> Model selection dropdown</a:t>
            </a:r>
          </a:p>
          <a:p>
            <a:r>
              <a:rPr lang="en-US" dirty="0"/>
              <a:t>4. Check your premium token usage bar.</a:t>
            </a:r>
          </a:p>
          <a:p>
            <a:r>
              <a:rPr lang="en-US" dirty="0"/>
              <a:t>5. Create a new chat and experiment with the interface.</a:t>
            </a:r>
          </a:p>
          <a:p>
            <a:endParaRPr lang="en-US" dirty="0"/>
          </a:p>
          <a:p>
            <a:pPr marL="0" indent="0">
              <a:buNone/>
            </a:pPr>
            <a:r>
              <a:rPr lang="en-US" b="1" dirty="0"/>
              <a:t>Success Criteria</a:t>
            </a:r>
            <a:endParaRPr lang="en-US" dirty="0"/>
          </a:p>
          <a:p>
            <a:r>
              <a:rPr lang="en-US" dirty="0"/>
              <a:t>Copilot extension is installed and authenticated</a:t>
            </a:r>
          </a:p>
          <a:p>
            <a:r>
              <a:rPr lang="en-US" dirty="0"/>
              <a:t>You can open and close chat windows</a:t>
            </a:r>
          </a:p>
          <a:p>
            <a:r>
              <a:rPr lang="en-US" dirty="0"/>
              <a:t>You can explain main chat versus quick chat</a:t>
            </a:r>
          </a:p>
          <a:p>
            <a:r>
              <a:rPr lang="en-US" dirty="0"/>
              <a:t>You can find and use chat history</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Prompt Specificity</a:t>
            </a:r>
          </a:p>
        </p:txBody>
      </p:sp>
      <p:sp>
        <p:nvSpPr>
          <p:cNvPr id="3" name="Content Placeholder 2"/>
          <p:cNvSpPr>
            <a:spLocks noGrp="1"/>
          </p:cNvSpPr>
          <p:nvPr>
            <p:ph idx="1"/>
          </p:nvPr>
        </p:nvSpPr>
        <p:spPr/>
        <p:txBody>
          <a:bodyPr wrap="square">
            <a:normAutofit fontScale="70000" lnSpcReduction="20000"/>
          </a:bodyPr>
          <a:lstStyle/>
          <a:p>
            <a:endParaRPr/>
          </a:p>
          <a:p>
            <a:r>
              <a:t>Add error handling to my code</a:t>
            </a:r>
          </a:p>
          <a:p>
            <a:endParaRPr/>
          </a:p>
          <a:p>
            <a:r>
              <a:t>Result: Generic response asking what type of errors, what language, what code?</a:t>
            </a:r>
          </a:p>
          <a:p>
            <a:r>
              <a:t>  Add error handling to my JavaScript function that calls an external API. I want to handle network timeouts, 404 errors, and JSON parsing failures. Return user-friendly error messages.</a:t>
            </a:r>
          </a:p>
          <a:p>
            <a:r>
              <a:t>Result: Better, but still generic without seeing actual code structure</a:t>
            </a:r>
          </a:p>
          <a:p>
            <a:r>
              <a:t>  @file:api-client.js Add comprehensive error handling to the fetchUserData function. Handle network timeouts (&gt;5s), HTTP errors (404, 500, etc.), and JSON parsing failures.   Return user-friendly error messages that match our existing error format in @file:error-types.js</a:t>
            </a:r>
          </a:p>
          <a:p>
            <a:r>
              <a:t>Result: Specific implementation that matches existing code patterns\*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sz="3250" dirty="0"/>
              <a:t>Exercise</a:t>
            </a:r>
            <a:r>
              <a:rPr sz="3250" dirty="0"/>
              <a:t>: Understanding Context Management</a:t>
            </a:r>
          </a:p>
        </p:txBody>
      </p:sp>
      <p:sp>
        <p:nvSpPr>
          <p:cNvPr id="3" name="Content Placeholder 2"/>
          <p:cNvSpPr>
            <a:spLocks noGrp="1"/>
          </p:cNvSpPr>
          <p:nvPr>
            <p:ph sz="half" idx="1"/>
          </p:nvPr>
        </p:nvSpPr>
        <p:spPr/>
        <p:txBody>
          <a:bodyPr wrap="square">
            <a:noAutofit/>
          </a:bodyPr>
          <a:lstStyle/>
          <a:p>
            <a:pPr marL="0" indent="0">
              <a:buNone/>
            </a:pPr>
            <a:r>
              <a:rPr sz="1600" b="1" dirty="0"/>
              <a:t>Objectives</a:t>
            </a:r>
          </a:p>
          <a:p>
            <a:r>
              <a:rPr sz="1600" dirty="0"/>
              <a:t>Learn to add context using @ symbols</a:t>
            </a:r>
          </a:p>
          <a:p>
            <a:r>
              <a:rPr sz="1600" dirty="0"/>
              <a:t>Understand context window limitations</a:t>
            </a:r>
          </a:p>
          <a:p>
            <a:r>
              <a:rPr sz="1600" dirty="0"/>
              <a:t>Practice writing effective prompts</a:t>
            </a:r>
          </a:p>
          <a:p>
            <a:endParaRPr sz="1600" dirty="0"/>
          </a:p>
          <a:p>
            <a:pPr marL="0" indent="0">
              <a:buNone/>
            </a:pPr>
            <a:r>
              <a:rPr sz="1600" b="1" dirty="0"/>
              <a:t>Activities</a:t>
            </a:r>
          </a:p>
          <a:p>
            <a:r>
              <a:rPr sz="1600" dirty="0"/>
              <a:t>1. Basic context addition:</a:t>
            </a:r>
          </a:p>
          <a:p>
            <a:r>
              <a:rPr sz="1600" dirty="0"/>
              <a:t> Use `@workspace` to search your codebase</a:t>
            </a:r>
          </a:p>
          <a:p>
            <a:r>
              <a:rPr sz="1600" dirty="0"/>
              <a:t> Use `@file` to reference specific files</a:t>
            </a:r>
          </a:p>
          <a:p>
            <a:r>
              <a:rPr sz="1600" dirty="0"/>
              <a:t> Use `@terminal` to include command output</a:t>
            </a:r>
          </a:p>
          <a:p>
            <a:r>
              <a:rPr sz="1600" dirty="0"/>
              <a:t> Use `@</a:t>
            </a:r>
            <a:r>
              <a:rPr sz="1600" dirty="0" err="1"/>
              <a:t>vscode</a:t>
            </a:r>
            <a:r>
              <a:rPr sz="1600" dirty="0"/>
              <a:t>` for VS Code product questions</a:t>
            </a:r>
          </a:p>
        </p:txBody>
      </p:sp>
      <p:sp>
        <p:nvSpPr>
          <p:cNvPr id="4" name="Content Placeholder 3">
            <a:extLst>
              <a:ext uri="{FF2B5EF4-FFF2-40B4-BE49-F238E27FC236}">
                <a16:creationId xmlns:a16="http://schemas.microsoft.com/office/drawing/2014/main" id="{6AC87856-8EF6-EC84-6433-57263D81079F}"/>
              </a:ext>
            </a:extLst>
          </p:cNvPr>
          <p:cNvSpPr>
            <a:spLocks noGrp="1"/>
          </p:cNvSpPr>
          <p:nvPr>
            <p:ph sz="half" idx="2"/>
          </p:nvPr>
        </p:nvSpPr>
        <p:spPr/>
        <p:txBody>
          <a:bodyPr>
            <a:normAutofit fontScale="55000" lnSpcReduction="20000"/>
          </a:bodyPr>
          <a:lstStyle/>
          <a:p>
            <a:r>
              <a:rPr lang="en-US" dirty="0"/>
              <a:t>2. Prompt practice:</a:t>
            </a:r>
          </a:p>
          <a:p>
            <a:r>
              <a:rPr lang="en-US" dirty="0"/>
              <a:t> Write a vague prompt and observe the result</a:t>
            </a:r>
          </a:p>
          <a:p>
            <a:r>
              <a:rPr lang="en-US" dirty="0"/>
              <a:t> Rewrite with specific context and compare quality</a:t>
            </a:r>
          </a:p>
          <a:p>
            <a:r>
              <a:rPr lang="en-US" dirty="0"/>
              <a:t> Add file references to improve accuracy</a:t>
            </a:r>
          </a:p>
          <a:p>
            <a:r>
              <a:rPr lang="en-US" dirty="0"/>
              <a:t>3. Context window experiment:</a:t>
            </a:r>
          </a:p>
          <a:p>
            <a:r>
              <a:rPr lang="en-US" dirty="0"/>
              <a:t> Run a longer single conversation</a:t>
            </a:r>
          </a:p>
          <a:p>
            <a:r>
              <a:rPr lang="en-US" dirty="0"/>
              <a:t> Observe when early context gets dropped</a:t>
            </a:r>
          </a:p>
          <a:p>
            <a:r>
              <a:rPr lang="en-US" dirty="0"/>
              <a:t> Start a new chat when topic focus changes</a:t>
            </a:r>
          </a:p>
          <a:p>
            <a:endParaRPr lang="en-US" dirty="0"/>
          </a:p>
          <a:p>
            <a:pPr marL="0" indent="0">
              <a:buNone/>
            </a:pPr>
            <a:r>
              <a:rPr lang="en-US" b="1" dirty="0"/>
              <a:t>Success Criteria</a:t>
            </a:r>
          </a:p>
          <a:p>
            <a:r>
              <a:rPr lang="en-US" dirty="0"/>
              <a:t>You can use all four @ context types</a:t>
            </a:r>
          </a:p>
          <a:p>
            <a:r>
              <a:rPr lang="en-US" dirty="0"/>
              <a:t>You can identify when to start a fresh chat</a:t>
            </a:r>
          </a:p>
          <a:p>
            <a:r>
              <a:rPr lang="en-US" dirty="0"/>
              <a:t>You can show quality improvements from specific prompts</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sz="3600" dirty="0"/>
              <a:t>Exercise</a:t>
            </a:r>
            <a:r>
              <a:rPr sz="3600" dirty="0"/>
              <a:t>: Chat Management and Workflow</a:t>
            </a:r>
          </a:p>
        </p:txBody>
      </p:sp>
      <p:sp>
        <p:nvSpPr>
          <p:cNvPr id="3" name="Content Placeholder 2"/>
          <p:cNvSpPr>
            <a:spLocks noGrp="1"/>
          </p:cNvSpPr>
          <p:nvPr>
            <p:ph sz="half" idx="1"/>
          </p:nvPr>
        </p:nvSpPr>
        <p:spPr/>
        <p:txBody>
          <a:bodyPr wrap="square">
            <a:noAutofit/>
          </a:bodyPr>
          <a:lstStyle/>
          <a:p>
            <a:pPr marL="0" indent="0">
              <a:buNone/>
            </a:pPr>
            <a:r>
              <a:rPr sz="1600" b="1" dirty="0"/>
              <a:t>Objectives</a:t>
            </a:r>
          </a:p>
          <a:p>
            <a:r>
              <a:rPr sz="1600" dirty="0"/>
              <a:t>Organize chat sessions effectively</a:t>
            </a:r>
          </a:p>
          <a:p>
            <a:r>
              <a:rPr sz="1600" dirty="0"/>
              <a:t>Use chat history as a working reference</a:t>
            </a:r>
          </a:p>
          <a:p>
            <a:r>
              <a:rPr sz="1600" dirty="0"/>
              <a:t>Develop efficient workflow patterns with main and quick chat</a:t>
            </a:r>
          </a:p>
          <a:p>
            <a:endParaRPr sz="1600" dirty="0"/>
          </a:p>
          <a:p>
            <a:pPr marL="0" indent="0">
              <a:buNone/>
            </a:pPr>
            <a:r>
              <a:rPr sz="1600" b="1" dirty="0"/>
              <a:t>Activities</a:t>
            </a:r>
          </a:p>
          <a:p>
            <a:r>
              <a:rPr sz="1600" dirty="0"/>
              <a:t>1. Chat organization:</a:t>
            </a:r>
          </a:p>
          <a:p>
            <a:pPr lvl="1"/>
            <a:r>
              <a:rPr sz="1050" dirty="0"/>
              <a:t>Review current chat history</a:t>
            </a:r>
          </a:p>
          <a:p>
            <a:pPr lvl="1"/>
            <a:r>
              <a:rPr sz="1050" dirty="0"/>
              <a:t>Identify conversations that should have been separate</a:t>
            </a:r>
          </a:p>
          <a:p>
            <a:pPr lvl="1"/>
            <a:r>
              <a:rPr sz="1050" dirty="0"/>
              <a:t>Practice starting new chats at natural topic boundaries</a:t>
            </a:r>
            <a:endParaRPr lang="en-US" sz="1050" dirty="0"/>
          </a:p>
          <a:p>
            <a:r>
              <a:rPr lang="en-US" sz="1600" dirty="0"/>
              <a:t>2. Context preservation:</a:t>
            </a:r>
          </a:p>
          <a:p>
            <a:pPr lvl="1"/>
            <a:r>
              <a:rPr lang="en-US" sz="1050" dirty="0"/>
              <a:t>Run one focused feature chat</a:t>
            </a:r>
          </a:p>
          <a:p>
            <a:pPr lvl="1"/>
            <a:r>
              <a:rPr lang="en-US" sz="1050" dirty="0"/>
              <a:t>Add only relevant context files</a:t>
            </a:r>
          </a:p>
          <a:p>
            <a:pPr lvl="1"/>
            <a:r>
              <a:rPr lang="en-US" sz="1050" dirty="0"/>
              <a:t>Complete work without context overflow</a:t>
            </a:r>
          </a:p>
          <a:p>
            <a:endParaRPr sz="1600" dirty="0"/>
          </a:p>
        </p:txBody>
      </p:sp>
      <p:sp>
        <p:nvSpPr>
          <p:cNvPr id="4" name="Content Placeholder 3">
            <a:extLst>
              <a:ext uri="{FF2B5EF4-FFF2-40B4-BE49-F238E27FC236}">
                <a16:creationId xmlns:a16="http://schemas.microsoft.com/office/drawing/2014/main" id="{AE808192-0875-059C-41EB-4911D913CB6C}"/>
              </a:ext>
            </a:extLst>
          </p:cNvPr>
          <p:cNvSpPr>
            <a:spLocks noGrp="1"/>
          </p:cNvSpPr>
          <p:nvPr>
            <p:ph sz="half" idx="2"/>
          </p:nvPr>
        </p:nvSpPr>
        <p:spPr/>
        <p:txBody>
          <a:bodyPr>
            <a:normAutofit lnSpcReduction="10000"/>
          </a:bodyPr>
          <a:lstStyle/>
          <a:p>
            <a:r>
              <a:rPr lang="en-US" sz="1600" dirty="0"/>
              <a:t>3. Quick chat practice:</a:t>
            </a:r>
          </a:p>
          <a:p>
            <a:pPr lvl="1"/>
            <a:r>
              <a:rPr lang="en-US" sz="1400" dirty="0"/>
              <a:t>Keep main chat for primary task flow</a:t>
            </a:r>
          </a:p>
          <a:p>
            <a:pPr lvl="1"/>
            <a:r>
              <a:rPr lang="en-US" sz="1400" dirty="0"/>
              <a:t> Use quick chat for side questions</a:t>
            </a:r>
          </a:p>
          <a:p>
            <a:pPr lvl="1"/>
            <a:r>
              <a:rPr lang="en-US" sz="1400" dirty="0"/>
              <a:t> Return to main chat with context preserved</a:t>
            </a:r>
          </a:p>
          <a:p>
            <a:r>
              <a:rPr lang="en-US" sz="1600" dirty="0"/>
              <a:t>4. Chat history review:</a:t>
            </a:r>
          </a:p>
          <a:p>
            <a:pPr lvl="1"/>
            <a:r>
              <a:rPr lang="en-US" sz="1400" dirty="0"/>
              <a:t>Locate previous high-quality solutions</a:t>
            </a:r>
          </a:p>
          <a:p>
            <a:pPr lvl="1"/>
            <a:r>
              <a:rPr lang="en-US" sz="1400" dirty="0"/>
              <a:t>Identify prompts that worked well</a:t>
            </a:r>
          </a:p>
          <a:p>
            <a:pPr lvl="1"/>
            <a:r>
              <a:rPr lang="en-US" sz="1400" dirty="0"/>
              <a:t>Capture repeatable prompt patterns</a:t>
            </a:r>
          </a:p>
          <a:p>
            <a:endParaRPr lang="en-US" sz="1600" dirty="0"/>
          </a:p>
          <a:p>
            <a:pPr marL="0" indent="0">
              <a:buNone/>
            </a:pPr>
            <a:r>
              <a:rPr lang="en-US" sz="1600" b="1" dirty="0"/>
              <a:t>Success Criteria</a:t>
            </a:r>
          </a:p>
          <a:p>
            <a:r>
              <a:rPr lang="en-US" sz="1600" dirty="0"/>
              <a:t>Chat history is organized and meaningful</a:t>
            </a:r>
          </a:p>
          <a:p>
            <a:r>
              <a:rPr lang="en-US" sz="1600" dirty="0"/>
              <a:t>You can quickly find and reuse previous solutions</a:t>
            </a:r>
          </a:p>
          <a:p>
            <a:r>
              <a:rPr lang="en-US" sz="1600" dirty="0"/>
              <a:t>You can use multiple chat windows without losing primary context</a:t>
            </a:r>
          </a:p>
          <a:p>
            <a:endParaRPr lang="en-US" sz="1600" dirty="0"/>
          </a:p>
          <a:p>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fontScale="90000"/>
          </a:bodyPr>
          <a:lstStyle/>
          <a:p>
            <a:r>
              <a:rPr lang="en-US" dirty="0"/>
              <a:t>Exercise</a:t>
            </a:r>
            <a:r>
              <a:rPr dirty="0"/>
              <a:t>: Exploring Copilot Modes</a:t>
            </a:r>
          </a:p>
        </p:txBody>
      </p:sp>
      <p:sp>
        <p:nvSpPr>
          <p:cNvPr id="3" name="Content Placeholder 2"/>
          <p:cNvSpPr>
            <a:spLocks noGrp="1"/>
          </p:cNvSpPr>
          <p:nvPr>
            <p:ph sz="half" idx="1"/>
          </p:nvPr>
        </p:nvSpPr>
        <p:spPr/>
        <p:txBody>
          <a:bodyPr wrap="square">
            <a:normAutofit lnSpcReduction="10000"/>
          </a:bodyPr>
          <a:lstStyle/>
          <a:p>
            <a:pPr marL="0" indent="0">
              <a:buNone/>
            </a:pPr>
            <a:r>
              <a:rPr sz="2000" b="1" dirty="0"/>
              <a:t>Objectives</a:t>
            </a:r>
          </a:p>
          <a:p>
            <a:r>
              <a:rPr sz="2000" dirty="0"/>
              <a:t>Understand differences between Ask, Edit, and Agent modes</a:t>
            </a:r>
          </a:p>
          <a:p>
            <a:r>
              <a:rPr sz="2000" dirty="0"/>
              <a:t>Know when to use each mode</a:t>
            </a:r>
          </a:p>
          <a:p>
            <a:r>
              <a:rPr sz="2000" dirty="0"/>
              <a:t>Understand premium token usage implications</a:t>
            </a:r>
          </a:p>
          <a:p>
            <a:endParaRPr sz="2000" dirty="0"/>
          </a:p>
          <a:p>
            <a:pPr marL="0" indent="0">
              <a:buNone/>
            </a:pPr>
            <a:r>
              <a:rPr sz="2000" b="1" dirty="0"/>
              <a:t>Activities</a:t>
            </a:r>
          </a:p>
          <a:p>
            <a:r>
              <a:rPr sz="2000" dirty="0"/>
              <a:t>1. Ask mode:</a:t>
            </a:r>
          </a:p>
          <a:p>
            <a:pPr lvl="1"/>
            <a:r>
              <a:rPr sz="1200" dirty="0"/>
              <a:t>Ask Copilot to explain a selected code snippet</a:t>
            </a:r>
          </a:p>
          <a:p>
            <a:pPr lvl="1"/>
            <a:r>
              <a:rPr sz="1200" dirty="0"/>
              <a:t>Request multiple implementation approaches</a:t>
            </a:r>
          </a:p>
          <a:p>
            <a:pPr lvl="1"/>
            <a:r>
              <a:rPr sz="1200" dirty="0"/>
              <a:t>Try different models and compare response style</a:t>
            </a:r>
          </a:p>
          <a:p>
            <a:pPr lvl="1"/>
            <a:r>
              <a:rPr sz="1200" dirty="0"/>
              <a:t>Note that Ask mode is best for exploration</a:t>
            </a:r>
          </a:p>
        </p:txBody>
      </p:sp>
      <p:sp>
        <p:nvSpPr>
          <p:cNvPr id="4" name="Content Placeholder 3">
            <a:extLst>
              <a:ext uri="{FF2B5EF4-FFF2-40B4-BE49-F238E27FC236}">
                <a16:creationId xmlns:a16="http://schemas.microsoft.com/office/drawing/2014/main" id="{EEC49A78-12C3-1A2B-63BC-7EFEB00F050A}"/>
              </a:ext>
            </a:extLst>
          </p:cNvPr>
          <p:cNvSpPr>
            <a:spLocks noGrp="1"/>
          </p:cNvSpPr>
          <p:nvPr>
            <p:ph sz="half" idx="2"/>
          </p:nvPr>
        </p:nvSpPr>
        <p:spPr/>
        <p:txBody>
          <a:bodyPr>
            <a:normAutofit/>
          </a:bodyPr>
          <a:lstStyle/>
          <a:p>
            <a:r>
              <a:rPr lang="en-US" sz="1600" dirty="0"/>
              <a:t>2. Agent mode:</a:t>
            </a:r>
          </a:p>
          <a:p>
            <a:pPr lvl="1"/>
            <a:r>
              <a:rPr lang="en-US" sz="1600" dirty="0"/>
              <a:t>Create a new file and add starter content</a:t>
            </a:r>
          </a:p>
          <a:p>
            <a:pPr lvl="1"/>
            <a:r>
              <a:rPr lang="en-US" sz="1600" dirty="0"/>
              <a:t>Request coordinated changes across multiple files</a:t>
            </a:r>
          </a:p>
          <a:p>
            <a:pPr lvl="1"/>
            <a:r>
              <a:rPr lang="en-US" sz="1600" dirty="0"/>
              <a:t>Ask Copilot to run terminal commands</a:t>
            </a:r>
          </a:p>
          <a:p>
            <a:pPr lvl="1"/>
            <a:r>
              <a:rPr lang="en-US" sz="1600" dirty="0"/>
              <a:t>Recheck premium token usage after actions</a:t>
            </a:r>
          </a:p>
          <a:p>
            <a:endParaRPr lang="en-US" sz="1600" dirty="0"/>
          </a:p>
          <a:p>
            <a:r>
              <a:rPr lang="en-US" sz="1600" dirty="0"/>
              <a:t>Success Criteria</a:t>
            </a:r>
          </a:p>
          <a:p>
            <a:endParaRPr lang="en-US" sz="1600" dirty="0"/>
          </a:p>
          <a:p>
            <a:r>
              <a:rPr lang="en-US" sz="1600" dirty="0"/>
              <a:t>You can choose the right mode for the task</a:t>
            </a:r>
          </a:p>
          <a:p>
            <a:r>
              <a:rPr lang="en-US" sz="1600" dirty="0"/>
              <a:t>You can explain relative token usage tradeoffs</a:t>
            </a:r>
          </a:p>
          <a:p>
            <a:r>
              <a:rPr lang="en-US" sz="1600" dirty="0"/>
              <a:t>You can complete a multi-file action using Agent mode</a:t>
            </a:r>
          </a:p>
          <a:p>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Using Copilot in different modes</a:t>
            </a:r>
          </a:p>
        </p:txBody>
      </p:sp>
      <p:sp>
        <p:nvSpPr>
          <p:cNvPr id="3" name="Content Placeholder 2"/>
          <p:cNvSpPr>
            <a:spLocks noGrp="1"/>
          </p:cNvSpPr>
          <p:nvPr>
            <p:ph idx="1"/>
          </p:nvPr>
        </p:nvSpPr>
        <p:spPr/>
        <p:txBody>
          <a:bodyPr wrap="square">
            <a:normAutofit fontScale="85000" lnSpcReduction="20000"/>
          </a:bodyPr>
          <a:lstStyle/>
          <a:p>
            <a:endParaRPr/>
          </a:p>
          <a:p>
            <a:r>
              <a:t>Ask Mode</a:t>
            </a:r>
          </a:p>
          <a:p>
            <a:endParaRPr/>
          </a:p>
          <a:p>
            <a:r>
              <a:t>Simple prompt completion and inline suggestions</a:t>
            </a:r>
          </a:p>
          <a:p>
            <a:r>
              <a:t>  Edit Mode</a:t>
            </a:r>
          </a:p>
          <a:p>
            <a:r>
              <a:t>Automatic file edits</a:t>
            </a:r>
          </a:p>
          <a:p>
            <a:r>
              <a:t>  Agent Mode</a:t>
            </a:r>
          </a:p>
          <a:p>
            <a:r>
              <a:t>Perform actions on your behalf</a:t>
            </a:r>
          </a:p>
          <a:p>
            <a:r>
              <a:t>  Custom Modes</a:t>
            </a:r>
          </a:p>
          <a:p>
            <a:r>
              <a:t>Execute specific workflows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 Support for AI Assistance</a:t>
            </a:r>
          </a:p>
        </p:txBody>
      </p:sp>
      <p:graphicFrame>
        <p:nvGraphicFramePr>
          <p:cNvPr id="3" name="Table 2"/>
          <p:cNvGraphicFramePr>
            <a:graphicFrameLocks noGrp="1"/>
          </p:cNvGraphicFramePr>
          <p:nvPr/>
        </p:nvGraphicFramePr>
        <p:xfrm>
          <a:off x="457200" y="1828800"/>
          <a:ext cx="8229600" cy="1438529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pPr>
                        <a:defRPr sz="1296" b="1"/>
                      </a:pPr>
                      <a:r>
                        <a:t>IDE / Editor</a:t>
                      </a:r>
                    </a:p>
                  </a:txBody>
                  <a:tcPr/>
                </a:tc>
                <a:tc>
                  <a:txBody>
                    <a:bodyPr/>
                    <a:lstStyle/>
                    <a:p>
                      <a:pPr>
                        <a:defRPr sz="1296" b="1"/>
                      </a:pPr>
                      <a:r>
                        <a:t>Built-In AI Features</a:t>
                      </a:r>
                    </a:p>
                  </a:txBody>
                  <a:tcPr/>
                </a:tc>
                <a:tc>
                  <a:txBody>
                    <a:bodyPr/>
                    <a:lstStyle/>
                    <a:p>
                      <a:pPr>
                        <a:defRPr sz="1296" b="1"/>
                      </a:pPr>
                      <a:r>
                        <a:t>Supported AI Assistants</a:t>
                      </a:r>
                    </a:p>
                  </a:txBody>
                  <a:tcPr/>
                </a:tc>
                <a:tc>
                  <a:txBody>
                    <a:bodyPr/>
                    <a:lstStyle/>
                    <a:p>
                      <a:pPr>
                        <a:defRPr sz="1296" b="1"/>
                      </a:pPr>
                      <a:r>
                        <a:t>Strengths</a:t>
                      </a:r>
                    </a:p>
                  </a:txBody>
                  <a:tcPr/>
                </a:tc>
                <a:tc>
                  <a:txBody>
                    <a:bodyPr/>
                    <a:lstStyle/>
                    <a:p>
                      <a:pPr>
                        <a:defRPr sz="1296" b="1"/>
                      </a:pPr>
                      <a:r>
                        <a:t>Limitations</a:t>
                      </a:r>
                    </a:p>
                  </a:txBody>
                  <a:tcPr/>
                </a:tc>
                <a:extLst>
                  <a:ext uri="{0D108BD9-81ED-4DB2-BD59-A6C34878D82A}">
                    <a16:rowId xmlns:a16="http://schemas.microsoft.com/office/drawing/2014/main" val="10000"/>
                  </a:ext>
                </a:extLst>
              </a:tr>
              <a:tr h="457200">
                <a:tc>
                  <a:txBody>
                    <a:bodyPr/>
                    <a:lstStyle/>
                    <a:p>
                      <a:r>
                        <a:t>VS Code</a:t>
                      </a:r>
                    </a:p>
                  </a:txBody>
                  <a:tcPr/>
                </a:tc>
                <a:tc>
                  <a:txBody>
                    <a:bodyPr/>
                    <a:lstStyle/>
                    <a:p>
                      <a:r>
                        <a:t>Deep AI integration through extensions; increasingly AI-first workflows</a:t>
                      </a:r>
                    </a:p>
                  </a:txBody>
                  <a:tcPr/>
                </a:tc>
                <a:tc>
                  <a:txBody>
                    <a:bodyPr/>
                    <a:lstStyle/>
                    <a:p>
                      <a:r>
                        <a:t>GitHub Copilot, Cline, ChatGPT-based extensions, Gemini integrations</a:t>
                      </a:r>
                    </a:p>
                  </a:txBody>
                  <a:tcPr/>
                </a:tc>
                <a:tc>
                  <a:txBody>
                    <a:bodyPr/>
                    <a:lstStyle/>
                    <a:p>
                      <a:r>
                        <a:t>Extremely flexible; huge ecosystem; top-tier AI support; widely adopted</a:t>
                      </a:r>
                    </a:p>
                  </a:txBody>
                  <a:tcPr/>
                </a:tc>
                <a:tc>
                  <a:txBody>
                    <a:bodyPr/>
                    <a:lstStyle/>
                    <a:p>
                      <a:r>
                        <a:t>Requires extension management; quality varies by plugin</a:t>
                      </a:r>
                    </a:p>
                  </a:txBody>
                  <a:tcPr/>
                </a:tc>
                <a:extLst>
                  <a:ext uri="{0D108BD9-81ED-4DB2-BD59-A6C34878D82A}">
                    <a16:rowId xmlns:a16="http://schemas.microsoft.com/office/drawing/2014/main" val="10001"/>
                  </a:ext>
                </a:extLst>
              </a:tr>
              <a:tr h="457200">
                <a:tc>
                  <a:txBody>
                    <a:bodyPr/>
                    <a:lstStyle/>
                    <a:p>
                      <a:r>
                        <a:t>Visual Studio (Windows)</a:t>
                      </a:r>
                    </a:p>
                  </a:txBody>
                  <a:tcPr/>
                </a:tc>
                <a:tc>
                  <a:txBody>
                    <a:bodyPr/>
                    <a:lstStyle/>
                    <a:p>
                      <a:r>
                        <a:t>Native GitHub Copilot integration; AI-powered IntelliCode</a:t>
                      </a:r>
                    </a:p>
                  </a:txBody>
                  <a:tcPr/>
                </a:tc>
                <a:tc>
                  <a:txBody>
                    <a:bodyPr/>
                    <a:lstStyle/>
                    <a:p>
                      <a:r>
                        <a:t>GitHub Copilot, IntelliCode</a:t>
                      </a:r>
                    </a:p>
                  </a:txBody>
                  <a:tcPr/>
                </a:tc>
                <a:tc>
                  <a:txBody>
                    <a:bodyPr/>
                    <a:lstStyle/>
                    <a:p>
                      <a:r>
                        <a:t>Strong enterprise + .NET support; excellent refactoring and debugging</a:t>
                      </a:r>
                    </a:p>
                  </a:txBody>
                  <a:tcPr/>
                </a:tc>
                <a:tc>
                  <a:txBody>
                    <a:bodyPr/>
                    <a:lstStyle/>
                    <a:p>
                      <a:r>
                        <a:t>Less flexible than VS Code for non-Microsoft stacks</a:t>
                      </a:r>
                    </a:p>
                  </a:txBody>
                  <a:tcPr/>
                </a:tc>
                <a:extLst>
                  <a:ext uri="{0D108BD9-81ED-4DB2-BD59-A6C34878D82A}">
                    <a16:rowId xmlns:a16="http://schemas.microsoft.com/office/drawing/2014/main" val="10002"/>
                  </a:ext>
                </a:extLst>
              </a:tr>
              <a:tr h="457200">
                <a:tc>
                  <a:txBody>
                    <a:bodyPr/>
                    <a:lstStyle/>
                    <a:p>
                      <a:r>
                        <a:t>JetBrains IDEs</a:t>
                      </a:r>
                    </a:p>
                  </a:txBody>
                  <a:tcPr/>
                </a:tc>
                <a:tc>
                  <a:txBody>
                    <a:bodyPr/>
                    <a:lstStyle/>
                    <a:p>
                      <a:r>
                        <a:t>JetBrains AI Assistant; code completion, refactoring, doc generation</a:t>
                      </a:r>
                    </a:p>
                  </a:txBody>
                  <a:tcPr/>
                </a:tc>
                <a:tc>
                  <a:txBody>
                    <a:bodyPr/>
                    <a:lstStyle/>
                    <a:p>
                      <a:r>
                        <a:t>JetBrains AI Assistant, GitHub Copilot</a:t>
                      </a:r>
                    </a:p>
                  </a:txBody>
                  <a:tcPr/>
                </a:tc>
                <a:tc>
                  <a:txBody>
                    <a:bodyPr/>
                    <a:lstStyle/>
                    <a:p>
                      <a:r>
                        <a:t>Deep static analysis + AI; strong multi-language support</a:t>
                      </a:r>
                    </a:p>
                  </a:txBody>
                  <a:tcPr/>
                </a:tc>
                <a:tc>
                  <a:txBody>
                    <a:bodyPr/>
                    <a:lstStyle/>
                    <a:p>
                      <a:r>
                        <a:t>JetBrains AI Assistant is subscription-based; Copilot integration not as seamless</a:t>
                      </a:r>
                    </a:p>
                  </a:txBody>
                  <a:tcPr/>
                </a:tc>
                <a:extLst>
                  <a:ext uri="{0D108BD9-81ED-4DB2-BD59-A6C34878D82A}">
                    <a16:rowId xmlns:a16="http://schemas.microsoft.com/office/drawing/2014/main" val="10003"/>
                  </a:ext>
                </a:extLst>
              </a:tr>
              <a:tr h="457200">
                <a:tc>
                  <a:txBody>
                    <a:bodyPr/>
                    <a:lstStyle/>
                    <a:p>
                      <a:r>
                        <a:t>Cursor IDE</a:t>
                      </a:r>
                    </a:p>
                  </a:txBody>
                  <a:tcPr/>
                </a:tc>
                <a:tc>
                  <a:txBody>
                    <a:bodyPr/>
                    <a:lstStyle/>
                    <a:p>
                      <a:r>
                        <a:t>AI-first editor; conversational coding; multi-file reasoning</a:t>
                      </a:r>
                    </a:p>
                  </a:txBody>
                  <a:tcPr/>
                </a:tc>
                <a:tc>
                  <a:txBody>
                    <a:bodyPr/>
                    <a:lstStyle/>
                    <a:p>
                      <a:r>
                        <a:t>Built-in AI models (GPT-based, Claude-based), Copilot alternatives</a:t>
                      </a:r>
                    </a:p>
                  </a:txBody>
                  <a:tcPr/>
                </a:tc>
                <a:tc>
                  <a:txBody>
                    <a:bodyPr/>
                    <a:lstStyle/>
                    <a:p>
                      <a:r>
                        <a:t>Designed for AI pair-programming; strong repo-wide reasoning</a:t>
                      </a:r>
                    </a:p>
                  </a:txBody>
                  <a:tcPr/>
                </a:tc>
                <a:tc>
                  <a:txBody>
                    <a:bodyPr/>
                    <a:lstStyle/>
                    <a:p>
                      <a:r>
                        <a:t>Not a traditional IDE; still maturing for large enterprise workflows</a:t>
                      </a:r>
                    </a:p>
                  </a:txBody>
                  <a:tcPr/>
                </a:tc>
                <a:extLst>
                  <a:ext uri="{0D108BD9-81ED-4DB2-BD59-A6C34878D82A}">
                    <a16:rowId xmlns:a16="http://schemas.microsoft.com/office/drawing/2014/main" val="10004"/>
                  </a:ext>
                </a:extLst>
              </a:tr>
              <a:tr h="457200">
                <a:tc>
                  <a:txBody>
                    <a:bodyPr/>
                    <a:lstStyle/>
                    <a:p>
                      <a:r>
                        <a:t>Replit</a:t>
                      </a:r>
                    </a:p>
                  </a:txBody>
                  <a:tcPr/>
                </a:tc>
                <a:tc>
                  <a:txBody>
                    <a:bodyPr/>
                    <a:lstStyle/>
                    <a:p>
                      <a:r>
                        <a:t>AI-powered Ghostwriter for code generation, debugging, and explanations</a:t>
                      </a:r>
                    </a:p>
                  </a:txBody>
                  <a:tcPr/>
                </a:tc>
                <a:tc>
                  <a:txBody>
                    <a:bodyPr/>
                    <a:lstStyle/>
                    <a:p>
                      <a:r>
                        <a:t>Ghostwriter</a:t>
                      </a:r>
                    </a:p>
                  </a:txBody>
                  <a:tcPr/>
                </a:tc>
                <a:tc>
                  <a:txBody>
                    <a:bodyPr/>
                    <a:lstStyle/>
                    <a:p>
                      <a:r>
                        <a:t>Great for beginners and rapid prototyping; browser-based</a:t>
                      </a:r>
                    </a:p>
                  </a:txBody>
                  <a:tcPr/>
                </a:tc>
                <a:tc>
                  <a:txBody>
                    <a:bodyPr/>
                    <a:lstStyle/>
                    <a:p>
                      <a:r>
                        <a:t>Less powerful for large, multi-module projects</a:t>
                      </a:r>
                    </a:p>
                  </a:txBody>
                  <a:tcPr/>
                </a:tc>
                <a:extLst>
                  <a:ext uri="{0D108BD9-81ED-4DB2-BD59-A6C34878D82A}">
                    <a16:rowId xmlns:a16="http://schemas.microsoft.com/office/drawing/2014/main" val="10005"/>
                  </a:ext>
                </a:extLst>
              </a:tr>
              <a:tr h="457200">
                <a:tc>
                  <a:txBody>
                    <a:bodyPr/>
                    <a:lstStyle/>
                    <a:p>
                      <a:r>
                        <a:t>Builder.io / Builder Code Editor</a:t>
                      </a:r>
                    </a:p>
                  </a:txBody>
                  <a:tcPr/>
                </a:tc>
                <a:tc>
                  <a:txBody>
                    <a:bodyPr/>
                    <a:lstStyle/>
                    <a:p>
                      <a:r>
                        <a:t>AI-enhanced coding environment with integrated assistants</a:t>
                      </a:r>
                    </a:p>
                  </a:txBody>
                  <a:tcPr/>
                </a:tc>
                <a:tc>
                  <a:txBody>
                    <a:bodyPr/>
                    <a:lstStyle/>
                    <a:p>
                      <a:r>
                        <a:t>Multiple AI integrations depending on setup</a:t>
                      </a:r>
                    </a:p>
                  </a:txBody>
                  <a:tcPr/>
                </a:tc>
                <a:tc>
                  <a:txBody>
                    <a:bodyPr/>
                    <a:lstStyle/>
                    <a:p>
                      <a:r>
                        <a:t>Strong web-dev focus; modern AI-native UX</a:t>
                      </a:r>
                    </a:p>
                  </a:txBody>
                  <a:tcPr/>
                </a:tc>
                <a:tc>
                  <a:txBody>
                    <a:bodyPr/>
                    <a:lstStyle/>
                    <a:p>
                      <a:r>
                        <a:t>Not a general-purpose IDE</a:t>
                      </a:r>
                    </a:p>
                  </a:txBody>
                  <a:tcPr/>
                </a:tc>
                <a:extLst>
                  <a:ext uri="{0D108BD9-81ED-4DB2-BD59-A6C34878D82A}">
                    <a16:rowId xmlns:a16="http://schemas.microsoft.com/office/drawing/2014/main" val="10006"/>
                  </a:ext>
                </a:extLst>
              </a:tr>
              <a:tr h="457200">
                <a:tc>
                  <a:txBody>
                    <a:bodyPr/>
                    <a:lstStyle/>
                    <a:p>
                      <a:r>
                        <a:t>Code-B Editors</a:t>
                      </a:r>
                    </a:p>
                  </a:txBody>
                  <a:tcPr/>
                </a:tc>
                <a:tc>
                  <a:txBody>
                    <a:bodyPr/>
                    <a:lstStyle/>
                    <a:p>
                      <a:r>
                        <a:t>Predictive code generation, debugging, and review</a:t>
                      </a:r>
                    </a:p>
                  </a:txBody>
                  <a:tcPr/>
                </a:tc>
                <a:tc>
                  <a:txBody>
                    <a:bodyPr/>
                    <a:lstStyle/>
                    <a:p>
                      <a:r>
                        <a:t>Multiple AI models depending on configuration</a:t>
                      </a:r>
                    </a:p>
                  </a:txBody>
                  <a:tcPr/>
                </a:tc>
                <a:tc>
                  <a:txBody>
                    <a:bodyPr/>
                    <a:lstStyle/>
                    <a:p>
                      <a:r>
                        <a:t>Strong AI-centric workflows; optimized for speed</a:t>
                      </a:r>
                    </a:p>
                  </a:txBody>
                  <a:tcPr/>
                </a:tc>
                <a:tc>
                  <a:txBody>
                    <a:bodyPr/>
                    <a:lstStyle/>
                    <a:p>
                      <a:r>
                        <a:t>Less mainstream; smaller ecosystem</a:t>
                      </a:r>
                    </a:p>
                  </a:txBody>
                  <a:tcPr/>
                </a:tc>
                <a:extLst>
                  <a:ext uri="{0D108BD9-81ED-4DB2-BD59-A6C34878D82A}">
                    <a16:rowId xmlns:a16="http://schemas.microsoft.com/office/drawing/2014/main" val="10007"/>
                  </a:ext>
                </a:extLst>
              </a:tr>
              <a:tr h="457200">
                <a:tc>
                  <a:txBody>
                    <a:bodyPr/>
                    <a:lstStyle/>
                    <a:p>
                      <a:r>
                        <a:t>Claude Code</a:t>
                      </a:r>
                    </a:p>
                  </a:txBody>
                  <a:tcPr/>
                </a:tc>
                <a:tc>
                  <a:txBody>
                    <a:bodyPr/>
                    <a:lstStyle/>
                    <a:p>
                      <a:r>
                        <a:t>Terminal-first AI coding assistant; autonomous repo-wide reasoning</a:t>
                      </a:r>
                    </a:p>
                  </a:txBody>
                  <a:tcPr/>
                </a:tc>
                <a:tc>
                  <a:txBody>
                    <a:bodyPr/>
                    <a:lstStyle/>
                    <a:p>
                      <a:r>
                        <a:t>Latest models from Anthropic and other via configuration</a:t>
                      </a:r>
                    </a:p>
                  </a:txBody>
                  <a:tcPr/>
                </a:tc>
                <a:tc>
                  <a:txBody>
                    <a:bodyPr/>
                    <a:lstStyle/>
                    <a:p>
                      <a:r>
                        <a:t>Exceptional multi-file context handling; ideal for agentic workflows and automated patching</a:t>
                      </a:r>
                    </a:p>
                  </a:txBody>
                  <a:tcPr/>
                </a:tc>
                <a:tc>
                  <a:txBody>
                    <a:bodyPr/>
                    <a:lstStyle/>
                    <a:p>
                      <a:r>
                        <a:t>Not a GUI IDE; best suited for terminal-centric development and large codebases</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endParaRPr/>
          </a:p>
          <a:p>
            <a:r>
              <a:t>Intro</a:t>
            </a:r>
          </a:p>
          <a:p>
            <a:r>
              <a:t>AI Assisted Software Development</a:t>
            </a:r>
          </a:p>
          <a:p>
            <a:r>
              <a:t>Intro to Copilot</a:t>
            </a:r>
          </a:p>
          <a:p>
            <a:r>
              <a:rPr b="1"/>
              <a:t>▶ AI Assistance in Action</a:t>
            </a:r>
          </a:p>
          <a:p>
            <a:r>
              <a:t>Adding AI Guardrails</a:t>
            </a:r>
          </a:p>
          <a:p>
            <a:r>
              <a:t>Managing Context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Assistance in Action</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Assistance in Action</a:t>
            </a:r>
          </a:p>
        </p:txBody>
      </p:sp>
      <p:sp>
        <p:nvSpPr>
          <p:cNvPr id="3" name="Content Placeholder 2"/>
          <p:cNvSpPr>
            <a:spLocks noGrp="1"/>
          </p:cNvSpPr>
          <p:nvPr>
            <p:ph idx="1"/>
          </p:nvPr>
        </p:nvSpPr>
        <p:spPr/>
        <p:txBody>
          <a:bodyPr wrap="square">
            <a:normAutofit fontScale="92500" lnSpcReduction="10000"/>
          </a:bodyPr>
          <a:lstStyle/>
          <a:p>
            <a:endParaRPr/>
          </a:p>
          <a:p>
            <a:r>
              <a:t>Collaborating on a Solution</a:t>
            </a:r>
          </a:p>
          <a:p>
            <a:r>
              <a:t>Exercise: Calculator Project - Setup and Basic Implementation</a:t>
            </a:r>
          </a:p>
          <a:p>
            <a:r>
              <a:t>Exercise: Test Coverage Improvement</a:t>
            </a:r>
          </a:p>
          <a:p>
            <a:r>
              <a:t>Exercise: Lab 3 - Test-Driven Development (TDD) with Copilot</a:t>
            </a:r>
          </a:p>
          <a:p>
            <a:r>
              <a:t>AI-Assisted CI/CD Pipelines</a:t>
            </a:r>
          </a:p>
          <a:p>
            <a:r>
              <a:t>AI-Assisted GitHub Pull Requests</a:t>
            </a:r>
          </a:p>
          <a:p>
            <a:r>
              <a:t>Multi-Model Implementation Comparison</a:t>
            </a:r>
          </a:p>
          <a:p>
            <a:r>
              <a:t>Evergreen Software Development - Core Principles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Collaborating on a Solution</a:t>
            </a:r>
          </a:p>
        </p:txBody>
      </p:sp>
      <p:sp>
        <p:nvSpPr>
          <p:cNvPr id="3" name="Content Placeholder 2"/>
          <p:cNvSpPr>
            <a:spLocks noGrp="1"/>
          </p:cNvSpPr>
          <p:nvPr>
            <p:ph sz="half" idx="1"/>
          </p:nvPr>
        </p:nvSpPr>
        <p:spPr/>
        <p:txBody>
          <a:bodyPr wrap="square">
            <a:normAutofit fontScale="62500" lnSpcReduction="20000"/>
          </a:bodyPr>
          <a:lstStyle/>
          <a:p>
            <a:endParaRPr dirty="0"/>
          </a:p>
          <a:p>
            <a:r>
              <a:rPr dirty="0"/>
              <a:t>Project Setup</a:t>
            </a:r>
          </a:p>
          <a:p>
            <a:r>
              <a:rPr dirty="0"/>
              <a:t>Adding Features</a:t>
            </a:r>
          </a:p>
          <a:p>
            <a:endParaRPr dirty="0"/>
          </a:p>
          <a:p>
            <a:r>
              <a:rPr dirty="0"/>
              <a:t>Basic Arithmetic - Addition, subtraction, multiplication, division</a:t>
            </a:r>
          </a:p>
          <a:p>
            <a:r>
              <a:rPr dirty="0"/>
              <a:t>Clear / Reset Function - Quickly resets the current input or entire calculation</a:t>
            </a:r>
          </a:p>
          <a:p>
            <a:r>
              <a:rPr dirty="0"/>
              <a:t>Decimal Support - Allows entry and computation with decimal numbers</a:t>
            </a:r>
          </a:p>
          <a:p>
            <a:r>
              <a:rPr dirty="0"/>
              <a:t>Sign Toggle (+/–) - Switches values between positive and negative</a:t>
            </a:r>
          </a:p>
          <a:p>
            <a:r>
              <a:rPr dirty="0"/>
              <a:t>Percentage Function - Converts values to percentages for quick calculations</a:t>
            </a:r>
          </a:p>
        </p:txBody>
      </p:sp>
      <p:sp>
        <p:nvSpPr>
          <p:cNvPr id="4" name="Content Placeholder 3">
            <a:extLst>
              <a:ext uri="{FF2B5EF4-FFF2-40B4-BE49-F238E27FC236}">
                <a16:creationId xmlns:a16="http://schemas.microsoft.com/office/drawing/2014/main" id="{0298AFEE-295F-7D17-06D4-67F2AAD903EB}"/>
              </a:ext>
            </a:extLst>
          </p:cNvPr>
          <p:cNvSpPr>
            <a:spLocks noGrp="1"/>
          </p:cNvSpPr>
          <p:nvPr>
            <p:ph sz="half" idx="2"/>
          </p:nvPr>
        </p:nvSpPr>
        <p:spPr/>
        <p:txBody>
          <a:bodyPr>
            <a:normAutofit fontScale="62500" lnSpcReduction="20000"/>
          </a:bodyPr>
          <a:lstStyle/>
          <a:p>
            <a:r>
              <a:rPr lang="en-US" dirty="0"/>
              <a:t>Memory Functions (M+, M–, MR, MC) - Store, recall, add to, or clear memory values</a:t>
            </a:r>
          </a:p>
          <a:p>
            <a:r>
              <a:rPr lang="en-US" dirty="0"/>
              <a:t>Error Handling - Displays errors such as division by zero</a:t>
            </a:r>
          </a:p>
          <a:p>
            <a:r>
              <a:rPr lang="en-US" dirty="0"/>
              <a:t>Simple, Intuitive Interface - Numeric keypad, operation buttons, and display screen</a:t>
            </a:r>
          </a:p>
          <a:p>
            <a:r>
              <a:rPr lang="en-US" dirty="0"/>
              <a:t>  Test Automation</a:t>
            </a:r>
          </a:p>
          <a:p>
            <a:r>
              <a:rPr lang="en-US" dirty="0"/>
              <a:t>Code Coverage</a:t>
            </a:r>
          </a:p>
          <a:p>
            <a:r>
              <a:rPr lang="en-US" dirty="0"/>
              <a:t>  Dependency Management</a:t>
            </a:r>
          </a:p>
          <a:p>
            <a:r>
              <a:rPr lang="en-US" dirty="0"/>
              <a:t>  Comparing Implementations</a:t>
            </a:r>
          </a:p>
          <a:p>
            <a:r>
              <a:rPr lang="en-US" dirty="0"/>
              <a:t>  Chat Management</a:t>
            </a:r>
          </a:p>
          <a:p>
            <a:r>
              <a:rPr lang="en-US" dirty="0"/>
              <a:t>  Intro to Evergreen Software Development</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Setup and Basic Implementation</a:t>
            </a:r>
          </a:p>
        </p:txBody>
      </p:sp>
      <p:sp>
        <p:nvSpPr>
          <p:cNvPr id="3" name="Content Placeholder 2"/>
          <p:cNvSpPr>
            <a:spLocks noGrp="1"/>
          </p:cNvSpPr>
          <p:nvPr>
            <p:ph sz="half" idx="1"/>
          </p:nvPr>
        </p:nvSpPr>
        <p:spPr/>
        <p:txBody>
          <a:bodyPr wrap="square">
            <a:normAutofit fontScale="47500" lnSpcReduction="20000"/>
          </a:bodyPr>
          <a:lstStyle/>
          <a:p>
            <a:pPr marL="0" indent="0">
              <a:buNone/>
            </a:pPr>
            <a:r>
              <a:rPr b="1" dirty="0"/>
              <a:t>Objectives</a:t>
            </a:r>
          </a:p>
          <a:p>
            <a:r>
              <a:rPr dirty="0"/>
              <a:t>Use AI to generate starter code for arithmetic operations</a:t>
            </a:r>
            <a:endParaRPr lang="en-US" dirty="0"/>
          </a:p>
          <a:p>
            <a:r>
              <a:rPr lang="en-US" dirty="0"/>
              <a:t>Understand how to validate AI-generated logic</a:t>
            </a:r>
          </a:p>
          <a:p>
            <a:r>
              <a:rPr dirty="0"/>
              <a:t>Integrate addition, subtraction, multiplication, and division functions</a:t>
            </a:r>
          </a:p>
          <a:p>
            <a:endParaRPr dirty="0"/>
          </a:p>
          <a:p>
            <a:pPr marL="0" indent="0">
              <a:buNone/>
            </a:pPr>
            <a:r>
              <a:rPr b="1" dirty="0"/>
              <a:t>Activities</a:t>
            </a:r>
          </a:p>
          <a:p>
            <a:pPr marL="0" indent="0">
              <a:buNone/>
            </a:pPr>
            <a:r>
              <a:rPr dirty="0"/>
              <a:t>1. Project Initialization:</a:t>
            </a:r>
          </a:p>
          <a:p>
            <a:pPr lvl="1"/>
            <a:r>
              <a:rPr dirty="0"/>
              <a:t>Prompt AI to create a new project</a:t>
            </a:r>
          </a:p>
          <a:p>
            <a:pPr lvl="1"/>
            <a:r>
              <a:rPr dirty="0"/>
              <a:t>Review generated project structure</a:t>
            </a:r>
          </a:p>
          <a:p>
            <a:pPr lvl="1"/>
            <a:r>
              <a:rPr dirty="0"/>
              <a:t>Verify build configuration</a:t>
            </a:r>
          </a:p>
          <a:p>
            <a:pPr marL="0" indent="0">
              <a:buNone/>
            </a:pPr>
            <a:r>
              <a:rPr dirty="0"/>
              <a:t>2. Implement Basic Operations:</a:t>
            </a:r>
          </a:p>
          <a:p>
            <a:pPr lvl="1"/>
            <a:r>
              <a:rPr dirty="0"/>
              <a:t>Prompt AI to add methods for addition, subtraction, multiplication, and division</a:t>
            </a:r>
          </a:p>
          <a:p>
            <a:pPr marL="0" indent="0">
              <a:buNone/>
            </a:pPr>
            <a:r>
              <a:rPr dirty="0"/>
              <a:t>3. Review the Code:</a:t>
            </a:r>
          </a:p>
          <a:p>
            <a:pPr lvl="1"/>
            <a:r>
              <a:rPr dirty="0"/>
              <a:t>Check correctness and edge cases</a:t>
            </a:r>
          </a:p>
        </p:txBody>
      </p:sp>
      <p:sp>
        <p:nvSpPr>
          <p:cNvPr id="4" name="Content Placeholder 3">
            <a:extLst>
              <a:ext uri="{FF2B5EF4-FFF2-40B4-BE49-F238E27FC236}">
                <a16:creationId xmlns:a16="http://schemas.microsoft.com/office/drawing/2014/main" id="{AB7D77C6-4923-A460-B902-3D145CD1351D}"/>
              </a:ext>
            </a:extLst>
          </p:cNvPr>
          <p:cNvSpPr>
            <a:spLocks noGrp="1"/>
          </p:cNvSpPr>
          <p:nvPr>
            <p:ph sz="half" idx="2"/>
          </p:nvPr>
        </p:nvSpPr>
        <p:spPr/>
        <p:txBody>
          <a:bodyPr>
            <a:normAutofit fontScale="47500" lnSpcReduction="20000"/>
          </a:bodyPr>
          <a:lstStyle/>
          <a:p>
            <a:pPr marL="0" indent="0">
              <a:buNone/>
            </a:pPr>
            <a:r>
              <a:rPr lang="en-US" dirty="0"/>
              <a:t>4. Build and Run:</a:t>
            </a:r>
          </a:p>
          <a:p>
            <a:pPr lvl="1"/>
            <a:r>
              <a:rPr lang="en-US" dirty="0"/>
              <a:t>Use Copilot to help with build commands</a:t>
            </a:r>
          </a:p>
          <a:p>
            <a:pPr lvl="1"/>
            <a:r>
              <a:rPr lang="en-US" dirty="0"/>
              <a:t>Troubleshoot compilation errors with Copilot</a:t>
            </a:r>
          </a:p>
          <a:p>
            <a:pPr lvl="1"/>
            <a:r>
              <a:rPr lang="en-US" dirty="0"/>
              <a:t>Run the application</a:t>
            </a:r>
          </a:p>
          <a:p>
            <a:endParaRPr lang="en-US" dirty="0"/>
          </a:p>
          <a:p>
            <a:pPr marL="0" indent="0">
              <a:buNone/>
            </a:pPr>
            <a:r>
              <a:rPr lang="en-US" b="1" dirty="0"/>
              <a:t>Success Criteria</a:t>
            </a:r>
          </a:p>
          <a:p>
            <a:pPr lvl="1"/>
            <a:r>
              <a:rPr lang="en-US" dirty="0"/>
              <a:t>Working calculator with 4 basic operations</a:t>
            </a:r>
          </a:p>
          <a:p>
            <a:pPr lvl="1"/>
            <a:r>
              <a:rPr lang="en-US" dirty="0"/>
              <a:t>Application compiles and runs successfully</a:t>
            </a:r>
          </a:p>
          <a:p>
            <a:pPr lvl="1"/>
            <a:r>
              <a:rPr lang="en-US" dirty="0"/>
              <a:t>Generated code is critically reviewed</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Clear / Reset</a:t>
            </a:r>
          </a:p>
        </p:txBody>
      </p:sp>
      <p:sp>
        <p:nvSpPr>
          <p:cNvPr id="3" name="Content Placeholder 2"/>
          <p:cNvSpPr>
            <a:spLocks noGrp="1"/>
          </p:cNvSpPr>
          <p:nvPr>
            <p:ph sz="half" idx="1"/>
          </p:nvPr>
        </p:nvSpPr>
        <p:spPr/>
        <p:txBody>
          <a:bodyPr wrap="square">
            <a:normAutofit fontScale="62500" lnSpcReduction="20000"/>
          </a:bodyPr>
          <a:lstStyle/>
          <a:p>
            <a:pPr marL="0" indent="0">
              <a:buNone/>
            </a:pPr>
            <a:r>
              <a:rPr b="1" dirty="0"/>
              <a:t>Objectives</a:t>
            </a:r>
          </a:p>
          <a:p>
            <a:endParaRPr dirty="0"/>
          </a:p>
          <a:p>
            <a:r>
              <a:rPr dirty="0"/>
              <a:t>Use AI to scaffold state-management logic</a:t>
            </a:r>
          </a:p>
          <a:p>
            <a:r>
              <a:rPr dirty="0"/>
              <a:t>Implement CE (clear entry) and C (clear all) behaviors</a:t>
            </a:r>
          </a:p>
          <a:p>
            <a:r>
              <a:rPr dirty="0"/>
              <a:t>Understand UI state transitions</a:t>
            </a:r>
          </a:p>
          <a:p>
            <a:endParaRPr dirty="0"/>
          </a:p>
          <a:p>
            <a:pPr marL="0" indent="0">
              <a:buNone/>
            </a:pPr>
            <a:r>
              <a:rPr b="1" dirty="0"/>
              <a:t>Activities</a:t>
            </a:r>
          </a:p>
          <a:p>
            <a:endParaRPr dirty="0"/>
          </a:p>
          <a:p>
            <a:pPr marL="0" indent="0">
              <a:buNone/>
            </a:pPr>
            <a:r>
              <a:rPr lang="en-US" dirty="0"/>
              <a:t>1</a:t>
            </a:r>
            <a:r>
              <a:rPr dirty="0"/>
              <a:t>. Ask AI to outline the difference between CE and C</a:t>
            </a:r>
          </a:p>
          <a:p>
            <a:pPr marL="0" indent="0">
              <a:buNone/>
            </a:pPr>
            <a:r>
              <a:rPr dirty="0"/>
              <a:t>2. Generate code for clearing current input vs full state</a:t>
            </a:r>
          </a:p>
        </p:txBody>
      </p:sp>
      <p:sp>
        <p:nvSpPr>
          <p:cNvPr id="4" name="Content Placeholder 3">
            <a:extLst>
              <a:ext uri="{FF2B5EF4-FFF2-40B4-BE49-F238E27FC236}">
                <a16:creationId xmlns:a16="http://schemas.microsoft.com/office/drawing/2014/main" id="{E55E490B-0069-C46A-A91E-790F161CEAF6}"/>
              </a:ext>
            </a:extLst>
          </p:cNvPr>
          <p:cNvSpPr>
            <a:spLocks noGrp="1"/>
          </p:cNvSpPr>
          <p:nvPr>
            <p:ph sz="half" idx="2"/>
          </p:nvPr>
        </p:nvSpPr>
        <p:spPr/>
        <p:txBody>
          <a:bodyPr>
            <a:normAutofit fontScale="62500" lnSpcReduction="20000"/>
          </a:bodyPr>
          <a:lstStyle/>
          <a:p>
            <a:pPr marL="0" indent="0">
              <a:buNone/>
            </a:pPr>
            <a:r>
              <a:rPr lang="en-US" dirty="0"/>
              <a:t>3. Integrate logic into calculator state object</a:t>
            </a:r>
          </a:p>
          <a:p>
            <a:pPr marL="0" indent="0">
              <a:buNone/>
            </a:pPr>
            <a:r>
              <a:rPr lang="en-US" dirty="0"/>
              <a:t>4. Test transitions with sample input sequences</a:t>
            </a:r>
          </a:p>
          <a:p>
            <a:endParaRPr lang="en-US" dirty="0"/>
          </a:p>
          <a:p>
            <a:pPr marL="0" indent="0">
              <a:buNone/>
            </a:pPr>
            <a:r>
              <a:rPr lang="en-US" b="1" dirty="0"/>
              <a:t>Success Criteria</a:t>
            </a:r>
          </a:p>
          <a:p>
            <a:pPr lvl="1"/>
            <a:r>
              <a:rPr lang="en-US" dirty="0"/>
              <a:t>CE clears only the active entry</a:t>
            </a:r>
          </a:p>
          <a:p>
            <a:pPr lvl="1"/>
            <a:r>
              <a:rPr lang="en-US" dirty="0"/>
              <a:t>C resets the entire calculator state</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Decimal Input</a:t>
            </a:r>
          </a:p>
        </p:txBody>
      </p:sp>
      <p:sp>
        <p:nvSpPr>
          <p:cNvPr id="3" name="Content Placeholder 2"/>
          <p:cNvSpPr>
            <a:spLocks noGrp="1"/>
          </p:cNvSpPr>
          <p:nvPr>
            <p:ph sz="half" idx="1"/>
          </p:nvPr>
        </p:nvSpPr>
        <p:spPr/>
        <p:txBody>
          <a:bodyPr wrap="square">
            <a:normAutofit fontScale="77500" lnSpcReduction="20000"/>
          </a:bodyPr>
          <a:lstStyle/>
          <a:p>
            <a:pPr marL="0" indent="0">
              <a:buNone/>
            </a:pPr>
            <a:r>
              <a:rPr b="1" dirty="0"/>
              <a:t>Objectives</a:t>
            </a:r>
          </a:p>
          <a:p>
            <a:r>
              <a:rPr dirty="0"/>
              <a:t>Use AI to generate input-validation logic</a:t>
            </a:r>
          </a:p>
          <a:p>
            <a:r>
              <a:rPr dirty="0"/>
              <a:t>Prevent multiple decimal points</a:t>
            </a:r>
          </a:p>
          <a:p>
            <a:r>
              <a:rPr dirty="0"/>
              <a:t>Ensure decimals flow through arithmetic operations</a:t>
            </a:r>
          </a:p>
          <a:p>
            <a:endParaRPr dirty="0"/>
          </a:p>
          <a:p>
            <a:pPr marL="0" indent="0">
              <a:buNone/>
            </a:pPr>
            <a:r>
              <a:rPr b="1" dirty="0"/>
              <a:t>Activities</a:t>
            </a:r>
          </a:p>
          <a:p>
            <a:pPr marL="0" indent="0">
              <a:buNone/>
            </a:pPr>
            <a:r>
              <a:rPr dirty="0"/>
              <a:t>1. Ask AI for a decimal input strategy</a:t>
            </a:r>
          </a:p>
          <a:p>
            <a:pPr marL="0" indent="0">
              <a:buNone/>
            </a:pPr>
            <a:r>
              <a:rPr dirty="0"/>
              <a:t>2. Generate code to block duplicate decimals in one number</a:t>
            </a:r>
          </a:p>
        </p:txBody>
      </p:sp>
      <p:sp>
        <p:nvSpPr>
          <p:cNvPr id="4" name="Content Placeholder 3">
            <a:extLst>
              <a:ext uri="{FF2B5EF4-FFF2-40B4-BE49-F238E27FC236}">
                <a16:creationId xmlns:a16="http://schemas.microsoft.com/office/drawing/2014/main" id="{890F52C2-43E3-B369-8914-1D65E3942E75}"/>
              </a:ext>
            </a:extLst>
          </p:cNvPr>
          <p:cNvSpPr>
            <a:spLocks noGrp="1"/>
          </p:cNvSpPr>
          <p:nvPr>
            <p:ph sz="half" idx="2"/>
          </p:nvPr>
        </p:nvSpPr>
        <p:spPr/>
        <p:txBody>
          <a:bodyPr>
            <a:normAutofit fontScale="77500" lnSpcReduction="20000"/>
          </a:bodyPr>
          <a:lstStyle/>
          <a:p>
            <a:pPr marL="0" indent="0">
              <a:buNone/>
            </a:pPr>
            <a:r>
              <a:rPr lang="en-US" dirty="0"/>
              <a:t>3. Integrate decimal support into input parser</a:t>
            </a:r>
          </a:p>
          <a:p>
            <a:pPr marL="0" indent="0">
              <a:buNone/>
            </a:pPr>
            <a:r>
              <a:rPr lang="en-US" dirty="0"/>
              <a:t>4. Test decimal operations with AI-generated test cases</a:t>
            </a:r>
          </a:p>
          <a:p>
            <a:endParaRPr lang="en-US" dirty="0"/>
          </a:p>
          <a:p>
            <a:pPr marL="0" indent="0">
              <a:buNone/>
            </a:pPr>
            <a:r>
              <a:rPr lang="en-US" b="1" dirty="0"/>
              <a:t>Success Criteria</a:t>
            </a:r>
          </a:p>
          <a:p>
            <a:r>
              <a:rPr lang="en-US" dirty="0"/>
              <a:t>Decimal input works without duplication errors</a:t>
            </a:r>
          </a:p>
          <a:p>
            <a:r>
              <a:rPr lang="en-US" dirty="0"/>
              <a:t>Arithmetic with decimals is correct</a:t>
            </a:r>
          </a:p>
          <a:p>
            <a:r>
              <a:rPr lang="en-US" dirty="0"/>
              <a:t>Validation logic is explainable</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Sign Toggle (+/-)</a:t>
            </a:r>
          </a:p>
        </p:txBody>
      </p:sp>
      <p:sp>
        <p:nvSpPr>
          <p:cNvPr id="3" name="Content Placeholder 2"/>
          <p:cNvSpPr>
            <a:spLocks noGrp="1"/>
          </p:cNvSpPr>
          <p:nvPr>
            <p:ph sz="half" idx="1"/>
          </p:nvPr>
        </p:nvSpPr>
        <p:spPr/>
        <p:txBody>
          <a:bodyPr wrap="square">
            <a:normAutofit fontScale="85000" lnSpcReduction="20000"/>
          </a:bodyPr>
          <a:lstStyle/>
          <a:p>
            <a:endParaRPr dirty="0"/>
          </a:p>
          <a:p>
            <a:pPr marL="0" indent="0">
              <a:buNone/>
            </a:pPr>
            <a:r>
              <a:rPr b="1" dirty="0"/>
              <a:t>Objectives</a:t>
            </a:r>
          </a:p>
          <a:p>
            <a:r>
              <a:rPr dirty="0"/>
              <a:t>Use AI to generate sign-toggle logic</a:t>
            </a:r>
          </a:p>
          <a:p>
            <a:r>
              <a:rPr dirty="0"/>
              <a:t>Understand effect on active input and stored value</a:t>
            </a:r>
          </a:p>
          <a:p>
            <a:endParaRPr dirty="0"/>
          </a:p>
          <a:p>
            <a:pPr marL="0" indent="0">
              <a:buNone/>
            </a:pPr>
            <a:r>
              <a:rPr b="1" dirty="0"/>
              <a:t>Activities</a:t>
            </a:r>
          </a:p>
          <a:p>
            <a:pPr marL="0" indent="0">
              <a:buNone/>
            </a:pPr>
            <a:r>
              <a:rPr dirty="0"/>
              <a:t>1. Ask AI to generate toggle-sign function for active value</a:t>
            </a:r>
          </a:p>
          <a:p>
            <a:pPr marL="0" indent="0">
              <a:buNone/>
            </a:pPr>
            <a:r>
              <a:rPr dirty="0"/>
              <a:t>2. Integrate into input workflow</a:t>
            </a:r>
          </a:p>
        </p:txBody>
      </p:sp>
      <p:sp>
        <p:nvSpPr>
          <p:cNvPr id="4" name="Content Placeholder 3">
            <a:extLst>
              <a:ext uri="{FF2B5EF4-FFF2-40B4-BE49-F238E27FC236}">
                <a16:creationId xmlns:a16="http://schemas.microsoft.com/office/drawing/2014/main" id="{C5732EBB-D05A-BDE9-45A0-011440D01F3B}"/>
              </a:ext>
            </a:extLst>
          </p:cNvPr>
          <p:cNvSpPr>
            <a:spLocks noGrp="1"/>
          </p:cNvSpPr>
          <p:nvPr>
            <p:ph sz="half" idx="2"/>
          </p:nvPr>
        </p:nvSpPr>
        <p:spPr/>
        <p:txBody>
          <a:bodyPr>
            <a:normAutofit fontScale="85000" lnSpcReduction="20000"/>
          </a:bodyPr>
          <a:lstStyle/>
          <a:p>
            <a:pPr marL="0" indent="0">
              <a:buNone/>
            </a:pPr>
            <a:r>
              <a:rPr lang="en-US" dirty="0"/>
              <a:t>3. Test before and after digit entry</a:t>
            </a:r>
          </a:p>
          <a:p>
            <a:endParaRPr lang="en-US" dirty="0"/>
          </a:p>
          <a:p>
            <a:pPr marL="0" indent="0">
              <a:buNone/>
            </a:pPr>
            <a:r>
              <a:rPr lang="en-US" b="1" dirty="0"/>
              <a:t>Success Criteria</a:t>
            </a:r>
          </a:p>
          <a:p>
            <a:r>
              <a:rPr lang="en-US" dirty="0"/>
              <a:t>Sign toggle works for integers and decimals</a:t>
            </a:r>
          </a:p>
          <a:p>
            <a:r>
              <a:rPr lang="en-US" dirty="0"/>
              <a:t>Learner can explain stored vs active value impact</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Percentage</a:t>
            </a:r>
          </a:p>
        </p:txBody>
      </p:sp>
      <p:sp>
        <p:nvSpPr>
          <p:cNvPr id="3" name="Content Placeholder 2"/>
          <p:cNvSpPr>
            <a:spLocks noGrp="1"/>
          </p:cNvSpPr>
          <p:nvPr>
            <p:ph sz="half" idx="1"/>
          </p:nvPr>
        </p:nvSpPr>
        <p:spPr/>
        <p:txBody>
          <a:bodyPr wrap="square">
            <a:normAutofit fontScale="55000" lnSpcReduction="20000"/>
          </a:bodyPr>
          <a:lstStyle/>
          <a:p>
            <a:endParaRPr dirty="0"/>
          </a:p>
          <a:p>
            <a:pPr marL="0" indent="0">
              <a:buNone/>
            </a:pPr>
            <a:r>
              <a:rPr b="1" dirty="0"/>
              <a:t>Objectives</a:t>
            </a:r>
          </a:p>
          <a:p>
            <a:r>
              <a:rPr dirty="0"/>
              <a:t>Use AI to clarify percentage interpretation rules</a:t>
            </a:r>
          </a:p>
          <a:p>
            <a:r>
              <a:rPr dirty="0"/>
              <a:t>Implement percentage logic for common patterns</a:t>
            </a:r>
          </a:p>
          <a:p>
            <a:r>
              <a:rPr dirty="0"/>
              <a:t>Validate behavior with AI-generated examples</a:t>
            </a:r>
          </a:p>
          <a:p>
            <a:endParaRPr dirty="0"/>
          </a:p>
          <a:p>
            <a:pPr marL="0" indent="0">
              <a:buNone/>
            </a:pPr>
            <a:r>
              <a:rPr b="1" dirty="0"/>
              <a:t>Activities</a:t>
            </a:r>
          </a:p>
          <a:p>
            <a:pPr marL="0" indent="0">
              <a:buNone/>
            </a:pPr>
            <a:r>
              <a:rPr dirty="0"/>
              <a:t>1. Ask AI how percentage should behave in a standard calculator</a:t>
            </a:r>
          </a:p>
          <a:p>
            <a:pPr marL="0" indent="0">
              <a:buNone/>
            </a:pPr>
            <a:r>
              <a:rPr dirty="0"/>
              <a:t>2. Generate code for:</a:t>
            </a:r>
          </a:p>
          <a:p>
            <a:pPr lvl="1"/>
            <a:r>
              <a:rPr dirty="0"/>
              <a:t>X </a:t>
            </a:r>
            <a:r>
              <a:rPr dirty="0" err="1"/>
              <a:t>x</a:t>
            </a:r>
            <a:r>
              <a:rPr dirty="0"/>
              <a:t> Y%</a:t>
            </a:r>
          </a:p>
          <a:p>
            <a:pPr lvl="1"/>
            <a:r>
              <a:rPr dirty="0"/>
              <a:t>Y + X%</a:t>
            </a:r>
          </a:p>
          <a:p>
            <a:pPr lvl="1"/>
            <a:r>
              <a:rPr dirty="0"/>
              <a:t>Y - X%</a:t>
            </a:r>
          </a:p>
        </p:txBody>
      </p:sp>
      <p:sp>
        <p:nvSpPr>
          <p:cNvPr id="4" name="Content Placeholder 3">
            <a:extLst>
              <a:ext uri="{FF2B5EF4-FFF2-40B4-BE49-F238E27FC236}">
                <a16:creationId xmlns:a16="http://schemas.microsoft.com/office/drawing/2014/main" id="{92D84040-A9AC-4856-D025-5D1DB74213A6}"/>
              </a:ext>
            </a:extLst>
          </p:cNvPr>
          <p:cNvSpPr>
            <a:spLocks noGrp="1"/>
          </p:cNvSpPr>
          <p:nvPr>
            <p:ph sz="half" idx="2"/>
          </p:nvPr>
        </p:nvSpPr>
        <p:spPr/>
        <p:txBody>
          <a:bodyPr>
            <a:normAutofit fontScale="55000" lnSpcReduction="20000"/>
          </a:bodyPr>
          <a:lstStyle/>
          <a:p>
            <a:pPr marL="0" indent="0">
              <a:buNone/>
            </a:pPr>
            <a:r>
              <a:rPr lang="en-US" dirty="0"/>
              <a:t>3. Test each pattern with AI-generated values</a:t>
            </a:r>
          </a:p>
          <a:p>
            <a:endParaRPr lang="en-US" dirty="0"/>
          </a:p>
          <a:p>
            <a:pPr marL="0" indent="0">
              <a:buNone/>
            </a:pPr>
            <a:r>
              <a:rPr lang="en-US" b="1" dirty="0"/>
              <a:t>Success Criteria</a:t>
            </a:r>
          </a:p>
          <a:p>
            <a:r>
              <a:rPr lang="en-US" dirty="0"/>
              <a:t>Percentage operations match standard calculator behavior</a:t>
            </a:r>
          </a:p>
          <a:p>
            <a:r>
              <a:rPr lang="en-US" dirty="0"/>
              <a:t>Learner can articulate percentage interpretation rules</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Exercise: Calculator Project - Memory Functions (M+, M-, MR, MC)</a:t>
            </a:r>
          </a:p>
        </p:txBody>
      </p:sp>
      <p:sp>
        <p:nvSpPr>
          <p:cNvPr id="3" name="Content Placeholder 2"/>
          <p:cNvSpPr>
            <a:spLocks noGrp="1"/>
          </p:cNvSpPr>
          <p:nvPr>
            <p:ph sz="half" idx="1"/>
          </p:nvPr>
        </p:nvSpPr>
        <p:spPr/>
        <p:txBody>
          <a:bodyPr wrap="square">
            <a:normAutofit fontScale="77500" lnSpcReduction="20000"/>
          </a:bodyPr>
          <a:lstStyle/>
          <a:p>
            <a:pPr marL="0" indent="0">
              <a:buNone/>
            </a:pPr>
            <a:r>
              <a:rPr b="1" dirty="0"/>
              <a:t>Objectives</a:t>
            </a:r>
          </a:p>
          <a:p>
            <a:r>
              <a:rPr dirty="0"/>
              <a:t>Use AI to design memory subsystem</a:t>
            </a:r>
          </a:p>
          <a:p>
            <a:r>
              <a:rPr dirty="0"/>
              <a:t>Implement memory add, subtract, recall, and clear</a:t>
            </a:r>
          </a:p>
          <a:p>
            <a:r>
              <a:rPr dirty="0"/>
              <a:t>Validate memory across multiple operations</a:t>
            </a:r>
          </a:p>
          <a:p>
            <a:endParaRPr dirty="0"/>
          </a:p>
          <a:p>
            <a:pPr marL="0" indent="0">
              <a:buNone/>
            </a:pPr>
            <a:r>
              <a:rPr b="1" dirty="0"/>
              <a:t>Activities</a:t>
            </a:r>
          </a:p>
          <a:p>
            <a:pPr marL="0" indent="0">
              <a:buNone/>
            </a:pPr>
            <a:r>
              <a:rPr dirty="0"/>
              <a:t>1. Ask AI for memory-state structure</a:t>
            </a:r>
          </a:p>
          <a:p>
            <a:pPr marL="0" indent="0">
              <a:buNone/>
            </a:pPr>
            <a:r>
              <a:rPr dirty="0"/>
              <a:t>2. Generate functions for M+, M-, MR, MC</a:t>
            </a:r>
          </a:p>
        </p:txBody>
      </p:sp>
      <p:sp>
        <p:nvSpPr>
          <p:cNvPr id="4" name="Content Placeholder 3">
            <a:extLst>
              <a:ext uri="{FF2B5EF4-FFF2-40B4-BE49-F238E27FC236}">
                <a16:creationId xmlns:a16="http://schemas.microsoft.com/office/drawing/2014/main" id="{1DB9996C-D018-2CCD-C24B-ACD3E352629F}"/>
              </a:ext>
            </a:extLst>
          </p:cNvPr>
          <p:cNvSpPr>
            <a:spLocks noGrp="1"/>
          </p:cNvSpPr>
          <p:nvPr>
            <p:ph sz="half" idx="2"/>
          </p:nvPr>
        </p:nvSpPr>
        <p:spPr/>
        <p:txBody>
          <a:bodyPr>
            <a:normAutofit fontScale="77500" lnSpcReduction="20000"/>
          </a:bodyPr>
          <a:lstStyle/>
          <a:p>
            <a:pPr marL="0" indent="0">
              <a:buNone/>
            </a:pPr>
            <a:r>
              <a:rPr lang="en-US" dirty="0"/>
              <a:t>3. Integrate memory operations into calculator flow</a:t>
            </a:r>
          </a:p>
          <a:p>
            <a:pPr marL="0" indent="0">
              <a:buNone/>
            </a:pPr>
            <a:r>
              <a:rPr lang="en-US" dirty="0"/>
              <a:t>4. Test memory persistence over sequences</a:t>
            </a:r>
          </a:p>
          <a:p>
            <a:endParaRPr lang="en-US" dirty="0"/>
          </a:p>
          <a:p>
            <a:pPr marL="0" indent="0">
              <a:buNone/>
            </a:pPr>
            <a:r>
              <a:rPr lang="en-US" b="1" dirty="0"/>
              <a:t>Success Criteria</a:t>
            </a:r>
          </a:p>
          <a:p>
            <a:r>
              <a:rPr lang="en-US" dirty="0"/>
              <a:t>Memory functions behave as expected</a:t>
            </a:r>
          </a:p>
          <a:p>
            <a:r>
              <a:rPr lang="en-US" dirty="0"/>
              <a:t>Learner can explain memory state updates</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Error Handling</a:t>
            </a:r>
          </a:p>
        </p:txBody>
      </p:sp>
      <p:sp>
        <p:nvSpPr>
          <p:cNvPr id="3" name="Content Placeholder 2"/>
          <p:cNvSpPr>
            <a:spLocks noGrp="1"/>
          </p:cNvSpPr>
          <p:nvPr>
            <p:ph sz="half" idx="1"/>
          </p:nvPr>
        </p:nvSpPr>
        <p:spPr/>
        <p:txBody>
          <a:bodyPr wrap="square">
            <a:normAutofit fontScale="77500" lnSpcReduction="20000"/>
          </a:bodyPr>
          <a:lstStyle/>
          <a:p>
            <a:pPr marL="0" indent="0">
              <a:buNone/>
            </a:pPr>
            <a:r>
              <a:rPr b="1" dirty="0"/>
              <a:t>Objectives</a:t>
            </a:r>
          </a:p>
          <a:p>
            <a:r>
              <a:rPr dirty="0"/>
              <a:t>Use AI to identify common error conditions</a:t>
            </a:r>
          </a:p>
          <a:p>
            <a:r>
              <a:rPr dirty="0"/>
              <a:t>Implement error messages and recovery logic</a:t>
            </a:r>
          </a:p>
          <a:p>
            <a:r>
              <a:rPr dirty="0"/>
              <a:t>Ensure graceful reset after errors</a:t>
            </a:r>
          </a:p>
          <a:p>
            <a:endParaRPr dirty="0"/>
          </a:p>
          <a:p>
            <a:pPr marL="0" indent="0">
              <a:buNone/>
            </a:pPr>
            <a:r>
              <a:rPr b="1" dirty="0"/>
              <a:t>Activities</a:t>
            </a:r>
          </a:p>
          <a:p>
            <a:pPr marL="0" indent="0">
              <a:buNone/>
            </a:pPr>
            <a:r>
              <a:rPr dirty="0"/>
              <a:t>1. Ask AI to list calculator errors (for example divide by zero)</a:t>
            </a:r>
          </a:p>
          <a:p>
            <a:pPr marL="0" indent="0">
              <a:buNone/>
            </a:pPr>
            <a:r>
              <a:rPr dirty="0"/>
              <a:t>2. Generate error detection and display logic</a:t>
            </a:r>
          </a:p>
        </p:txBody>
      </p:sp>
      <p:sp>
        <p:nvSpPr>
          <p:cNvPr id="4" name="Content Placeholder 3">
            <a:extLst>
              <a:ext uri="{FF2B5EF4-FFF2-40B4-BE49-F238E27FC236}">
                <a16:creationId xmlns:a16="http://schemas.microsoft.com/office/drawing/2014/main" id="{C628A166-9C88-714F-BBCB-DA1F55EA1BDB}"/>
              </a:ext>
            </a:extLst>
          </p:cNvPr>
          <p:cNvSpPr>
            <a:spLocks noGrp="1"/>
          </p:cNvSpPr>
          <p:nvPr>
            <p:ph sz="half" idx="2"/>
          </p:nvPr>
        </p:nvSpPr>
        <p:spPr/>
        <p:txBody>
          <a:bodyPr>
            <a:normAutofit fontScale="77500" lnSpcReduction="20000"/>
          </a:bodyPr>
          <a:lstStyle/>
          <a:p>
            <a:pPr marL="0" indent="0">
              <a:buNone/>
            </a:pPr>
            <a:r>
              <a:rPr lang="en-US" dirty="0"/>
              <a:t>3. Implement reset path after an error</a:t>
            </a:r>
          </a:p>
          <a:p>
            <a:pPr marL="0" indent="0">
              <a:buNone/>
            </a:pPr>
            <a:r>
              <a:rPr lang="en-US" dirty="0"/>
              <a:t>4. Test error scenarios with AI-generated tests</a:t>
            </a:r>
          </a:p>
          <a:p>
            <a:endParaRPr lang="en-US" dirty="0"/>
          </a:p>
          <a:p>
            <a:pPr marL="0" indent="0">
              <a:buNone/>
            </a:pPr>
            <a:r>
              <a:rPr lang="en-US" b="1" dirty="0"/>
              <a:t>Success Criteria</a:t>
            </a:r>
          </a:p>
          <a:p>
            <a:r>
              <a:rPr lang="en-US" dirty="0"/>
              <a:t>Errors are detected and displayed correctly</a:t>
            </a:r>
          </a:p>
          <a:p>
            <a:r>
              <a:rPr lang="en-US" dirty="0"/>
              <a:t>Calculator recovers cleanly</a:t>
            </a:r>
          </a:p>
          <a:p>
            <a:r>
              <a:rPr lang="en-US" dirty="0"/>
              <a:t>Learner can explain error-handling flow</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Add Trigonometric Functions</a:t>
            </a:r>
          </a:p>
        </p:txBody>
      </p:sp>
      <p:sp>
        <p:nvSpPr>
          <p:cNvPr id="3" name="Content Placeholder 2"/>
          <p:cNvSpPr>
            <a:spLocks noGrp="1"/>
          </p:cNvSpPr>
          <p:nvPr>
            <p:ph sz="half" idx="1"/>
          </p:nvPr>
        </p:nvSpPr>
        <p:spPr/>
        <p:txBody>
          <a:bodyPr wrap="square">
            <a:normAutofit fontScale="70000" lnSpcReduction="20000"/>
          </a:bodyPr>
          <a:lstStyle/>
          <a:p>
            <a:pPr marL="0" indent="0">
              <a:buNone/>
            </a:pPr>
            <a:r>
              <a:rPr b="1" dirty="0"/>
              <a:t>Objectives</a:t>
            </a:r>
          </a:p>
          <a:p>
            <a:r>
              <a:rPr dirty="0"/>
              <a:t>Integrate trigonometric operations</a:t>
            </a:r>
          </a:p>
          <a:p>
            <a:r>
              <a:rPr dirty="0"/>
              <a:t>Use AI for math wrappers and parsing logic</a:t>
            </a:r>
          </a:p>
          <a:p>
            <a:r>
              <a:rPr dirty="0"/>
              <a:t>Handle degrees vs radians correctly</a:t>
            </a:r>
          </a:p>
          <a:p>
            <a:endParaRPr dirty="0"/>
          </a:p>
          <a:p>
            <a:pPr marL="0" indent="0">
              <a:buNone/>
            </a:pPr>
            <a:r>
              <a:rPr b="1" dirty="0"/>
              <a:t>Activities</a:t>
            </a:r>
          </a:p>
          <a:p>
            <a:pPr marL="0" indent="0">
              <a:buNone/>
            </a:pPr>
            <a:r>
              <a:rPr dirty="0"/>
              <a:t>1. Ask AI to generate sin, cos, tan functions using language math library</a:t>
            </a:r>
          </a:p>
          <a:p>
            <a:pPr marL="0" indent="0">
              <a:buNone/>
            </a:pPr>
            <a:r>
              <a:rPr dirty="0"/>
              <a:t>2. Ask AI for degree/radian mode strategy</a:t>
            </a:r>
          </a:p>
          <a:p>
            <a:pPr marL="0" indent="0">
              <a:buNone/>
            </a:pPr>
            <a:r>
              <a:rPr dirty="0"/>
              <a:t>3. Implement UI bindings or command triggers</a:t>
            </a:r>
          </a:p>
        </p:txBody>
      </p:sp>
      <p:sp>
        <p:nvSpPr>
          <p:cNvPr id="4" name="Content Placeholder 3">
            <a:extLst>
              <a:ext uri="{FF2B5EF4-FFF2-40B4-BE49-F238E27FC236}">
                <a16:creationId xmlns:a16="http://schemas.microsoft.com/office/drawing/2014/main" id="{0C09206B-88BE-98B9-109E-24BC772B0EA9}"/>
              </a:ext>
            </a:extLst>
          </p:cNvPr>
          <p:cNvSpPr>
            <a:spLocks noGrp="1"/>
          </p:cNvSpPr>
          <p:nvPr>
            <p:ph sz="half" idx="2"/>
          </p:nvPr>
        </p:nvSpPr>
        <p:spPr/>
        <p:txBody>
          <a:bodyPr>
            <a:normAutofit fontScale="70000" lnSpcReduction="20000"/>
          </a:bodyPr>
          <a:lstStyle/>
          <a:p>
            <a:pPr marL="0" indent="0">
              <a:buNone/>
            </a:pPr>
            <a:r>
              <a:rPr lang="en-US" dirty="0"/>
              <a:t>4. Generate sample input/output table with AI and validate</a:t>
            </a:r>
          </a:p>
          <a:p>
            <a:endParaRPr lang="en-US" dirty="0"/>
          </a:p>
          <a:p>
            <a:pPr marL="0" indent="0">
              <a:buNone/>
            </a:pPr>
            <a:r>
              <a:rPr lang="en-US" b="1" dirty="0"/>
              <a:t>Success Criteria</a:t>
            </a:r>
          </a:p>
          <a:p>
            <a:r>
              <a:rPr lang="en-US" dirty="0"/>
              <a:t>Trig results are correct for selected angle mode</a:t>
            </a:r>
          </a:p>
          <a:p>
            <a:r>
              <a:rPr lang="en-US" dirty="0"/>
              <a:t>Degree/radian switching works consistently</a:t>
            </a:r>
          </a:p>
          <a:p>
            <a:r>
              <a:rPr lang="en-US" dirty="0"/>
              <a:t>UI or commands correctly call trig functions</a:t>
            </a:r>
          </a:p>
          <a:p>
            <a:r>
              <a:rPr lang="en-US" dirty="0"/>
              <a:t>Learner can explain validation and refinement steps</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Calculator Project - UI</a:t>
            </a:r>
          </a:p>
        </p:txBody>
      </p:sp>
      <p:sp>
        <p:nvSpPr>
          <p:cNvPr id="3" name="Content Placeholder 2"/>
          <p:cNvSpPr>
            <a:spLocks noGrp="1"/>
          </p:cNvSpPr>
          <p:nvPr>
            <p:ph sz="half" idx="1"/>
          </p:nvPr>
        </p:nvSpPr>
        <p:spPr/>
        <p:txBody>
          <a:bodyPr wrap="square">
            <a:normAutofit fontScale="77500" lnSpcReduction="20000"/>
          </a:bodyPr>
          <a:lstStyle/>
          <a:p>
            <a:pPr marL="0" indent="0">
              <a:buNone/>
            </a:pPr>
            <a:r>
              <a:rPr b="1" dirty="0"/>
              <a:t>Objectives</a:t>
            </a:r>
          </a:p>
          <a:p>
            <a:r>
              <a:rPr dirty="0"/>
              <a:t>Use AI to scaffold UI event handlers</a:t>
            </a:r>
          </a:p>
          <a:p>
            <a:r>
              <a:rPr dirty="0"/>
              <a:t>Connect UI controls to logic functions</a:t>
            </a:r>
          </a:p>
          <a:p>
            <a:r>
              <a:rPr dirty="0"/>
              <a:t>Validate end-to-end workflow</a:t>
            </a:r>
          </a:p>
          <a:p>
            <a:endParaRPr dirty="0"/>
          </a:p>
          <a:p>
            <a:pPr marL="0" indent="0">
              <a:buNone/>
            </a:pPr>
            <a:r>
              <a:rPr b="1" dirty="0"/>
              <a:t>Activities</a:t>
            </a:r>
          </a:p>
          <a:p>
            <a:pPr marL="0" indent="0">
              <a:buNone/>
            </a:pPr>
            <a:r>
              <a:rPr dirty="0"/>
              <a:t>1. Ask AI to generate event-binding code for numeric/operator controls</a:t>
            </a:r>
          </a:p>
          <a:p>
            <a:pPr marL="0" indent="0">
              <a:buNone/>
            </a:pPr>
            <a:r>
              <a:rPr dirty="0"/>
              <a:t>2. Integrate logic functions from prior exercises</a:t>
            </a:r>
          </a:p>
        </p:txBody>
      </p:sp>
      <p:sp>
        <p:nvSpPr>
          <p:cNvPr id="4" name="Content Placeholder 3">
            <a:extLst>
              <a:ext uri="{FF2B5EF4-FFF2-40B4-BE49-F238E27FC236}">
                <a16:creationId xmlns:a16="http://schemas.microsoft.com/office/drawing/2014/main" id="{566C4F7A-AB15-9547-9B27-438EF67C4E09}"/>
              </a:ext>
            </a:extLst>
          </p:cNvPr>
          <p:cNvSpPr>
            <a:spLocks noGrp="1"/>
          </p:cNvSpPr>
          <p:nvPr>
            <p:ph sz="half" idx="2"/>
          </p:nvPr>
        </p:nvSpPr>
        <p:spPr/>
        <p:txBody>
          <a:bodyPr>
            <a:normAutofit fontScale="77500" lnSpcReduction="20000"/>
          </a:bodyPr>
          <a:lstStyle/>
          <a:p>
            <a:pPr marL="0" indent="0">
              <a:buNone/>
            </a:pPr>
            <a:r>
              <a:rPr lang="en-US" dirty="0"/>
              <a:t>3. Test full workflow:</a:t>
            </a:r>
          </a:p>
          <a:p>
            <a:pPr lvl="1"/>
            <a:r>
              <a:rPr lang="en-US" dirty="0"/>
              <a:t>Enter decimal</a:t>
            </a:r>
          </a:p>
          <a:p>
            <a:pPr lvl="1"/>
            <a:r>
              <a:rPr lang="en-US" dirty="0"/>
              <a:t>Toggle sign</a:t>
            </a:r>
          </a:p>
          <a:p>
            <a:pPr lvl="1"/>
            <a:r>
              <a:rPr lang="en-US" dirty="0"/>
              <a:t>Apply percentage</a:t>
            </a:r>
          </a:p>
          <a:p>
            <a:pPr lvl="1"/>
            <a:r>
              <a:rPr lang="en-US" dirty="0"/>
              <a:t>Store result in memory</a:t>
            </a:r>
          </a:p>
          <a:p>
            <a:endParaRPr lang="en-US" dirty="0"/>
          </a:p>
          <a:p>
            <a:pPr marL="0" indent="0">
              <a:buNone/>
            </a:pPr>
            <a:r>
              <a:rPr lang="en-US" b="1" dirty="0"/>
              <a:t>Success Criteria</a:t>
            </a:r>
          </a:p>
          <a:p>
            <a:r>
              <a:rPr lang="en-US" dirty="0"/>
              <a:t>UI triggers all calculator functions correctly</a:t>
            </a:r>
          </a:p>
          <a:p>
            <a:r>
              <a:rPr lang="en-US" dirty="0"/>
              <a:t>End-to-end workflow completes without errors</a:t>
            </a:r>
          </a:p>
          <a:p>
            <a:r>
              <a:rPr lang="en-US" dirty="0"/>
              <a:t>Learner can explain UI-to-logic mapping</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Testing</a:t>
            </a:r>
          </a:p>
        </p:txBody>
      </p:sp>
      <p:sp>
        <p:nvSpPr>
          <p:cNvPr id="3" name="Content Placeholder 2"/>
          <p:cNvSpPr>
            <a:spLocks noGrp="1"/>
          </p:cNvSpPr>
          <p:nvPr>
            <p:ph sz="half" idx="1"/>
          </p:nvPr>
        </p:nvSpPr>
        <p:spPr/>
        <p:txBody>
          <a:bodyPr wrap="square">
            <a:normAutofit fontScale="55000" lnSpcReduction="20000"/>
          </a:bodyPr>
          <a:lstStyle/>
          <a:p>
            <a:pPr marL="0" indent="0">
              <a:buNone/>
            </a:pPr>
            <a:r>
              <a:rPr b="1" dirty="0"/>
              <a:t>Objectives</a:t>
            </a:r>
          </a:p>
          <a:p>
            <a:r>
              <a:rPr dirty="0"/>
              <a:t>Generate unit tests with AI assistance</a:t>
            </a:r>
          </a:p>
          <a:p>
            <a:r>
              <a:rPr dirty="0"/>
              <a:t>Identify quality issues in generated tests</a:t>
            </a:r>
          </a:p>
          <a:p>
            <a:r>
              <a:rPr dirty="0"/>
              <a:t>Understand why generated tests require review</a:t>
            </a:r>
          </a:p>
          <a:p>
            <a:endParaRPr dirty="0"/>
          </a:p>
          <a:p>
            <a:pPr marL="0" indent="0">
              <a:buNone/>
            </a:pPr>
            <a:r>
              <a:rPr b="1" dirty="0"/>
              <a:t>Activities</a:t>
            </a:r>
          </a:p>
          <a:p>
            <a:pPr marL="0" indent="0">
              <a:buNone/>
            </a:pPr>
            <a:r>
              <a:rPr dirty="0"/>
              <a:t>1. Generate Initial Tests:</a:t>
            </a:r>
          </a:p>
          <a:p>
            <a:pPr lvl="1"/>
            <a:r>
              <a:rPr dirty="0"/>
              <a:t>Prompt: "Create unit tests for the calculator operations"</a:t>
            </a:r>
          </a:p>
          <a:p>
            <a:pPr lvl="1"/>
            <a:r>
              <a:rPr dirty="0"/>
              <a:t>Review generated test structure</a:t>
            </a:r>
          </a:p>
          <a:p>
            <a:pPr lvl="1"/>
            <a:r>
              <a:rPr dirty="0"/>
              <a:t>Verify tests call calculator code</a:t>
            </a:r>
          </a:p>
          <a:p>
            <a:pPr marL="0" indent="0">
              <a:buNone/>
            </a:pPr>
            <a:r>
              <a:rPr dirty="0"/>
              <a:t>2. Fix Test Issues:</a:t>
            </a:r>
          </a:p>
          <a:p>
            <a:pPr lvl="1"/>
            <a:r>
              <a:rPr dirty="0"/>
              <a:t>If tests are trivial (for example 1 + 1 only), identify issue</a:t>
            </a:r>
          </a:p>
          <a:p>
            <a:pPr lvl="1"/>
            <a:r>
              <a:rPr dirty="0"/>
              <a:t>Prompt: "Update tests to call Calculator class methods"</a:t>
            </a:r>
          </a:p>
          <a:p>
            <a:pPr lvl="1"/>
            <a:r>
              <a:rPr dirty="0"/>
              <a:t>Verify improved test quality</a:t>
            </a:r>
          </a:p>
        </p:txBody>
      </p:sp>
      <p:sp>
        <p:nvSpPr>
          <p:cNvPr id="4" name="Content Placeholder 3">
            <a:extLst>
              <a:ext uri="{FF2B5EF4-FFF2-40B4-BE49-F238E27FC236}">
                <a16:creationId xmlns:a16="http://schemas.microsoft.com/office/drawing/2014/main" id="{7F143ABD-67AB-A984-D64D-0D3E72077E37}"/>
              </a:ext>
            </a:extLst>
          </p:cNvPr>
          <p:cNvSpPr>
            <a:spLocks noGrp="1"/>
          </p:cNvSpPr>
          <p:nvPr>
            <p:ph sz="half" idx="2"/>
          </p:nvPr>
        </p:nvSpPr>
        <p:spPr/>
        <p:txBody>
          <a:bodyPr>
            <a:normAutofit fontScale="55000" lnSpcReduction="20000"/>
          </a:bodyPr>
          <a:lstStyle/>
          <a:p>
            <a:pPr marL="0" indent="0">
              <a:buNone/>
            </a:pPr>
            <a:r>
              <a:rPr lang="en-US" dirty="0"/>
              <a:t>3. Run Tests:</a:t>
            </a:r>
          </a:p>
          <a:p>
            <a:pPr lvl="1"/>
            <a:r>
              <a:rPr lang="en-US" dirty="0"/>
              <a:t>Execute test suite</a:t>
            </a:r>
          </a:p>
          <a:p>
            <a:pPr lvl="1"/>
            <a:r>
              <a:rPr lang="en-US" dirty="0"/>
              <a:t>Review output</a:t>
            </a:r>
          </a:p>
          <a:p>
            <a:pPr lvl="1"/>
            <a:r>
              <a:rPr lang="en-US" dirty="0"/>
              <a:t>Debug failing tests with Copilot</a:t>
            </a:r>
          </a:p>
          <a:p>
            <a:pPr marL="0" indent="0">
              <a:buNone/>
            </a:pPr>
            <a:r>
              <a:rPr lang="en-US" dirty="0"/>
              <a:t>4. Add Edge Cases:</a:t>
            </a:r>
          </a:p>
          <a:p>
            <a:pPr lvl="1"/>
            <a:r>
              <a:rPr lang="en-US" dirty="0"/>
              <a:t>Prompt: "Add tests for edge cases like division by zero"</a:t>
            </a:r>
          </a:p>
          <a:p>
            <a:pPr lvl="1"/>
            <a:r>
              <a:rPr lang="en-US" dirty="0"/>
              <a:t>Verify exception handling tests</a:t>
            </a:r>
          </a:p>
          <a:p>
            <a:endParaRPr lang="en-US" dirty="0"/>
          </a:p>
          <a:p>
            <a:pPr marL="0" indent="0">
              <a:buNone/>
            </a:pPr>
            <a:r>
              <a:rPr lang="en-US" b="1" dirty="0"/>
              <a:t>Success Criteria</a:t>
            </a:r>
          </a:p>
          <a:p>
            <a:r>
              <a:rPr lang="en-US" dirty="0"/>
              <a:t>Minimum 8 test cases</a:t>
            </a:r>
          </a:p>
          <a:p>
            <a:r>
              <a:rPr lang="en-US" dirty="0"/>
              <a:t>Tests call actual calculator methods</a:t>
            </a:r>
          </a:p>
          <a:p>
            <a:r>
              <a:rPr lang="en-US" dirty="0"/>
              <a:t>Edge cases and error conditions included</a:t>
            </a:r>
          </a:p>
          <a:p>
            <a:r>
              <a:rPr lang="en-US" dirty="0"/>
              <a:t>All tests pass</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Code Coverage</a:t>
            </a:r>
          </a:p>
        </p:txBody>
      </p:sp>
      <p:sp>
        <p:nvSpPr>
          <p:cNvPr id="3" name="Content Placeholder 2"/>
          <p:cNvSpPr>
            <a:spLocks noGrp="1"/>
          </p:cNvSpPr>
          <p:nvPr>
            <p:ph sz="half" idx="1"/>
          </p:nvPr>
        </p:nvSpPr>
        <p:spPr/>
        <p:txBody>
          <a:bodyPr wrap="square">
            <a:normAutofit fontScale="55000" lnSpcReduction="20000"/>
          </a:bodyPr>
          <a:lstStyle/>
          <a:p>
            <a:pPr marL="0" indent="0">
              <a:buNone/>
            </a:pPr>
            <a:r>
              <a:rPr b="1" dirty="0"/>
              <a:t>Objectives</a:t>
            </a:r>
          </a:p>
          <a:p>
            <a:r>
              <a:rPr dirty="0"/>
              <a:t>Set up code coverage reporting</a:t>
            </a:r>
          </a:p>
          <a:p>
            <a:r>
              <a:rPr dirty="0"/>
              <a:t>Interpret coverage data</a:t>
            </a:r>
          </a:p>
          <a:p>
            <a:r>
              <a:rPr dirty="0"/>
              <a:t>Improve coverage based on identified gaps</a:t>
            </a:r>
          </a:p>
          <a:p>
            <a:endParaRPr dirty="0"/>
          </a:p>
          <a:p>
            <a:pPr marL="0" indent="0">
              <a:buNone/>
            </a:pPr>
            <a:r>
              <a:rPr b="1" dirty="0"/>
              <a:t>Activities</a:t>
            </a:r>
          </a:p>
          <a:p>
            <a:pPr marL="0" indent="0">
              <a:buNone/>
            </a:pPr>
            <a:r>
              <a:rPr dirty="0"/>
              <a:t>1. Enable Coverage Collection:</a:t>
            </a:r>
          </a:p>
          <a:p>
            <a:pPr lvl="1"/>
            <a:r>
              <a:rPr dirty="0"/>
              <a:t>Prompt: "Add code coverage reporting to my test project"</a:t>
            </a:r>
          </a:p>
          <a:p>
            <a:pPr lvl="1"/>
            <a:r>
              <a:rPr dirty="0"/>
              <a:t>Review dependencies added</a:t>
            </a:r>
          </a:p>
          <a:p>
            <a:pPr lvl="1"/>
            <a:r>
              <a:rPr dirty="0"/>
              <a:t>Resolve NuGet/dependency issues with Copilot</a:t>
            </a:r>
          </a:p>
          <a:p>
            <a:pPr marL="0" indent="0">
              <a:buNone/>
            </a:pPr>
            <a:r>
              <a:rPr dirty="0"/>
              <a:t>2. Generate Coverage Report:</a:t>
            </a:r>
          </a:p>
          <a:p>
            <a:pPr lvl="1"/>
            <a:r>
              <a:rPr dirty="0"/>
              <a:t>Run tests with coverage</a:t>
            </a:r>
          </a:p>
          <a:p>
            <a:pPr lvl="1"/>
            <a:r>
              <a:rPr dirty="0"/>
              <a:t>Review percentage</a:t>
            </a:r>
          </a:p>
          <a:p>
            <a:pPr lvl="1"/>
            <a:r>
              <a:rPr dirty="0"/>
              <a:t>Identify uncovered paths</a:t>
            </a:r>
          </a:p>
        </p:txBody>
      </p:sp>
      <p:sp>
        <p:nvSpPr>
          <p:cNvPr id="4" name="Content Placeholder 3">
            <a:extLst>
              <a:ext uri="{FF2B5EF4-FFF2-40B4-BE49-F238E27FC236}">
                <a16:creationId xmlns:a16="http://schemas.microsoft.com/office/drawing/2014/main" id="{E00BB66E-0990-AC1A-5FDC-10FA80556A0A}"/>
              </a:ext>
            </a:extLst>
          </p:cNvPr>
          <p:cNvSpPr>
            <a:spLocks noGrp="1"/>
          </p:cNvSpPr>
          <p:nvPr>
            <p:ph sz="half" idx="2"/>
          </p:nvPr>
        </p:nvSpPr>
        <p:spPr/>
        <p:txBody>
          <a:bodyPr>
            <a:normAutofit fontScale="55000" lnSpcReduction="20000"/>
          </a:bodyPr>
          <a:lstStyle/>
          <a:p>
            <a:pPr marL="0" indent="0">
              <a:buNone/>
            </a:pPr>
            <a:r>
              <a:rPr lang="en-US" dirty="0"/>
              <a:t>3. Improve Coverage:</a:t>
            </a:r>
          </a:p>
          <a:p>
            <a:pPr lvl="1"/>
            <a:r>
              <a:rPr lang="en-US" dirty="0"/>
              <a:t>Add tests for uncovered methods</a:t>
            </a:r>
          </a:p>
          <a:p>
            <a:pPr lvl="1"/>
            <a:r>
              <a:rPr lang="en-US" dirty="0"/>
              <a:t>Re-run coverage and verify improvement</a:t>
            </a:r>
          </a:p>
          <a:p>
            <a:pPr lvl="1"/>
            <a:r>
              <a:rPr lang="en-US" dirty="0"/>
              <a:t>Discuss if 100% coverage is necessary</a:t>
            </a:r>
          </a:p>
          <a:p>
            <a:endParaRPr lang="en-US" dirty="0"/>
          </a:p>
          <a:p>
            <a:pPr marL="0" indent="0">
              <a:buNone/>
            </a:pPr>
            <a:r>
              <a:rPr lang="en-US" b="1" dirty="0"/>
              <a:t>Success Criteria</a:t>
            </a:r>
          </a:p>
          <a:p>
            <a:r>
              <a:rPr lang="en-US" dirty="0"/>
              <a:t>Coverage reporting configured successfully</a:t>
            </a:r>
          </a:p>
          <a:p>
            <a:r>
              <a:rPr lang="en-US" dirty="0"/>
              <a:t>Coverage reports can be generated and interpreted</a:t>
            </a:r>
          </a:p>
          <a:p>
            <a:r>
              <a:rPr lang="en-US" dirty="0"/>
              <a:t>Reasonable coverage achieved (&gt;80% line coverage)</a:t>
            </a:r>
          </a:p>
          <a:p>
            <a:r>
              <a:rPr lang="en-US" dirty="0"/>
              <a:t>Learner understands what coverage metrics mean</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t>Exercise: Dependency Management and Troubleshooting</a:t>
            </a:r>
          </a:p>
        </p:txBody>
      </p:sp>
      <p:sp>
        <p:nvSpPr>
          <p:cNvPr id="3" name="Content Placeholder 2"/>
          <p:cNvSpPr>
            <a:spLocks noGrp="1"/>
          </p:cNvSpPr>
          <p:nvPr>
            <p:ph sz="half" idx="1"/>
          </p:nvPr>
        </p:nvSpPr>
        <p:spPr/>
        <p:txBody>
          <a:bodyPr wrap="square">
            <a:normAutofit fontScale="55000" lnSpcReduction="20000"/>
          </a:bodyPr>
          <a:lstStyle/>
          <a:p>
            <a:pPr marL="0" indent="0">
              <a:buNone/>
            </a:pPr>
            <a:r>
              <a:rPr b="1" dirty="0"/>
              <a:t>Objectives</a:t>
            </a:r>
          </a:p>
          <a:p>
            <a:r>
              <a:rPr dirty="0"/>
              <a:t>Use Copilot to resolve dependency issues</a:t>
            </a:r>
          </a:p>
          <a:p>
            <a:r>
              <a:rPr dirty="0"/>
              <a:t>Handle package restoration problems</a:t>
            </a:r>
          </a:p>
          <a:p>
            <a:r>
              <a:rPr dirty="0"/>
              <a:t>Practice iterative AI-assisted troubleshooting</a:t>
            </a:r>
          </a:p>
          <a:p>
            <a:endParaRPr dirty="0"/>
          </a:p>
          <a:p>
            <a:pPr marL="0" indent="0">
              <a:buNone/>
            </a:pPr>
            <a:r>
              <a:rPr b="1" dirty="0"/>
              <a:t>Activities</a:t>
            </a:r>
          </a:p>
          <a:p>
            <a:pPr marL="0" indent="0">
              <a:buNone/>
            </a:pPr>
            <a:r>
              <a:rPr dirty="0"/>
              <a:t>1. Simulate or Identify a Dependency Issue:</a:t>
            </a:r>
          </a:p>
          <a:p>
            <a:pPr lvl="1"/>
            <a:r>
              <a:rPr dirty="0"/>
              <a:t>Introduce version conflict or use an existing issue</a:t>
            </a:r>
          </a:p>
          <a:p>
            <a:pPr lvl="1"/>
            <a:r>
              <a:rPr dirty="0"/>
              <a:t>Prompt: "I'm getting [specific error]. How do I fix it?"</a:t>
            </a:r>
          </a:p>
          <a:p>
            <a:pPr marL="0" indent="0">
              <a:buNone/>
            </a:pPr>
            <a:r>
              <a:rPr dirty="0"/>
              <a:t>2. Follow Copilot Guidance:</a:t>
            </a:r>
          </a:p>
          <a:p>
            <a:pPr lvl="1"/>
            <a:r>
              <a:rPr dirty="0"/>
              <a:t>Review suggested solutions</a:t>
            </a:r>
          </a:p>
          <a:p>
            <a:pPr lvl="1"/>
            <a:r>
              <a:rPr dirty="0"/>
              <a:t>Evaluate alternatives</a:t>
            </a:r>
          </a:p>
          <a:p>
            <a:pPr lvl="1"/>
            <a:r>
              <a:rPr dirty="0"/>
              <a:t>Select best option collaboratively</a:t>
            </a:r>
          </a:p>
        </p:txBody>
      </p:sp>
      <p:sp>
        <p:nvSpPr>
          <p:cNvPr id="4" name="Content Placeholder 3">
            <a:extLst>
              <a:ext uri="{FF2B5EF4-FFF2-40B4-BE49-F238E27FC236}">
                <a16:creationId xmlns:a16="http://schemas.microsoft.com/office/drawing/2014/main" id="{25D43BDC-25E8-17A9-CA53-E13F31B92FF5}"/>
              </a:ext>
            </a:extLst>
          </p:cNvPr>
          <p:cNvSpPr>
            <a:spLocks noGrp="1"/>
          </p:cNvSpPr>
          <p:nvPr>
            <p:ph sz="half" idx="2"/>
          </p:nvPr>
        </p:nvSpPr>
        <p:spPr/>
        <p:txBody>
          <a:bodyPr>
            <a:normAutofit fontScale="55000" lnSpcReduction="20000"/>
          </a:bodyPr>
          <a:lstStyle/>
          <a:p>
            <a:pPr marL="0" indent="0">
              <a:buNone/>
            </a:pPr>
            <a:r>
              <a:rPr lang="en-US" dirty="0"/>
              <a:t>3. Iterative Resolution:</a:t>
            </a:r>
          </a:p>
          <a:p>
            <a:pPr lvl="1"/>
            <a:r>
              <a:rPr lang="en-US" dirty="0"/>
              <a:t>Provide new error details when needed</a:t>
            </a:r>
          </a:p>
          <a:p>
            <a:pPr lvl="1"/>
            <a:r>
              <a:rPr lang="en-US" dirty="0"/>
              <a:t>Continue until resolved</a:t>
            </a:r>
          </a:p>
          <a:p>
            <a:pPr marL="0" indent="0">
              <a:buNone/>
            </a:pPr>
            <a:r>
              <a:rPr lang="en-US" dirty="0"/>
              <a:t>4. Practice common issues:</a:t>
            </a:r>
          </a:p>
          <a:p>
            <a:pPr lvl="1"/>
            <a:r>
              <a:rPr lang="en-US" dirty="0"/>
              <a:t>NuGet package source configuration</a:t>
            </a:r>
          </a:p>
          <a:p>
            <a:pPr lvl="1"/>
            <a:r>
              <a:rPr lang="en-US" dirty="0" err="1"/>
              <a:t>MSTest</a:t>
            </a:r>
            <a:r>
              <a:rPr lang="en-US" dirty="0"/>
              <a:t> adapter version conflicts</a:t>
            </a:r>
          </a:p>
          <a:p>
            <a:pPr lvl="1"/>
            <a:r>
              <a:rPr lang="en-US" dirty="0"/>
              <a:t>.NET SDK targeting issues</a:t>
            </a:r>
          </a:p>
          <a:p>
            <a:pPr lvl="1"/>
            <a:r>
              <a:rPr lang="en-US" dirty="0"/>
              <a:t>Package restoration failures</a:t>
            </a:r>
          </a:p>
          <a:p>
            <a:endParaRPr lang="en-US" dirty="0"/>
          </a:p>
          <a:p>
            <a:pPr marL="0" indent="0">
              <a:buNone/>
            </a:pPr>
            <a:r>
              <a:rPr lang="en-US" b="1" dirty="0"/>
              <a:t>Success Criteria</a:t>
            </a:r>
          </a:p>
          <a:p>
            <a:r>
              <a:rPr lang="en-US" dirty="0"/>
              <a:t>At least one dependency issue resolved</a:t>
            </a:r>
          </a:p>
          <a:p>
            <a:r>
              <a:rPr lang="en-US" dirty="0"/>
              <a:t>Learner can provide useful error context to Copilot</a:t>
            </a:r>
          </a:p>
          <a:p>
            <a:r>
              <a:rPr lang="en-US" dirty="0"/>
              <a:t>Iterative problem-solving pattern demonstrated</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Best Practices Review and Code Quality</a:t>
            </a:r>
          </a:p>
        </p:txBody>
      </p:sp>
      <p:sp>
        <p:nvSpPr>
          <p:cNvPr id="3" name="Content Placeholder 2"/>
          <p:cNvSpPr>
            <a:spLocks noGrp="1"/>
          </p:cNvSpPr>
          <p:nvPr>
            <p:ph sz="half" idx="1"/>
          </p:nvPr>
        </p:nvSpPr>
        <p:spPr/>
        <p:txBody>
          <a:bodyPr wrap="square">
            <a:normAutofit fontScale="77500" lnSpcReduction="20000"/>
          </a:bodyPr>
          <a:lstStyle/>
          <a:p>
            <a:pPr marL="0" indent="0">
              <a:buNone/>
            </a:pPr>
            <a:r>
              <a:rPr b="1" dirty="0"/>
              <a:t>Objectives</a:t>
            </a:r>
          </a:p>
          <a:p>
            <a:r>
              <a:rPr dirty="0"/>
              <a:t>Apply best practices from session</a:t>
            </a:r>
          </a:p>
          <a:p>
            <a:r>
              <a:rPr dirty="0"/>
              <a:t>Review code quality systematically</a:t>
            </a:r>
          </a:p>
          <a:p>
            <a:r>
              <a:rPr dirty="0"/>
              <a:t>Identify and implement meaningful improvements</a:t>
            </a:r>
          </a:p>
          <a:p>
            <a:endParaRPr dirty="0"/>
          </a:p>
          <a:p>
            <a:pPr marL="0" indent="0">
              <a:buNone/>
            </a:pPr>
            <a:r>
              <a:rPr b="1" dirty="0"/>
              <a:t>Activities</a:t>
            </a:r>
          </a:p>
          <a:p>
            <a:r>
              <a:rPr dirty="0"/>
              <a:t>1. Code Quality Check:</a:t>
            </a:r>
          </a:p>
          <a:p>
            <a:pPr lvl="1"/>
            <a:r>
              <a:rPr dirty="0"/>
              <a:t>Prompt: "Suggest improvements for code quality and maintainability"</a:t>
            </a:r>
          </a:p>
          <a:p>
            <a:pPr lvl="1"/>
            <a:r>
              <a:rPr dirty="0"/>
              <a:t>Evaluate suggestions critically</a:t>
            </a:r>
          </a:p>
          <a:p>
            <a:pPr lvl="1"/>
            <a:r>
              <a:rPr dirty="0"/>
              <a:t>Implement high-value improvements</a:t>
            </a:r>
          </a:p>
        </p:txBody>
      </p:sp>
      <p:sp>
        <p:nvSpPr>
          <p:cNvPr id="4" name="Content Placeholder 3">
            <a:extLst>
              <a:ext uri="{FF2B5EF4-FFF2-40B4-BE49-F238E27FC236}">
                <a16:creationId xmlns:a16="http://schemas.microsoft.com/office/drawing/2014/main" id="{53FF46AB-3269-4E9B-F568-0E49AA55C130}"/>
              </a:ext>
            </a:extLst>
          </p:cNvPr>
          <p:cNvSpPr>
            <a:spLocks noGrp="1"/>
          </p:cNvSpPr>
          <p:nvPr>
            <p:ph sz="half" idx="2"/>
          </p:nvPr>
        </p:nvSpPr>
        <p:spPr/>
        <p:txBody>
          <a:bodyPr>
            <a:normAutofit fontScale="77500" lnSpcReduction="20000"/>
          </a:bodyPr>
          <a:lstStyle/>
          <a:p>
            <a:endParaRPr lang="en-US" dirty="0"/>
          </a:p>
          <a:p>
            <a:pPr marL="0" indent="0">
              <a:buNone/>
            </a:pPr>
            <a:r>
              <a:rPr lang="en-US" b="1" dirty="0"/>
              <a:t>Success Criteria</a:t>
            </a:r>
          </a:p>
          <a:p>
            <a:r>
              <a:rPr lang="en-US" dirty="0"/>
              <a:t>Documentation and maintainability improved</a:t>
            </a:r>
          </a:p>
          <a:p>
            <a:r>
              <a:rPr lang="en-US" dirty="0"/>
              <a:t>AI suggestions are critically evaluated before adoption</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Model Comparisons</a:t>
            </a:r>
          </a:p>
        </p:txBody>
      </p:sp>
      <p:sp>
        <p:nvSpPr>
          <p:cNvPr id="3" name="Content Placeholder 2"/>
          <p:cNvSpPr>
            <a:spLocks noGrp="1"/>
          </p:cNvSpPr>
          <p:nvPr>
            <p:ph sz="half" idx="1"/>
          </p:nvPr>
        </p:nvSpPr>
        <p:spPr/>
        <p:txBody>
          <a:bodyPr wrap="square">
            <a:normAutofit fontScale="55000" lnSpcReduction="20000"/>
          </a:bodyPr>
          <a:lstStyle/>
          <a:p>
            <a:pPr marL="0" indent="0">
              <a:buNone/>
            </a:pPr>
            <a:r>
              <a:rPr b="1" dirty="0"/>
              <a:t>Objectives</a:t>
            </a:r>
          </a:p>
          <a:p>
            <a:r>
              <a:rPr dirty="0"/>
              <a:t>Compare outputs from different AI models</a:t>
            </a:r>
          </a:p>
          <a:p>
            <a:r>
              <a:rPr dirty="0"/>
              <a:t>Understand premium vs standard model trade-offs</a:t>
            </a:r>
          </a:p>
          <a:p>
            <a:r>
              <a:rPr dirty="0"/>
              <a:t>Monitor token usage impact</a:t>
            </a:r>
          </a:p>
          <a:p>
            <a:endParaRPr dirty="0"/>
          </a:p>
          <a:p>
            <a:pPr marL="0" indent="0">
              <a:buNone/>
            </a:pPr>
            <a:r>
              <a:rPr b="1" dirty="0"/>
              <a:t>Activities</a:t>
            </a:r>
          </a:p>
          <a:p>
            <a:pPr marL="0" indent="0">
              <a:buNone/>
            </a:pPr>
            <a:r>
              <a:rPr dirty="0"/>
              <a:t>1. Same Prompt, Different Models:</a:t>
            </a:r>
          </a:p>
          <a:p>
            <a:pPr lvl="1"/>
            <a:r>
              <a:rPr dirty="0"/>
              <a:t>Use one coding task (for example implement bubble sort)</a:t>
            </a:r>
          </a:p>
          <a:p>
            <a:pPr lvl="1"/>
            <a:r>
              <a:rPr dirty="0"/>
              <a:t>Compare standard and premium model outputs</a:t>
            </a:r>
          </a:p>
          <a:p>
            <a:pPr marL="0" indent="0">
              <a:buNone/>
            </a:pPr>
            <a:r>
              <a:rPr dirty="0"/>
              <a:t>2. Token Usage Analysis:</a:t>
            </a:r>
          </a:p>
          <a:p>
            <a:pPr lvl="1"/>
            <a:r>
              <a:rPr dirty="0"/>
              <a:t>Check premium token bar before/after</a:t>
            </a:r>
          </a:p>
          <a:p>
            <a:pPr lvl="1"/>
            <a:r>
              <a:rPr dirty="0"/>
              <a:t>Estimate consumed tokens</a:t>
            </a:r>
          </a:p>
          <a:p>
            <a:pPr lvl="1"/>
            <a:r>
              <a:rPr dirty="0"/>
              <a:t>Discuss value vs cost</a:t>
            </a:r>
          </a:p>
        </p:txBody>
      </p:sp>
      <p:sp>
        <p:nvSpPr>
          <p:cNvPr id="4" name="Content Placeholder 3">
            <a:extLst>
              <a:ext uri="{FF2B5EF4-FFF2-40B4-BE49-F238E27FC236}">
                <a16:creationId xmlns:a16="http://schemas.microsoft.com/office/drawing/2014/main" id="{34F85736-36E6-25B8-9F81-0C5A3505A1C9}"/>
              </a:ext>
            </a:extLst>
          </p:cNvPr>
          <p:cNvSpPr>
            <a:spLocks noGrp="1"/>
          </p:cNvSpPr>
          <p:nvPr>
            <p:ph sz="half" idx="2"/>
          </p:nvPr>
        </p:nvSpPr>
        <p:spPr/>
        <p:txBody>
          <a:bodyPr>
            <a:normAutofit fontScale="55000" lnSpcReduction="20000"/>
          </a:bodyPr>
          <a:lstStyle/>
          <a:p>
            <a:pPr marL="0" indent="0">
              <a:buNone/>
            </a:pPr>
            <a:r>
              <a:rPr lang="en-US" dirty="0"/>
              <a:t>3. Best Use Cases:</a:t>
            </a:r>
          </a:p>
          <a:p>
            <a:r>
              <a:rPr lang="en-US" dirty="0"/>
              <a:t>Identify tasks for standard vs premium models</a:t>
            </a:r>
          </a:p>
          <a:p>
            <a:r>
              <a:rPr lang="en-US" dirty="0"/>
              <a:t>Create model selection guidelines</a:t>
            </a:r>
          </a:p>
          <a:p>
            <a:pPr marL="0" indent="0">
              <a:buNone/>
            </a:pPr>
            <a:r>
              <a:rPr lang="en-US" dirty="0"/>
              <a:t>4. Ask Mode Advantage:</a:t>
            </a:r>
          </a:p>
          <a:p>
            <a:r>
              <a:rPr lang="en-US" dirty="0"/>
              <a:t>Use Ask mode with premium model</a:t>
            </a:r>
          </a:p>
          <a:p>
            <a:r>
              <a:rPr lang="en-US" dirty="0"/>
              <a:t>Compare with Agent mode token behavior</a:t>
            </a:r>
          </a:p>
          <a:p>
            <a:endParaRPr lang="en-US" dirty="0"/>
          </a:p>
          <a:p>
            <a:pPr marL="0" indent="0">
              <a:buNone/>
            </a:pPr>
            <a:r>
              <a:rPr lang="en-US" b="1" dirty="0"/>
              <a:t>Success Criteria</a:t>
            </a:r>
          </a:p>
          <a:p>
            <a:r>
              <a:rPr lang="en-US" dirty="0"/>
              <a:t>At least two models compared</a:t>
            </a:r>
          </a:p>
          <a:p>
            <a:r>
              <a:rPr lang="en-US" dirty="0"/>
              <a:t>Token consumption trade-offs understood</a:t>
            </a:r>
          </a:p>
          <a:p>
            <a:r>
              <a:rPr lang="en-US" dirty="0"/>
              <a:t>Learner can choose model by task type</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Calculator Project - Encapsulate Core Logic</a:t>
            </a:r>
          </a:p>
        </p:txBody>
      </p:sp>
      <p:sp>
        <p:nvSpPr>
          <p:cNvPr id="3" name="Content Placeholder 2"/>
          <p:cNvSpPr>
            <a:spLocks noGrp="1"/>
          </p:cNvSpPr>
          <p:nvPr>
            <p:ph sz="half" idx="1"/>
          </p:nvPr>
        </p:nvSpPr>
        <p:spPr/>
        <p:txBody>
          <a:bodyPr wrap="square">
            <a:normAutofit fontScale="55000" lnSpcReduction="20000"/>
          </a:bodyPr>
          <a:lstStyle/>
          <a:p>
            <a:pPr marL="0" indent="0">
              <a:buNone/>
            </a:pPr>
            <a:r>
              <a:rPr b="1" dirty="0"/>
              <a:t>Objectives</a:t>
            </a:r>
          </a:p>
          <a:p>
            <a:r>
              <a:rPr dirty="0"/>
              <a:t>Separate UI concerns from computational logic</a:t>
            </a:r>
          </a:p>
          <a:p>
            <a:r>
              <a:rPr dirty="0"/>
              <a:t>Use AI to scaffold standalone core logic module/class</a:t>
            </a:r>
          </a:p>
          <a:p>
            <a:r>
              <a:rPr dirty="0"/>
              <a:t>Ensure UI communicates through a clean API</a:t>
            </a:r>
          </a:p>
          <a:p>
            <a:r>
              <a:rPr dirty="0"/>
              <a:t>Validate improved testability and maintainability</a:t>
            </a:r>
          </a:p>
          <a:p>
            <a:endParaRPr dirty="0"/>
          </a:p>
          <a:p>
            <a:pPr marL="0" indent="0">
              <a:buNone/>
            </a:pPr>
            <a:r>
              <a:rPr b="1" dirty="0"/>
              <a:t>Activities</a:t>
            </a:r>
          </a:p>
          <a:p>
            <a:pPr marL="0" indent="0">
              <a:buNone/>
            </a:pPr>
            <a:r>
              <a:rPr dirty="0"/>
              <a:t>1. Ask AI to generate dedicated component (for example </a:t>
            </a:r>
            <a:r>
              <a:rPr dirty="0" err="1"/>
              <a:t>CalculatorEngine</a:t>
            </a:r>
            <a:r>
              <a:rPr dirty="0"/>
              <a:t> or </a:t>
            </a:r>
            <a:r>
              <a:rPr dirty="0" err="1"/>
              <a:t>CalculatorCore</a:t>
            </a:r>
            <a:r>
              <a:rPr dirty="0"/>
              <a:t>) containing:</a:t>
            </a:r>
          </a:p>
          <a:p>
            <a:pPr lvl="1"/>
            <a:r>
              <a:rPr dirty="0"/>
              <a:t>Arithmetic operations</a:t>
            </a:r>
          </a:p>
          <a:p>
            <a:pPr lvl="1"/>
            <a:r>
              <a:rPr dirty="0"/>
              <a:t>State management</a:t>
            </a:r>
          </a:p>
          <a:p>
            <a:pPr lvl="1"/>
            <a:r>
              <a:rPr dirty="0"/>
              <a:t>Trig/percentage/memory logic where implemented</a:t>
            </a:r>
          </a:p>
          <a:p>
            <a:pPr marL="0" indent="0">
              <a:buNone/>
            </a:pPr>
            <a:r>
              <a:rPr dirty="0"/>
              <a:t>2. Review and refine API surface (naming, inputs, outputs)</a:t>
            </a:r>
          </a:p>
          <a:p>
            <a:pPr marL="0" indent="0">
              <a:buNone/>
            </a:pPr>
            <a:r>
              <a:rPr dirty="0"/>
              <a:t>3. Replace UI-embedded logic with component calls</a:t>
            </a:r>
          </a:p>
          <a:p>
            <a:endParaRPr dirty="0"/>
          </a:p>
        </p:txBody>
      </p:sp>
      <p:sp>
        <p:nvSpPr>
          <p:cNvPr id="4" name="Content Placeholder 3">
            <a:extLst>
              <a:ext uri="{FF2B5EF4-FFF2-40B4-BE49-F238E27FC236}">
                <a16:creationId xmlns:a16="http://schemas.microsoft.com/office/drawing/2014/main" id="{E5EF23E7-6558-8EA6-443F-BCF58F4E60A6}"/>
              </a:ext>
            </a:extLst>
          </p:cNvPr>
          <p:cNvSpPr>
            <a:spLocks noGrp="1"/>
          </p:cNvSpPr>
          <p:nvPr>
            <p:ph sz="half" idx="2"/>
          </p:nvPr>
        </p:nvSpPr>
        <p:spPr/>
        <p:txBody>
          <a:bodyPr>
            <a:normAutofit fontScale="55000" lnSpcReduction="20000"/>
          </a:bodyPr>
          <a:lstStyle/>
          <a:p>
            <a:pPr marL="0" indent="0">
              <a:buNone/>
            </a:pPr>
            <a:r>
              <a:rPr lang="en-US" b="1" dirty="0"/>
              <a:t>Success Criteria</a:t>
            </a:r>
          </a:p>
          <a:p>
            <a:r>
              <a:rPr lang="en-US" dirty="0"/>
              <a:t>All features route through external logic component</a:t>
            </a:r>
          </a:p>
          <a:p>
            <a:r>
              <a:rPr lang="en-US" dirty="0"/>
              <a:t>UI contains only event handling/display updates</a:t>
            </a:r>
          </a:p>
          <a:p>
            <a:r>
              <a:rPr lang="en-US" dirty="0"/>
              <a:t>Learner can explain modularity and reuse benefits</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Security Review</a:t>
            </a:r>
          </a:p>
        </p:txBody>
      </p:sp>
      <p:sp>
        <p:nvSpPr>
          <p:cNvPr id="3" name="Content Placeholder 2"/>
          <p:cNvSpPr>
            <a:spLocks noGrp="1"/>
          </p:cNvSpPr>
          <p:nvPr>
            <p:ph sz="half" idx="1"/>
          </p:nvPr>
        </p:nvSpPr>
        <p:spPr/>
        <p:txBody>
          <a:bodyPr wrap="square">
            <a:normAutofit fontScale="62500" lnSpcReduction="20000"/>
          </a:bodyPr>
          <a:lstStyle/>
          <a:p>
            <a:pPr marL="0" indent="0">
              <a:buNone/>
            </a:pPr>
            <a:r>
              <a:rPr b="1" dirty="0"/>
              <a:t>Objectives</a:t>
            </a:r>
          </a:p>
          <a:p>
            <a:endParaRPr dirty="0"/>
          </a:p>
          <a:p>
            <a:r>
              <a:rPr dirty="0"/>
              <a:t>Systematically review code for security issues</a:t>
            </a:r>
          </a:p>
          <a:p>
            <a:r>
              <a:rPr dirty="0"/>
              <a:t>Address discovered vulnerabilities</a:t>
            </a:r>
          </a:p>
          <a:p>
            <a:r>
              <a:rPr dirty="0"/>
              <a:t>Strengthen input validation and safe patterns</a:t>
            </a:r>
          </a:p>
          <a:p>
            <a:endParaRPr dirty="0"/>
          </a:p>
          <a:p>
            <a:pPr marL="0" indent="0">
              <a:buNone/>
            </a:pPr>
            <a:r>
              <a:rPr b="1" dirty="0"/>
              <a:t>Activities</a:t>
            </a:r>
          </a:p>
          <a:p>
            <a:pPr marL="0" indent="0">
              <a:buNone/>
            </a:pPr>
            <a:r>
              <a:rPr dirty="0"/>
              <a:t>1. Security Review:</a:t>
            </a:r>
          </a:p>
          <a:p>
            <a:pPr lvl="1"/>
            <a:r>
              <a:rPr dirty="0"/>
              <a:t>Prompt: "Review this code for security vulnerabilities"</a:t>
            </a:r>
          </a:p>
          <a:p>
            <a:pPr lvl="1"/>
            <a:r>
              <a:rPr dirty="0"/>
              <a:t>Address identified issues</a:t>
            </a:r>
          </a:p>
          <a:p>
            <a:pPr lvl="1"/>
            <a:r>
              <a:rPr dirty="0"/>
              <a:t>Add input validation where missing</a:t>
            </a:r>
          </a:p>
          <a:p>
            <a:pPr marL="0" indent="0">
              <a:buNone/>
            </a:pPr>
            <a:endParaRPr dirty="0"/>
          </a:p>
        </p:txBody>
      </p:sp>
      <p:sp>
        <p:nvSpPr>
          <p:cNvPr id="4" name="Content Placeholder 3">
            <a:extLst>
              <a:ext uri="{FF2B5EF4-FFF2-40B4-BE49-F238E27FC236}">
                <a16:creationId xmlns:a16="http://schemas.microsoft.com/office/drawing/2014/main" id="{3961CE3B-A534-3D30-E925-4588A89CA29A}"/>
              </a:ext>
            </a:extLst>
          </p:cNvPr>
          <p:cNvSpPr>
            <a:spLocks noGrp="1"/>
          </p:cNvSpPr>
          <p:nvPr>
            <p:ph sz="half" idx="2"/>
          </p:nvPr>
        </p:nvSpPr>
        <p:spPr/>
        <p:txBody>
          <a:bodyPr>
            <a:normAutofit fontScale="62500" lnSpcReduction="20000"/>
          </a:bodyPr>
          <a:lstStyle/>
          <a:p>
            <a:pPr marL="0" indent="0">
              <a:buNone/>
            </a:pPr>
            <a:r>
              <a:rPr lang="en-US" b="1" dirty="0"/>
              <a:t>Success Criteria</a:t>
            </a:r>
          </a:p>
          <a:p>
            <a:r>
              <a:rPr lang="en-US" dirty="0"/>
              <a:t>No obvious security issues remain</a:t>
            </a:r>
          </a:p>
          <a:p>
            <a:r>
              <a:rPr lang="en-US" dirty="0"/>
              <a:t>AI recommendations are critically evaluated and validated</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Documentation</a:t>
            </a:r>
          </a:p>
        </p:txBody>
      </p:sp>
      <p:sp>
        <p:nvSpPr>
          <p:cNvPr id="3" name="Content Placeholder 2"/>
          <p:cNvSpPr>
            <a:spLocks noGrp="1"/>
          </p:cNvSpPr>
          <p:nvPr>
            <p:ph sz="half" idx="1"/>
          </p:nvPr>
        </p:nvSpPr>
        <p:spPr/>
        <p:txBody>
          <a:bodyPr wrap="square">
            <a:normAutofit fontScale="70000" lnSpcReduction="20000"/>
          </a:bodyPr>
          <a:lstStyle/>
          <a:p>
            <a:pPr marL="0" indent="0">
              <a:buNone/>
            </a:pPr>
            <a:r>
              <a:rPr b="1" dirty="0"/>
              <a:t>Objectives</a:t>
            </a:r>
          </a:p>
          <a:p>
            <a:r>
              <a:rPr dirty="0"/>
              <a:t>Add and improve project documentation</a:t>
            </a:r>
          </a:p>
          <a:p>
            <a:r>
              <a:rPr dirty="0"/>
              <a:t>Review AI-generated docs for accuracy and completeness</a:t>
            </a:r>
          </a:p>
          <a:p>
            <a:endParaRPr dirty="0"/>
          </a:p>
          <a:p>
            <a:pPr marL="0" indent="0">
              <a:buNone/>
            </a:pPr>
            <a:r>
              <a:rPr b="1" dirty="0"/>
              <a:t>Activities</a:t>
            </a:r>
          </a:p>
          <a:p>
            <a:pPr marL="0" indent="0">
              <a:buNone/>
            </a:pPr>
            <a:r>
              <a:rPr dirty="0"/>
              <a:t>1. Documentation:</a:t>
            </a:r>
          </a:p>
          <a:p>
            <a:pPr lvl="1"/>
            <a:r>
              <a:rPr dirty="0"/>
              <a:t>Ask Copilot to generate XML/doc comments</a:t>
            </a:r>
          </a:p>
          <a:p>
            <a:pPr lvl="1"/>
            <a:r>
              <a:rPr dirty="0"/>
              <a:t>Review and refine for correctness</a:t>
            </a:r>
          </a:p>
          <a:p>
            <a:pPr lvl="1"/>
            <a:r>
              <a:rPr dirty="0"/>
              <a:t>Add README usage instructions</a:t>
            </a:r>
          </a:p>
          <a:p>
            <a:pPr lvl="1"/>
            <a:r>
              <a:rPr dirty="0"/>
              <a:t>Ask AI to update existing documentation sections</a:t>
            </a:r>
          </a:p>
          <a:p>
            <a:endParaRPr dirty="0"/>
          </a:p>
        </p:txBody>
      </p:sp>
      <p:sp>
        <p:nvSpPr>
          <p:cNvPr id="4" name="Content Placeholder 3">
            <a:extLst>
              <a:ext uri="{FF2B5EF4-FFF2-40B4-BE49-F238E27FC236}">
                <a16:creationId xmlns:a16="http://schemas.microsoft.com/office/drawing/2014/main" id="{C1165FE9-14CF-AA8B-16DC-81E997EED6D1}"/>
              </a:ext>
            </a:extLst>
          </p:cNvPr>
          <p:cNvSpPr>
            <a:spLocks noGrp="1"/>
          </p:cNvSpPr>
          <p:nvPr>
            <p:ph sz="half" idx="2"/>
          </p:nvPr>
        </p:nvSpPr>
        <p:spPr/>
        <p:txBody>
          <a:bodyPr>
            <a:normAutofit fontScale="70000" lnSpcReduction="20000"/>
          </a:bodyPr>
          <a:lstStyle/>
          <a:p>
            <a:pPr marL="0" indent="0">
              <a:buNone/>
            </a:pPr>
            <a:r>
              <a:rPr lang="en-US" b="1" dirty="0"/>
              <a:t>Success Criteria</a:t>
            </a:r>
          </a:p>
          <a:p>
            <a:r>
              <a:rPr lang="en-US" dirty="0"/>
              <a:t>Documentation is comprehensive and accurate</a:t>
            </a:r>
          </a:p>
          <a:p>
            <a:r>
              <a:rPr lang="en-US" dirty="0"/>
              <a:t>AI-generated content is critically reviewed before acceptance</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Refactoring</a:t>
            </a:r>
          </a:p>
        </p:txBody>
      </p:sp>
      <p:sp>
        <p:nvSpPr>
          <p:cNvPr id="3" name="Content Placeholder 2"/>
          <p:cNvSpPr>
            <a:spLocks noGrp="1"/>
          </p:cNvSpPr>
          <p:nvPr>
            <p:ph sz="half" idx="1"/>
          </p:nvPr>
        </p:nvSpPr>
        <p:spPr/>
        <p:txBody>
          <a:bodyPr wrap="square">
            <a:normAutofit fontScale="70000" lnSpcReduction="20000"/>
          </a:bodyPr>
          <a:lstStyle/>
          <a:p>
            <a:pPr marL="0" indent="0">
              <a:buNone/>
            </a:pPr>
            <a:r>
              <a:rPr b="1" dirty="0"/>
              <a:t>Objectives</a:t>
            </a:r>
          </a:p>
          <a:p>
            <a:r>
              <a:rPr dirty="0"/>
              <a:t>Apply refactoring best practices</a:t>
            </a:r>
          </a:p>
          <a:p>
            <a:r>
              <a:rPr dirty="0"/>
              <a:t>Compare alternative implementations</a:t>
            </a:r>
          </a:p>
          <a:p>
            <a:r>
              <a:rPr dirty="0"/>
              <a:t>Evaluate trade-offs before choosing changes</a:t>
            </a:r>
          </a:p>
          <a:p>
            <a:endParaRPr dirty="0"/>
          </a:p>
          <a:p>
            <a:pPr marL="0" indent="0">
              <a:buNone/>
            </a:pPr>
            <a:r>
              <a:rPr b="1" dirty="0"/>
              <a:t>Activities</a:t>
            </a:r>
          </a:p>
          <a:p>
            <a:pPr marL="0" indent="0">
              <a:buNone/>
            </a:pPr>
            <a:r>
              <a:rPr dirty="0"/>
              <a:t>1. Refactoring Exercise:</a:t>
            </a:r>
          </a:p>
          <a:p>
            <a:pPr lvl="1"/>
            <a:r>
              <a:rPr dirty="0"/>
              <a:t>Ask Copilot for alternative implementations</a:t>
            </a:r>
          </a:p>
          <a:p>
            <a:pPr lvl="1"/>
            <a:r>
              <a:rPr dirty="0"/>
              <a:t>Compare readability, complexity, and maintainability</a:t>
            </a:r>
          </a:p>
          <a:p>
            <a:pPr lvl="1"/>
            <a:r>
              <a:rPr dirty="0"/>
              <a:t>Discuss trade-offs and select best approach</a:t>
            </a:r>
          </a:p>
          <a:p>
            <a:endParaRPr dirty="0"/>
          </a:p>
        </p:txBody>
      </p:sp>
      <p:sp>
        <p:nvSpPr>
          <p:cNvPr id="4" name="Content Placeholder 3">
            <a:extLst>
              <a:ext uri="{FF2B5EF4-FFF2-40B4-BE49-F238E27FC236}">
                <a16:creationId xmlns:a16="http://schemas.microsoft.com/office/drawing/2014/main" id="{9EBAFCA9-3D55-F606-CCBB-E7BD195B7BF4}"/>
              </a:ext>
            </a:extLst>
          </p:cNvPr>
          <p:cNvSpPr>
            <a:spLocks noGrp="1"/>
          </p:cNvSpPr>
          <p:nvPr>
            <p:ph sz="half" idx="2"/>
          </p:nvPr>
        </p:nvSpPr>
        <p:spPr/>
        <p:txBody>
          <a:bodyPr>
            <a:normAutofit fontScale="70000" lnSpcReduction="20000"/>
          </a:bodyPr>
          <a:lstStyle/>
          <a:p>
            <a:pPr marL="0" indent="0">
              <a:buNone/>
            </a:pPr>
            <a:r>
              <a:rPr lang="en-US" b="1" dirty="0"/>
              <a:t>Success Criteria</a:t>
            </a:r>
          </a:p>
          <a:p>
            <a:r>
              <a:rPr lang="en-US" dirty="0"/>
              <a:t>At least one refactoring improvement implemented</a:t>
            </a:r>
          </a:p>
          <a:p>
            <a:r>
              <a:rPr lang="en-US" dirty="0"/>
              <a:t>Code quality and maintainability improved</a:t>
            </a:r>
          </a:p>
          <a:p>
            <a:r>
              <a:rPr lang="en-US" dirty="0"/>
              <a:t>AI suggestions critically evaluated</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Test Coverage Improvement</a:t>
            </a:r>
          </a:p>
        </p:txBody>
      </p:sp>
      <p:sp>
        <p:nvSpPr>
          <p:cNvPr id="3" name="Content Placeholder 2"/>
          <p:cNvSpPr>
            <a:spLocks noGrp="1"/>
          </p:cNvSpPr>
          <p:nvPr>
            <p:ph sz="half" idx="1"/>
          </p:nvPr>
        </p:nvSpPr>
        <p:spPr/>
        <p:txBody>
          <a:bodyPr wrap="square">
            <a:normAutofit fontScale="40000" lnSpcReduction="20000"/>
          </a:bodyPr>
          <a:lstStyle/>
          <a:p>
            <a:pPr marL="0" indent="0">
              <a:buNone/>
            </a:pPr>
            <a:r>
              <a:rPr b="1" dirty="0"/>
              <a:t>Objectives</a:t>
            </a:r>
          </a:p>
          <a:p>
            <a:r>
              <a:rPr dirty="0"/>
              <a:t>Analyze code coverage reports</a:t>
            </a:r>
          </a:p>
          <a:p>
            <a:r>
              <a:rPr dirty="0"/>
              <a:t>Use Copilot to intelligently add tests</a:t>
            </a:r>
          </a:p>
          <a:p>
            <a:r>
              <a:rPr dirty="0"/>
              <a:t>Achieve target coverage percentage</a:t>
            </a:r>
          </a:p>
          <a:p>
            <a:r>
              <a:rPr dirty="0"/>
              <a:t>Balance quantity vs. quality of tests</a:t>
            </a:r>
          </a:p>
          <a:p>
            <a:endParaRPr dirty="0"/>
          </a:p>
          <a:p>
            <a:pPr marL="0" indent="0">
              <a:buNone/>
            </a:pPr>
            <a:r>
              <a:rPr b="1" dirty="0"/>
              <a:t>Activities</a:t>
            </a:r>
          </a:p>
          <a:p>
            <a:pPr marL="0" indent="0">
              <a:buNone/>
            </a:pPr>
            <a:r>
              <a:rPr dirty="0"/>
              <a:t>1. Review Current Coverage:</a:t>
            </a:r>
            <a:endParaRPr lang="en-US" dirty="0"/>
          </a:p>
          <a:p>
            <a:pPr lvl="1"/>
            <a:r>
              <a:rPr lang="en-US" dirty="0"/>
              <a:t>Run tests with coverage reporting</a:t>
            </a:r>
          </a:p>
          <a:p>
            <a:pPr lvl="1"/>
            <a:r>
              <a:rPr dirty="0"/>
              <a:t>Identify uncovered code paths</a:t>
            </a:r>
          </a:p>
          <a:p>
            <a:pPr lvl="1"/>
            <a:r>
              <a:rPr dirty="0"/>
              <a:t>Analyze coverage percentage by file/class</a:t>
            </a:r>
          </a:p>
          <a:p>
            <a:pPr marL="0" indent="0">
              <a:buNone/>
            </a:pPr>
            <a:r>
              <a:rPr dirty="0"/>
              <a:t>2. Targeted Test Generation:</a:t>
            </a:r>
          </a:p>
          <a:p>
            <a:pPr lvl="1"/>
            <a:r>
              <a:rPr dirty="0"/>
              <a:t>Prompt: "Add tests to increase code coverage to [X]%"</a:t>
            </a:r>
          </a:p>
          <a:p>
            <a:pPr lvl="1"/>
            <a:r>
              <a:rPr dirty="0"/>
              <a:t>Observe how Copilot identifies gaps</a:t>
            </a:r>
          </a:p>
          <a:p>
            <a:pPr lvl="1"/>
            <a:r>
              <a:rPr dirty="0"/>
              <a:t>Review generated tests for quality</a:t>
            </a:r>
          </a:p>
          <a:p>
            <a:pPr marL="0" indent="0">
              <a:buNone/>
            </a:pPr>
            <a:r>
              <a:rPr dirty="0"/>
              <a:t>3. Strategic Coverage Improvement:</a:t>
            </a:r>
          </a:p>
          <a:p>
            <a:pPr lvl="1"/>
            <a:r>
              <a:rPr dirty="0"/>
              <a:t>Prompt: "Add tests for edge cases in division operation"</a:t>
            </a:r>
          </a:p>
          <a:p>
            <a:pPr lvl="1"/>
            <a:r>
              <a:rPr dirty="0"/>
              <a:t>Prompt: "Add tests for corner cases like divide by zero"</a:t>
            </a:r>
          </a:p>
          <a:p>
            <a:pPr lvl="1"/>
            <a:r>
              <a:rPr dirty="0"/>
              <a:t>Prompt: "Add integration tests for evaluate arithmetic method"</a:t>
            </a:r>
          </a:p>
        </p:txBody>
      </p:sp>
      <p:sp>
        <p:nvSpPr>
          <p:cNvPr id="4" name="Content Placeholder 3">
            <a:extLst>
              <a:ext uri="{FF2B5EF4-FFF2-40B4-BE49-F238E27FC236}">
                <a16:creationId xmlns:a16="http://schemas.microsoft.com/office/drawing/2014/main" id="{F2CE8312-5C38-94C7-572E-B45B699E1F92}"/>
              </a:ext>
            </a:extLst>
          </p:cNvPr>
          <p:cNvSpPr>
            <a:spLocks noGrp="1"/>
          </p:cNvSpPr>
          <p:nvPr>
            <p:ph sz="half" idx="2"/>
          </p:nvPr>
        </p:nvSpPr>
        <p:spPr/>
        <p:txBody>
          <a:bodyPr>
            <a:normAutofit fontScale="40000" lnSpcReduction="20000"/>
          </a:bodyPr>
          <a:lstStyle/>
          <a:p>
            <a:pPr marL="0" indent="0">
              <a:buNone/>
            </a:pPr>
            <a:r>
              <a:rPr lang="en-US" dirty="0"/>
              <a:t>4. Verify Test Quality:</a:t>
            </a:r>
          </a:p>
          <a:p>
            <a:pPr lvl="1"/>
            <a:r>
              <a:rPr lang="en-US" dirty="0"/>
              <a:t>Confirm tests call real implementation code</a:t>
            </a:r>
          </a:p>
          <a:p>
            <a:pPr lvl="1"/>
            <a:r>
              <a:rPr lang="en-US" dirty="0"/>
              <a:t>Confirm tests verify expected behavior, not just execution</a:t>
            </a:r>
          </a:p>
          <a:p>
            <a:pPr lvl="1"/>
            <a:r>
              <a:rPr lang="en-US" dirty="0"/>
              <a:t>Confirm edge cases are properly handled</a:t>
            </a:r>
          </a:p>
          <a:p>
            <a:pPr marL="0" indent="0">
              <a:buNone/>
            </a:pPr>
            <a:r>
              <a:rPr lang="en-US" dirty="0"/>
              <a:t>5. Re-run Coverage:</a:t>
            </a:r>
          </a:p>
          <a:p>
            <a:pPr lvl="1"/>
            <a:r>
              <a:rPr lang="en-US" dirty="0"/>
              <a:t>Execute test suite with coverage</a:t>
            </a:r>
          </a:p>
          <a:p>
            <a:pPr lvl="1"/>
            <a:r>
              <a:rPr lang="en-US" dirty="0"/>
              <a:t>Compare before/after percentages</a:t>
            </a:r>
          </a:p>
          <a:p>
            <a:pPr lvl="1"/>
            <a:r>
              <a:rPr lang="en-US" dirty="0"/>
              <a:t>Identify remaining gaps</a:t>
            </a:r>
          </a:p>
          <a:p>
            <a:endParaRPr lang="en-US" dirty="0"/>
          </a:p>
          <a:p>
            <a:pPr marL="0" indent="0">
              <a:buNone/>
            </a:pPr>
            <a:r>
              <a:rPr lang="en-US" b="1" dirty="0"/>
              <a:t>Success Criteria</a:t>
            </a:r>
          </a:p>
          <a:p>
            <a:r>
              <a:rPr lang="en-US" dirty="0"/>
              <a:t>Code coverage increased by at least 20 percentage points</a:t>
            </a:r>
          </a:p>
          <a:p>
            <a:r>
              <a:rPr lang="en-US" dirty="0"/>
              <a:t>All new tests are meaningful and test actual implementation</a:t>
            </a:r>
          </a:p>
          <a:p>
            <a:r>
              <a:rPr lang="en-US" dirty="0"/>
              <a:t>Tests include edge cases and error conditions</a:t>
            </a:r>
          </a:p>
          <a:p>
            <a:r>
              <a:rPr lang="en-US" dirty="0"/>
              <a:t>Coverage report shows improved metrics</a:t>
            </a:r>
          </a:p>
          <a:p>
            <a:r>
              <a:rPr lang="en-US" dirty="0"/>
              <a:t>Understanding of test quality vs. quantity trade-offs</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Exercise: Test-Driven Development (TDD) with Copilot</a:t>
            </a:r>
          </a:p>
        </p:txBody>
      </p:sp>
      <p:sp>
        <p:nvSpPr>
          <p:cNvPr id="3" name="Content Placeholder 2"/>
          <p:cNvSpPr>
            <a:spLocks noGrp="1"/>
          </p:cNvSpPr>
          <p:nvPr>
            <p:ph sz="half" idx="1"/>
          </p:nvPr>
        </p:nvSpPr>
        <p:spPr/>
        <p:txBody>
          <a:bodyPr wrap="square">
            <a:normAutofit fontScale="32500" lnSpcReduction="20000"/>
          </a:bodyPr>
          <a:lstStyle/>
          <a:p>
            <a:pPr marL="0" indent="0">
              <a:buNone/>
            </a:pPr>
            <a:r>
              <a:rPr b="1" dirty="0"/>
              <a:t>Objectives</a:t>
            </a:r>
          </a:p>
          <a:p>
            <a:r>
              <a:rPr dirty="0"/>
              <a:t>Practice TDD workflow with AI assistance</a:t>
            </a:r>
          </a:p>
          <a:p>
            <a:r>
              <a:rPr dirty="0"/>
              <a:t>Write failing tests before implementation</a:t>
            </a:r>
          </a:p>
          <a:p>
            <a:r>
              <a:rPr dirty="0"/>
              <a:t>Use tests to drive design decisions</a:t>
            </a:r>
          </a:p>
          <a:p>
            <a:r>
              <a:rPr dirty="0"/>
              <a:t>Understand red-green-refactor cycle</a:t>
            </a:r>
          </a:p>
          <a:p>
            <a:endParaRPr dirty="0"/>
          </a:p>
          <a:p>
            <a:pPr marL="0" indent="0">
              <a:buNone/>
            </a:pPr>
            <a:r>
              <a:rPr b="1" dirty="0"/>
              <a:t>Activities</a:t>
            </a:r>
          </a:p>
          <a:p>
            <a:pPr marL="0" indent="0">
              <a:buNone/>
            </a:pPr>
            <a:r>
              <a:rPr dirty="0"/>
              <a:t>1. Define New Feature:</a:t>
            </a:r>
          </a:p>
          <a:p>
            <a:pPr lvl="1"/>
            <a:r>
              <a:rPr dirty="0"/>
              <a:t>Choose a feature (for example, memory operations for calculator)</a:t>
            </a:r>
          </a:p>
          <a:p>
            <a:pPr lvl="1"/>
            <a:r>
              <a:rPr dirty="0"/>
              <a:t>Store current result (ANS/answer functionality)</a:t>
            </a:r>
          </a:p>
          <a:p>
            <a:pPr lvl="1"/>
            <a:r>
              <a:rPr dirty="0"/>
              <a:t>Recall previous result</a:t>
            </a:r>
          </a:p>
          <a:p>
            <a:pPr lvl="1"/>
            <a:r>
              <a:rPr dirty="0"/>
              <a:t>Handle "ANS + 5" style operations</a:t>
            </a:r>
          </a:p>
          <a:p>
            <a:pPr marL="0" indent="0">
              <a:buNone/>
            </a:pPr>
            <a:r>
              <a:rPr dirty="0"/>
              <a:t>2. Write Failing Tests First:</a:t>
            </a:r>
          </a:p>
          <a:p>
            <a:pPr lvl="1"/>
            <a:r>
              <a:rPr dirty="0"/>
              <a:t>Prompt: "Using TDD, create tests for a memory/answer feature in the calculator. DO NOT implement the feature yet."</a:t>
            </a:r>
          </a:p>
          <a:p>
            <a:pPr lvl="1"/>
            <a:r>
              <a:rPr dirty="0"/>
              <a:t>Review generated tests</a:t>
            </a:r>
          </a:p>
          <a:p>
            <a:pPr lvl="1"/>
            <a:r>
              <a:rPr dirty="0"/>
              <a:t>Verify tests reference methods that do not exist yet</a:t>
            </a:r>
          </a:p>
          <a:p>
            <a:pPr marL="0" indent="0">
              <a:buNone/>
            </a:pPr>
            <a:r>
              <a:rPr dirty="0"/>
              <a:t>3. Run Tests (Expect Failures):</a:t>
            </a:r>
          </a:p>
          <a:p>
            <a:pPr lvl="1"/>
            <a:r>
              <a:rPr dirty="0"/>
              <a:t>Execute test suite</a:t>
            </a:r>
          </a:p>
          <a:p>
            <a:pPr lvl="1"/>
            <a:r>
              <a:rPr dirty="0"/>
              <a:t>Observe compilation errors or test failures</a:t>
            </a:r>
          </a:p>
          <a:p>
            <a:pPr lvl="1"/>
            <a:r>
              <a:rPr dirty="0"/>
              <a:t>Document what is missing</a:t>
            </a:r>
          </a:p>
        </p:txBody>
      </p:sp>
      <p:sp>
        <p:nvSpPr>
          <p:cNvPr id="4" name="Content Placeholder 3">
            <a:extLst>
              <a:ext uri="{FF2B5EF4-FFF2-40B4-BE49-F238E27FC236}">
                <a16:creationId xmlns:a16="http://schemas.microsoft.com/office/drawing/2014/main" id="{91C1725E-3776-44D9-2375-65DE7C27F1D2}"/>
              </a:ext>
            </a:extLst>
          </p:cNvPr>
          <p:cNvSpPr>
            <a:spLocks noGrp="1"/>
          </p:cNvSpPr>
          <p:nvPr>
            <p:ph sz="half" idx="2"/>
          </p:nvPr>
        </p:nvSpPr>
        <p:spPr/>
        <p:txBody>
          <a:bodyPr>
            <a:normAutofit fontScale="32500" lnSpcReduction="20000"/>
          </a:bodyPr>
          <a:lstStyle/>
          <a:p>
            <a:pPr marL="0" indent="0">
              <a:buNone/>
            </a:pPr>
            <a:r>
              <a:rPr lang="en-US" dirty="0"/>
              <a:t>4. Implement Feature to Pass Tests:</a:t>
            </a:r>
          </a:p>
          <a:p>
            <a:pPr lvl="1"/>
            <a:r>
              <a:rPr lang="en-US" dirty="0"/>
              <a:t>Prompt: "Implement the memory/answer feature to make the tests pass"</a:t>
            </a:r>
          </a:p>
          <a:p>
            <a:pPr lvl="1"/>
            <a:r>
              <a:rPr lang="en-US" dirty="0"/>
              <a:t>Review generated implementation</a:t>
            </a:r>
          </a:p>
          <a:p>
            <a:pPr lvl="1"/>
            <a:r>
              <a:rPr lang="en-US" dirty="0"/>
              <a:t>Run tests again</a:t>
            </a:r>
          </a:p>
          <a:p>
            <a:pPr lvl="1"/>
            <a:r>
              <a:rPr lang="en-US" dirty="0"/>
              <a:t>Verify all tests now pass</a:t>
            </a:r>
          </a:p>
          <a:p>
            <a:pPr marL="0" indent="0">
              <a:buNone/>
            </a:pPr>
            <a:r>
              <a:rPr lang="en-US" dirty="0"/>
              <a:t>5. Refactor:</a:t>
            </a:r>
          </a:p>
          <a:p>
            <a:pPr lvl="1"/>
            <a:r>
              <a:rPr lang="en-US" dirty="0"/>
              <a:t>With tests passing, ask for improvements</a:t>
            </a:r>
          </a:p>
          <a:p>
            <a:pPr lvl="1"/>
            <a:r>
              <a:rPr lang="en-US" dirty="0"/>
              <a:t>Prompt: "Refactor the answer implementation for better readability"</a:t>
            </a:r>
          </a:p>
          <a:p>
            <a:pPr lvl="1"/>
            <a:r>
              <a:rPr lang="en-US" dirty="0"/>
              <a:t>Verify tests still pass after refactoring</a:t>
            </a:r>
          </a:p>
          <a:p>
            <a:endParaRPr lang="en-US" dirty="0"/>
          </a:p>
          <a:p>
            <a:pPr marL="0" indent="0">
              <a:buNone/>
            </a:pPr>
            <a:r>
              <a:rPr lang="en-US" b="1" dirty="0"/>
              <a:t>Success Criteria</a:t>
            </a:r>
          </a:p>
          <a:p>
            <a:r>
              <a:rPr lang="en-US" dirty="0"/>
              <a:t>Tests written before implementation</a:t>
            </a:r>
          </a:p>
          <a:p>
            <a:r>
              <a:rPr lang="en-US" dirty="0"/>
              <a:t>Initial test run shows failures (red phase)</a:t>
            </a:r>
          </a:p>
          <a:p>
            <a:r>
              <a:rPr lang="en-US" dirty="0"/>
              <a:t>Implementation makes all tests pass (green phase)</a:t>
            </a:r>
          </a:p>
          <a:p>
            <a:r>
              <a:rPr lang="en-US" dirty="0"/>
              <a:t>Code refactored while maintaining passing tests</a:t>
            </a:r>
          </a:p>
          <a:p>
            <a:r>
              <a:rPr lang="en-US" dirty="0"/>
              <a:t>Understanding of TDD benefits and workflow</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AI-Assisted CI/CD Pipelines</a:t>
            </a:r>
          </a:p>
        </p:txBody>
      </p:sp>
      <p:sp>
        <p:nvSpPr>
          <p:cNvPr id="3" name="Content Placeholder 2"/>
          <p:cNvSpPr>
            <a:spLocks noGrp="1"/>
          </p:cNvSpPr>
          <p:nvPr>
            <p:ph idx="1"/>
          </p:nvPr>
        </p:nvSpPr>
        <p:spPr/>
        <p:txBody>
          <a:bodyPr wrap="square">
            <a:normAutofit/>
          </a:bodyPr>
          <a:lstStyle/>
          <a:p>
            <a:endParaRPr/>
          </a:p>
          <a:p>
            <a:r>
              <a:t>GitHub Actions YAML generation</a:t>
            </a:r>
          </a:p>
          <a:p>
            <a:r>
              <a:t>Build automation with AI</a:t>
            </a:r>
          </a:p>
          <a:p>
            <a:r>
              <a:t>Coverage thresholds</a:t>
            </a:r>
          </a:p>
          <a:p>
            <a:r>
              <a:t>Pipeline maintenance and evolution</a:t>
            </a:r>
          </a:p>
          <a:p>
            <a:r>
              <a:t>Exercise: Generate a pipeline from scratch</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Pipelines Are Hard</a:t>
            </a:r>
          </a:p>
        </p:txBody>
      </p:sp>
      <p:sp>
        <p:nvSpPr>
          <p:cNvPr id="3" name="Content Placeholder 2"/>
          <p:cNvSpPr>
            <a:spLocks noGrp="1"/>
          </p:cNvSpPr>
          <p:nvPr>
            <p:ph idx="1"/>
          </p:nvPr>
        </p:nvSpPr>
        <p:spPr/>
        <p:txBody>
          <a:bodyPr wrap="square">
            <a:normAutofit/>
          </a:bodyPr>
          <a:lstStyle/>
          <a:p>
            <a:endParaRPr/>
          </a:p>
          <a:p>
            <a:r>
              <a:t>YAML syntax is unforgiving</a:t>
            </a:r>
          </a:p>
          <a:p>
            <a:r>
              <a:t>Action versions change constantly</a:t>
            </a:r>
          </a:p>
          <a:p>
            <a:r>
              <a:t>Environment variables, secrets, and caching rules interact unexpectedly</a:t>
            </a:r>
          </a:p>
          <a:p>
            <a:r>
              <a:t>Coverage gates, linting, and deployment steps differ per project</a:t>
            </a:r>
          </a:p>
          <a:p>
            <a:r>
              <a:t>Copy-paste drift between projects accumulates silently</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AI Brings to CI/CD</a:t>
            </a:r>
          </a:p>
        </p:txBody>
      </p:sp>
      <p:sp>
        <p:nvSpPr>
          <p:cNvPr id="3" name="Content Placeholder 2"/>
          <p:cNvSpPr>
            <a:spLocks noGrp="1"/>
          </p:cNvSpPr>
          <p:nvPr>
            <p:ph idx="1"/>
          </p:nvPr>
        </p:nvSpPr>
        <p:spPr/>
        <p:txBody>
          <a:bodyPr wrap="square">
            <a:normAutofit fontScale="62500" lnSpcReduction="20000"/>
          </a:bodyPr>
          <a:lstStyle/>
          <a:p>
            <a:endParaRPr/>
          </a:p>
          <a:p>
            <a:r>
              <a:t>```text</a:t>
            </a:r>
          </a:p>
          <a:p>
            <a:r>
              <a:t>You → intent           AI → working YAML</a:t>
            </a:r>
          </a:p>
          <a:p>
            <a:r>
              <a:t>   "run tests on PR"        on: [pull_request]</a:t>
            </a:r>
          </a:p>
          <a:p>
            <a:r>
              <a:t>                            jobs: test: ...</a:t>
            </a:r>
          </a:p>
          <a:p>
            <a:r>
              <a:t>```</a:t>
            </a:r>
          </a:p>
          <a:p>
            <a:endParaRPr/>
          </a:p>
          <a:p>
            <a:r>
              <a:t>Generate pipelines from plain English</a:t>
            </a:r>
          </a:p>
          <a:p>
            <a:r>
              <a:t>Explain unfamiliar pipeline syntax</a:t>
            </a:r>
          </a:p>
          <a:p>
            <a:r>
              <a:t>Diagnose failing workflow runs from logs</a:t>
            </a:r>
          </a:p>
          <a:p>
            <a:r>
              <a:t>Suggest caching, matrix, and concurrency improvements</a:t>
            </a:r>
          </a:p>
          <a:p>
            <a:r>
              <a:t>Keep actions pinned and up to date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GitHub Actions YAML Generation</a:t>
            </a:r>
          </a:p>
        </p:txBody>
      </p:sp>
      <p:sp>
        <p:nvSpPr>
          <p:cNvPr id="3" name="Content Placeholder 2"/>
          <p:cNvSpPr>
            <a:spLocks noGrp="1"/>
          </p:cNvSpPr>
          <p:nvPr>
            <p:ph sz="half" idx="1"/>
          </p:nvPr>
        </p:nvSpPr>
        <p:spPr/>
        <p:txBody>
          <a:bodyPr wrap="square">
            <a:normAutofit fontScale="92500" lnSpcReduction="10000"/>
          </a:bodyPr>
          <a:lstStyle/>
          <a:p>
            <a:endParaRPr dirty="0"/>
          </a:p>
          <a:p>
            <a:pPr marL="0" indent="0">
              <a:buNone/>
            </a:pPr>
            <a:r>
              <a:rPr dirty="0"/>
              <a:t>Ask Copilot in chat or inline:</a:t>
            </a:r>
          </a:p>
          <a:p>
            <a:endParaRPr dirty="0"/>
          </a:p>
          <a:p>
            <a:pPr marL="0" indent="0">
              <a:buNone/>
            </a:pPr>
            <a:r>
              <a:rPr dirty="0"/>
              <a:t>Prompt: "Create a GitHub Actions workflow that runs</a:t>
            </a:r>
            <a:r>
              <a:rPr lang="en-US" dirty="0"/>
              <a:t> </a:t>
            </a:r>
            <a:r>
              <a:rPr dirty="0"/>
              <a:t>dotnet test on every pull request targeting main,</a:t>
            </a:r>
            <a:r>
              <a:rPr lang="en-US" dirty="0"/>
              <a:t> </a:t>
            </a:r>
            <a:r>
              <a:rPr dirty="0"/>
              <a:t>uploads a code coverage report, and fails if</a:t>
            </a:r>
            <a:r>
              <a:rPr lang="en-US" dirty="0"/>
              <a:t> </a:t>
            </a:r>
            <a:r>
              <a:rPr dirty="0"/>
              <a:t>coverage drops below 80%."</a:t>
            </a:r>
          </a:p>
          <a:p>
            <a:pPr marL="0" indent="0">
              <a:buNone/>
            </a:pPr>
            <a:endParaRPr dirty="0"/>
          </a:p>
          <a:p>
            <a:endParaRPr dirty="0"/>
          </a:p>
        </p:txBody>
      </p:sp>
      <p:sp>
        <p:nvSpPr>
          <p:cNvPr id="4" name="Content Placeholder 3">
            <a:extLst>
              <a:ext uri="{FF2B5EF4-FFF2-40B4-BE49-F238E27FC236}">
                <a16:creationId xmlns:a16="http://schemas.microsoft.com/office/drawing/2014/main" id="{EC938D44-0F63-D803-8A58-E45713A64800}"/>
              </a:ext>
            </a:extLst>
          </p:cNvPr>
          <p:cNvSpPr>
            <a:spLocks noGrp="1"/>
          </p:cNvSpPr>
          <p:nvPr>
            <p:ph sz="half" idx="2"/>
          </p:nvPr>
        </p:nvSpPr>
        <p:spPr/>
        <p:txBody>
          <a:bodyPr>
            <a:normAutofit fontScale="92500" lnSpcReduction="10000"/>
          </a:bodyPr>
          <a:lstStyle/>
          <a:p>
            <a:pPr marL="0" indent="0">
              <a:buNone/>
            </a:pPr>
            <a:r>
              <a:rPr lang="en-US" b="1" dirty="0"/>
              <a:t>Copilot generates:</a:t>
            </a:r>
          </a:p>
          <a:p>
            <a:endParaRPr lang="en-US" dirty="0"/>
          </a:p>
          <a:p>
            <a:r>
              <a:rPr lang="en-US" dirty="0"/>
              <a:t>Trigger block (`on:`)</a:t>
            </a:r>
          </a:p>
          <a:p>
            <a:r>
              <a:rPr lang="en-US" dirty="0"/>
              <a:t>Job matrix</a:t>
            </a:r>
          </a:p>
          <a:p>
            <a:r>
              <a:rPr lang="en-US" dirty="0"/>
              <a:t>Step sequence</a:t>
            </a:r>
          </a:p>
          <a:p>
            <a:r>
              <a:rPr lang="en-US" dirty="0"/>
              <a:t>Coverage upload + threshold enforcement</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Anatomy of an AI-Generated Workflow</a:t>
            </a:r>
          </a:p>
        </p:txBody>
      </p:sp>
      <p:sp>
        <p:nvSpPr>
          <p:cNvPr id="4" name="Content Placeholder 3">
            <a:extLst>
              <a:ext uri="{FF2B5EF4-FFF2-40B4-BE49-F238E27FC236}">
                <a16:creationId xmlns:a16="http://schemas.microsoft.com/office/drawing/2014/main" id="{2B446D2C-24D5-810F-FD24-46F0300BEF55}"/>
              </a:ext>
            </a:extLst>
          </p:cNvPr>
          <p:cNvSpPr>
            <a:spLocks noGrp="1"/>
          </p:cNvSpPr>
          <p:nvPr>
            <p:ph sz="half" idx="2"/>
          </p:nvPr>
        </p:nvSpPr>
        <p:spPr/>
        <p:txBody>
          <a:bodyPr>
            <a:normAutofit fontScale="85000" lnSpcReduction="20000"/>
          </a:bodyPr>
          <a:lstStyle/>
          <a:p>
            <a:pPr marL="0" indent="0">
              <a:buNone/>
            </a:pPr>
            <a:r>
              <a:rPr lang="en-US" dirty="0"/>
              <a:t>steps:</a:t>
            </a:r>
          </a:p>
          <a:p>
            <a:pPr marL="0" indent="0">
              <a:buNone/>
            </a:pPr>
            <a:r>
              <a:rPr lang="en-US" dirty="0"/>
              <a:t>    uses: actions/checkout@v4</a:t>
            </a:r>
          </a:p>
          <a:p>
            <a:pPr marL="0" indent="0">
              <a:buNone/>
            </a:pPr>
            <a:r>
              <a:rPr lang="en-US" dirty="0"/>
              <a:t>    uses: actions/setup-dotnet@v4</a:t>
            </a:r>
          </a:p>
          <a:p>
            <a:pPr marL="0" indent="0">
              <a:buNone/>
            </a:pPr>
            <a:r>
              <a:rPr lang="en-US" dirty="0"/>
              <a:t>        with:</a:t>
            </a:r>
          </a:p>
          <a:p>
            <a:pPr marL="0" indent="0">
              <a:buNone/>
            </a:pPr>
            <a:r>
              <a:rPr lang="en-US" dirty="0"/>
              <a:t>          dotnet-version: "8.x"</a:t>
            </a:r>
          </a:p>
          <a:p>
            <a:pPr marL="0" indent="0">
              <a:buNone/>
            </a:pPr>
            <a:r>
              <a:rPr lang="en-US" dirty="0"/>
              <a:t>    run: dotnet restore</a:t>
            </a:r>
          </a:p>
          <a:p>
            <a:pPr marL="0" indent="0">
              <a:buNone/>
            </a:pPr>
            <a:r>
              <a:rPr lang="en-US" dirty="0"/>
              <a:t>    run: dotnet build --no-restore</a:t>
            </a:r>
          </a:p>
          <a:p>
            <a:pPr marL="0" indent="0">
              <a:buNone/>
            </a:pPr>
            <a:r>
              <a:rPr lang="en-US" dirty="0"/>
              <a:t>    run: dotnet test --no-build</a:t>
            </a:r>
          </a:p>
          <a:p>
            <a:pPr marL="0" indent="0">
              <a:buNone/>
            </a:pPr>
            <a:r>
              <a:rPr lang="en-US" dirty="0"/>
              <a:t>          --collect:"</a:t>
            </a:r>
            <a:r>
              <a:rPr lang="en-US" dirty="0" err="1"/>
              <a:t>XPlat</a:t>
            </a:r>
            <a:r>
              <a:rPr lang="en-US" dirty="0"/>
              <a:t> Code Coverage"</a:t>
            </a:r>
          </a:p>
          <a:p>
            <a:endParaRPr lang="en-US" dirty="0"/>
          </a:p>
        </p:txBody>
      </p:sp>
      <p:sp>
        <p:nvSpPr>
          <p:cNvPr id="6" name="Content Placeholder 5">
            <a:extLst>
              <a:ext uri="{FF2B5EF4-FFF2-40B4-BE49-F238E27FC236}">
                <a16:creationId xmlns:a16="http://schemas.microsoft.com/office/drawing/2014/main" id="{046F39AA-4745-D33F-226B-F14EEFFD8D81}"/>
              </a:ext>
            </a:extLst>
          </p:cNvPr>
          <p:cNvSpPr>
            <a:spLocks noGrp="1"/>
          </p:cNvSpPr>
          <p:nvPr>
            <p:ph sz="half" idx="1"/>
          </p:nvPr>
        </p:nvSpPr>
        <p:spPr/>
        <p:txBody>
          <a:bodyPr>
            <a:normAutofit fontScale="85000" lnSpcReduction="20000"/>
          </a:bodyPr>
          <a:lstStyle/>
          <a:p>
            <a:pPr marL="0" indent="0">
              <a:buNone/>
            </a:pPr>
            <a:r>
              <a:rPr lang="en-US" dirty="0" err="1"/>
              <a:t>yaml</a:t>
            </a:r>
            <a:endParaRPr lang="en-US" dirty="0"/>
          </a:p>
          <a:p>
            <a:pPr marL="0" indent="0">
              <a:buNone/>
            </a:pPr>
            <a:r>
              <a:rPr lang="en-US" dirty="0"/>
              <a:t>name: CI</a:t>
            </a:r>
          </a:p>
          <a:p>
            <a:pPr marL="0" indent="0">
              <a:buNone/>
            </a:pPr>
            <a:endParaRPr lang="en-US" dirty="0"/>
          </a:p>
          <a:p>
            <a:pPr marL="0" indent="0">
              <a:buNone/>
            </a:pPr>
            <a:r>
              <a:rPr lang="en-US" dirty="0"/>
              <a:t>on:</a:t>
            </a:r>
          </a:p>
          <a:p>
            <a:pPr marL="0" indent="0">
              <a:buNone/>
            </a:pPr>
            <a:r>
              <a:rPr lang="en-US" dirty="0"/>
              <a:t>  </a:t>
            </a:r>
            <a:r>
              <a:rPr lang="en-US" dirty="0" err="1"/>
              <a:t>pull_request</a:t>
            </a:r>
            <a:r>
              <a:rPr lang="en-US" dirty="0"/>
              <a:t>:</a:t>
            </a:r>
          </a:p>
          <a:p>
            <a:pPr marL="0" indent="0">
              <a:buNone/>
            </a:pPr>
            <a:r>
              <a:rPr lang="en-US" dirty="0"/>
              <a:t>    branches: [main]</a:t>
            </a:r>
          </a:p>
          <a:p>
            <a:endParaRPr lang="en-US" dirty="0"/>
          </a:p>
          <a:p>
            <a:pPr marL="0" indent="0">
              <a:buNone/>
            </a:pPr>
            <a:r>
              <a:rPr lang="en-US" dirty="0"/>
              <a:t>jobs:</a:t>
            </a:r>
          </a:p>
          <a:p>
            <a:pPr marL="0" indent="0">
              <a:buNone/>
            </a:pPr>
            <a:r>
              <a:rPr lang="en-US" dirty="0"/>
              <a:t>  build-and-test:</a:t>
            </a:r>
          </a:p>
          <a:p>
            <a:pPr marL="0" indent="0">
              <a:buNone/>
            </a:pPr>
            <a:r>
              <a:rPr lang="en-US" dirty="0"/>
              <a:t>    runs-on: ubuntu-latest</a:t>
            </a: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Coverage Thresholds</a:t>
            </a:r>
          </a:p>
        </p:txBody>
      </p:sp>
      <p:sp>
        <p:nvSpPr>
          <p:cNvPr id="3" name="Content Placeholder 2"/>
          <p:cNvSpPr>
            <a:spLocks noGrp="1"/>
          </p:cNvSpPr>
          <p:nvPr>
            <p:ph idx="1"/>
          </p:nvPr>
        </p:nvSpPr>
        <p:spPr/>
        <p:txBody>
          <a:bodyPr wrap="square">
            <a:normAutofit fontScale="32500" lnSpcReduction="20000"/>
          </a:bodyPr>
          <a:lstStyle/>
          <a:p>
            <a:endParaRPr/>
          </a:p>
          <a:p>
            <a:r>
              <a:t>Coverage gates enforce quality — AI helps configure them correctly</a:t>
            </a:r>
          </a:p>
          <a:p>
            <a:endParaRPr/>
          </a:p>
          <a:p>
            <a:r>
              <a:t>```yaml</a:t>
            </a:r>
          </a:p>
          <a:p>
            <a:r>
              <a:t>name: Test with coverage</a:t>
            </a:r>
          </a:p>
          <a:p>
            <a:r>
              <a:t>  run: |</a:t>
            </a:r>
          </a:p>
          <a:p>
            <a:r>
              <a:t>    dotnet test --collect:"XPlat Code Coverage" \</a:t>
            </a:r>
          </a:p>
          <a:p>
            <a:r>
              <a:t>      -- DataCollectionRunSettings.DataCollectors \</a:t>
            </a:r>
          </a:p>
          <a:p>
            <a:r>
              <a:t>         .DataCollector.Configuration.Threshold=80</a:t>
            </a:r>
          </a:p>
          <a:p>
            <a:endParaRPr/>
          </a:p>
          <a:p>
            <a:r>
              <a:t>name: Upload coverage</a:t>
            </a:r>
          </a:p>
          <a:p>
            <a:r>
              <a:t>  uses: codecov/codecov-action@v4</a:t>
            </a:r>
          </a:p>
          <a:p>
            <a:r>
              <a:t>  with:</a:t>
            </a:r>
          </a:p>
          <a:p>
            <a:r>
              <a:t>    fail_ci_if_error: true</a:t>
            </a:r>
          </a:p>
          <a:p>
            <a:r>
              <a:t>    threshold: 80</a:t>
            </a:r>
          </a:p>
          <a:p>
            <a:r>
              <a:t>```</a:t>
            </a:r>
          </a:p>
          <a:p>
            <a:endParaRPr/>
          </a:p>
          <a:p>
            <a:r>
              <a:t>Ask Copilot: _"How do I fail the build if branch coverage drops below 80%?"_</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 Automation Patterns</a:t>
            </a:r>
          </a:p>
        </p:txBody>
      </p:sp>
      <p:sp>
        <p:nvSpPr>
          <p:cNvPr id="3" name="Content Placeholder 2"/>
          <p:cNvSpPr>
            <a:spLocks noGrp="1"/>
          </p:cNvSpPr>
          <p:nvPr>
            <p:ph idx="1"/>
          </p:nvPr>
        </p:nvSpPr>
        <p:spPr/>
        <p:txBody>
          <a:bodyPr wrap="square">
            <a:normAutofit fontScale="25000" lnSpcReduction="20000"/>
          </a:bodyPr>
          <a:lstStyle/>
          <a:p>
            <a:endParaRPr dirty="0"/>
          </a:p>
          <a:p>
            <a:r>
              <a:rPr dirty="0"/>
              <a:t>AI can generate: matrix builds, dependency caching, artifact upload</a:t>
            </a:r>
          </a:p>
          <a:p>
            <a:endParaRPr dirty="0"/>
          </a:p>
          <a:p>
            <a:r>
              <a:rPr dirty="0"/>
              <a:t>```</a:t>
            </a:r>
            <a:r>
              <a:rPr dirty="0" err="1"/>
              <a:t>yaml</a:t>
            </a:r>
            <a:endParaRPr dirty="0"/>
          </a:p>
          <a:p>
            <a:r>
              <a:rPr dirty="0"/>
              <a:t>strategy:</a:t>
            </a:r>
          </a:p>
          <a:p>
            <a:r>
              <a:rPr dirty="0"/>
              <a:t>  matrix:</a:t>
            </a:r>
          </a:p>
          <a:p>
            <a:r>
              <a:rPr dirty="0"/>
              <a:t>    </a:t>
            </a:r>
            <a:r>
              <a:rPr dirty="0" err="1"/>
              <a:t>os</a:t>
            </a:r>
            <a:r>
              <a:rPr dirty="0"/>
              <a:t>: [ubuntu-latest, windows-latest]</a:t>
            </a:r>
          </a:p>
          <a:p>
            <a:r>
              <a:rPr dirty="0"/>
              <a:t>    dotnet: ["7.x", "8.x"]</a:t>
            </a:r>
          </a:p>
          <a:p>
            <a:endParaRPr dirty="0"/>
          </a:p>
          <a:p>
            <a:r>
              <a:rPr dirty="0"/>
              <a:t>steps:</a:t>
            </a:r>
          </a:p>
          <a:p>
            <a:r>
              <a:rPr dirty="0"/>
              <a:t>uses: actions/cache@v4</a:t>
            </a:r>
          </a:p>
          <a:p>
            <a:r>
              <a:rPr dirty="0"/>
              <a:t>    with:</a:t>
            </a:r>
          </a:p>
          <a:p>
            <a:r>
              <a:rPr dirty="0"/>
              <a:t>      path: ~/.</a:t>
            </a:r>
            <a:r>
              <a:rPr dirty="0" err="1"/>
              <a:t>nuget</a:t>
            </a:r>
            <a:r>
              <a:rPr dirty="0"/>
              <a:t>/packages</a:t>
            </a:r>
          </a:p>
          <a:p>
            <a:r>
              <a:rPr dirty="0"/>
              <a:t>      key: ${{ </a:t>
            </a:r>
            <a:r>
              <a:rPr dirty="0" err="1"/>
              <a:t>runner.os</a:t>
            </a:r>
            <a:r>
              <a:rPr dirty="0"/>
              <a:t> }}-</a:t>
            </a:r>
            <a:r>
              <a:rPr dirty="0" err="1"/>
              <a:t>nuget</a:t>
            </a:r>
            <a:r>
              <a:rPr dirty="0"/>
              <a:t>-</a:t>
            </a:r>
          </a:p>
          <a:p>
            <a:r>
              <a:rPr dirty="0"/>
              <a:t>        ${{ </a:t>
            </a:r>
            <a:r>
              <a:rPr dirty="0" err="1"/>
              <a:t>hashFiles</a:t>
            </a:r>
            <a:r>
              <a:rPr dirty="0"/>
              <a:t>('**/*.</a:t>
            </a:r>
            <a:r>
              <a:rPr dirty="0" err="1"/>
              <a:t>csproj</a:t>
            </a:r>
            <a:r>
              <a:rPr dirty="0"/>
              <a:t>') }}</a:t>
            </a:r>
          </a:p>
          <a:p>
            <a:endParaRPr dirty="0"/>
          </a:p>
          <a:p>
            <a:r>
              <a:rPr dirty="0"/>
              <a:t>uses: actions/upload-artifact@v4</a:t>
            </a:r>
          </a:p>
          <a:p>
            <a:r>
              <a:rPr dirty="0"/>
              <a:t>    with:</a:t>
            </a:r>
          </a:p>
          <a:p>
            <a:r>
              <a:rPr dirty="0"/>
              <a:t>      name: test-results</a:t>
            </a:r>
          </a:p>
          <a:p>
            <a:r>
              <a:rPr dirty="0"/>
              <a:t>      path: </a:t>
            </a:r>
            <a:r>
              <a:rPr dirty="0" err="1"/>
              <a:t>TestResults</a:t>
            </a:r>
            <a:r>
              <a:rPr dirty="0"/>
              <a:t>/</a:t>
            </a:r>
          </a:p>
          <a:p>
            <a:r>
              <a:rPr dirty="0"/>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Maintaining Pipelines with AI</a:t>
            </a:r>
          </a:p>
        </p:txBody>
      </p:sp>
      <p:sp>
        <p:nvSpPr>
          <p:cNvPr id="3" name="Content Placeholder 2"/>
          <p:cNvSpPr>
            <a:spLocks noGrp="1"/>
          </p:cNvSpPr>
          <p:nvPr>
            <p:ph idx="1"/>
          </p:nvPr>
        </p:nvSpPr>
        <p:spPr/>
        <p:txBody>
          <a:bodyPr wrap="square">
            <a:normAutofit fontScale="77500" lnSpcReduction="20000"/>
          </a:bodyPr>
          <a:lstStyle/>
          <a:p>
            <a:endParaRPr dirty="0"/>
          </a:p>
          <a:p>
            <a:pPr marL="0" indent="0">
              <a:buNone/>
            </a:pPr>
            <a:r>
              <a:rPr dirty="0"/>
              <a:t>Pipelines rot — actions deprecate, runners change, dependencies drift</a:t>
            </a:r>
          </a:p>
          <a:p>
            <a:endParaRPr dirty="0"/>
          </a:p>
          <a:p>
            <a:pPr marL="0" indent="0">
              <a:buNone/>
            </a:pPr>
            <a:r>
              <a:rPr dirty="0"/>
              <a:t>Ask Copilot to:</a:t>
            </a:r>
          </a:p>
          <a:p>
            <a:endParaRPr dirty="0"/>
          </a:p>
          <a:p>
            <a:r>
              <a:rPr dirty="0"/>
              <a:t>Explain a failing run from pasted log output</a:t>
            </a:r>
          </a:p>
          <a:p>
            <a:r>
              <a:rPr dirty="0"/>
              <a:t>Upgrade pinned action versions safely</a:t>
            </a:r>
          </a:p>
          <a:p>
            <a:r>
              <a:rPr dirty="0"/>
              <a:t>Refactor a 300-line workflow into reusable workflows</a:t>
            </a:r>
          </a:p>
          <a:p>
            <a:r>
              <a:rPr dirty="0"/>
              <a:t>Add a deployment stage to an existing CI workflow</a:t>
            </a:r>
          </a:p>
          <a:p>
            <a:endParaRPr dirty="0"/>
          </a:p>
          <a:p>
            <a:pPr marL="0" indent="0">
              <a:buNone/>
            </a:pPr>
            <a:r>
              <a:rPr i="1" dirty="0"/>
              <a:t>This workflow is failing with exit code 128 — here is the log. What is wrong?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Reusable Workflows</a:t>
            </a:r>
          </a:p>
        </p:txBody>
      </p:sp>
      <p:sp>
        <p:nvSpPr>
          <p:cNvPr id="3" name="Content Placeholder 2"/>
          <p:cNvSpPr>
            <a:spLocks noGrp="1"/>
          </p:cNvSpPr>
          <p:nvPr>
            <p:ph idx="1"/>
          </p:nvPr>
        </p:nvSpPr>
        <p:spPr/>
        <p:txBody>
          <a:bodyPr wrap="square">
            <a:normAutofit fontScale="25000" lnSpcReduction="20000"/>
          </a:bodyPr>
          <a:lstStyle/>
          <a:p>
            <a:endParaRPr dirty="0"/>
          </a:p>
          <a:p>
            <a:r>
              <a:rPr dirty="0"/>
              <a:t>AI generates caller and callee in one prompt</a:t>
            </a:r>
          </a:p>
          <a:p>
            <a:endParaRPr dirty="0"/>
          </a:p>
          <a:p>
            <a:r>
              <a:rPr dirty="0"/>
              <a:t>```</a:t>
            </a:r>
            <a:r>
              <a:rPr dirty="0" err="1"/>
              <a:t>yaml</a:t>
            </a:r>
            <a:endParaRPr dirty="0"/>
          </a:p>
          <a:p>
            <a:r>
              <a:rPr dirty="0"/>
              <a:t># .</a:t>
            </a:r>
            <a:r>
              <a:rPr dirty="0" err="1"/>
              <a:t>github</a:t>
            </a:r>
            <a:r>
              <a:rPr dirty="0"/>
              <a:t>/workflows/reusable-</a:t>
            </a:r>
            <a:r>
              <a:rPr dirty="0" err="1"/>
              <a:t>test.yml</a:t>
            </a:r>
            <a:endParaRPr dirty="0"/>
          </a:p>
          <a:p>
            <a:r>
              <a:rPr dirty="0"/>
              <a:t>on:</a:t>
            </a:r>
          </a:p>
          <a:p>
            <a:r>
              <a:rPr dirty="0"/>
              <a:t>  </a:t>
            </a:r>
            <a:r>
              <a:rPr dirty="0" err="1"/>
              <a:t>workflow_call</a:t>
            </a:r>
            <a:r>
              <a:rPr dirty="0"/>
              <a:t>:</a:t>
            </a:r>
          </a:p>
          <a:p>
            <a:r>
              <a:rPr dirty="0"/>
              <a:t>    inputs:</a:t>
            </a:r>
          </a:p>
          <a:p>
            <a:r>
              <a:rPr dirty="0"/>
              <a:t>      dotnet-version:</a:t>
            </a:r>
          </a:p>
          <a:p>
            <a:r>
              <a:rPr dirty="0"/>
              <a:t>        required: true</a:t>
            </a:r>
          </a:p>
          <a:p>
            <a:r>
              <a:rPr dirty="0"/>
              <a:t>        type: string</a:t>
            </a:r>
          </a:p>
          <a:p>
            <a:endParaRPr dirty="0"/>
          </a:p>
          <a:p>
            <a:r>
              <a:rPr dirty="0"/>
              <a:t>jobs:</a:t>
            </a:r>
          </a:p>
          <a:p>
            <a:r>
              <a:rPr dirty="0"/>
              <a:t>  test:</a:t>
            </a:r>
          </a:p>
          <a:p>
            <a:r>
              <a:rPr dirty="0"/>
              <a:t>    runs-on: ubuntu-latest</a:t>
            </a:r>
          </a:p>
          <a:p>
            <a:r>
              <a:rPr dirty="0"/>
              <a:t>    steps:</a:t>
            </a:r>
          </a:p>
          <a:p>
            <a:r>
              <a:rPr dirty="0"/>
              <a:t>    uses: actions/checkout@v4</a:t>
            </a:r>
          </a:p>
          <a:p>
            <a:r>
              <a:rPr dirty="0"/>
              <a:t>    uses: actions/setup-dotnet@v4</a:t>
            </a:r>
          </a:p>
          <a:p>
            <a:r>
              <a:rPr dirty="0"/>
              <a:t>        with:</a:t>
            </a:r>
          </a:p>
          <a:p>
            <a:r>
              <a:rPr dirty="0"/>
              <a:t>          dotnet-version: ${{ </a:t>
            </a:r>
            <a:r>
              <a:rPr dirty="0" err="1"/>
              <a:t>inputs.dotnet</a:t>
            </a:r>
            <a:r>
              <a:rPr dirty="0"/>
              <a:t>-version }}</a:t>
            </a:r>
          </a:p>
          <a:p>
            <a:r>
              <a:rPr dirty="0"/>
              <a:t>    run: dotnet test</a:t>
            </a:r>
          </a:p>
          <a:p>
            <a:r>
              <a:rPr dirty="0"/>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Secrets, Permissions, and Security</a:t>
            </a:r>
          </a:p>
        </p:txBody>
      </p:sp>
      <p:sp>
        <p:nvSpPr>
          <p:cNvPr id="3" name="Content Placeholder 2"/>
          <p:cNvSpPr>
            <a:spLocks noGrp="1"/>
          </p:cNvSpPr>
          <p:nvPr>
            <p:ph idx="1"/>
          </p:nvPr>
        </p:nvSpPr>
        <p:spPr/>
        <p:txBody>
          <a:bodyPr wrap="square">
            <a:normAutofit fontScale="40000" lnSpcReduction="20000"/>
          </a:bodyPr>
          <a:lstStyle/>
          <a:p>
            <a:endParaRPr/>
          </a:p>
          <a:p>
            <a:r>
              <a:t>AI assists but YOU own security decisions</a:t>
            </a:r>
          </a:p>
          <a:p>
            <a:endParaRPr/>
          </a:p>
          <a:p>
            <a:r>
              <a:t>```yaml</a:t>
            </a:r>
          </a:p>
          <a:p>
            <a:r>
              <a:t>permissions:</a:t>
            </a:r>
          </a:p>
          <a:p>
            <a:r>
              <a:t>  contents: read</a:t>
            </a:r>
          </a:p>
          <a:p>
            <a:r>
              <a:t>  checks: write # required for test reporters</a:t>
            </a:r>
          </a:p>
          <a:p>
            <a:r>
              <a:t>  pull-requests: write # required for PR comments</a:t>
            </a:r>
          </a:p>
          <a:p>
            <a:endParaRPr/>
          </a:p>
          <a:p>
            <a:r>
              <a:t>env:</a:t>
            </a:r>
          </a:p>
          <a:p>
            <a:r>
              <a:t>  SONAR_TOKEN: ${{ secrets.SONAR_TOKEN }}</a:t>
            </a:r>
          </a:p>
          <a:p>
            <a:r>
              <a:t>```</a:t>
            </a:r>
          </a:p>
          <a:p>
            <a:endParaRPr/>
          </a:p>
          <a:p>
            <a:r>
              <a:t>Ask AI: _"What is the minimum permissions block for uploading coverage?"_</a:t>
            </a:r>
          </a:p>
          <a:p>
            <a:r>
              <a:t>Review AI output — it cannot know your org's secret names</a:t>
            </a:r>
          </a:p>
          <a:p>
            <a:r>
              <a:t>Never commit secrets; use `${{ secrets.NAME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From Zero to Pipeline: Live Workflow</a:t>
            </a:r>
          </a:p>
        </p:txBody>
      </p:sp>
      <p:sp>
        <p:nvSpPr>
          <p:cNvPr id="3" name="Content Placeholder 2"/>
          <p:cNvSpPr>
            <a:spLocks noGrp="1"/>
          </p:cNvSpPr>
          <p:nvPr>
            <p:ph idx="1"/>
          </p:nvPr>
        </p:nvSpPr>
        <p:spPr/>
        <p:txBody>
          <a:bodyPr wrap="square">
            <a:normAutofit fontScale="32500" lnSpcReduction="20000"/>
          </a:bodyPr>
          <a:lstStyle/>
          <a:p>
            <a:endParaRPr/>
          </a:p>
          <a:p>
            <a:r>
              <a:t>```text</a:t>
            </a:r>
          </a:p>
          <a:p>
            <a:r>
              <a:t>1. Describe your stack to Copilot</a:t>
            </a:r>
          </a:p>
          <a:p>
            <a:r>
              <a:t>   "Node 20, Vitest, Playwright e2e, deploys to Azure"</a:t>
            </a:r>
          </a:p>
          <a:p>
            <a:endParaRPr/>
          </a:p>
          <a:p>
            <a:r>
              <a:t>2. Ask for a complete CI workflow</a:t>
            </a:r>
          </a:p>
          <a:p>
            <a:r>
              <a:t>   → Copilot generates trigger, jobs, steps</a:t>
            </a:r>
          </a:p>
          <a:p>
            <a:endParaRPr/>
          </a:p>
          <a:p>
            <a:r>
              <a:t>3. Ask for coverage enforcement</a:t>
            </a:r>
          </a:p>
          <a:p>
            <a:r>
              <a:t>   → Copilot adds threshold + upload steps</a:t>
            </a:r>
          </a:p>
          <a:p>
            <a:endParaRPr/>
          </a:p>
          <a:p>
            <a:r>
              <a:t>4. Ask "what caching should I add?"</a:t>
            </a:r>
          </a:p>
          <a:p>
            <a:r>
              <a:t>   → Copilot adds node_modules cache with correct key</a:t>
            </a:r>
          </a:p>
          <a:p>
            <a:endParaRPr/>
          </a:p>
          <a:p>
            <a:r>
              <a:t>5. Paste a failure log and ask "why?"</a:t>
            </a:r>
          </a:p>
          <a:p>
            <a:r>
              <a:t>   → Copilot diagnoses in seconds</a:t>
            </a:r>
          </a:p>
          <a:p>
            <a:r>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Hands-On Exercise</a:t>
            </a:r>
          </a:p>
        </p:txBody>
      </p:sp>
      <p:sp>
        <p:nvSpPr>
          <p:cNvPr id="3" name="Content Placeholder 2"/>
          <p:cNvSpPr>
            <a:spLocks noGrp="1"/>
          </p:cNvSpPr>
          <p:nvPr>
            <p:ph idx="1"/>
          </p:nvPr>
        </p:nvSpPr>
        <p:spPr/>
        <p:txBody>
          <a:bodyPr wrap="square">
            <a:normAutofit fontScale="77500" lnSpcReduction="20000"/>
          </a:bodyPr>
          <a:lstStyle/>
          <a:p>
            <a:endParaRPr/>
          </a:p>
          <a:p>
            <a:r>
              <a:rPr b="1"/>
              <a:t>Goal</a:t>
            </a:r>
            <a:r>
              <a:t>: Generate a complete CI pipeline for a provided sample repo</a:t>
            </a:r>
          </a:p>
          <a:p>
            <a:endParaRPr/>
          </a:p>
          <a:p>
            <a:r>
              <a:t>1. Open GitHub Copilot Chat in VS Code</a:t>
            </a:r>
          </a:p>
          <a:p>
            <a:r>
              <a:t>2. Ask: _"Create a GitHub Actions CI workflow for this project"_</a:t>
            </a:r>
          </a:p>
          <a:p>
            <a:r>
              <a:t>3. Review and commit the generated YAML</a:t>
            </a:r>
          </a:p>
          <a:p>
            <a:r>
              <a:t>4. Add a coverage threshold at 70%</a:t>
            </a:r>
          </a:p>
          <a:p>
            <a:r>
              <a:t>5. Ask Copilot to explain one step you do not understand</a:t>
            </a:r>
          </a:p>
          <a:p>
            <a:r>
              <a:t>6. </a:t>
            </a:r>
            <a:r>
              <a:rPr b="1"/>
              <a:t>Bonus</a:t>
            </a:r>
            <a:r>
              <a:t>: Add a matrix build for two Node versions</a:t>
            </a:r>
          </a:p>
          <a:p>
            <a:endParaRPr/>
          </a:p>
          <a:p>
            <a:r>
              <a:t>_Sample repo link provided by instructor_</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wrap="square">
            <a:normAutofit/>
          </a:bodyPr>
          <a:lstStyle/>
          <a:p>
            <a:endParaRPr/>
          </a:p>
          <a:p>
            <a:r>
              <a:t>AI dramatically shortens the pipeline feedback loop</a:t>
            </a:r>
          </a:p>
          <a:p>
            <a:r>
              <a:t>Generated YAML is a starting point — review every line</a:t>
            </a:r>
          </a:p>
          <a:p>
            <a:r>
              <a:t>Coverage thresholds belong in both the test runner _and_ the upload action</a:t>
            </a:r>
          </a:p>
          <a:p>
            <a:r>
              <a:t>Reusable workflows reduce drift across repositories</a:t>
            </a:r>
          </a:p>
          <a:p>
            <a:r>
              <a:t>Maintenance conversations are as valuable as generation</a:t>
            </a:r>
          </a:p>
          <a:p>
            <a:r>
              <a:t>You own the pipeline; AI is your co-pilot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AI-Assisted GitHub Pull Requests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Pull Request Lifecycle</a:t>
            </a:r>
          </a:p>
        </p:txBody>
      </p:sp>
      <p:graphicFrame>
        <p:nvGraphicFramePr>
          <p:cNvPr id="3" name="Table 2"/>
          <p:cNvGraphicFramePr>
            <a:graphicFrameLocks noGrp="1"/>
          </p:cNvGraphicFramePr>
          <p:nvPr>
            <p:extLst>
              <p:ext uri="{D42A27DB-BD31-4B8C-83A1-F6EECF244321}">
                <p14:modId xmlns:p14="http://schemas.microsoft.com/office/powerpoint/2010/main" val="1281432355"/>
              </p:ext>
            </p:extLst>
          </p:nvPr>
        </p:nvGraphicFramePr>
        <p:xfrm>
          <a:off x="457199" y="1828800"/>
          <a:ext cx="11183816" cy="4290648"/>
        </p:xfrm>
        <a:graphic>
          <a:graphicData uri="http://schemas.openxmlformats.org/drawingml/2006/table">
            <a:tbl>
              <a:tblPr firstRow="1" bandRow="1">
                <a:tableStyleId>{00A15C55-8517-42AA-B614-E9B94910E393}</a:tableStyleId>
              </a:tblPr>
              <a:tblGrid>
                <a:gridCol w="5591908">
                  <a:extLst>
                    <a:ext uri="{9D8B030D-6E8A-4147-A177-3AD203B41FA5}">
                      <a16:colId xmlns:a16="http://schemas.microsoft.com/office/drawing/2014/main" val="20000"/>
                    </a:ext>
                  </a:extLst>
                </a:gridCol>
                <a:gridCol w="5591908">
                  <a:extLst>
                    <a:ext uri="{9D8B030D-6E8A-4147-A177-3AD203B41FA5}">
                      <a16:colId xmlns:a16="http://schemas.microsoft.com/office/drawing/2014/main" val="20001"/>
                    </a:ext>
                  </a:extLst>
                </a:gridCol>
              </a:tblGrid>
              <a:tr h="715108">
                <a:tc>
                  <a:txBody>
                    <a:bodyPr/>
                    <a:lstStyle/>
                    <a:p>
                      <a:pPr>
                        <a:defRPr sz="1296" b="1"/>
                      </a:pPr>
                      <a:r>
                        <a:rPr sz="2400" dirty="0"/>
                        <a:t>Stage</a:t>
                      </a:r>
                    </a:p>
                  </a:txBody>
                  <a:tcPr/>
                </a:tc>
                <a:tc>
                  <a:txBody>
                    <a:bodyPr/>
                    <a:lstStyle/>
                    <a:p>
                      <a:pPr>
                        <a:defRPr sz="1296" b="1"/>
                      </a:pPr>
                      <a:r>
                        <a:rPr sz="2400" dirty="0"/>
                        <a:t>AI Assistance</a:t>
                      </a:r>
                    </a:p>
                  </a:txBody>
                  <a:tcPr/>
                </a:tc>
                <a:extLst>
                  <a:ext uri="{0D108BD9-81ED-4DB2-BD59-A6C34878D82A}">
                    <a16:rowId xmlns:a16="http://schemas.microsoft.com/office/drawing/2014/main" val="10000"/>
                  </a:ext>
                </a:extLst>
              </a:tr>
              <a:tr h="715108">
                <a:tc>
                  <a:txBody>
                    <a:bodyPr/>
                    <a:lstStyle/>
                    <a:p>
                      <a:r>
                        <a:rPr dirty="0"/>
                        <a:t>Writing code</a:t>
                      </a:r>
                    </a:p>
                  </a:txBody>
                  <a:tcPr/>
                </a:tc>
                <a:tc>
                  <a:txBody>
                    <a:bodyPr/>
                    <a:lstStyle/>
                    <a:p>
                      <a:r>
                        <a:t>Copilot completions</a:t>
                      </a:r>
                    </a:p>
                  </a:txBody>
                  <a:tcPr/>
                </a:tc>
                <a:extLst>
                  <a:ext uri="{0D108BD9-81ED-4DB2-BD59-A6C34878D82A}">
                    <a16:rowId xmlns:a16="http://schemas.microsoft.com/office/drawing/2014/main" val="10001"/>
                  </a:ext>
                </a:extLst>
              </a:tr>
              <a:tr h="715108">
                <a:tc>
                  <a:txBody>
                    <a:bodyPr/>
                    <a:lstStyle/>
                    <a:p>
                      <a:r>
                        <a:t>Drafting the PR</a:t>
                      </a:r>
                    </a:p>
                  </a:txBody>
                  <a:tcPr/>
                </a:tc>
                <a:tc>
                  <a:txBody>
                    <a:bodyPr/>
                    <a:lstStyle/>
                    <a:p>
                      <a:r>
                        <a:t>Generated description</a:t>
                      </a:r>
                    </a:p>
                  </a:txBody>
                  <a:tcPr/>
                </a:tc>
                <a:extLst>
                  <a:ext uri="{0D108BD9-81ED-4DB2-BD59-A6C34878D82A}">
                    <a16:rowId xmlns:a16="http://schemas.microsoft.com/office/drawing/2014/main" val="10002"/>
                  </a:ext>
                </a:extLst>
              </a:tr>
              <a:tr h="715108">
                <a:tc>
                  <a:txBody>
                    <a:bodyPr/>
                    <a:lstStyle/>
                    <a:p>
                      <a:r>
                        <a:t>Code review</a:t>
                      </a:r>
                    </a:p>
                  </a:txBody>
                  <a:tcPr/>
                </a:tc>
                <a:tc>
                  <a:txBody>
                    <a:bodyPr/>
                    <a:lstStyle/>
                    <a:p>
                      <a:r>
                        <a:rPr dirty="0"/>
                        <a:t>Inline suggestions &amp; summaries</a:t>
                      </a:r>
                    </a:p>
                  </a:txBody>
                  <a:tcPr/>
                </a:tc>
                <a:extLst>
                  <a:ext uri="{0D108BD9-81ED-4DB2-BD59-A6C34878D82A}">
                    <a16:rowId xmlns:a16="http://schemas.microsoft.com/office/drawing/2014/main" val="10003"/>
                  </a:ext>
                </a:extLst>
              </a:tr>
              <a:tr h="715108">
                <a:tc>
                  <a:txBody>
                    <a:bodyPr/>
                    <a:lstStyle/>
                    <a:p>
                      <a:r>
                        <a:t>Addressing feedback</a:t>
                      </a:r>
                    </a:p>
                  </a:txBody>
                  <a:tcPr/>
                </a:tc>
                <a:tc>
                  <a:txBody>
                    <a:bodyPr/>
                    <a:lstStyle/>
                    <a:p>
                      <a:r>
                        <a:t>Guided fixes</a:t>
                      </a:r>
                    </a:p>
                  </a:txBody>
                  <a:tcPr/>
                </a:tc>
                <a:extLst>
                  <a:ext uri="{0D108BD9-81ED-4DB2-BD59-A6C34878D82A}">
                    <a16:rowId xmlns:a16="http://schemas.microsoft.com/office/drawing/2014/main" val="10004"/>
                  </a:ext>
                </a:extLst>
              </a:tr>
              <a:tr h="715108">
                <a:tc>
                  <a:txBody>
                    <a:bodyPr/>
                    <a:lstStyle/>
                    <a:p>
                      <a:r>
                        <a:t>Final merge</a:t>
                      </a:r>
                    </a:p>
                  </a:txBody>
                  <a:tcPr/>
                </a:tc>
                <a:tc>
                  <a:txBody>
                    <a:bodyPr/>
                    <a:lstStyle/>
                    <a:p>
                      <a:r>
                        <a:rPr dirty="0"/>
                        <a:t>Automated checks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AI-Generated PR Descriptions</a:t>
            </a:r>
          </a:p>
        </p:txBody>
      </p:sp>
      <p:sp>
        <p:nvSpPr>
          <p:cNvPr id="3" name="Content Placeholder 2"/>
          <p:cNvSpPr>
            <a:spLocks noGrp="1"/>
          </p:cNvSpPr>
          <p:nvPr>
            <p:ph idx="1"/>
          </p:nvPr>
        </p:nvSpPr>
        <p:spPr/>
        <p:txBody>
          <a:bodyPr wrap="square">
            <a:normAutofit fontScale="85000" lnSpcReduction="20000"/>
          </a:bodyPr>
          <a:lstStyle/>
          <a:p>
            <a:endParaRPr dirty="0"/>
          </a:p>
          <a:p>
            <a:r>
              <a:rPr dirty="0"/>
              <a:t>GitHub Copilot can </a:t>
            </a:r>
            <a:r>
              <a:rPr b="1" dirty="0"/>
              <a:t>draft your PR description</a:t>
            </a:r>
            <a:r>
              <a:rPr dirty="0"/>
              <a:t> based on your diff:</a:t>
            </a:r>
          </a:p>
          <a:p>
            <a:endParaRPr dirty="0"/>
          </a:p>
          <a:p>
            <a:r>
              <a:rPr dirty="0"/>
              <a:t>Summarizes </a:t>
            </a:r>
            <a:r>
              <a:rPr b="1" dirty="0"/>
              <a:t>what changed</a:t>
            </a:r>
            <a:r>
              <a:rPr dirty="0"/>
              <a:t> and </a:t>
            </a:r>
            <a:r>
              <a:rPr b="1" dirty="0"/>
              <a:t>why</a:t>
            </a:r>
          </a:p>
          <a:p>
            <a:r>
              <a:rPr dirty="0"/>
              <a:t>Suggests </a:t>
            </a:r>
            <a:r>
              <a:rPr b="1" dirty="0"/>
              <a:t>testing instructions</a:t>
            </a:r>
          </a:p>
          <a:p>
            <a:r>
              <a:rPr dirty="0"/>
              <a:t>Highlights </a:t>
            </a:r>
            <a:r>
              <a:rPr b="1" dirty="0"/>
              <a:t>breaking changes</a:t>
            </a:r>
          </a:p>
          <a:p>
            <a:r>
              <a:rPr dirty="0"/>
              <a:t>Links related </a:t>
            </a:r>
            <a:r>
              <a:rPr b="1" dirty="0"/>
              <a:t>issues and tickets</a:t>
            </a:r>
          </a:p>
          <a:p>
            <a:endParaRPr b="1" dirty="0"/>
          </a:p>
          <a:p>
            <a:pPr marL="0" indent="0">
              <a:buNone/>
            </a:pPr>
            <a:r>
              <a:rPr i="1" dirty="0"/>
              <a:t>Use `</a:t>
            </a:r>
            <a:r>
              <a:rPr i="1" dirty="0" err="1"/>
              <a:t>gh</a:t>
            </a:r>
            <a:r>
              <a:rPr i="1" dirty="0"/>
              <a:t> pr create` with Copilot in the CLI, or the </a:t>
            </a:r>
            <a:r>
              <a:rPr b="1" i="1" dirty="0"/>
              <a:t>GitHub web editor</a:t>
            </a:r>
            <a:r>
              <a:rPr i="1" dirty="0"/>
              <a:t> with AI suggestions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Writing Effective PR Prompts</a:t>
            </a:r>
          </a:p>
        </p:txBody>
      </p:sp>
      <p:sp>
        <p:nvSpPr>
          <p:cNvPr id="3" name="Content Placeholder 2"/>
          <p:cNvSpPr>
            <a:spLocks noGrp="1"/>
          </p:cNvSpPr>
          <p:nvPr>
            <p:ph idx="1"/>
          </p:nvPr>
        </p:nvSpPr>
        <p:spPr/>
        <p:txBody>
          <a:bodyPr wrap="square">
            <a:normAutofit fontScale="32500" lnSpcReduction="20000"/>
          </a:bodyPr>
          <a:lstStyle/>
          <a:p>
            <a:endParaRPr/>
          </a:p>
          <a:p>
            <a:r>
              <a:t>Getting great AI output starts with </a:t>
            </a:r>
            <a:r>
              <a:rPr b="1"/>
              <a:t>good context</a:t>
            </a:r>
            <a:r>
              <a:t>:</a:t>
            </a:r>
          </a:p>
          <a:p>
            <a:endParaRPr/>
          </a:p>
          <a:p>
            <a:r>
              <a:t>```markdown</a:t>
            </a:r>
          </a:p>
          <a:p>
            <a:r>
              <a:t># Good PR Description Prompt Pattern</a:t>
            </a:r>
          </a:p>
          <a:p>
            <a:endParaRPr/>
          </a:p>
          <a:p>
            <a:endParaRPr/>
          </a:p>
          <a:p>
            <a:r>
              <a:t>Brief bullet list of changes</a:t>
            </a:r>
          </a:p>
          <a:p>
            <a:endParaRPr/>
          </a:p>
          <a:p>
            <a:endParaRPr/>
          </a:p>
          <a:p>
            <a:r>
              <a:t>Business context or issue reference</a:t>
            </a:r>
          </a:p>
          <a:p>
            <a:endParaRPr/>
          </a:p>
          <a:p>
            <a:endParaRPr/>
          </a:p>
          <a:p>
            <a:r>
              <a:t>Step-by-step verification</a:t>
            </a:r>
          </a:p>
          <a:p>
            <a:r>
              <a:t>```</a:t>
            </a:r>
          </a:p>
          <a:p>
            <a:endParaRPr/>
          </a:p>
          <a:p>
            <a:r>
              <a:t>Ask Copilot: _"Generate a PR description for these changes that explains the business impact"_</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AI-Powered Code Review</a:t>
            </a:r>
          </a:p>
        </p:txBody>
      </p:sp>
      <p:sp>
        <p:nvSpPr>
          <p:cNvPr id="3" name="Content Placeholder 2"/>
          <p:cNvSpPr>
            <a:spLocks noGrp="1"/>
          </p:cNvSpPr>
          <p:nvPr>
            <p:ph idx="1"/>
          </p:nvPr>
        </p:nvSpPr>
        <p:spPr/>
        <p:txBody>
          <a:bodyPr wrap="square">
            <a:normAutofit fontScale="85000" lnSpcReduction="20000"/>
          </a:bodyPr>
          <a:lstStyle/>
          <a:p>
            <a:endParaRPr dirty="0"/>
          </a:p>
          <a:p>
            <a:pPr marL="0" indent="0">
              <a:buNone/>
            </a:pPr>
            <a:r>
              <a:rPr dirty="0"/>
              <a:t>GitHub Copilot assists reviewers with:</a:t>
            </a:r>
          </a:p>
          <a:p>
            <a:endParaRPr dirty="0"/>
          </a:p>
          <a:p>
            <a:r>
              <a:rPr b="1" dirty="0"/>
              <a:t>Inline explanations</a:t>
            </a:r>
            <a:r>
              <a:rPr dirty="0"/>
              <a:t> of complex code</a:t>
            </a:r>
          </a:p>
          <a:p>
            <a:r>
              <a:rPr b="1" dirty="0"/>
              <a:t>Suggested improvements</a:t>
            </a:r>
            <a:r>
              <a:rPr dirty="0"/>
              <a:t> with rationale</a:t>
            </a:r>
          </a:p>
          <a:p>
            <a:r>
              <a:rPr b="1" dirty="0"/>
              <a:t>Security vulnerability</a:t>
            </a:r>
            <a:r>
              <a:rPr dirty="0"/>
              <a:t> detection</a:t>
            </a:r>
          </a:p>
          <a:p>
            <a:r>
              <a:rPr b="1" dirty="0"/>
              <a:t>Test coverage</a:t>
            </a:r>
            <a:r>
              <a:rPr dirty="0"/>
              <a:t> gap identification</a:t>
            </a:r>
          </a:p>
          <a:p>
            <a:r>
              <a:rPr b="1" dirty="0"/>
              <a:t>Style and convention</a:t>
            </a:r>
            <a:r>
              <a:rPr dirty="0"/>
              <a:t> enforcement</a:t>
            </a:r>
          </a:p>
          <a:p>
            <a:endParaRPr dirty="0"/>
          </a:p>
          <a:p>
            <a:pPr marL="0" indent="0">
              <a:buNone/>
            </a:pPr>
            <a:r>
              <a:rPr i="1" dirty="0"/>
              <a:t>Use `@workspace` in Copilot Chat to ask questions across the entire PR diff</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Copilot PR Summaries</a:t>
            </a:r>
          </a:p>
        </p:txBody>
      </p:sp>
      <p:sp>
        <p:nvSpPr>
          <p:cNvPr id="3" name="Content Placeholder 2"/>
          <p:cNvSpPr>
            <a:spLocks noGrp="1"/>
          </p:cNvSpPr>
          <p:nvPr>
            <p:ph idx="1"/>
          </p:nvPr>
        </p:nvSpPr>
        <p:spPr/>
        <p:txBody>
          <a:bodyPr wrap="square">
            <a:normAutofit fontScale="77500" lnSpcReduction="20000"/>
          </a:bodyPr>
          <a:lstStyle/>
          <a:p>
            <a:endParaRPr/>
          </a:p>
          <a:p>
            <a:r>
              <a:t>GitHub Copilot can </a:t>
            </a:r>
            <a:r>
              <a:rPr b="1"/>
              <a:t>summarize large PRs</a:t>
            </a:r>
            <a:r>
              <a:t> automatically:</a:t>
            </a:r>
          </a:p>
          <a:p>
            <a:endParaRPr/>
          </a:p>
          <a:p>
            <a:r>
              <a:t>Condenses hundreds of lines of diff into a </a:t>
            </a:r>
            <a:r>
              <a:rPr b="1"/>
              <a:t>paragraph</a:t>
            </a:r>
          </a:p>
          <a:p>
            <a:r>
              <a:t>Categorizes changes: _features, fixes, refactors_</a:t>
            </a:r>
          </a:p>
          <a:p>
            <a:r>
              <a:t>Flags </a:t>
            </a:r>
            <a:r>
              <a:rPr b="1"/>
              <a:t>high-risk areas</a:t>
            </a:r>
            <a:r>
              <a:t> that need closer review</a:t>
            </a:r>
          </a:p>
          <a:p>
            <a:r>
              <a:t>Generates a </a:t>
            </a:r>
            <a:r>
              <a:rPr b="1"/>
              <a:t>changelog entry</a:t>
            </a:r>
            <a:r>
              <a:t> from the summary</a:t>
            </a:r>
          </a:p>
          <a:p>
            <a:endParaRPr/>
          </a:p>
          <a:p>
            <a:r>
              <a:t>```</a:t>
            </a:r>
          </a:p>
          <a:p>
            <a:r>
              <a:t>GitHub.com → Pull Request → Copilot Summary button</a:t>
            </a:r>
          </a:p>
          <a:p>
            <a: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Responding to Review Feedback</a:t>
            </a:r>
          </a:p>
        </p:txBody>
      </p:sp>
      <p:sp>
        <p:nvSpPr>
          <p:cNvPr id="3" name="Content Placeholder 2"/>
          <p:cNvSpPr>
            <a:spLocks noGrp="1"/>
          </p:cNvSpPr>
          <p:nvPr>
            <p:ph idx="1"/>
          </p:nvPr>
        </p:nvSpPr>
        <p:spPr/>
        <p:txBody>
          <a:bodyPr wrap="square">
            <a:normAutofit fontScale="92500" lnSpcReduction="20000"/>
          </a:bodyPr>
          <a:lstStyle/>
          <a:p>
            <a:endParaRPr dirty="0"/>
          </a:p>
          <a:p>
            <a:r>
              <a:rPr dirty="0"/>
              <a:t>AI accelerates </a:t>
            </a:r>
            <a:r>
              <a:rPr b="1" dirty="0"/>
              <a:t>addressing reviewer comments</a:t>
            </a:r>
            <a:r>
              <a:rPr dirty="0"/>
              <a:t>:</a:t>
            </a:r>
          </a:p>
          <a:p>
            <a:endParaRPr dirty="0"/>
          </a:p>
          <a:p>
            <a:r>
              <a:rPr dirty="0"/>
              <a:t>1. Copilot suggests </a:t>
            </a:r>
            <a:r>
              <a:rPr b="1" dirty="0"/>
              <a:t>code fixes</a:t>
            </a:r>
            <a:r>
              <a:rPr dirty="0"/>
              <a:t> inline from review comments</a:t>
            </a:r>
          </a:p>
          <a:p>
            <a:r>
              <a:rPr dirty="0"/>
              <a:t>2. Ask Copilot Chat: _"How do I fix this review comment?"_</a:t>
            </a:r>
          </a:p>
          <a:p>
            <a:r>
              <a:rPr dirty="0"/>
              <a:t>3. Copilot </a:t>
            </a:r>
            <a:r>
              <a:rPr b="1" dirty="0" err="1"/>
              <a:t>Autofix</a:t>
            </a:r>
            <a:r>
              <a:rPr dirty="0"/>
              <a:t> resolves flagged security issues</a:t>
            </a:r>
          </a:p>
          <a:p>
            <a:r>
              <a:rPr dirty="0"/>
              <a:t>4. Batch-address similar comments across files</a:t>
            </a:r>
          </a:p>
          <a:p>
            <a:endParaRPr dirty="0"/>
          </a:p>
          <a:p>
            <a:pPr marL="0" indent="0">
              <a:buNone/>
            </a:pPr>
            <a:r>
              <a:rPr i="1" dirty="0"/>
              <a:t>The feedback loop closes faster when AI drafts the fix and the human approves it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Automated PR Checks with AI</a:t>
            </a:r>
          </a:p>
        </p:txBody>
      </p:sp>
      <p:sp>
        <p:nvSpPr>
          <p:cNvPr id="3" name="Content Placeholder 2"/>
          <p:cNvSpPr>
            <a:spLocks noGrp="1"/>
          </p:cNvSpPr>
          <p:nvPr>
            <p:ph idx="1"/>
          </p:nvPr>
        </p:nvSpPr>
        <p:spPr/>
        <p:txBody>
          <a:bodyPr wrap="square">
            <a:normAutofit fontScale="47500" lnSpcReduction="20000"/>
          </a:bodyPr>
          <a:lstStyle/>
          <a:p>
            <a:endParaRPr/>
          </a:p>
          <a:p>
            <a:r>
              <a:t>Integrate AI into your </a:t>
            </a:r>
            <a:r>
              <a:rPr b="1"/>
              <a:t>CI/CD pipeline</a:t>
            </a:r>
            <a:r>
              <a:t>:</a:t>
            </a:r>
          </a:p>
          <a:p>
            <a:endParaRPr/>
          </a:p>
          <a:p>
            <a:r>
              <a:t>```yaml</a:t>
            </a:r>
          </a:p>
          <a:p>
            <a:r>
              <a:t># .github/workflows/pr-review.yml</a:t>
            </a:r>
          </a:p>
          <a:p>
            <a:r>
              <a:t>name: Copilot Code Review</a:t>
            </a:r>
          </a:p>
          <a:p>
            <a:r>
              <a:t>  uses: github/copilot-code-review@v1</a:t>
            </a:r>
          </a:p>
          <a:p>
            <a:endParaRPr/>
          </a:p>
          <a:p>
            <a:r>
              <a:t>name: AI Security Scan</a:t>
            </a:r>
          </a:p>
          <a:p>
            <a:r>
              <a:t>  uses: github/advanced-security-action@v2</a:t>
            </a:r>
          </a:p>
          <a:p>
            <a:r>
              <a:t>```</a:t>
            </a:r>
          </a:p>
          <a:p>
            <a:endParaRPr/>
          </a:p>
          <a:p>
            <a:r>
              <a:t>Run AI review on </a:t>
            </a:r>
            <a:r>
              <a:rPr b="1"/>
              <a:t>every PR automatically</a:t>
            </a:r>
          </a:p>
          <a:p>
            <a:r>
              <a:t>Block merges on </a:t>
            </a:r>
            <a:r>
              <a:rPr b="1"/>
              <a:t>critical AI-flagged issues</a:t>
            </a:r>
          </a:p>
          <a:p>
            <a:r>
              <a:t>Post AI summary as a </a:t>
            </a:r>
            <a:r>
              <a:rPr b="1"/>
              <a:t>PR comment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Patterns</a:t>
            </a:r>
          </a:p>
        </p:txBody>
      </p:sp>
      <p:sp>
        <p:nvSpPr>
          <p:cNvPr id="3" name="Content Placeholder 2"/>
          <p:cNvSpPr>
            <a:spLocks noGrp="1"/>
          </p:cNvSpPr>
          <p:nvPr>
            <p:ph idx="1"/>
          </p:nvPr>
        </p:nvSpPr>
        <p:spPr/>
        <p:txBody>
          <a:bodyPr wrap="square">
            <a:normAutofit fontScale="92500" lnSpcReduction="10000"/>
          </a:bodyPr>
          <a:lstStyle/>
          <a:p>
            <a:pPr marL="0" indent="0">
              <a:buNone/>
            </a:pPr>
            <a:r>
              <a:rPr dirty="0"/>
              <a:t>Teams using AI for PRs report:</a:t>
            </a:r>
          </a:p>
          <a:p>
            <a:endParaRPr dirty="0"/>
          </a:p>
          <a:p>
            <a:r>
              <a:rPr b="1" dirty="0"/>
              <a:t>40-60% reduction</a:t>
            </a:r>
            <a:r>
              <a:rPr dirty="0"/>
              <a:t> in time-to-first-review</a:t>
            </a:r>
          </a:p>
          <a:p>
            <a:r>
              <a:rPr b="1" dirty="0"/>
              <a:t>Clearer PR descriptions</a:t>
            </a:r>
            <a:r>
              <a:rPr dirty="0"/>
              <a:t> leading to fewer questions</a:t>
            </a:r>
          </a:p>
          <a:p>
            <a:r>
              <a:rPr b="1" dirty="0"/>
              <a:t>Faster onboarding</a:t>
            </a:r>
            <a:r>
              <a:rPr dirty="0"/>
              <a:t> — new </a:t>
            </a:r>
            <a:r>
              <a:rPr dirty="0" err="1"/>
              <a:t>devs</a:t>
            </a:r>
            <a:r>
              <a:rPr dirty="0"/>
              <a:t> produce PR-ready code sooner</a:t>
            </a:r>
          </a:p>
          <a:p>
            <a:r>
              <a:rPr b="1" dirty="0"/>
              <a:t>Higher review quality</a:t>
            </a:r>
            <a:r>
              <a:rPr dirty="0"/>
              <a:t> — reviewers catch logic issues, not style issues</a:t>
            </a:r>
          </a:p>
          <a:p>
            <a:endParaRPr dirty="0"/>
          </a:p>
          <a:p>
            <a:pPr marL="0" indent="0">
              <a:buNone/>
            </a:pPr>
            <a:r>
              <a:rPr i="1" dirty="0"/>
              <a:t>Source: GitHub internal data, 2024–2025 Copilot usage studies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Practices</a:t>
            </a:r>
          </a:p>
        </p:txBody>
      </p:sp>
      <p:sp>
        <p:nvSpPr>
          <p:cNvPr id="3" name="Content Placeholder 2"/>
          <p:cNvSpPr>
            <a:spLocks noGrp="1"/>
          </p:cNvSpPr>
          <p:nvPr>
            <p:ph idx="1"/>
          </p:nvPr>
        </p:nvSpPr>
        <p:spPr/>
        <p:txBody>
          <a:bodyPr wrap="square">
            <a:normAutofit fontScale="55000" lnSpcReduction="20000"/>
          </a:bodyPr>
          <a:lstStyle/>
          <a:p>
            <a:endParaRPr/>
          </a:p>
          <a:p>
            <a:r>
              <a:t>✅ </a:t>
            </a:r>
            <a:r>
              <a:rPr b="1"/>
              <a:t>Do</a:t>
            </a:r>
          </a:p>
          <a:p>
            <a:endParaRPr b="1"/>
          </a:p>
          <a:p>
            <a:r>
              <a:t>Review and personalize AI-generated descriptions</a:t>
            </a:r>
          </a:p>
          <a:p>
            <a:r>
              <a:t>Use Copilot Chat to ask questions during review</a:t>
            </a:r>
          </a:p>
          <a:p>
            <a:r>
              <a:t>Enable Copilot Autofix for security alerts</a:t>
            </a:r>
          </a:p>
          <a:p>
            <a:r>
              <a:t>Add a PR template to guide AI output</a:t>
            </a:r>
          </a:p>
          <a:p>
            <a:endParaRPr/>
          </a:p>
          <a:p>
            <a:r>
              <a:t>❌ </a:t>
            </a:r>
            <a:r>
              <a:rPr b="1"/>
              <a:t>Avoid</a:t>
            </a:r>
          </a:p>
          <a:p>
            <a:endParaRPr b="1"/>
          </a:p>
          <a:p>
            <a:r>
              <a:t>Merging AI-generated descriptions without reading them</a:t>
            </a:r>
          </a:p>
          <a:p>
            <a:r>
              <a:t>Treating AI review as a substitute for human judgment</a:t>
            </a:r>
          </a:p>
          <a:p>
            <a:r>
              <a:t>Over-automating to the point of alert fatigue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Getting Started</a:t>
            </a:r>
          </a:p>
        </p:txBody>
      </p:sp>
      <p:sp>
        <p:nvSpPr>
          <p:cNvPr id="3" name="Content Placeholder 2"/>
          <p:cNvSpPr>
            <a:spLocks noGrp="1"/>
          </p:cNvSpPr>
          <p:nvPr>
            <p:ph idx="1"/>
          </p:nvPr>
        </p:nvSpPr>
        <p:spPr/>
        <p:txBody>
          <a:bodyPr wrap="square">
            <a:normAutofit fontScale="55000" lnSpcReduction="20000"/>
          </a:bodyPr>
          <a:lstStyle/>
          <a:p>
            <a:endParaRPr/>
          </a:p>
          <a:p>
            <a:r>
              <a:t>### Start small, build habits:</a:t>
            </a:r>
          </a:p>
          <a:p>
            <a:endParaRPr/>
          </a:p>
          <a:p>
            <a:r>
              <a:t>1. </a:t>
            </a:r>
            <a:r>
              <a:rPr b="1"/>
              <a:t>Today</a:t>
            </a:r>
            <a:r>
              <a:t>: Use Copilot to draft your next PR description</a:t>
            </a:r>
          </a:p>
          <a:p>
            <a:r>
              <a:t>2. </a:t>
            </a:r>
            <a:r>
              <a:rPr b="1"/>
              <a:t>This week</a:t>
            </a:r>
            <a:r>
              <a:t>: Try Copilot Chat during your next code review</a:t>
            </a:r>
          </a:p>
          <a:p>
            <a:r>
              <a:t>3. </a:t>
            </a:r>
            <a:r>
              <a:rPr b="1"/>
              <a:t>This sprint</a:t>
            </a:r>
            <a:r>
              <a:t>: Add a PR template to guide AI descriptions</a:t>
            </a:r>
          </a:p>
          <a:p>
            <a:r>
              <a:t>4. </a:t>
            </a:r>
            <a:r>
              <a:rPr b="1"/>
              <a:t>This quarter</a:t>
            </a:r>
            <a:r>
              <a:t>: Automate AI checks in your CI pipeline</a:t>
            </a:r>
          </a:p>
          <a:p>
            <a:endParaRPr/>
          </a:p>
          <a:p>
            <a:r>
              <a:rPr i="1"/>
              <a:t>📖 Resources:</a:t>
            </a:r>
          </a:p>
          <a:p>
            <a:r>
              <a:t>&gt;</a:t>
            </a:r>
          </a:p>
          <a:p>
            <a:r>
              <a:rPr i="1"/>
              <a:t>GitHub Copilot for PRs: https://docs.github.com/copilot</a:t>
            </a:r>
          </a:p>
          <a:p>
            <a:r>
              <a:rPr i="1"/>
              <a:t>GitHub Advanced Security: https://docs.github.com/en/code-security</a:t>
            </a:r>
          </a:p>
          <a:p>
            <a:r>
              <a:rPr i="1"/>
              <a:t>gh CLI: https://cli.github.com</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graphicFrame>
        <p:nvGraphicFramePr>
          <p:cNvPr id="3" name="Table 2"/>
          <p:cNvGraphicFramePr>
            <a:graphicFrameLocks noGrp="1"/>
          </p:cNvGraphicFramePr>
          <p:nvPr/>
        </p:nvGraphicFramePr>
        <p:xfrm>
          <a:off x="457200" y="1828800"/>
          <a:ext cx="8229600" cy="31089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a:defRPr sz="1296" b="1"/>
                      </a:pPr>
                      <a:r>
                        <a:t>Without AI</a:t>
                      </a:r>
                    </a:p>
                  </a:txBody>
                  <a:tcPr/>
                </a:tc>
                <a:tc>
                  <a:txBody>
                    <a:bodyPr/>
                    <a:lstStyle/>
                    <a:p>
                      <a:pPr>
                        <a:defRPr sz="1296" b="1"/>
                      </a:pPr>
                      <a:r>
                        <a:t>With AI</a:t>
                      </a:r>
                    </a:p>
                  </a:txBody>
                  <a:tcPr/>
                </a:tc>
                <a:extLst>
                  <a:ext uri="{0D108BD9-81ED-4DB2-BD59-A6C34878D82A}">
                    <a16:rowId xmlns:a16="http://schemas.microsoft.com/office/drawing/2014/main" val="10000"/>
                  </a:ext>
                </a:extLst>
              </a:tr>
              <a:tr h="457200">
                <a:tc>
                  <a:txBody>
                    <a:bodyPr/>
                    <a:lstStyle/>
                    <a:p>
                      <a:r>
                        <a:t>Manual PR descriptions</a:t>
                      </a:r>
                    </a:p>
                  </a:txBody>
                  <a:tcPr/>
                </a:tc>
                <a:tc>
                  <a:txBody>
                    <a:bodyPr/>
                    <a:lstStyle/>
                    <a:p>
                      <a:r>
                        <a:t>Auto-generated, structured descriptions</a:t>
                      </a:r>
                    </a:p>
                  </a:txBody>
                  <a:tcPr/>
                </a:tc>
                <a:extLst>
                  <a:ext uri="{0D108BD9-81ED-4DB2-BD59-A6C34878D82A}">
                    <a16:rowId xmlns:a16="http://schemas.microsoft.com/office/drawing/2014/main" val="10001"/>
                  </a:ext>
                </a:extLst>
              </a:tr>
              <a:tr h="457200">
                <a:tc>
                  <a:txBody>
                    <a:bodyPr/>
                    <a:lstStyle/>
                    <a:p>
                      <a:r>
                        <a:t>Line-by-line review</a:t>
                      </a:r>
                    </a:p>
                  </a:txBody>
                  <a:tcPr/>
                </a:tc>
                <a:tc>
                  <a:txBody>
                    <a:bodyPr/>
                    <a:lstStyle/>
                    <a:p>
                      <a:r>
                        <a:t>AI-summarized highlights + human logic review</a:t>
                      </a:r>
                    </a:p>
                  </a:txBody>
                  <a:tcPr/>
                </a:tc>
                <a:extLst>
                  <a:ext uri="{0D108BD9-81ED-4DB2-BD59-A6C34878D82A}">
                    <a16:rowId xmlns:a16="http://schemas.microsoft.com/office/drawing/2014/main" val="10002"/>
                  </a:ext>
                </a:extLst>
              </a:tr>
              <a:tr h="457200">
                <a:tc>
                  <a:txBody>
                    <a:bodyPr/>
                    <a:lstStyle/>
                    <a:p>
                      <a:r>
                        <a:t>Slow feedback loops</a:t>
                      </a:r>
                    </a:p>
                  </a:txBody>
                  <a:tcPr/>
                </a:tc>
                <a:tc>
                  <a:txBody>
                    <a:bodyPr/>
                    <a:lstStyle/>
                    <a:p>
                      <a:r>
                        <a:t>Inline fix suggestions from review comments</a:t>
                      </a:r>
                    </a:p>
                  </a:txBody>
                  <a:tcPr/>
                </a:tc>
                <a:extLst>
                  <a:ext uri="{0D108BD9-81ED-4DB2-BD59-A6C34878D82A}">
                    <a16:rowId xmlns:a16="http://schemas.microsoft.com/office/drawing/2014/main" val="10003"/>
                  </a:ext>
                </a:extLst>
              </a:tr>
              <a:tr h="457200">
                <a:tc>
                  <a:txBody>
                    <a:bodyPr/>
                    <a:lstStyle/>
                    <a:p>
                      <a:r>
                        <a:t>Inconsistent standards</a:t>
                      </a:r>
                    </a:p>
                  </a:txBody>
                  <a:tcPr/>
                </a:tc>
                <a:tc>
                  <a:txBody>
                    <a:bodyPr/>
                    <a:lstStyle/>
                    <a:p>
                      <a:r>
                        <a:t>Automated checks on every PR</a:t>
                      </a:r>
                    </a:p>
                  </a:txBody>
                  <a:tcPr/>
                </a:tc>
                <a:extLst>
                  <a:ext uri="{0D108BD9-81ED-4DB2-BD59-A6C34878D82A}">
                    <a16:rowId xmlns:a16="http://schemas.microsoft.com/office/drawing/2014/main" val="10004"/>
                  </a:ext>
                </a:extLst>
              </a:tr>
              <a:tr h="457200">
                <a:tc>
                  <a:txBody>
                    <a:bodyPr/>
                    <a:lstStyle/>
                    <a:p>
                      <a:r>
                        <a:t>Slow onboarding</a:t>
                      </a:r>
                    </a:p>
                  </a:txBody>
                  <a:tcPr/>
                </a:tc>
                <a:tc>
                  <a:txBody>
                    <a:bodyPr/>
                    <a:lstStyle/>
                    <a:p>
                      <a:r>
                        <a:t>New devs match team standards faster</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Multi-Model Implementation Comparison</a:t>
            </a:r>
          </a:p>
        </p:txBody>
      </p:sp>
      <p:sp>
        <p:nvSpPr>
          <p:cNvPr id="3" name="Content Placeholder 2"/>
          <p:cNvSpPr>
            <a:spLocks noGrp="1"/>
          </p:cNvSpPr>
          <p:nvPr>
            <p:ph idx="1"/>
          </p:nvPr>
        </p:nvSpPr>
        <p:spPr/>
        <p:txBody>
          <a:bodyPr wrap="square">
            <a:normAutofit/>
          </a:bodyPr>
          <a:lstStyle/>
          <a:p>
            <a:endParaRPr dirty="0"/>
          </a:p>
          <a:p>
            <a:r>
              <a:rPr dirty="0"/>
              <a:t>Implementing changes with different AI models</a:t>
            </a:r>
          </a:p>
          <a:p>
            <a:r>
              <a:rPr dirty="0"/>
              <a:t>Comparing approaches and outcomes</a:t>
            </a:r>
          </a:p>
          <a:p>
            <a:r>
              <a:rPr dirty="0"/>
              <a:t>Risk assessment and quality evaluation</a:t>
            </a:r>
          </a:p>
          <a:p>
            <a:r>
              <a:rPr dirty="0"/>
              <a:t>Best practice synthesis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Implementing Changes With Different AI Models</a:t>
            </a:r>
          </a:p>
        </p:txBody>
      </p:sp>
      <p:sp>
        <p:nvSpPr>
          <p:cNvPr id="3" name="Content Placeholder 2"/>
          <p:cNvSpPr>
            <a:spLocks noGrp="1"/>
          </p:cNvSpPr>
          <p:nvPr>
            <p:ph idx="1"/>
          </p:nvPr>
        </p:nvSpPr>
        <p:spPr/>
        <p:txBody>
          <a:bodyPr wrap="square">
            <a:normAutofit fontScale="85000" lnSpcReduction="20000"/>
          </a:bodyPr>
          <a:lstStyle/>
          <a:p>
            <a:endParaRPr/>
          </a:p>
          <a:p>
            <a:r>
              <a:t>Why use multiple models?</a:t>
            </a:r>
          </a:p>
          <a:p>
            <a:r>
              <a:t>Different reasoning styles</a:t>
            </a:r>
          </a:p>
          <a:p>
            <a:r>
              <a:t>Different strengths (refactoring, documentation, architecture)</a:t>
            </a:r>
          </a:p>
          <a:p>
            <a:r>
              <a:t>Cross-validation reduces risk</a:t>
            </a:r>
          </a:p>
          <a:p>
            <a:r>
              <a:t>Helps detect missing context or contradictions</a:t>
            </a:r>
          </a:p>
          <a:p>
            <a:r>
              <a:t>Typical use cases</a:t>
            </a:r>
          </a:p>
          <a:p>
            <a:r>
              <a:t>Refactoring comparisons</a:t>
            </a:r>
          </a:p>
          <a:p>
            <a:r>
              <a:t>Documentation consistency checks</a:t>
            </a:r>
          </a:p>
          <a:p>
            <a:r>
              <a:t>Architecture proposal validation</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Comparing Approaches &amp; Outcomes</a:t>
            </a:r>
          </a:p>
        </p:txBody>
      </p:sp>
      <p:sp>
        <p:nvSpPr>
          <p:cNvPr id="3" name="Content Placeholder 2"/>
          <p:cNvSpPr>
            <a:spLocks noGrp="1"/>
          </p:cNvSpPr>
          <p:nvPr>
            <p:ph idx="1"/>
          </p:nvPr>
        </p:nvSpPr>
        <p:spPr/>
        <p:txBody>
          <a:bodyPr wrap="square">
            <a:normAutofit fontScale="77500" lnSpcReduction="20000"/>
          </a:bodyPr>
          <a:lstStyle/>
          <a:p>
            <a:endParaRPr/>
          </a:p>
          <a:p>
            <a:r>
              <a:t>What to compare</a:t>
            </a:r>
          </a:p>
          <a:p>
            <a:r>
              <a:t>Code structure and clarity</a:t>
            </a:r>
          </a:p>
          <a:p>
            <a:r>
              <a:t>Architectural alignment</a:t>
            </a:r>
          </a:p>
          <a:p>
            <a:r>
              <a:t>Test quality</a:t>
            </a:r>
          </a:p>
          <a:p>
            <a:r>
              <a:t>Documentation completeness</a:t>
            </a:r>
          </a:p>
          <a:p>
            <a:r>
              <a:t>Risk level of proposed changes</a:t>
            </a:r>
          </a:p>
          <a:p>
            <a:r>
              <a:t>Benefits</a:t>
            </a:r>
          </a:p>
          <a:p>
            <a:r>
              <a:t>Identifies the safest implementation</a:t>
            </a:r>
          </a:p>
          <a:p>
            <a:r>
              <a:t>Surfaces hidden assumptions</a:t>
            </a:r>
          </a:p>
          <a:p>
            <a:r>
              <a:t>Highlights model-specific biases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Risk Assessment &amp; Quality Evaluation</a:t>
            </a:r>
          </a:p>
        </p:txBody>
      </p:sp>
      <p:sp>
        <p:nvSpPr>
          <p:cNvPr id="3" name="Content Placeholder 2"/>
          <p:cNvSpPr>
            <a:spLocks noGrp="1"/>
          </p:cNvSpPr>
          <p:nvPr>
            <p:ph idx="1"/>
          </p:nvPr>
        </p:nvSpPr>
        <p:spPr/>
        <p:txBody>
          <a:bodyPr wrap="square">
            <a:normAutofit fontScale="77500" lnSpcReduction="20000"/>
          </a:bodyPr>
          <a:lstStyle/>
          <a:p>
            <a:endParaRPr/>
          </a:p>
          <a:p>
            <a:r>
              <a:t>Risk indicators</a:t>
            </a:r>
          </a:p>
          <a:p>
            <a:r>
              <a:t>Missing tests</a:t>
            </a:r>
          </a:p>
          <a:p>
            <a:r>
              <a:t>Large or unnecessary refactors</a:t>
            </a:r>
          </a:p>
          <a:p>
            <a:r>
              <a:t>Violations of instruction files</a:t>
            </a:r>
          </a:p>
          <a:p>
            <a:r>
              <a:t>Unclear or undocumented behavior</a:t>
            </a:r>
          </a:p>
          <a:p>
            <a:r>
              <a:t>Quality indicators</a:t>
            </a:r>
          </a:p>
          <a:p>
            <a:r>
              <a:t>Small, incremental changes</a:t>
            </a:r>
          </a:p>
          <a:p>
            <a:r>
              <a:t>Clear reasoning</a:t>
            </a:r>
          </a:p>
          <a:p>
            <a:r>
              <a:t>Strong test coverage</a:t>
            </a:r>
          </a:p>
          <a:p>
            <a:r>
              <a:t>Alignment with evergreen principles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 Synthesis</a:t>
            </a:r>
          </a:p>
        </p:txBody>
      </p:sp>
      <p:sp>
        <p:nvSpPr>
          <p:cNvPr id="3" name="Content Placeholder 2"/>
          <p:cNvSpPr>
            <a:spLocks noGrp="1"/>
          </p:cNvSpPr>
          <p:nvPr>
            <p:ph idx="1"/>
          </p:nvPr>
        </p:nvSpPr>
        <p:spPr/>
        <p:txBody>
          <a:bodyPr wrap="square">
            <a:normAutofit fontScale="85000" lnSpcReduction="20000"/>
          </a:bodyPr>
          <a:lstStyle/>
          <a:p>
            <a:endParaRPr/>
          </a:p>
          <a:p>
            <a:r>
              <a:t>Combine the strengths of each model</a:t>
            </a:r>
          </a:p>
          <a:p>
            <a:r>
              <a:t>Use one model for architecture</a:t>
            </a:r>
          </a:p>
          <a:p>
            <a:r>
              <a:t>Another for implementation</a:t>
            </a:r>
          </a:p>
          <a:p>
            <a:r>
              <a:t>Another for documentation</a:t>
            </a:r>
          </a:p>
          <a:p>
            <a:r>
              <a:t>Cross-validate tests and reasoning</a:t>
            </a:r>
          </a:p>
          <a:p>
            <a:r>
              <a:t>Outcome</a:t>
            </a:r>
          </a:p>
          <a:p>
            <a:r>
              <a:t>Higher quality</a:t>
            </a:r>
          </a:p>
          <a:p>
            <a:r>
              <a:t>Lower risk</a:t>
            </a:r>
          </a:p>
          <a:p>
            <a:r>
              <a:t>More predictable modernization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Prompt Multiple Models to Address Technical Debt</a:t>
            </a:r>
          </a:p>
        </p:txBody>
      </p:sp>
      <p:sp>
        <p:nvSpPr>
          <p:cNvPr id="3" name="Content Placeholder 2"/>
          <p:cNvSpPr>
            <a:spLocks noGrp="1"/>
          </p:cNvSpPr>
          <p:nvPr>
            <p:ph sz="half" idx="1"/>
          </p:nvPr>
        </p:nvSpPr>
        <p:spPr/>
        <p:txBody>
          <a:bodyPr wrap="square">
            <a:normAutofit fontScale="55000" lnSpcReduction="20000"/>
          </a:bodyPr>
          <a:lstStyle/>
          <a:p>
            <a:pPr marL="0" indent="0">
              <a:buNone/>
            </a:pPr>
            <a:r>
              <a:rPr b="1" dirty="0"/>
              <a:t>Objectives</a:t>
            </a:r>
          </a:p>
          <a:p>
            <a:r>
              <a:rPr dirty="0"/>
              <a:t>Compare outputs from different models</a:t>
            </a:r>
          </a:p>
          <a:p>
            <a:r>
              <a:rPr dirty="0"/>
              <a:t>Identify strengths and weaknesses</a:t>
            </a:r>
          </a:p>
          <a:p>
            <a:r>
              <a:rPr dirty="0"/>
              <a:t>Evaluate risk and quality</a:t>
            </a:r>
          </a:p>
          <a:p>
            <a:pPr marL="0" indent="0">
              <a:buNone/>
            </a:pPr>
            <a:endParaRPr lang="en-US" dirty="0"/>
          </a:p>
          <a:p>
            <a:pPr marL="0" indent="0">
              <a:buNone/>
            </a:pPr>
            <a:r>
              <a:rPr dirty="0"/>
              <a:t>Activities</a:t>
            </a:r>
          </a:p>
          <a:p>
            <a:pPr marL="0" indent="0">
              <a:buNone/>
            </a:pPr>
            <a:r>
              <a:rPr lang="en-US" dirty="0"/>
              <a:t>1. </a:t>
            </a:r>
            <a:r>
              <a:rPr dirty="0"/>
              <a:t>Select a small technical debt item.</a:t>
            </a:r>
          </a:p>
          <a:p>
            <a:pPr marL="0" indent="0">
              <a:buNone/>
            </a:pPr>
            <a:r>
              <a:rPr lang="en-US" dirty="0"/>
              <a:t>2. </a:t>
            </a:r>
            <a:r>
              <a:rPr dirty="0"/>
              <a:t>Prompt two or more models to propose a fix.</a:t>
            </a:r>
          </a:p>
          <a:p>
            <a:pPr marL="0" indent="0">
              <a:buNone/>
            </a:pPr>
            <a:r>
              <a:rPr lang="en-US" dirty="0"/>
              <a:t>3. </a:t>
            </a:r>
            <a:r>
              <a:rPr dirty="0"/>
              <a:t>Compare outputs for:</a:t>
            </a:r>
          </a:p>
          <a:p>
            <a:pPr lvl="1"/>
            <a:r>
              <a:rPr dirty="0"/>
              <a:t>Safety</a:t>
            </a:r>
          </a:p>
          <a:p>
            <a:pPr lvl="1"/>
            <a:r>
              <a:rPr dirty="0"/>
              <a:t>Clarity</a:t>
            </a:r>
          </a:p>
          <a:p>
            <a:pPr lvl="1"/>
            <a:r>
              <a:rPr dirty="0"/>
              <a:t>Test coverage</a:t>
            </a:r>
          </a:p>
          <a:p>
            <a:pPr lvl="1"/>
            <a:r>
              <a:rPr dirty="0"/>
              <a:t>Architectural alignment</a:t>
            </a:r>
          </a:p>
          <a:p>
            <a:pPr lvl="1"/>
            <a:r>
              <a:rPr dirty="0"/>
              <a:t>  Synthesize the best elements into a final solution.</a:t>
            </a:r>
          </a:p>
          <a:p>
            <a:pPr marL="0" indent="0">
              <a:buNone/>
            </a:pPr>
            <a:endParaRPr lang="en-US" dirty="0"/>
          </a:p>
        </p:txBody>
      </p:sp>
      <p:sp>
        <p:nvSpPr>
          <p:cNvPr id="4" name="Content Placeholder 3">
            <a:extLst>
              <a:ext uri="{FF2B5EF4-FFF2-40B4-BE49-F238E27FC236}">
                <a16:creationId xmlns:a16="http://schemas.microsoft.com/office/drawing/2014/main" id="{2B343E40-796A-9CFE-2689-36EBB6A1DFB7}"/>
              </a:ext>
            </a:extLst>
          </p:cNvPr>
          <p:cNvSpPr>
            <a:spLocks noGrp="1"/>
          </p:cNvSpPr>
          <p:nvPr>
            <p:ph sz="half" idx="2"/>
          </p:nvPr>
        </p:nvSpPr>
        <p:spPr/>
        <p:txBody>
          <a:bodyPr>
            <a:normAutofit fontScale="55000" lnSpcReduction="20000"/>
          </a:bodyPr>
          <a:lstStyle/>
          <a:p>
            <a:pPr marL="0" indent="0">
              <a:buNone/>
            </a:pPr>
            <a:r>
              <a:rPr lang="en-US" b="1" dirty="0"/>
              <a:t>Success Criteria</a:t>
            </a:r>
          </a:p>
          <a:p>
            <a:r>
              <a:rPr lang="en-US" dirty="0"/>
              <a:t>Differences between models are clearly identified</a:t>
            </a:r>
          </a:p>
          <a:p>
            <a:r>
              <a:rPr lang="en-US" dirty="0"/>
              <a:t>Risks and strengths are evaluated</a:t>
            </a:r>
          </a:p>
          <a:p>
            <a:r>
              <a:rPr lang="en-US" dirty="0"/>
              <a:t>Final synthesized solution is safe and incremental</a:t>
            </a:r>
          </a:p>
          <a:p>
            <a:r>
              <a:rPr lang="en-US" dirty="0"/>
              <a:t>Provenance metadata is included</a:t>
            </a:r>
          </a:p>
          <a:p>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Assigning an Issue to Multiple Models</a:t>
            </a:r>
          </a:p>
        </p:txBody>
      </p:sp>
      <p:sp>
        <p:nvSpPr>
          <p:cNvPr id="3" name="Content Placeholder 2"/>
          <p:cNvSpPr>
            <a:spLocks noGrp="1"/>
          </p:cNvSpPr>
          <p:nvPr>
            <p:ph idx="1"/>
          </p:nvPr>
        </p:nvSpPr>
        <p:spPr/>
        <p:txBody>
          <a:bodyPr wrap="square">
            <a:normAutofit fontScale="47500" lnSpcReduction="20000"/>
          </a:bodyPr>
          <a:lstStyle/>
          <a:p>
            <a:endParaRPr/>
          </a:p>
          <a:p>
            <a:r>
              <a:t>Objectives</a:t>
            </a:r>
          </a:p>
          <a:p>
            <a:r>
              <a:t>Practice delegating the same issue to different models</a:t>
            </a:r>
          </a:p>
          <a:p>
            <a:r>
              <a:t>Evaluate how each model interprets constraints</a:t>
            </a:r>
          </a:p>
          <a:p>
            <a:r>
              <a:t>Identify missing context</a:t>
            </a:r>
          </a:p>
          <a:p>
            <a:r>
              <a:t>Activities</a:t>
            </a:r>
          </a:p>
          <a:p>
            <a:r>
              <a:t>Create a GitHub-style issue describing a technical debt item.</a:t>
            </a:r>
          </a:p>
          <a:p>
            <a:r>
              <a:t>Assign the issue to two different models.</a:t>
            </a:r>
          </a:p>
          <a:p>
            <a:r>
              <a:t>Compare their proposed remediation plans.</a:t>
            </a:r>
          </a:p>
          <a:p>
            <a:r>
              <a:t>Identify missing context or contradictions.</a:t>
            </a:r>
          </a:p>
          <a:p>
            <a:r>
              <a:t>Success Criteria</a:t>
            </a:r>
          </a:p>
          <a:p>
            <a:r>
              <a:t>Issue is clear and well-structured</a:t>
            </a:r>
          </a:p>
          <a:p>
            <a:r>
              <a:t>Each model produces a distinct approach</a:t>
            </a:r>
          </a:p>
          <a:p>
            <a:r>
              <a:t>Missing context is identified and documented</a:t>
            </a:r>
          </a:p>
          <a:p>
            <a:r>
              <a:t>A preferred plan is selected based on safety and clarity</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Delegating Work to Multiple Models</a:t>
            </a:r>
          </a:p>
        </p:txBody>
      </p:sp>
      <p:sp>
        <p:nvSpPr>
          <p:cNvPr id="3" name="Content Placeholder 2"/>
          <p:cNvSpPr>
            <a:spLocks noGrp="1"/>
          </p:cNvSpPr>
          <p:nvPr>
            <p:ph idx="1"/>
          </p:nvPr>
        </p:nvSpPr>
        <p:spPr/>
        <p:txBody>
          <a:bodyPr wrap="square">
            <a:normAutofit fontScale="25000" lnSpcReduction="20000"/>
          </a:bodyPr>
          <a:lstStyle/>
          <a:p>
            <a:endParaRPr/>
          </a:p>
          <a:p>
            <a:r>
              <a:t>Objectives</a:t>
            </a:r>
          </a:p>
          <a:p>
            <a:r>
              <a:t>Practice multi-model delegation</a:t>
            </a:r>
          </a:p>
          <a:p>
            <a:r>
              <a:t>Evaluate multi-step reasoning</a:t>
            </a:r>
          </a:p>
          <a:p>
            <a:r>
              <a:t>Synthesize best practices into a unified plan</a:t>
            </a:r>
          </a:p>
          <a:p>
            <a:r>
              <a:t>Activities</a:t>
            </a:r>
          </a:p>
          <a:p>
            <a:r>
              <a:t>Select a multi-step modernization task.</a:t>
            </a:r>
          </a:p>
          <a:p>
            <a:r>
              <a:t>Ask multiple models to:</a:t>
            </a:r>
          </a:p>
          <a:p>
            <a:endParaRPr/>
          </a:p>
          <a:p>
            <a:r>
              <a:t>Analyze the problem</a:t>
            </a:r>
          </a:p>
          <a:p>
            <a:r>
              <a:t>Propose a remediation plan</a:t>
            </a:r>
          </a:p>
          <a:p>
            <a:r>
              <a:t>Suggest tests</a:t>
            </a:r>
          </a:p>
          <a:p>
            <a:r>
              <a:t>Suggest documentation updates</a:t>
            </a:r>
          </a:p>
          <a:p>
            <a:r>
              <a:t>  Compare the outputs.</a:t>
            </a:r>
          </a:p>
          <a:p>
            <a:r>
              <a:t>  Synthesize a final, safe, incremental plan.</a:t>
            </a:r>
          </a:p>
          <a:p>
            <a:r>
              <a:t>  Success Criteria</a:t>
            </a:r>
          </a:p>
          <a:p>
            <a:r>
              <a:t>  Multi-model differences are clearly understood</a:t>
            </a:r>
          </a:p>
          <a:p>
            <a:r>
              <a:t>  Final plan is incremental, reversible, and well-tested</a:t>
            </a:r>
          </a:p>
          <a:p>
            <a:r>
              <a:t>  Documentation and provenance are included</a:t>
            </a:r>
          </a:p>
          <a:p>
            <a:r>
              <a:t>  Risks are identified and mitigated</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Evergreen Software Development - Core Principles</a:t>
            </a:r>
          </a:p>
        </p:txBody>
      </p:sp>
      <p:sp>
        <p:nvSpPr>
          <p:cNvPr id="3" name="Content Placeholder 2"/>
          <p:cNvSpPr>
            <a:spLocks noGrp="1"/>
          </p:cNvSpPr>
          <p:nvPr>
            <p:ph idx="1"/>
          </p:nvPr>
        </p:nvSpPr>
        <p:spPr/>
        <p:txBody>
          <a:bodyPr wrap="square">
            <a:normAutofit fontScale="55000" lnSpcReduction="20000"/>
          </a:bodyPr>
          <a:lstStyle/>
          <a:p>
            <a:endParaRPr dirty="0"/>
          </a:p>
          <a:p>
            <a:pPr marL="0" indent="0">
              <a:buNone/>
            </a:pPr>
            <a:r>
              <a:rPr dirty="0"/>
              <a:t>Intent-First Design</a:t>
            </a:r>
          </a:p>
          <a:p>
            <a:endParaRPr dirty="0"/>
          </a:p>
          <a:p>
            <a:r>
              <a:rPr dirty="0"/>
              <a:t>Define the system's purpose, invariants, and boundaries before writing code to ensure long-term clarity.</a:t>
            </a:r>
          </a:p>
          <a:p>
            <a:pPr lvl="1"/>
            <a:r>
              <a:rPr dirty="0"/>
              <a:t>Stable Interfaces, Evolving Internals</a:t>
            </a:r>
          </a:p>
          <a:p>
            <a:r>
              <a:rPr dirty="0"/>
              <a:t>Keep contracts predictable while allowing implementations to improve continuously.</a:t>
            </a:r>
          </a:p>
          <a:p>
            <a:pPr lvl="1"/>
            <a:r>
              <a:rPr dirty="0"/>
              <a:t>Continuous Regeneration with Guardrails</a:t>
            </a:r>
          </a:p>
          <a:p>
            <a:r>
              <a:rPr dirty="0"/>
              <a:t>Use AI to rewrite or extend components safely, backed by tests, specs, and architectural constraints.</a:t>
            </a:r>
          </a:p>
          <a:p>
            <a:pPr lvl="1"/>
            <a:r>
              <a:rPr dirty="0"/>
              <a:t>Modular, Replaceable Components</a:t>
            </a:r>
          </a:p>
          <a:p>
            <a:r>
              <a:rPr dirty="0"/>
              <a:t>Structure the system so any part can be regenerated, swapped, or upgraded without cascading breakage.</a:t>
            </a:r>
          </a:p>
          <a:p>
            <a:pPr lvl="1"/>
            <a:r>
              <a:rPr dirty="0"/>
              <a:t>Lifecycle Governance</a:t>
            </a:r>
          </a:p>
          <a:p>
            <a:r>
              <a:rPr dirty="0"/>
              <a:t>Maintain quality through automated tests, versioning discipline, and human-in-the-loop validation.</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Why Software Fails to Be Evergreen</a:t>
            </a:r>
          </a:p>
        </p:txBody>
      </p:sp>
      <p:sp>
        <p:nvSpPr>
          <p:cNvPr id="3" name="Content Placeholder 2"/>
          <p:cNvSpPr>
            <a:spLocks noGrp="1"/>
          </p:cNvSpPr>
          <p:nvPr>
            <p:ph idx="1"/>
          </p:nvPr>
        </p:nvSpPr>
        <p:spPr/>
        <p:txBody>
          <a:bodyPr wrap="square">
            <a:normAutofit fontScale="55000" lnSpcReduction="20000"/>
          </a:bodyPr>
          <a:lstStyle/>
          <a:p>
            <a:endParaRPr dirty="0"/>
          </a:p>
          <a:p>
            <a:pPr marL="0" indent="0">
              <a:buNone/>
            </a:pPr>
            <a:r>
              <a:rPr dirty="0"/>
              <a:t>Intent Rot</a:t>
            </a:r>
          </a:p>
          <a:p>
            <a:endParaRPr dirty="0"/>
          </a:p>
          <a:p>
            <a:r>
              <a:rPr dirty="0"/>
              <a:t>The original purpose, constraints, and invariants are undocumented or lost, making safe regeneration impossible.</a:t>
            </a:r>
          </a:p>
          <a:p>
            <a:pPr lvl="1"/>
            <a:r>
              <a:rPr dirty="0"/>
              <a:t>Unstable or Leaky Interfaces</a:t>
            </a:r>
          </a:p>
          <a:p>
            <a:r>
              <a:rPr dirty="0"/>
              <a:t>APIs, data contracts, and boundaries change unpredictably, causing cascading breakage when internals evolve.</a:t>
            </a:r>
          </a:p>
          <a:p>
            <a:pPr lvl="1"/>
            <a:r>
              <a:rPr dirty="0"/>
              <a:t>Tightly Coupled Architecture</a:t>
            </a:r>
          </a:p>
          <a:p>
            <a:r>
              <a:rPr dirty="0"/>
              <a:t>Components depend on each other's internal details, preventing isolated regeneration or replacement.</a:t>
            </a:r>
          </a:p>
          <a:p>
            <a:pPr lvl="1"/>
            <a:r>
              <a:rPr dirty="0"/>
              <a:t>Insufficient Guardrails</a:t>
            </a:r>
          </a:p>
          <a:p>
            <a:r>
              <a:rPr dirty="0"/>
              <a:t>Missing tests, specs, or validation layers mean AI-assisted regeneration can't be trusted to preserve behavior.</a:t>
            </a:r>
          </a:p>
          <a:p>
            <a:pPr lvl="1"/>
            <a:r>
              <a:rPr dirty="0"/>
              <a:t>One-Off Patches and Drift</a:t>
            </a:r>
          </a:p>
          <a:p>
            <a:r>
              <a:rPr dirty="0"/>
              <a:t>Ad-hoc fixes accumulate, diverging the system from its intended design and making regeneration unsafe.</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endParaRPr/>
          </a:p>
          <a:p>
            <a:r>
              <a:t>Intro</a:t>
            </a:r>
          </a:p>
          <a:p>
            <a:r>
              <a:t>AI Assisted Software Development</a:t>
            </a:r>
          </a:p>
          <a:p>
            <a:r>
              <a:t>Intro to Copilot</a:t>
            </a:r>
          </a:p>
          <a:p>
            <a:r>
              <a:t>AI Assistance in Action</a:t>
            </a:r>
          </a:p>
          <a:p>
            <a:r>
              <a:rPr b="1"/>
              <a:t>▶ Adding AI Guardrails</a:t>
            </a:r>
          </a:p>
          <a:p>
            <a:r>
              <a:t>Managing Context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Adding AI Guardrails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Adding AI Guardrails</a:t>
            </a:r>
          </a:p>
        </p:txBody>
      </p:sp>
      <p:sp>
        <p:nvSpPr>
          <p:cNvPr id="3" name="Content Placeholder 2"/>
          <p:cNvSpPr>
            <a:spLocks noGrp="1"/>
          </p:cNvSpPr>
          <p:nvPr>
            <p:ph idx="1"/>
          </p:nvPr>
        </p:nvSpPr>
        <p:spPr/>
        <p:txBody>
          <a:bodyPr wrap="square">
            <a:normAutofit/>
          </a:bodyPr>
          <a:lstStyle/>
          <a:p>
            <a:endParaRPr dirty="0"/>
          </a:p>
          <a:p>
            <a:r>
              <a:rPr dirty="0"/>
              <a:t>Adding AI Guardrails</a:t>
            </a:r>
          </a:p>
          <a:p>
            <a:r>
              <a:rPr dirty="0"/>
              <a:t>Instruction Files</a:t>
            </a:r>
          </a:p>
          <a:p>
            <a:r>
              <a:rPr dirty="0"/>
              <a:t>Instruction File `</a:t>
            </a:r>
            <a:r>
              <a:rPr dirty="0" err="1"/>
              <a:t>applyTo</a:t>
            </a:r>
            <a:r>
              <a:rPr dirty="0"/>
              <a:t>` Patterns</a:t>
            </a:r>
          </a:p>
          <a:p>
            <a:r>
              <a:rPr dirty="0"/>
              <a:t>Core Instructions</a:t>
            </a:r>
          </a:p>
          <a:p>
            <a:r>
              <a:rPr dirty="0"/>
              <a:t>Organizational vs. Repository Instruction Files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Adding AI Guardrails</a:t>
            </a:r>
          </a:p>
        </p:txBody>
      </p:sp>
      <p:sp>
        <p:nvSpPr>
          <p:cNvPr id="3" name="Content Placeholder 2"/>
          <p:cNvSpPr>
            <a:spLocks noGrp="1"/>
          </p:cNvSpPr>
          <p:nvPr>
            <p:ph idx="1"/>
          </p:nvPr>
        </p:nvSpPr>
        <p:spPr/>
        <p:txBody>
          <a:bodyPr wrap="square">
            <a:normAutofit/>
          </a:bodyPr>
          <a:lstStyle/>
          <a:p>
            <a:endParaRPr dirty="0"/>
          </a:p>
          <a:p>
            <a:r>
              <a:rPr dirty="0"/>
              <a:t>What are instructions, prompts, and </a:t>
            </a:r>
            <a:r>
              <a:rPr lang="en-US" dirty="0"/>
              <a:t>a</a:t>
            </a:r>
            <a:r>
              <a:rPr dirty="0"/>
              <a:t>gents</a:t>
            </a:r>
          </a:p>
          <a:p>
            <a:r>
              <a:rPr dirty="0"/>
              <a:t>Creating instruction, prompt, and </a:t>
            </a:r>
            <a:r>
              <a:rPr lang="en-US" dirty="0"/>
              <a:t>a</a:t>
            </a:r>
            <a:r>
              <a:rPr dirty="0"/>
              <a:t>gent files</a:t>
            </a:r>
          </a:p>
          <a:p>
            <a:r>
              <a:rPr dirty="0"/>
              <a:t>Meta prompts that generate these files</a:t>
            </a:r>
          </a:p>
          <a:p>
            <a:r>
              <a:rPr dirty="0"/>
              <a:t>Instructions for generating artifacts</a:t>
            </a:r>
          </a:p>
          <a:p>
            <a:r>
              <a:rPr dirty="0"/>
              <a:t>Enforcing provenance for AI-assisted artifacts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Instructions, Prompts &amp; Agents</a:t>
            </a:r>
          </a:p>
        </p:txBody>
      </p:sp>
      <p:sp>
        <p:nvSpPr>
          <p:cNvPr id="3" name="Content Placeholder 2"/>
          <p:cNvSpPr>
            <a:spLocks noGrp="1"/>
          </p:cNvSpPr>
          <p:nvPr>
            <p:ph idx="1"/>
          </p:nvPr>
        </p:nvSpPr>
        <p:spPr/>
        <p:txBody>
          <a:bodyPr wrap="square">
            <a:normAutofit/>
          </a:bodyPr>
          <a:lstStyle/>
          <a:p>
            <a:endParaRPr/>
          </a:p>
          <a:p>
            <a:r>
              <a:t>Definitions</a:t>
            </a:r>
          </a:p>
          <a:p>
            <a:r>
              <a:t>Instructions – Persistent rules that guide the model's behavior</a:t>
            </a:r>
          </a:p>
          <a:p>
            <a:r>
              <a:t>Prompts – Task-specific requests defining intent and constraints</a:t>
            </a:r>
          </a:p>
          <a:p>
            <a:r>
              <a:t>Agents – Pre-configured personas optimized for workflows</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Creating Instruction, Prompt &amp; Agent Files</a:t>
            </a:r>
          </a:p>
        </p:txBody>
      </p:sp>
      <p:sp>
        <p:nvSpPr>
          <p:cNvPr id="3" name="Content Placeholder 2"/>
          <p:cNvSpPr>
            <a:spLocks noGrp="1"/>
          </p:cNvSpPr>
          <p:nvPr>
            <p:ph idx="1"/>
          </p:nvPr>
        </p:nvSpPr>
        <p:spPr/>
        <p:txBody>
          <a:bodyPr wrap="square">
            <a:normAutofit lnSpcReduction="10000"/>
          </a:bodyPr>
          <a:lstStyle/>
          <a:p>
            <a:endParaRPr dirty="0"/>
          </a:p>
          <a:p>
            <a:r>
              <a:rPr dirty="0"/>
              <a:t>Why create files?</a:t>
            </a:r>
          </a:p>
          <a:p>
            <a:pPr lvl="1"/>
            <a:r>
              <a:rPr dirty="0"/>
              <a:t>Ensures repeatability</a:t>
            </a:r>
          </a:p>
          <a:p>
            <a:pPr lvl="1"/>
            <a:r>
              <a:rPr dirty="0"/>
              <a:t>Reduces token usage</a:t>
            </a:r>
          </a:p>
          <a:p>
            <a:pPr lvl="1"/>
            <a:r>
              <a:rPr dirty="0"/>
              <a:t>Provides version-controlled guardrails</a:t>
            </a:r>
          </a:p>
          <a:p>
            <a:pPr lvl="1"/>
            <a:r>
              <a:rPr dirty="0"/>
              <a:t>Enables team-wide consistency</a:t>
            </a:r>
          </a:p>
          <a:p>
            <a:r>
              <a:rPr dirty="0"/>
              <a:t>File types</a:t>
            </a:r>
          </a:p>
          <a:p>
            <a:pPr lvl="1"/>
            <a:r>
              <a:rPr dirty="0"/>
              <a:t>.</a:t>
            </a:r>
            <a:r>
              <a:rPr dirty="0" err="1"/>
              <a:t>github</a:t>
            </a:r>
            <a:r>
              <a:rPr dirty="0"/>
              <a:t>/instructions/myinstructions.instructions.md</a:t>
            </a:r>
          </a:p>
          <a:p>
            <a:pPr lvl="1"/>
            <a:r>
              <a:rPr dirty="0"/>
              <a:t>.</a:t>
            </a:r>
            <a:r>
              <a:rPr dirty="0" err="1"/>
              <a:t>github</a:t>
            </a:r>
            <a:r>
              <a:rPr dirty="0"/>
              <a:t>/copilot/Promptfiles/myprompt.prompt.md</a:t>
            </a:r>
          </a:p>
          <a:p>
            <a:pPr lvl="1"/>
            <a:r>
              <a:rPr dirty="0"/>
              <a:t>.</a:t>
            </a:r>
            <a:r>
              <a:rPr dirty="0" err="1"/>
              <a:t>github</a:t>
            </a:r>
            <a:r>
              <a:rPr dirty="0"/>
              <a:t>/chatmodes/mychatmode.chatmode.md</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Meta Prompts</a:t>
            </a:r>
          </a:p>
        </p:txBody>
      </p:sp>
      <p:sp>
        <p:nvSpPr>
          <p:cNvPr id="3" name="Content Placeholder 2"/>
          <p:cNvSpPr>
            <a:spLocks noGrp="1"/>
          </p:cNvSpPr>
          <p:nvPr>
            <p:ph idx="1"/>
          </p:nvPr>
        </p:nvSpPr>
        <p:spPr/>
        <p:txBody>
          <a:bodyPr wrap="square">
            <a:normAutofit/>
          </a:bodyPr>
          <a:lstStyle/>
          <a:p>
            <a:endParaRPr/>
          </a:p>
          <a:p>
            <a:r>
              <a:t>Meta prompts guide:</a:t>
            </a:r>
          </a:p>
          <a:p>
            <a:r>
              <a:t>Creation of instruction files</a:t>
            </a:r>
          </a:p>
          <a:p>
            <a:r>
              <a:t>Generation of reusable prompts</a:t>
            </a:r>
          </a:p>
          <a:p>
            <a:r>
              <a:t>Construction of Agents</a:t>
            </a:r>
          </a:p>
          <a:p>
            <a:r>
              <a:t>Provide consistent formatting, structure, content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Instructions for Generating Artifacts</a:t>
            </a:r>
          </a:p>
        </p:txBody>
      </p:sp>
      <p:sp>
        <p:nvSpPr>
          <p:cNvPr id="3" name="Content Placeholder 2"/>
          <p:cNvSpPr>
            <a:spLocks noGrp="1"/>
          </p:cNvSpPr>
          <p:nvPr>
            <p:ph idx="1"/>
          </p:nvPr>
        </p:nvSpPr>
        <p:spPr/>
        <p:txBody>
          <a:bodyPr wrap="square">
            <a:normAutofit/>
          </a:bodyPr>
          <a:lstStyle/>
          <a:p>
            <a:endParaRPr dirty="0"/>
          </a:p>
          <a:p>
            <a:r>
              <a:rPr dirty="0"/>
              <a:t>Best practices</a:t>
            </a:r>
          </a:p>
          <a:p>
            <a:r>
              <a:rPr dirty="0"/>
              <a:t>Define the artifact type</a:t>
            </a:r>
          </a:p>
          <a:p>
            <a:r>
              <a:rPr dirty="0"/>
              <a:t>Specify required sections</a:t>
            </a:r>
          </a:p>
          <a:p>
            <a:r>
              <a:rPr dirty="0"/>
              <a:t>Provide examples or templates</a:t>
            </a:r>
          </a:p>
          <a:p>
            <a:r>
              <a:rPr dirty="0"/>
              <a:t>Include acceptance criteria</a:t>
            </a:r>
          </a:p>
          <a:p>
            <a:r>
              <a:rPr dirty="0"/>
              <a:t>Require the model to restate constraints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Instruction Files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Persistent AI Behavioral Guidelines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Are Instruction Files?</a:t>
            </a:r>
          </a:p>
        </p:txBody>
      </p:sp>
      <p:sp>
        <p:nvSpPr>
          <p:cNvPr id="3" name="Content Placeholder 2"/>
          <p:cNvSpPr>
            <a:spLocks noGrp="1"/>
          </p:cNvSpPr>
          <p:nvPr>
            <p:ph idx="1"/>
          </p:nvPr>
        </p:nvSpPr>
        <p:spPr/>
        <p:txBody>
          <a:bodyPr wrap="square">
            <a:normAutofit/>
          </a:bodyPr>
          <a:lstStyle/>
          <a:p>
            <a:r>
              <a:rPr dirty="0"/>
              <a:t>Persistent configuration files that define AI behavior patterns</a:t>
            </a:r>
          </a:p>
          <a:p>
            <a:r>
              <a:rPr dirty="0"/>
              <a:t>Applied automatically across multiple interactions</a:t>
            </a:r>
          </a:p>
          <a:p>
            <a:r>
              <a:rPr dirty="0"/>
              <a:t>Establish consistent working standards and constraints</a:t>
            </a:r>
          </a:p>
          <a:p>
            <a:r>
              <a:rPr dirty="0"/>
              <a:t>Key Characteristics</a:t>
            </a:r>
          </a:p>
          <a:p>
            <a:pPr lvl="1"/>
            <a:r>
              <a:rPr dirty="0"/>
              <a:t>Scope: Repository-wide or context-specific</a:t>
            </a:r>
          </a:p>
          <a:p>
            <a:pPr lvl="1"/>
            <a:r>
              <a:rPr dirty="0"/>
              <a:t>Persistence: Active across all relevant AI interactions</a:t>
            </a:r>
          </a:p>
          <a:p>
            <a:pPr lvl="1"/>
            <a:r>
              <a:rPr dirty="0"/>
              <a:t>Purpose: Define “how” AI should work, not “what” to do</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Instruction File Structure</a:t>
            </a:r>
          </a:p>
        </p:txBody>
      </p:sp>
      <p:sp>
        <p:nvSpPr>
          <p:cNvPr id="3" name="Content Placeholder 2"/>
          <p:cNvSpPr>
            <a:spLocks noGrp="1"/>
          </p:cNvSpPr>
          <p:nvPr>
            <p:ph idx="1"/>
          </p:nvPr>
        </p:nvSpPr>
        <p:spPr/>
        <p:txBody>
          <a:bodyPr wrap="square">
            <a:normAutofit fontScale="25000" lnSpcReduction="20000"/>
          </a:bodyPr>
          <a:lstStyle/>
          <a:p>
            <a:endParaRPr dirty="0"/>
          </a:p>
          <a:p>
            <a:r>
              <a:rPr dirty="0"/>
              <a:t>```markdown</a:t>
            </a:r>
          </a:p>
          <a:p>
            <a:r>
              <a:rPr dirty="0"/>
              <a:t>---</a:t>
            </a:r>
          </a:p>
          <a:p>
            <a:r>
              <a:rPr dirty="0"/>
              <a:t>description: Azure best practices for AI development</a:t>
            </a:r>
          </a:p>
          <a:p>
            <a:r>
              <a:rPr dirty="0" err="1"/>
              <a:t>applyTo</a:t>
            </a:r>
            <a:r>
              <a:rPr dirty="0"/>
              <a:t>: "**" # File pattern scope</a:t>
            </a:r>
          </a:p>
          <a:p>
            <a:r>
              <a:rPr dirty="0"/>
              <a:t>---</a:t>
            </a:r>
          </a:p>
          <a:p>
            <a:endParaRPr dirty="0"/>
          </a:p>
          <a:p>
            <a:endParaRPr dirty="0"/>
          </a:p>
          <a:p>
            <a:r>
              <a:rPr dirty="0"/>
              <a:t>Use Azure Tools when handling Azure requests</a:t>
            </a:r>
          </a:p>
          <a:p>
            <a:r>
              <a:rPr dirty="0"/>
              <a:t>Follow security best practices</a:t>
            </a:r>
          </a:p>
          <a:p>
            <a:r>
              <a:rPr dirty="0"/>
              <a:t>Implement proper error handling</a:t>
            </a:r>
          </a:p>
          <a:p>
            <a:r>
              <a:rPr dirty="0"/>
              <a:t>Generate comprehensive documentation</a:t>
            </a:r>
          </a:p>
          <a:p>
            <a:endParaRPr dirty="0"/>
          </a:p>
          <a:p>
            <a:endParaRPr dirty="0"/>
          </a:p>
          <a:p>
            <a:r>
              <a:rPr dirty="0"/>
              <a:t>Write tests before implementation</a:t>
            </a:r>
          </a:p>
          <a:p>
            <a:r>
              <a:rPr dirty="0"/>
              <a:t>Use dependency injection patterns</a:t>
            </a:r>
          </a:p>
          <a:p>
            <a:r>
              <a:rPr dirty="0"/>
              <a:t>Follow naming conventions</a:t>
            </a:r>
          </a:p>
          <a:p>
            <a:r>
              <a:rPr dirty="0"/>
              <a:t>Include proper logging</a:t>
            </a:r>
          </a:p>
          <a:p>
            <a:r>
              <a:rPr dirty="0"/>
              <a:t>```</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Instruction Files: Use Cases</a:t>
            </a:r>
          </a:p>
        </p:txBody>
      </p:sp>
      <p:sp>
        <p:nvSpPr>
          <p:cNvPr id="3" name="Content Placeholder 2"/>
          <p:cNvSpPr>
            <a:spLocks noGrp="1"/>
          </p:cNvSpPr>
          <p:nvPr>
            <p:ph idx="1"/>
          </p:nvPr>
        </p:nvSpPr>
        <p:spPr/>
        <p:txBody>
          <a:bodyPr wrap="square">
            <a:normAutofit lnSpcReduction="10000"/>
          </a:bodyPr>
          <a:lstStyle/>
          <a:p>
            <a:endParaRPr dirty="0"/>
          </a:p>
          <a:p>
            <a:r>
              <a:rPr dirty="0"/>
              <a:t>Perfect For:</a:t>
            </a:r>
          </a:p>
          <a:p>
            <a:pPr lvl="1"/>
            <a:r>
              <a:rPr dirty="0"/>
              <a:t>Coding Standards → Consistent style across projects</a:t>
            </a:r>
          </a:p>
          <a:p>
            <a:pPr lvl="1"/>
            <a:r>
              <a:rPr dirty="0"/>
              <a:t>Security Policies → Enforce security practices</a:t>
            </a:r>
          </a:p>
          <a:p>
            <a:pPr lvl="1"/>
            <a:r>
              <a:rPr dirty="0"/>
              <a:t>Quality Gates → Define testing and review requirements</a:t>
            </a:r>
          </a:p>
          <a:p>
            <a:pPr lvl="1"/>
            <a:r>
              <a:rPr dirty="0"/>
              <a:t>Technology Constraints → Specify approved frameworks/tools</a:t>
            </a:r>
          </a:p>
          <a:p>
            <a:r>
              <a:rPr dirty="0"/>
              <a:t>Examples:</a:t>
            </a:r>
          </a:p>
          <a:p>
            <a:pPr lvl="1"/>
            <a:r>
              <a:rPr dirty="0"/>
              <a:t>azure-development.instructions.md</a:t>
            </a:r>
          </a:p>
          <a:p>
            <a:pPr lvl="1"/>
            <a:r>
              <a:rPr dirty="0"/>
              <a:t>testing-standards.instructions.md</a:t>
            </a:r>
          </a:p>
          <a:p>
            <a:pPr lvl="1"/>
            <a:r>
              <a:rPr dirty="0"/>
              <a:t>security-requirements.instructions.md</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a:t>
            </a:r>
            <a:r>
              <a:rPr dirty="0" err="1"/>
              <a:t>applyTo</a:t>
            </a:r>
            <a:endParaRPr dirty="0"/>
          </a:p>
        </p:txBody>
      </p:sp>
      <p:sp>
        <p:nvSpPr>
          <p:cNvPr id="3" name="Content Placeholder 2"/>
          <p:cNvSpPr>
            <a:spLocks noGrp="1"/>
          </p:cNvSpPr>
          <p:nvPr>
            <p:ph idx="1"/>
          </p:nvPr>
        </p:nvSpPr>
        <p:spPr/>
        <p:txBody>
          <a:bodyPr wrap="square">
            <a:normAutofit fontScale="47500" lnSpcReduction="20000"/>
          </a:bodyPr>
          <a:lstStyle/>
          <a:p>
            <a:endParaRPr dirty="0"/>
          </a:p>
          <a:p>
            <a:pPr marL="0" indent="0">
              <a:buNone/>
            </a:pPr>
            <a:r>
              <a:rPr dirty="0"/>
              <a:t>The </a:t>
            </a:r>
            <a:r>
              <a:rPr dirty="0" err="1"/>
              <a:t>applyTo</a:t>
            </a:r>
            <a:r>
              <a:rPr dirty="0"/>
              <a:t> field in instruction file front matter controls </a:t>
            </a:r>
            <a:r>
              <a:rPr b="1" dirty="0"/>
              <a:t>which files</a:t>
            </a:r>
            <a:r>
              <a:rPr dirty="0"/>
              <a:t> the instructions apply to.</a:t>
            </a:r>
          </a:p>
          <a:p>
            <a:endParaRPr dirty="0"/>
          </a:p>
          <a:p>
            <a:r>
              <a:rPr dirty="0"/>
              <a:t>```</a:t>
            </a:r>
            <a:r>
              <a:rPr dirty="0" err="1"/>
              <a:t>yaml</a:t>
            </a:r>
            <a:endParaRPr dirty="0"/>
          </a:p>
          <a:p>
            <a:r>
              <a:rPr dirty="0"/>
              <a:t>---</a:t>
            </a:r>
          </a:p>
          <a:p>
            <a:r>
              <a:rPr dirty="0" err="1"/>
              <a:t>applyTo</a:t>
            </a:r>
            <a:r>
              <a:rPr dirty="0"/>
              <a:t>: "**/*.md" # Applies to all Markdown files</a:t>
            </a:r>
          </a:p>
          <a:p>
            <a:r>
              <a:rPr dirty="0"/>
              <a:t>---</a:t>
            </a:r>
          </a:p>
          <a:p>
            <a:r>
              <a:rPr dirty="0"/>
              <a:t>```</a:t>
            </a:r>
          </a:p>
          <a:p>
            <a:endParaRPr dirty="0"/>
          </a:p>
          <a:p>
            <a:r>
              <a:rPr b="1" dirty="0"/>
              <a:t>Why It Matters:</a:t>
            </a:r>
          </a:p>
          <a:p>
            <a:endParaRPr b="1" dirty="0"/>
          </a:p>
          <a:p>
            <a:r>
              <a:rPr dirty="0"/>
              <a:t>✅ Apply architecture patterns only to code files</a:t>
            </a:r>
          </a:p>
          <a:p>
            <a:r>
              <a:rPr dirty="0"/>
              <a:t>✅ Apply documentation standards only to docs</a:t>
            </a:r>
          </a:p>
          <a:p>
            <a:r>
              <a:rPr dirty="0"/>
              <a:t>✅ Avoid conflicting instructions</a:t>
            </a:r>
          </a:p>
          <a:p>
            <a:r>
              <a:rPr dirty="0"/>
              <a:t>✅ Improve Copilot performance by reducing context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Instruction File `</a:t>
            </a:r>
            <a:r>
              <a:rPr dirty="0" err="1"/>
              <a:t>applyTo</a:t>
            </a:r>
            <a:r>
              <a:rPr dirty="0"/>
              <a:t>` Patterns</a:t>
            </a:r>
          </a:p>
        </p:txBody>
      </p:sp>
      <p:sp>
        <p:nvSpPr>
          <p:cNvPr id="3" name="Content Placeholder 2"/>
          <p:cNvSpPr>
            <a:spLocks noGrp="1"/>
          </p:cNvSpPr>
          <p:nvPr>
            <p:ph idx="1"/>
          </p:nvPr>
        </p:nvSpPr>
        <p:spPr/>
        <p:txBody>
          <a:bodyPr wrap="square">
            <a:normAutofit/>
          </a:bodyPr>
          <a:lstStyle/>
          <a:p>
            <a:endParaRPr dirty="0"/>
          </a:p>
          <a:p>
            <a:r>
              <a:rPr b="1" dirty="0"/>
              <a:t>Understanding Glob Pattern Matching</a:t>
            </a:r>
          </a:p>
          <a:p>
            <a:r>
              <a:rPr dirty="0"/>
              <a:t>Controlling When Instructions Apply to Your Code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Where </a:t>
            </a:r>
            <a:r>
              <a:rPr lang="en-US" dirty="0" err="1"/>
              <a:t>appliesTo</a:t>
            </a:r>
            <a:r>
              <a:rPr lang="en-US" dirty="0"/>
              <a:t> Fits</a:t>
            </a:r>
            <a:endParaRPr dirty="0"/>
          </a:p>
        </p:txBody>
      </p:sp>
      <p:sp>
        <p:nvSpPr>
          <p:cNvPr id="3" name="Content Placeholder 2"/>
          <p:cNvSpPr>
            <a:spLocks noGrp="1"/>
          </p:cNvSpPr>
          <p:nvPr>
            <p:ph idx="1"/>
          </p:nvPr>
        </p:nvSpPr>
        <p:spPr/>
        <p:txBody>
          <a:bodyPr wrap="square">
            <a:normAutofit fontScale="92500" lnSpcReduction="20000"/>
          </a:bodyPr>
          <a:lstStyle/>
          <a:p>
            <a:pPr marL="0" indent="0">
              <a:buNone/>
            </a:pPr>
            <a:r>
              <a:rPr dirty="0"/>
              <a:t>The filtering mechanism for instruction files</a:t>
            </a:r>
          </a:p>
          <a:p>
            <a:endParaRPr dirty="0"/>
          </a:p>
          <a:p>
            <a:r>
              <a:rPr dirty="0" err="1"/>
              <a:t>appliesTo</a:t>
            </a:r>
            <a:r>
              <a:rPr dirty="0"/>
              <a:t> is a </a:t>
            </a:r>
            <a:r>
              <a:rPr b="1" dirty="0"/>
              <a:t>selector</a:t>
            </a:r>
            <a:r>
              <a:rPr dirty="0"/>
              <a:t> that determines </a:t>
            </a:r>
            <a:r>
              <a:rPr u="sng" dirty="0"/>
              <a:t>when</a:t>
            </a:r>
            <a:r>
              <a:rPr dirty="0"/>
              <a:t> an instruction file</a:t>
            </a:r>
            <a:r>
              <a:rPr lang="en-US" dirty="0"/>
              <a:t> </a:t>
            </a:r>
            <a:r>
              <a:rPr dirty="0"/>
              <a:t>is included in the </a:t>
            </a:r>
            <a:r>
              <a:rPr lang="en-US" dirty="0"/>
              <a:t>context</a:t>
            </a:r>
            <a:r>
              <a:rPr dirty="0"/>
              <a:t>.</a:t>
            </a:r>
          </a:p>
          <a:p>
            <a:endParaRPr dirty="0"/>
          </a:p>
          <a:p>
            <a:r>
              <a:rPr dirty="0"/>
              <a:t>Common selectors include:</a:t>
            </a:r>
          </a:p>
          <a:p>
            <a:pPr lvl="1"/>
            <a:r>
              <a:rPr b="1" dirty="0"/>
              <a:t>repositories</a:t>
            </a:r>
            <a:r>
              <a:rPr dirty="0"/>
              <a:t> -- include only for specific repos</a:t>
            </a:r>
          </a:p>
          <a:p>
            <a:pPr lvl="1"/>
            <a:r>
              <a:rPr b="1" dirty="0"/>
              <a:t>languages</a:t>
            </a:r>
            <a:r>
              <a:rPr dirty="0"/>
              <a:t> -- include only for certain languages</a:t>
            </a:r>
          </a:p>
          <a:p>
            <a:pPr lvl="1"/>
            <a:r>
              <a:rPr b="1" dirty="0" err="1"/>
              <a:t>filePatterns</a:t>
            </a:r>
            <a:r>
              <a:rPr dirty="0"/>
              <a:t> -- include only when editing certain files</a:t>
            </a:r>
          </a:p>
          <a:p>
            <a:pPr lvl="1"/>
            <a:r>
              <a:rPr b="1" dirty="0"/>
              <a:t>tools</a:t>
            </a:r>
            <a:r>
              <a:rPr dirty="0"/>
              <a:t> -- include only when using specific Copilot features</a:t>
            </a:r>
          </a:p>
          <a:p>
            <a:pPr lvl="1"/>
            <a:r>
              <a:rPr b="1" dirty="0"/>
              <a:t>scopes</a:t>
            </a:r>
            <a:r>
              <a:rPr dirty="0"/>
              <a:t> -- include only in chat, only in editor, etc.</a:t>
            </a:r>
          </a:p>
          <a:p>
            <a:pPr marL="0" indent="0">
              <a:buNone/>
            </a:pPr>
            <a:endParaRPr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How </a:t>
            </a:r>
            <a:r>
              <a:rPr dirty="0" err="1"/>
              <a:t>appliesTo</a:t>
            </a:r>
            <a:r>
              <a:rPr dirty="0"/>
              <a:t> Interacts with the Stack</a:t>
            </a:r>
          </a:p>
        </p:txBody>
      </p:sp>
      <p:sp>
        <p:nvSpPr>
          <p:cNvPr id="3" name="Content Placeholder 2"/>
          <p:cNvSpPr>
            <a:spLocks noGrp="1"/>
          </p:cNvSpPr>
          <p:nvPr>
            <p:ph idx="1"/>
          </p:nvPr>
        </p:nvSpPr>
        <p:spPr/>
        <p:txBody>
          <a:bodyPr wrap="square">
            <a:normAutofit/>
          </a:bodyPr>
          <a:lstStyle/>
          <a:p>
            <a:endParaRPr dirty="0"/>
          </a:p>
          <a:p>
            <a:r>
              <a:rPr dirty="0"/>
              <a:t>Filtering happens </a:t>
            </a:r>
            <a:r>
              <a:rPr u="sng" dirty="0"/>
              <a:t>before</a:t>
            </a:r>
            <a:r>
              <a:rPr dirty="0"/>
              <a:t> merging</a:t>
            </a:r>
          </a:p>
          <a:p>
            <a:endParaRPr dirty="0"/>
          </a:p>
          <a:p>
            <a:r>
              <a:rPr dirty="0"/>
              <a:t>1.  Copilot discovers all instruction files in scope</a:t>
            </a:r>
          </a:p>
          <a:p>
            <a:r>
              <a:rPr dirty="0"/>
              <a:t>2.  Copilot filters them using </a:t>
            </a:r>
            <a:r>
              <a:rPr dirty="0" err="1"/>
              <a:t>appliesTo</a:t>
            </a:r>
            <a:r>
              <a:rPr lang="en-US" dirty="0"/>
              <a:t> </a:t>
            </a:r>
          </a:p>
          <a:p>
            <a:r>
              <a:rPr lang="en-US" dirty="0"/>
              <a:t>3.</a:t>
            </a:r>
            <a:r>
              <a:rPr dirty="0"/>
              <a:t>  Copilot merges the remaining files into the stack</a:t>
            </a:r>
          </a:p>
          <a:p>
            <a:endParaRPr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Universal Application</a:t>
            </a:r>
          </a:p>
        </p:txBody>
      </p:sp>
      <p:sp>
        <p:nvSpPr>
          <p:cNvPr id="3" name="Content Placeholder 2"/>
          <p:cNvSpPr>
            <a:spLocks noGrp="1"/>
          </p:cNvSpPr>
          <p:nvPr>
            <p:ph idx="1"/>
          </p:nvPr>
        </p:nvSpPr>
        <p:spPr/>
        <p:txBody>
          <a:bodyPr wrap="square">
            <a:normAutofit fontScale="55000" lnSpcReduction="20000"/>
          </a:bodyPr>
          <a:lstStyle/>
          <a:p>
            <a:endParaRPr dirty="0"/>
          </a:p>
          <a:p>
            <a:r>
              <a:rPr dirty="0"/>
              <a:t>Apply instructions to </a:t>
            </a:r>
            <a:r>
              <a:rPr b="1" dirty="0"/>
              <a:t>all files</a:t>
            </a:r>
            <a:r>
              <a:rPr dirty="0"/>
              <a:t> in the repository:</a:t>
            </a:r>
          </a:p>
          <a:p>
            <a:endParaRPr dirty="0"/>
          </a:p>
          <a:p>
            <a:r>
              <a:rPr dirty="0" err="1"/>
              <a:t>yaml</a:t>
            </a:r>
            <a:endParaRPr dirty="0"/>
          </a:p>
          <a:p>
            <a:r>
              <a:rPr dirty="0" err="1"/>
              <a:t>applyTo</a:t>
            </a:r>
            <a:r>
              <a:rPr dirty="0"/>
              <a:t>: "**"        # All files</a:t>
            </a:r>
          </a:p>
          <a:p>
            <a:r>
              <a:rPr dirty="0" err="1"/>
              <a:t>applyTo</a:t>
            </a:r>
            <a:r>
              <a:rPr dirty="0"/>
              <a:t>: "**/*"      # All files (explicit)</a:t>
            </a:r>
          </a:p>
          <a:p>
            <a:endParaRPr lang="en-US" b="1" dirty="0"/>
          </a:p>
          <a:p>
            <a:r>
              <a:rPr b="1" dirty="0"/>
              <a:t>Use Cases:</a:t>
            </a:r>
          </a:p>
          <a:p>
            <a:pPr lvl="1"/>
            <a:r>
              <a:rPr dirty="0"/>
              <a:t>AI-assisted output policies</a:t>
            </a:r>
          </a:p>
          <a:p>
            <a:pPr lvl="1"/>
            <a:r>
              <a:rPr dirty="0"/>
              <a:t>General code quality standards</a:t>
            </a:r>
          </a:p>
          <a:p>
            <a:pPr lvl="1"/>
            <a:r>
              <a:rPr dirty="0"/>
              <a:t>Repository-wide conventions</a:t>
            </a:r>
          </a:p>
          <a:p>
            <a:pPr lvl="1"/>
            <a:r>
              <a:rPr dirty="0"/>
              <a:t>Copilot behavior guidelines</a:t>
            </a:r>
          </a:p>
          <a:p>
            <a:endParaRPr dirty="0"/>
          </a:p>
          <a:p>
            <a:r>
              <a:rPr b="1" dirty="0"/>
              <a:t>Caution:</a:t>
            </a:r>
            <a:r>
              <a:rPr dirty="0"/>
              <a:t> Use sparingly - can create conflicts with more specific instructions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File Extension Matching</a:t>
            </a:r>
          </a:p>
        </p:txBody>
      </p:sp>
      <p:sp>
        <p:nvSpPr>
          <p:cNvPr id="3" name="Content Placeholder 2"/>
          <p:cNvSpPr>
            <a:spLocks noGrp="1"/>
          </p:cNvSpPr>
          <p:nvPr>
            <p:ph idx="1"/>
          </p:nvPr>
        </p:nvSpPr>
        <p:spPr/>
        <p:txBody>
          <a:bodyPr wrap="square">
            <a:normAutofit fontScale="77500" lnSpcReduction="20000"/>
          </a:bodyPr>
          <a:lstStyle/>
          <a:p>
            <a:endParaRPr dirty="0"/>
          </a:p>
          <a:p>
            <a:pPr marL="0" indent="0">
              <a:buNone/>
            </a:pPr>
            <a:r>
              <a:rPr dirty="0"/>
              <a:t>Target specific file types using extension patterns:</a:t>
            </a:r>
          </a:p>
          <a:p>
            <a:endParaRPr dirty="0"/>
          </a:p>
          <a:p>
            <a:r>
              <a:rPr dirty="0" err="1"/>
              <a:t>applyTo</a:t>
            </a:r>
            <a:r>
              <a:rPr dirty="0"/>
              <a:t>: "**/*.md"</a:t>
            </a:r>
          </a:p>
          <a:p>
            <a:r>
              <a:rPr dirty="0" err="1"/>
              <a:t>applyTo</a:t>
            </a:r>
            <a:r>
              <a:rPr dirty="0"/>
              <a:t>: "**/*.{</a:t>
            </a:r>
            <a:r>
              <a:rPr dirty="0" err="1"/>
              <a:t>cs,ts,js</a:t>
            </a:r>
            <a:r>
              <a:rPr dirty="0"/>
              <a:t>}"</a:t>
            </a:r>
          </a:p>
          <a:p>
            <a:r>
              <a:rPr dirty="0" err="1"/>
              <a:t>applyTo</a:t>
            </a:r>
            <a:r>
              <a:rPr dirty="0"/>
              <a:t>: "**/*.instructions.md"</a:t>
            </a:r>
          </a:p>
          <a:p>
            <a:pPr marL="0" indent="0">
              <a:buNone/>
            </a:pPr>
            <a:endParaRPr dirty="0"/>
          </a:p>
          <a:p>
            <a:r>
              <a:rPr b="1" dirty="0"/>
              <a:t>Most Common:</a:t>
            </a:r>
          </a:p>
          <a:p>
            <a:pPr lvl="1"/>
            <a:r>
              <a:rPr dirty="0"/>
              <a:t>`**/*.md - All Markdown files</a:t>
            </a:r>
          </a:p>
          <a:p>
            <a:pPr lvl="1"/>
            <a:r>
              <a:rPr dirty="0"/>
              <a:t>`**/*.{</a:t>
            </a:r>
            <a:r>
              <a:rPr dirty="0" err="1"/>
              <a:t>cs,ts,js,py</a:t>
            </a:r>
            <a:r>
              <a:rPr dirty="0"/>
              <a:t>} - Multiple programming languages</a:t>
            </a:r>
          </a:p>
          <a:p>
            <a:pPr lvl="1"/>
            <a:r>
              <a:rPr dirty="0"/>
              <a:t>`**/*.test.js</a:t>
            </a:r>
            <a:r>
              <a:rPr lang="en-US" dirty="0"/>
              <a:t> </a:t>
            </a:r>
            <a:r>
              <a:rPr dirty="0"/>
              <a:t>- Test files</a:t>
            </a:r>
          </a:p>
          <a:p>
            <a:pPr lvl="1"/>
            <a:r>
              <a:rPr dirty="0"/>
              <a:t>`**/*.instructions.md - Instruction files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Directory-Specific Patterns</a:t>
            </a:r>
          </a:p>
        </p:txBody>
      </p:sp>
      <p:sp>
        <p:nvSpPr>
          <p:cNvPr id="3" name="Content Placeholder 2"/>
          <p:cNvSpPr>
            <a:spLocks noGrp="1"/>
          </p:cNvSpPr>
          <p:nvPr>
            <p:ph idx="1"/>
          </p:nvPr>
        </p:nvSpPr>
        <p:spPr/>
        <p:txBody>
          <a:bodyPr wrap="square">
            <a:normAutofit fontScale="85000" lnSpcReduction="20000"/>
          </a:bodyPr>
          <a:lstStyle/>
          <a:p>
            <a:endParaRPr dirty="0"/>
          </a:p>
          <a:p>
            <a:pPr marL="0" indent="0">
              <a:buNone/>
            </a:pPr>
            <a:r>
              <a:rPr dirty="0"/>
              <a:t>Limit instructions to specific directories:</a:t>
            </a:r>
          </a:p>
          <a:p>
            <a:endParaRPr dirty="0"/>
          </a:p>
          <a:p>
            <a:r>
              <a:rPr dirty="0" err="1"/>
              <a:t>applyTo</a:t>
            </a:r>
            <a:r>
              <a:rPr dirty="0"/>
              <a:t>: "Slides/individual-slides/**"</a:t>
            </a:r>
          </a:p>
          <a:p>
            <a:r>
              <a:rPr dirty="0" err="1"/>
              <a:t>applyTo</a:t>
            </a:r>
            <a:r>
              <a:rPr dirty="0"/>
              <a:t>: "</a:t>
            </a:r>
            <a:r>
              <a:rPr dirty="0" err="1"/>
              <a:t>src</a:t>
            </a:r>
            <a:r>
              <a:rPr dirty="0"/>
              <a:t>/Features/**/*.cs"</a:t>
            </a:r>
          </a:p>
          <a:p>
            <a:r>
              <a:rPr dirty="0" err="1"/>
              <a:t>applyTo</a:t>
            </a:r>
            <a:r>
              <a:rPr dirty="0"/>
              <a:t>: ".</a:t>
            </a:r>
            <a:r>
              <a:rPr dirty="0" err="1"/>
              <a:t>github</a:t>
            </a:r>
            <a:r>
              <a:rPr dirty="0"/>
              <a:t>/instructions/**/*.md"</a:t>
            </a:r>
          </a:p>
          <a:p>
            <a:endParaRPr dirty="0"/>
          </a:p>
          <a:p>
            <a:r>
              <a:rPr b="1" dirty="0"/>
              <a:t>Benefits:</a:t>
            </a:r>
          </a:p>
          <a:p>
            <a:pPr lvl="1"/>
            <a:r>
              <a:rPr dirty="0"/>
              <a:t>Isolate concerns (slides vs code vs docs)</a:t>
            </a:r>
          </a:p>
          <a:p>
            <a:pPr lvl="1"/>
            <a:r>
              <a:rPr dirty="0"/>
              <a:t>Different rules for different project areas</a:t>
            </a:r>
          </a:p>
          <a:p>
            <a:pPr lvl="1"/>
            <a:r>
              <a:rPr dirty="0"/>
              <a:t>Clearer instruction purpose</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Glob Pattern Syntax</a:t>
            </a:r>
          </a:p>
        </p:txBody>
      </p:sp>
      <p:graphicFrame>
        <p:nvGraphicFramePr>
          <p:cNvPr id="3" name="Table 2"/>
          <p:cNvGraphicFramePr>
            <a:graphicFrameLocks noGrp="1"/>
          </p:cNvGraphicFramePr>
          <p:nvPr>
            <p:extLst>
              <p:ext uri="{D42A27DB-BD31-4B8C-83A1-F6EECF244321}">
                <p14:modId xmlns:p14="http://schemas.microsoft.com/office/powerpoint/2010/main" val="853481505"/>
              </p:ext>
            </p:extLst>
          </p:nvPr>
        </p:nvGraphicFramePr>
        <p:xfrm>
          <a:off x="457199" y="1828800"/>
          <a:ext cx="11280531" cy="4510455"/>
        </p:xfrm>
        <a:graphic>
          <a:graphicData uri="http://schemas.openxmlformats.org/drawingml/2006/table">
            <a:tbl>
              <a:tblPr firstRow="1" bandRow="1">
                <a:tableStyleId>{00A15C55-8517-42AA-B614-E9B94910E393}</a:tableStyleId>
              </a:tblPr>
              <a:tblGrid>
                <a:gridCol w="3760177">
                  <a:extLst>
                    <a:ext uri="{9D8B030D-6E8A-4147-A177-3AD203B41FA5}">
                      <a16:colId xmlns:a16="http://schemas.microsoft.com/office/drawing/2014/main" val="20000"/>
                    </a:ext>
                  </a:extLst>
                </a:gridCol>
                <a:gridCol w="3760177">
                  <a:extLst>
                    <a:ext uri="{9D8B030D-6E8A-4147-A177-3AD203B41FA5}">
                      <a16:colId xmlns:a16="http://schemas.microsoft.com/office/drawing/2014/main" val="20001"/>
                    </a:ext>
                  </a:extLst>
                </a:gridCol>
                <a:gridCol w="3760177">
                  <a:extLst>
                    <a:ext uri="{9D8B030D-6E8A-4147-A177-3AD203B41FA5}">
                      <a16:colId xmlns:a16="http://schemas.microsoft.com/office/drawing/2014/main" val="20002"/>
                    </a:ext>
                  </a:extLst>
                </a:gridCol>
              </a:tblGrid>
              <a:tr h="609521">
                <a:tc>
                  <a:txBody>
                    <a:bodyPr/>
                    <a:lstStyle/>
                    <a:p>
                      <a:pPr>
                        <a:defRPr sz="1296" b="1"/>
                      </a:pPr>
                      <a:r>
                        <a:rPr sz="2400"/>
                        <a:t>Pattern</a:t>
                      </a:r>
                    </a:p>
                  </a:txBody>
                  <a:tcPr/>
                </a:tc>
                <a:tc>
                  <a:txBody>
                    <a:bodyPr/>
                    <a:lstStyle/>
                    <a:p>
                      <a:pPr>
                        <a:defRPr sz="1296" b="1"/>
                      </a:pPr>
                      <a:r>
                        <a:rPr sz="2400"/>
                        <a:t>Meaning</a:t>
                      </a:r>
                    </a:p>
                  </a:txBody>
                  <a:tcPr/>
                </a:tc>
                <a:tc>
                  <a:txBody>
                    <a:bodyPr/>
                    <a:lstStyle/>
                    <a:p>
                      <a:pPr>
                        <a:defRPr sz="1296" b="1"/>
                      </a:pPr>
                      <a:r>
                        <a:rPr sz="2400" dirty="0"/>
                        <a:t>Example</a:t>
                      </a:r>
                    </a:p>
                  </a:txBody>
                  <a:tcPr/>
                </a:tc>
                <a:extLst>
                  <a:ext uri="{0D108BD9-81ED-4DB2-BD59-A6C34878D82A}">
                    <a16:rowId xmlns:a16="http://schemas.microsoft.com/office/drawing/2014/main" val="10000"/>
                  </a:ext>
                </a:extLst>
              </a:tr>
              <a:tr h="609521">
                <a:tc>
                  <a:txBody>
                    <a:bodyPr/>
                    <a:lstStyle/>
                    <a:p>
                      <a:r>
                        <a:t>`*`</a:t>
                      </a:r>
                    </a:p>
                  </a:txBody>
                  <a:tcPr/>
                </a:tc>
                <a:tc>
                  <a:txBody>
                    <a:bodyPr/>
                    <a:lstStyle/>
                    <a:p>
                      <a:r>
                        <a:t>Any characters (not `/`)</a:t>
                      </a:r>
                    </a:p>
                  </a:txBody>
                  <a:tcPr/>
                </a:tc>
                <a:tc>
                  <a:txBody>
                    <a:bodyPr/>
                    <a:lstStyle/>
                    <a:p>
                      <a:r>
                        <a:t>`*.md` → `README.md`</a:t>
                      </a:r>
                    </a:p>
                  </a:txBody>
                  <a:tcPr/>
                </a:tc>
                <a:extLst>
                  <a:ext uri="{0D108BD9-81ED-4DB2-BD59-A6C34878D82A}">
                    <a16:rowId xmlns:a16="http://schemas.microsoft.com/office/drawing/2014/main" val="10001"/>
                  </a:ext>
                </a:extLst>
              </a:tr>
              <a:tr h="853329">
                <a:tc>
                  <a:txBody>
                    <a:bodyPr/>
                    <a:lstStyle/>
                    <a:p>
                      <a:r>
                        <a:t>`**`</a:t>
                      </a:r>
                    </a:p>
                  </a:txBody>
                  <a:tcPr/>
                </a:tc>
                <a:tc>
                  <a:txBody>
                    <a:bodyPr/>
                    <a:lstStyle/>
                    <a:p>
                      <a:r>
                        <a:t>Zero or more directories</a:t>
                      </a:r>
                    </a:p>
                  </a:txBody>
                  <a:tcPr/>
                </a:tc>
                <a:tc>
                  <a:txBody>
                    <a:bodyPr/>
                    <a:lstStyle/>
                    <a:p>
                      <a:r>
                        <a:t>`**/*.md` → `docs/guide.md`</a:t>
                      </a:r>
                    </a:p>
                  </a:txBody>
                  <a:tcPr/>
                </a:tc>
                <a:extLst>
                  <a:ext uri="{0D108BD9-81ED-4DB2-BD59-A6C34878D82A}">
                    <a16:rowId xmlns:a16="http://schemas.microsoft.com/office/drawing/2014/main" val="10002"/>
                  </a:ext>
                </a:extLst>
              </a:tr>
              <a:tr h="609521">
                <a:tc>
                  <a:txBody>
                    <a:bodyPr/>
                    <a:lstStyle/>
                    <a:p>
                      <a:r>
                        <a:t>`?`</a:t>
                      </a:r>
                    </a:p>
                  </a:txBody>
                  <a:tcPr/>
                </a:tc>
                <a:tc>
                  <a:txBody>
                    <a:bodyPr/>
                    <a:lstStyle/>
                    <a:p>
                      <a:r>
                        <a:t>Single character</a:t>
                      </a:r>
                    </a:p>
                  </a:txBody>
                  <a:tcPr/>
                </a:tc>
                <a:tc>
                  <a:txBody>
                    <a:bodyPr/>
                    <a:lstStyle/>
                    <a:p>
                      <a:r>
                        <a:t>`file?.md` → `file1.md`</a:t>
                      </a:r>
                    </a:p>
                  </a:txBody>
                  <a:tcPr/>
                </a:tc>
                <a:extLst>
                  <a:ext uri="{0D108BD9-81ED-4DB2-BD59-A6C34878D82A}">
                    <a16:rowId xmlns:a16="http://schemas.microsoft.com/office/drawing/2014/main" val="10003"/>
                  </a:ext>
                </a:extLst>
              </a:tr>
              <a:tr h="609521">
                <a:tc>
                  <a:txBody>
                    <a:bodyPr/>
                    <a:lstStyle/>
                    <a:p>
                      <a:r>
                        <a:t>`[abc]`</a:t>
                      </a:r>
                    </a:p>
                  </a:txBody>
                  <a:tcPr/>
                </a:tc>
                <a:tc>
                  <a:txBody>
                    <a:bodyPr/>
                    <a:lstStyle/>
                    <a:p>
                      <a:r>
                        <a:t>Character set</a:t>
                      </a:r>
                    </a:p>
                  </a:txBody>
                  <a:tcPr/>
                </a:tc>
                <a:tc>
                  <a:txBody>
                    <a:bodyPr/>
                    <a:lstStyle/>
                    <a:p>
                      <a:r>
                        <a:t>`[abc].md` → `a.md`</a:t>
                      </a:r>
                    </a:p>
                  </a:txBody>
                  <a:tcPr/>
                </a:tc>
                <a:extLst>
                  <a:ext uri="{0D108BD9-81ED-4DB2-BD59-A6C34878D82A}">
                    <a16:rowId xmlns:a16="http://schemas.microsoft.com/office/drawing/2014/main" val="10004"/>
                  </a:ext>
                </a:extLst>
              </a:tr>
              <a:tr h="609521">
                <a:tc>
                  <a:txBody>
                    <a:bodyPr/>
                    <a:lstStyle/>
                    <a:p>
                      <a:r>
                        <a:t>`[a-z]`</a:t>
                      </a:r>
                    </a:p>
                  </a:txBody>
                  <a:tcPr/>
                </a:tc>
                <a:tc>
                  <a:txBody>
                    <a:bodyPr/>
                    <a:lstStyle/>
                    <a:p>
                      <a:r>
                        <a:t>Character range</a:t>
                      </a:r>
                    </a:p>
                  </a:txBody>
                  <a:tcPr/>
                </a:tc>
                <a:tc>
                  <a:txBody>
                    <a:bodyPr/>
                    <a:lstStyle/>
                    <a:p>
                      <a:r>
                        <a:t>`[a-z].md` → `x.md`</a:t>
                      </a:r>
                    </a:p>
                  </a:txBody>
                  <a:tcPr/>
                </a:tc>
                <a:extLst>
                  <a:ext uri="{0D108BD9-81ED-4DB2-BD59-A6C34878D82A}">
                    <a16:rowId xmlns:a16="http://schemas.microsoft.com/office/drawing/2014/main" val="10005"/>
                  </a:ext>
                </a:extLst>
              </a:tr>
              <a:tr h="609521">
                <a:tc>
                  <a:txBody>
                    <a:bodyPr/>
                    <a:lstStyle/>
                    <a:p>
                      <a:r>
                        <a:t>`{a,b}`</a:t>
                      </a:r>
                    </a:p>
                  </a:txBody>
                  <a:tcPr/>
                </a:tc>
                <a:tc>
                  <a:txBody>
                    <a:bodyPr/>
                    <a:lstStyle/>
                    <a:p>
                      <a:r>
                        <a:t>Alternatives</a:t>
                      </a:r>
                    </a:p>
                  </a:txBody>
                  <a:tcPr/>
                </a:tc>
                <a:tc>
                  <a:txBody>
                    <a:bodyPr/>
                    <a:lstStyle/>
                    <a:p>
                      <a:r>
                        <a:rPr dirty="0"/>
                        <a:t>`*.{</a:t>
                      </a:r>
                      <a:r>
                        <a:rPr dirty="0" err="1"/>
                        <a:t>js,ts</a:t>
                      </a:r>
                      <a:r>
                        <a:rPr dirty="0"/>
                        <a:t>}` → `</a:t>
                      </a:r>
                      <a:r>
                        <a:rPr dirty="0" err="1"/>
                        <a:t>app.ts</a:t>
                      </a:r>
                      <a:r>
                        <a:rPr dirty="0"/>
                        <a: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Real-World Examples</a:t>
            </a:r>
          </a:p>
        </p:txBody>
      </p:sp>
      <p:sp>
        <p:nvSpPr>
          <p:cNvPr id="3" name="Content Placeholder 2"/>
          <p:cNvSpPr>
            <a:spLocks noGrp="1"/>
          </p:cNvSpPr>
          <p:nvPr>
            <p:ph idx="1"/>
          </p:nvPr>
        </p:nvSpPr>
        <p:spPr/>
        <p:txBody>
          <a:bodyPr wrap="square">
            <a:normAutofit fontScale="55000" lnSpcReduction="20000"/>
          </a:bodyPr>
          <a:lstStyle/>
          <a:p>
            <a:endParaRPr/>
          </a:p>
          <a:p>
            <a:r>
              <a:t>From this repository's instruction files:</a:t>
            </a:r>
          </a:p>
          <a:p>
            <a:endParaRPr/>
          </a:p>
          <a:p>
            <a:r>
              <a:t>```yaml</a:t>
            </a:r>
          </a:p>
          <a:p>
            <a:r>
              <a:t>applyTo: "**/*"</a:t>
            </a:r>
          </a:p>
          <a:p>
            <a:endParaRPr/>
          </a:p>
          <a:p>
            <a:r>
              <a:t>applyTo: "**/*.{cs,ts,js,py,java,go,rb}"</a:t>
            </a:r>
          </a:p>
          <a:p>
            <a:endParaRPr/>
          </a:p>
          <a:p>
            <a:r>
              <a:t>applyTo: "**/*.{md,txt}"</a:t>
            </a:r>
          </a:p>
          <a:p>
            <a:endParaRPr/>
          </a:p>
          <a:p>
            <a:r>
              <a:t>applyTo: "Slides/individual-slides/**"</a:t>
            </a:r>
          </a:p>
          <a:p>
            <a:endParaRPr/>
          </a:p>
          <a:p>
            <a:r>
              <a:t>applyTo: "**/*.prompt.md"</a:t>
            </a:r>
          </a:p>
          <a:p>
            <a:r>
              <a: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Instruction Files Best Practices</a:t>
            </a:r>
          </a:p>
        </p:txBody>
      </p:sp>
      <p:sp>
        <p:nvSpPr>
          <p:cNvPr id="3" name="Content Placeholder 2"/>
          <p:cNvSpPr>
            <a:spLocks noGrp="1"/>
          </p:cNvSpPr>
          <p:nvPr>
            <p:ph sz="half" idx="1"/>
          </p:nvPr>
        </p:nvSpPr>
        <p:spPr/>
        <p:txBody>
          <a:bodyPr wrap="square">
            <a:normAutofit/>
          </a:bodyPr>
          <a:lstStyle/>
          <a:p>
            <a:r>
              <a:rPr dirty="0"/>
              <a:t>✅ Do This:</a:t>
            </a:r>
          </a:p>
          <a:p>
            <a:pPr lvl="1"/>
            <a:r>
              <a:rPr dirty="0"/>
              <a:t>Keep instructions clear and actionable</a:t>
            </a:r>
          </a:p>
          <a:p>
            <a:pPr lvl="1"/>
            <a:r>
              <a:rPr dirty="0"/>
              <a:t>Use file patterns (</a:t>
            </a:r>
            <a:r>
              <a:rPr dirty="0" err="1"/>
              <a:t>applyTo</a:t>
            </a:r>
            <a:r>
              <a:rPr dirty="0"/>
              <a:t>: '\*\*') for broad scope</a:t>
            </a:r>
          </a:p>
          <a:p>
            <a:pPr lvl="1"/>
            <a:r>
              <a:rPr dirty="0"/>
              <a:t>Version control and document changes</a:t>
            </a:r>
          </a:p>
          <a:p>
            <a:pPr lvl="1"/>
            <a:r>
              <a:rPr dirty="0"/>
              <a:t>Test instruction effectiveness regularly</a:t>
            </a:r>
          </a:p>
        </p:txBody>
      </p:sp>
      <p:sp>
        <p:nvSpPr>
          <p:cNvPr id="4" name="Content Placeholder 3">
            <a:extLst>
              <a:ext uri="{FF2B5EF4-FFF2-40B4-BE49-F238E27FC236}">
                <a16:creationId xmlns:a16="http://schemas.microsoft.com/office/drawing/2014/main" id="{A73F9B89-F98D-6FCD-3AD3-620A4D15C465}"/>
              </a:ext>
            </a:extLst>
          </p:cNvPr>
          <p:cNvSpPr>
            <a:spLocks noGrp="1"/>
          </p:cNvSpPr>
          <p:nvPr>
            <p:ph sz="half" idx="2"/>
          </p:nvPr>
        </p:nvSpPr>
        <p:spPr/>
        <p:txBody>
          <a:bodyPr/>
          <a:lstStyle/>
          <a:p>
            <a:r>
              <a:rPr lang="en-US" dirty="0"/>
              <a:t>❌ Avoid This:</a:t>
            </a:r>
          </a:p>
          <a:p>
            <a:pPr lvl="1"/>
            <a:r>
              <a:rPr lang="en-US" dirty="0"/>
              <a:t>Overly complex or contradictory rules</a:t>
            </a:r>
          </a:p>
          <a:p>
            <a:pPr lvl="1"/>
            <a:r>
              <a:rPr lang="en-US" dirty="0"/>
              <a:t>Too many instructions (cognitive overload)</a:t>
            </a:r>
          </a:p>
          <a:p>
            <a:pPr lvl="1"/>
            <a:r>
              <a:rPr lang="en-US" dirty="0"/>
              <a:t>Instructions that conflict with prompt files</a:t>
            </a:r>
          </a:p>
          <a:p>
            <a:pPr lvl="1"/>
            <a:r>
              <a:rPr lang="en-US" dirty="0"/>
              <a:t>Hardcoded values instead of parameters</a:t>
            </a:r>
          </a:p>
          <a:p>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Best Practices</a:t>
            </a:r>
          </a:p>
        </p:txBody>
      </p:sp>
      <p:sp>
        <p:nvSpPr>
          <p:cNvPr id="3" name="Content Placeholder 2"/>
          <p:cNvSpPr>
            <a:spLocks noGrp="1"/>
          </p:cNvSpPr>
          <p:nvPr>
            <p:ph idx="1"/>
          </p:nvPr>
        </p:nvSpPr>
        <p:spPr/>
        <p:txBody>
          <a:bodyPr wrap="square">
            <a:normAutofit fontScale="25000" lnSpcReduction="20000"/>
          </a:bodyPr>
          <a:lstStyle/>
          <a:p>
            <a:endParaRPr/>
          </a:p>
          <a:p>
            <a:r>
              <a:rPr b="1"/>
              <a:t>1. Be Specific When Possible</a:t>
            </a:r>
          </a:p>
          <a:p>
            <a:endParaRPr b="1"/>
          </a:p>
          <a:p>
            <a:r>
              <a:t>```yaml</a:t>
            </a:r>
          </a:p>
          <a:p>
            <a:r>
              <a:t>✅ applyTo: "**/*.instructions.md"</a:t>
            </a:r>
          </a:p>
          <a:p>
            <a:r>
              <a:t>❌ applyTo: "**"</a:t>
            </a:r>
          </a:p>
          <a:p>
            <a:r>
              <a:t>```</a:t>
            </a:r>
          </a:p>
          <a:p>
            <a:endParaRPr/>
          </a:p>
          <a:p>
            <a:r>
              <a:rPr b="1"/>
              <a:t>2. Use Brace Expansion for Multiple Extensions</a:t>
            </a:r>
          </a:p>
          <a:p>
            <a:endParaRPr b="1"/>
          </a:p>
          <a:p>
            <a:r>
              <a:t>```yaml</a:t>
            </a:r>
          </a:p>
          <a:p>
            <a:r>
              <a:t>✅ applyTo: "**/*.{cs,ts,js}"</a:t>
            </a:r>
          </a:p>
          <a:p>
            <a:r>
              <a:t>❌ Three separate instruction files</a:t>
            </a:r>
          </a:p>
          <a:p>
            <a:r>
              <a:t>```</a:t>
            </a:r>
          </a:p>
          <a:p>
            <a:endParaRPr/>
          </a:p>
          <a:p>
            <a:r>
              <a:rPr b="1"/>
              <a:t>3. Match Scope to Purpose</a:t>
            </a:r>
          </a:p>
          <a:p>
            <a:endParaRPr b="1"/>
          </a:p>
          <a:p>
            <a:r>
              <a:t>```yaml</a:t>
            </a:r>
          </a:p>
          <a:p>
            <a:r>
              <a:t>applyTo: "src/**/*.{cs,ts,js}"</a:t>
            </a:r>
          </a:p>
          <a:p>
            <a:endParaRPr/>
          </a:p>
          <a:p>
            <a:r>
              <a:t>applyTo: "Slides/individual-slides/**"</a:t>
            </a:r>
          </a:p>
          <a:p>
            <a:r>
              <a:t>```</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Common Pitfalls</a:t>
            </a:r>
          </a:p>
        </p:txBody>
      </p:sp>
      <p:sp>
        <p:nvSpPr>
          <p:cNvPr id="3" name="Content Placeholder 2"/>
          <p:cNvSpPr>
            <a:spLocks noGrp="1"/>
          </p:cNvSpPr>
          <p:nvPr>
            <p:ph idx="1"/>
          </p:nvPr>
        </p:nvSpPr>
        <p:spPr/>
        <p:txBody>
          <a:bodyPr wrap="square">
            <a:normAutofit fontScale="25000" lnSpcReduction="20000"/>
          </a:bodyPr>
          <a:lstStyle/>
          <a:p>
            <a:endParaRPr/>
          </a:p>
          <a:p>
            <a:r>
              <a:rPr b="1"/>
              <a:t>Pitfall 1: Too Broad</a:t>
            </a:r>
          </a:p>
          <a:p>
            <a:endParaRPr b="1"/>
          </a:p>
          <a:p>
            <a:r>
              <a:t>```yaml</a:t>
            </a:r>
          </a:p>
          <a:p>
            <a:r>
              <a:t>❌ applyTo: "**" # For slide formatting</a:t>
            </a:r>
          </a:p>
          <a:p>
            <a:r>
              <a:t>✅ applyTo: "Slides/**"</a:t>
            </a:r>
          </a:p>
          <a:p>
            <a:r>
              <a:t>```</a:t>
            </a:r>
          </a:p>
          <a:p>
            <a:endParaRPr/>
          </a:p>
          <a:p>
            <a:r>
              <a:rPr b="1"/>
              <a:t>Pitfall 2: Too Narrow</a:t>
            </a:r>
          </a:p>
          <a:p>
            <a:endParaRPr b="1"/>
          </a:p>
          <a:p>
            <a:r>
              <a:t>```yaml</a:t>
            </a:r>
          </a:p>
          <a:p>
            <a:r>
              <a:t>❌ applyTo: "src/Features/UserManagement/**/*.cs"</a:t>
            </a:r>
          </a:p>
          <a:p>
            <a:r>
              <a:t>✅ applyTo: "src/Features/**/*.cs"</a:t>
            </a:r>
          </a:p>
          <a:p>
            <a:r>
              <a:t>```</a:t>
            </a:r>
          </a:p>
          <a:p>
            <a:endParaRPr/>
          </a:p>
          <a:p>
            <a:r>
              <a:rPr b="1"/>
              <a:t>Pitfall 3: Overlapping Instructions</a:t>
            </a:r>
          </a:p>
          <a:p>
            <a:endParaRPr b="1"/>
          </a:p>
          <a:p>
            <a:r>
              <a:t>```yaml</a:t>
            </a:r>
          </a:p>
          <a:p>
            <a:r>
              <a:t>applyTo: "**/*.cs"  # All C# files</a:t>
            </a:r>
          </a:p>
          <a:p>
            <a:endParaRPr/>
          </a:p>
          <a:p>
            <a:r>
              <a:t>applyTo: "src/**/*.cs"  # C# files in src</a:t>
            </a:r>
          </a:p>
          <a:p>
            <a:endParaRPr/>
          </a:p>
          <a:p>
            <a:r>
              <a:t>```</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Testing Your Patterns</a:t>
            </a:r>
          </a:p>
        </p:txBody>
      </p:sp>
      <p:sp>
        <p:nvSpPr>
          <p:cNvPr id="3" name="Content Placeholder 2"/>
          <p:cNvSpPr>
            <a:spLocks noGrp="1"/>
          </p:cNvSpPr>
          <p:nvPr>
            <p:ph idx="1"/>
          </p:nvPr>
        </p:nvSpPr>
        <p:spPr/>
        <p:txBody>
          <a:bodyPr wrap="square">
            <a:normAutofit fontScale="25000" lnSpcReduction="20000"/>
          </a:bodyPr>
          <a:lstStyle/>
          <a:p>
            <a:endParaRPr/>
          </a:p>
          <a:p>
            <a:r>
              <a:rPr b="1"/>
              <a:t>How to verify patterns work correctly:</a:t>
            </a:r>
          </a:p>
          <a:p>
            <a:endParaRPr b="1"/>
          </a:p>
          <a:p>
            <a:r>
              <a:t>1. </a:t>
            </a:r>
            <a:r>
              <a:rPr b="1"/>
              <a:t>Use file search to preview matches:</a:t>
            </a:r>
          </a:p>
          <a:p>
            <a:endParaRPr b="1"/>
          </a:p>
          <a:p>
            <a:r>
              <a:t>```powershell</a:t>
            </a:r>
          </a:p>
          <a:p>
            <a:r>
              <a:t>Get-ChildItem -Path . -Filter "*.md" -Recurse</a:t>
            </a:r>
          </a:p>
          <a:p>
            <a:endParaRPr/>
          </a:p>
          <a:p>
            <a:r>
              <a:t>find . -name "*.md"</a:t>
            </a:r>
          </a:p>
          <a:p>
            <a:r>
              <a:t>```</a:t>
            </a:r>
          </a:p>
          <a:p>
            <a:endParaRPr/>
          </a:p>
          <a:p>
            <a:r>
              <a:t>2. </a:t>
            </a:r>
            <a:r>
              <a:rPr b="1"/>
              <a:t>Online glob testers:</a:t>
            </a:r>
          </a:p>
          <a:p>
            <a:endParaRPr b="1"/>
          </a:p>
          <a:p>
            <a:r>
              <a:t>globster.xyz: https://globster.xyz/</a:t>
            </a:r>
          </a:p>
          <a:p>
            <a:r>
              <a:t>Test patterns before committing</a:t>
            </a:r>
          </a:p>
          <a:p>
            <a:endParaRPr/>
          </a:p>
          <a:p>
            <a:r>
              <a:t>3. </a:t>
            </a:r>
            <a:r>
              <a:rPr b="1"/>
              <a:t>Check Copilot behavior:</a:t>
            </a:r>
          </a:p>
          <a:p>
            <a:endParaRPr b="1"/>
          </a:p>
          <a:p>
            <a:r>
              <a:t>Open a file that should match</a:t>
            </a:r>
          </a:p>
          <a:p>
            <a:r>
              <a:t>Verify instructions are being followed</a:t>
            </a:r>
          </a:p>
          <a:p>
            <a:r>
              <a:t>Check for unexpected behavior (might indicate wrong pattern)</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Pattern Matching Rules</a:t>
            </a:r>
          </a:p>
        </p:txBody>
      </p:sp>
      <p:sp>
        <p:nvSpPr>
          <p:cNvPr id="3" name="Content Placeholder 2"/>
          <p:cNvSpPr>
            <a:spLocks noGrp="1"/>
          </p:cNvSpPr>
          <p:nvPr>
            <p:ph idx="1"/>
          </p:nvPr>
        </p:nvSpPr>
        <p:spPr/>
        <p:txBody>
          <a:bodyPr wrap="square">
            <a:normAutofit fontScale="55000" lnSpcReduction="20000"/>
          </a:bodyPr>
          <a:lstStyle/>
          <a:p>
            <a:endParaRPr/>
          </a:p>
          <a:p>
            <a:r>
              <a:rPr b="1"/>
              <a:t>Key Points to Remember:</a:t>
            </a:r>
          </a:p>
          <a:p>
            <a:endParaRPr b="1"/>
          </a:p>
          <a:p>
            <a:r>
              <a:t>Patterns are evaluated when files are opened</a:t>
            </a:r>
          </a:p>
          <a:p>
            <a:r>
              <a:t>Multiple instruction files can match the same file</a:t>
            </a:r>
          </a:p>
          <a:p>
            <a:r>
              <a:t>More specific patterns take precedence (in terms of clarity, not override)</a:t>
            </a:r>
          </a:p>
          <a:p>
            <a:r>
              <a:t>Patterns are relative to repository root</a:t>
            </a:r>
          </a:p>
          <a:p>
            <a:r>
              <a:t>Case sensitivity depends on file system (Windows: no, Linux: yes)</a:t>
            </a:r>
          </a:p>
          <a:p>
            <a:endParaRPr/>
          </a:p>
          <a:p>
            <a:r>
              <a:rPr b="1"/>
              <a:t>When Copilot Evaluates Patterns:</a:t>
            </a:r>
          </a:p>
          <a:p>
            <a:endParaRPr b="1"/>
          </a:p>
          <a:p>
            <a:r>
              <a:t>1. File opened in editor → Check all instruction files</a:t>
            </a:r>
          </a:p>
          <a:p>
            <a:r>
              <a:t>2. Load matching instructions into context</a:t>
            </a:r>
          </a:p>
          <a:p>
            <a:r>
              <a:t>3. Apply rules during code generation</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Summary &amp; Best Practices</a:t>
            </a:r>
          </a:p>
        </p:txBody>
      </p:sp>
      <p:sp>
        <p:nvSpPr>
          <p:cNvPr id="3" name="Content Placeholder 2"/>
          <p:cNvSpPr>
            <a:spLocks noGrp="1"/>
          </p:cNvSpPr>
          <p:nvPr>
            <p:ph idx="1"/>
          </p:nvPr>
        </p:nvSpPr>
        <p:spPr/>
        <p:txBody>
          <a:bodyPr wrap="square">
            <a:normAutofit fontScale="25000" lnSpcReduction="20000"/>
          </a:bodyPr>
          <a:lstStyle/>
          <a:p>
            <a:endParaRPr/>
          </a:p>
          <a:p>
            <a:r>
              <a:rPr b="1"/>
              <a:t>Essential Patterns:</a:t>
            </a:r>
          </a:p>
          <a:p>
            <a:endParaRPr b="1"/>
          </a:p>
          <a:p>
            <a:r>
              <a:t>`**/*` or `**` - Universal (use sparingly)</a:t>
            </a:r>
          </a:p>
          <a:p>
            <a:r>
              <a:t>`**/*.{ext1,ext2}` - Multiple file types</a:t>
            </a:r>
          </a:p>
          <a:p>
            <a:r>
              <a:t>`directory/**` - Specific directory scope</a:t>
            </a:r>
          </a:p>
          <a:p>
            <a:r>
              <a:t>`**/*.specific.extension.md` - Specialized files</a:t>
            </a:r>
          </a:p>
          <a:p>
            <a:endParaRPr/>
          </a:p>
          <a:p>
            <a:r>
              <a:rPr b="1"/>
              <a:t>Decision Tree:</a:t>
            </a:r>
          </a:p>
          <a:p>
            <a:endParaRPr b="1"/>
          </a:p>
          <a:p>
            <a:r>
              <a:t>1. Does this apply to ALL files? → Use `**/*`</a:t>
            </a:r>
          </a:p>
          <a:p>
            <a:r>
              <a:t>2. Does this apply to specific file types? → Use `**/*.{extensions}`</a:t>
            </a:r>
          </a:p>
          <a:p>
            <a:r>
              <a:t>3. Does this apply to a specific directory? → Use `directory/**`</a:t>
            </a:r>
          </a:p>
          <a:p>
            <a:r>
              <a:t>4. Does this apply to specific naming pattern? → Use `**/*.pattern.ext`</a:t>
            </a:r>
          </a:p>
          <a:p>
            <a:endParaRPr/>
          </a:p>
          <a:p>
            <a:r>
              <a:rPr b="1"/>
              <a:t>Remember:</a:t>
            </a:r>
          </a:p>
          <a:p>
            <a:endParaRPr b="1"/>
          </a:p>
          <a:p>
            <a:r>
              <a:t>✅ Be as specific as necessary, no more, no less</a:t>
            </a:r>
          </a:p>
          <a:p>
            <a:r>
              <a:t>✅ Test patterns before committing</a:t>
            </a:r>
          </a:p>
          <a:p>
            <a:r>
              <a:t>✅ Document why each pattern was chosen</a:t>
            </a:r>
          </a:p>
          <a:p>
            <a:r>
              <a:t>✅ Review patterns when instructions aren't working</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Resources &amp; Next Steps</a:t>
            </a:r>
          </a:p>
        </p:txBody>
      </p:sp>
      <p:sp>
        <p:nvSpPr>
          <p:cNvPr id="3" name="Content Placeholder 2"/>
          <p:cNvSpPr>
            <a:spLocks noGrp="1"/>
          </p:cNvSpPr>
          <p:nvPr>
            <p:ph idx="1"/>
          </p:nvPr>
        </p:nvSpPr>
        <p:spPr/>
        <p:txBody>
          <a:bodyPr wrap="square">
            <a:normAutofit fontScale="47500" lnSpcReduction="20000"/>
          </a:bodyPr>
          <a:lstStyle/>
          <a:p>
            <a:endParaRPr/>
          </a:p>
          <a:p>
            <a:r>
              <a:rPr b="1"/>
              <a:t>Documentation:</a:t>
            </a:r>
          </a:p>
          <a:p>
            <a:endParaRPr b="1"/>
          </a:p>
          <a:p>
            <a:r>
              <a:t>Glob Pattern Syntax Reference: https://globster.xyz/</a:t>
            </a:r>
          </a:p>
          <a:p>
            <a:r>
              <a:t>GitHub Copilot Instruction Files Documentation</a:t>
            </a:r>
          </a:p>
          <a:p>
            <a:r>
              <a:t>AI-Assisted Output Instructions</a:t>
            </a:r>
          </a:p>
          <a:p>
            <a:endParaRPr/>
          </a:p>
          <a:p>
            <a:r>
              <a:rPr b="1"/>
              <a:t>Practice Exercise:</a:t>
            </a:r>
          </a:p>
          <a:p>
            <a:r>
              <a:t>Create instruction files for:</a:t>
            </a:r>
          </a:p>
          <a:p>
            <a:endParaRPr/>
          </a:p>
          <a:p>
            <a:r>
              <a:t>1. CQRS architecture patterns (code only)</a:t>
            </a:r>
          </a:p>
          <a:p>
            <a:r>
              <a:t>2. Mermaid diagram standards (markdown only)</a:t>
            </a:r>
          </a:p>
          <a:p>
            <a:r>
              <a:t>3. Test naming conventions (test files only)</a:t>
            </a:r>
          </a:p>
          <a:p>
            <a:endParaRPr/>
          </a:p>
          <a:p>
            <a:r>
              <a:rPr b="1"/>
              <a:t>Questions?</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Thank You!</a:t>
            </a:r>
          </a:p>
        </p:txBody>
      </p:sp>
      <p:sp>
        <p:nvSpPr>
          <p:cNvPr id="3" name="Content Placeholder 2"/>
          <p:cNvSpPr>
            <a:spLocks noGrp="1"/>
          </p:cNvSpPr>
          <p:nvPr>
            <p:ph idx="1"/>
          </p:nvPr>
        </p:nvSpPr>
        <p:spPr/>
        <p:txBody>
          <a:bodyPr wrap="square">
            <a:normAutofit/>
          </a:bodyPr>
          <a:lstStyle/>
          <a:p>
            <a:endParaRPr/>
          </a:p>
          <a:p>
            <a:r>
              <a:rPr b="1"/>
              <a:t>Questions? Feedback?</a:t>
            </a:r>
          </a:p>
          <a:p>
            <a:endParaRPr b="1"/>
          </a:p>
          <a:p>
            <a:r>
              <a:t>Connect with the AI-Assisted Software Development team</a:t>
            </a:r>
          </a:p>
          <a:p>
            <a:endParaRPr/>
          </a:p>
          <a:p>
            <a:r>
              <a:t>GitHub: johnmillerATcodemag-com/AI-Assisted-Software-Development: https://github.com/johnmillerATcodemag-com/AI-Assisted-Software-Development-Course</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Enforcing Provenance for AI Artifacts</a:t>
            </a:r>
          </a:p>
        </p:txBody>
      </p:sp>
      <p:sp>
        <p:nvSpPr>
          <p:cNvPr id="3" name="Content Placeholder 2"/>
          <p:cNvSpPr>
            <a:spLocks noGrp="1"/>
          </p:cNvSpPr>
          <p:nvPr>
            <p:ph idx="1"/>
          </p:nvPr>
        </p:nvSpPr>
        <p:spPr/>
        <p:txBody>
          <a:bodyPr wrap="square">
            <a:normAutofit fontScale="92500" lnSpcReduction="10000"/>
          </a:bodyPr>
          <a:lstStyle/>
          <a:p>
            <a:endParaRPr dirty="0"/>
          </a:p>
          <a:p>
            <a:pPr marL="0" indent="0">
              <a:buNone/>
            </a:pPr>
            <a:r>
              <a:rPr dirty="0"/>
              <a:t>Provenance requirements</a:t>
            </a:r>
          </a:p>
          <a:p>
            <a:endParaRPr lang="en-US" dirty="0"/>
          </a:p>
          <a:p>
            <a:r>
              <a:rPr dirty="0"/>
              <a:t>Declare:</a:t>
            </a:r>
          </a:p>
          <a:p>
            <a:pPr lvl="1"/>
            <a:r>
              <a:rPr dirty="0"/>
              <a:t>AI involvement</a:t>
            </a:r>
          </a:p>
          <a:p>
            <a:pPr lvl="1"/>
            <a:r>
              <a:rPr dirty="0"/>
              <a:t>Model used</a:t>
            </a:r>
          </a:p>
          <a:p>
            <a:pPr lvl="1"/>
            <a:r>
              <a:rPr dirty="0"/>
              <a:t>Date generated</a:t>
            </a:r>
          </a:p>
          <a:p>
            <a:pPr lvl="1"/>
            <a:r>
              <a:rPr dirty="0"/>
              <a:t>Human reviewer</a:t>
            </a:r>
          </a:p>
          <a:p>
            <a:r>
              <a:rPr dirty="0"/>
              <a:t>  Store provenance in headers, footers, or side cars</a:t>
            </a:r>
          </a:p>
          <a:p>
            <a:r>
              <a:rPr dirty="0"/>
              <a:t>  Track revisions in version control</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Instructions for AI Generated Artifacts</a:t>
            </a:r>
          </a:p>
        </p:txBody>
      </p:sp>
      <p:sp>
        <p:nvSpPr>
          <p:cNvPr id="3" name="Content Placeholder 2"/>
          <p:cNvSpPr>
            <a:spLocks noGrp="1"/>
          </p:cNvSpPr>
          <p:nvPr>
            <p:ph idx="1"/>
          </p:nvPr>
        </p:nvSpPr>
        <p:spPr/>
        <p:txBody>
          <a:bodyPr wrap="square">
            <a:normAutofit/>
          </a:bodyPr>
          <a:lstStyle/>
          <a:p>
            <a:endParaRPr/>
          </a:p>
          <a:p>
            <a:r>
              <a:t>The one instruction file that rules them all</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AI-Assisted Output Instructions</a:t>
            </a:r>
          </a:p>
        </p:txBody>
      </p:sp>
      <p:sp>
        <p:nvSpPr>
          <p:cNvPr id="3" name="Content Placeholder 2"/>
          <p:cNvSpPr>
            <a:spLocks noGrp="1"/>
          </p:cNvSpPr>
          <p:nvPr>
            <p:ph idx="1"/>
          </p:nvPr>
        </p:nvSpPr>
        <p:spPr/>
        <p:txBody>
          <a:bodyPr wrap="square">
            <a:normAutofit/>
          </a:bodyPr>
          <a:lstStyle/>
          <a:p>
            <a:endParaRPr/>
          </a:p>
          <a:p>
            <a:r>
              <a:t>Ensures provenance and logging for all AI-assisted outputs</a:t>
            </a:r>
          </a:p>
          <a:p>
            <a:r>
              <a:t>Defines required metadata, logging workflow, and quality gates</a:t>
            </a:r>
          </a:p>
          <a:p>
            <a:r>
              <a:t>Protects code quality and enables audits</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Required Provenance Metadata</a:t>
            </a:r>
          </a:p>
        </p:txBody>
      </p:sp>
      <p:sp>
        <p:nvSpPr>
          <p:cNvPr id="3" name="Content Placeholder 2"/>
          <p:cNvSpPr>
            <a:spLocks noGrp="1"/>
          </p:cNvSpPr>
          <p:nvPr>
            <p:ph idx="1"/>
          </p:nvPr>
        </p:nvSpPr>
        <p:spPr/>
        <p:txBody>
          <a:bodyPr wrap="square">
            <a:normAutofit fontScale="62500" lnSpcReduction="20000"/>
          </a:bodyPr>
          <a:lstStyle/>
          <a:p>
            <a:endParaRPr dirty="0"/>
          </a:p>
          <a:p>
            <a:pPr marL="0" indent="0">
              <a:buNone/>
            </a:pPr>
            <a:r>
              <a:rPr dirty="0"/>
              <a:t>Every AI-assisted artifact must include:</a:t>
            </a:r>
          </a:p>
          <a:p>
            <a:endParaRPr dirty="0"/>
          </a:p>
          <a:p>
            <a:pPr marL="0" indent="0">
              <a:buNone/>
            </a:pPr>
            <a:r>
              <a:rPr dirty="0" err="1">
                <a:latin typeface="Cascadia Code" panose="020B0609020000020004" pitchFamily="49" charset="0"/>
                <a:cs typeface="Cascadia Code" panose="020B0609020000020004" pitchFamily="49" charset="0"/>
              </a:rPr>
              <a:t>ai_generated</a:t>
            </a:r>
            <a:r>
              <a:rPr dirty="0">
                <a:latin typeface="Cascadia Code" panose="020B0609020000020004" pitchFamily="49" charset="0"/>
                <a:cs typeface="Cascadia Code" panose="020B0609020000020004" pitchFamily="49" charset="0"/>
              </a:rPr>
              <a:t>: true</a:t>
            </a:r>
          </a:p>
          <a:p>
            <a:pPr marL="0" indent="0">
              <a:buNone/>
            </a:pPr>
            <a:r>
              <a:rPr dirty="0">
                <a:latin typeface="Cascadia Code" panose="020B0609020000020004" pitchFamily="49" charset="0"/>
                <a:cs typeface="Cascadia Code" panose="020B0609020000020004" pitchFamily="49" charset="0"/>
              </a:rPr>
              <a:t>model: provider/</a:t>
            </a:r>
            <a:r>
              <a:rPr dirty="0" err="1">
                <a:latin typeface="Cascadia Code" panose="020B0609020000020004" pitchFamily="49" charset="0"/>
                <a:cs typeface="Cascadia Code" panose="020B0609020000020004" pitchFamily="49" charset="0"/>
              </a:rPr>
              <a:t>model@version</a:t>
            </a:r>
            <a:endParaRPr dirty="0">
              <a:latin typeface="Cascadia Code" panose="020B0609020000020004" pitchFamily="49" charset="0"/>
              <a:cs typeface="Cascadia Code" panose="020B0609020000020004" pitchFamily="49" charset="0"/>
            </a:endParaRPr>
          </a:p>
          <a:p>
            <a:pPr marL="0" indent="0">
              <a:buNone/>
            </a:pPr>
            <a:r>
              <a:rPr dirty="0">
                <a:latin typeface="Cascadia Code" panose="020B0609020000020004" pitchFamily="49" charset="0"/>
                <a:cs typeface="Cascadia Code" panose="020B0609020000020004" pitchFamily="49" charset="0"/>
              </a:rPr>
              <a:t>operator: username</a:t>
            </a:r>
          </a:p>
          <a:p>
            <a:pPr marL="0" indent="0">
              <a:buNone/>
            </a:pPr>
            <a:r>
              <a:rPr dirty="0" err="1">
                <a:latin typeface="Cascadia Code" panose="020B0609020000020004" pitchFamily="49" charset="0"/>
                <a:cs typeface="Cascadia Code" panose="020B0609020000020004" pitchFamily="49" charset="0"/>
              </a:rPr>
              <a:t>chat_id</a:t>
            </a:r>
            <a:r>
              <a:rPr dirty="0">
                <a:latin typeface="Cascadia Code" panose="020B0609020000020004" pitchFamily="49" charset="0"/>
                <a:cs typeface="Cascadia Code" panose="020B0609020000020004" pitchFamily="49" charset="0"/>
              </a:rPr>
              <a:t>: unique chat identifier</a:t>
            </a:r>
          </a:p>
          <a:p>
            <a:pPr marL="0" indent="0">
              <a:buNone/>
            </a:pPr>
            <a:r>
              <a:rPr dirty="0">
                <a:latin typeface="Cascadia Code" panose="020B0609020000020004" pitchFamily="49" charset="0"/>
                <a:cs typeface="Cascadia Code" panose="020B0609020000020004" pitchFamily="49" charset="0"/>
              </a:rPr>
              <a:t>prompt: exact prompt text</a:t>
            </a:r>
          </a:p>
          <a:p>
            <a:pPr marL="0" indent="0">
              <a:buNone/>
            </a:pPr>
            <a:r>
              <a:rPr dirty="0">
                <a:latin typeface="Cascadia Code" panose="020B0609020000020004" pitchFamily="49" charset="0"/>
                <a:cs typeface="Cascadia Code" panose="020B0609020000020004" pitchFamily="49" charset="0"/>
              </a:rPr>
              <a:t>started/ended: timestamps</a:t>
            </a:r>
          </a:p>
          <a:p>
            <a:pPr marL="0" indent="0">
              <a:buNone/>
            </a:pPr>
            <a:r>
              <a:rPr dirty="0" err="1">
                <a:latin typeface="Cascadia Code" panose="020B0609020000020004" pitchFamily="49" charset="0"/>
                <a:cs typeface="Cascadia Code" panose="020B0609020000020004" pitchFamily="49" charset="0"/>
              </a:rPr>
              <a:t>task_durations</a:t>
            </a:r>
            <a:r>
              <a:rPr dirty="0">
                <a:latin typeface="Cascadia Code" panose="020B0609020000020004" pitchFamily="49" charset="0"/>
                <a:cs typeface="Cascadia Code" panose="020B0609020000020004" pitchFamily="49" charset="0"/>
              </a:rPr>
              <a:t> &amp; </a:t>
            </a:r>
            <a:r>
              <a:rPr dirty="0" err="1">
                <a:latin typeface="Cascadia Code" panose="020B0609020000020004" pitchFamily="49" charset="0"/>
                <a:cs typeface="Cascadia Code" panose="020B0609020000020004" pitchFamily="49" charset="0"/>
              </a:rPr>
              <a:t>total_duration</a:t>
            </a:r>
            <a:endParaRPr dirty="0">
              <a:latin typeface="Cascadia Code" panose="020B0609020000020004" pitchFamily="49" charset="0"/>
              <a:cs typeface="Cascadia Code" panose="020B0609020000020004" pitchFamily="49" charset="0"/>
            </a:endParaRPr>
          </a:p>
          <a:p>
            <a:pPr marL="0" indent="0">
              <a:buNone/>
            </a:pPr>
            <a:r>
              <a:rPr dirty="0" err="1">
                <a:latin typeface="Cascadia Code" panose="020B0609020000020004" pitchFamily="49" charset="0"/>
                <a:cs typeface="Cascadia Code" panose="020B0609020000020004" pitchFamily="49" charset="0"/>
              </a:rPr>
              <a:t>ai_log</a:t>
            </a:r>
            <a:r>
              <a:rPr dirty="0">
                <a:latin typeface="Cascadia Code" panose="020B0609020000020004" pitchFamily="49" charset="0"/>
                <a:cs typeface="Cascadia Code" panose="020B0609020000020004" pitchFamily="49" charset="0"/>
              </a:rPr>
              <a:t>: path to conversation log</a:t>
            </a:r>
          </a:p>
          <a:p>
            <a:pPr marL="0" indent="0">
              <a:buNone/>
            </a:pPr>
            <a:r>
              <a:rPr dirty="0">
                <a:latin typeface="Cascadia Code" panose="020B0609020000020004" pitchFamily="49" charset="0"/>
                <a:cs typeface="Cascadia Code" panose="020B0609020000020004" pitchFamily="49" charset="0"/>
              </a:rPr>
              <a:t>source: who/what created the file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Metadata Placement Policy</a:t>
            </a:r>
          </a:p>
        </p:txBody>
      </p:sp>
      <p:sp>
        <p:nvSpPr>
          <p:cNvPr id="3" name="Content Placeholder 2"/>
          <p:cNvSpPr>
            <a:spLocks noGrp="1"/>
          </p:cNvSpPr>
          <p:nvPr>
            <p:ph idx="1"/>
          </p:nvPr>
        </p:nvSpPr>
        <p:spPr/>
        <p:txBody>
          <a:bodyPr wrap="square">
            <a:normAutofit/>
          </a:bodyPr>
          <a:lstStyle/>
          <a:p>
            <a:endParaRPr/>
          </a:p>
          <a:p>
            <a:r>
              <a:t>Use YAML front matter for Markdown and similar formats</a:t>
            </a:r>
          </a:p>
          <a:p>
            <a:r>
              <a:t>For binaries/images, use a sidecar &lt;artifact&gt;.meta.md</a:t>
            </a:r>
          </a:p>
          <a:p>
            <a:r>
              <a:t>Never use sidecars for Markdown</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Chat Logging Workflow</a:t>
            </a:r>
          </a:p>
        </p:txBody>
      </p:sp>
      <p:sp>
        <p:nvSpPr>
          <p:cNvPr id="3" name="Content Placeholder 2"/>
          <p:cNvSpPr>
            <a:spLocks noGrp="1"/>
          </p:cNvSpPr>
          <p:nvPr>
            <p:ph idx="1"/>
          </p:nvPr>
        </p:nvSpPr>
        <p:spPr/>
        <p:txBody>
          <a:bodyPr wrap="square">
            <a:normAutofit lnSpcReduction="10000"/>
          </a:bodyPr>
          <a:lstStyle/>
          <a:p>
            <a:endParaRPr dirty="0"/>
          </a:p>
          <a:p>
            <a:pPr marL="0" indent="0">
              <a:buNone/>
            </a:pPr>
            <a:r>
              <a:rPr dirty="0"/>
              <a:t>Each chat creates a unique log folder: ai-logs/</a:t>
            </a:r>
            <a:r>
              <a:rPr dirty="0" err="1"/>
              <a:t>yyyy</a:t>
            </a:r>
            <a:r>
              <a:rPr dirty="0"/>
              <a:t>/mm/dd/&lt;chat-id&gt;/</a:t>
            </a:r>
          </a:p>
          <a:p>
            <a:endParaRPr lang="en-US" dirty="0"/>
          </a:p>
          <a:p>
            <a:pPr marL="0" indent="0">
              <a:buNone/>
            </a:pPr>
            <a:r>
              <a:rPr dirty="0"/>
              <a:t>Required files:</a:t>
            </a:r>
          </a:p>
          <a:p>
            <a:pPr lvl="1"/>
            <a:r>
              <a:rPr dirty="0"/>
              <a:t>conversation.md (full transcript)</a:t>
            </a:r>
          </a:p>
          <a:p>
            <a:pPr lvl="1"/>
            <a:r>
              <a:rPr dirty="0"/>
              <a:t>summary.md (objectives, decisions, outcomes)</a:t>
            </a:r>
          </a:p>
          <a:p>
            <a:pPr lvl="1"/>
            <a:r>
              <a:rPr dirty="0"/>
              <a:t>artifacts/ (optional)</a:t>
            </a:r>
          </a:p>
          <a:p>
            <a:r>
              <a:rPr dirty="0"/>
              <a:t>Never reuse chat logs between sessions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Quality &amp; PR Checklist</a:t>
            </a:r>
          </a:p>
        </p:txBody>
      </p:sp>
      <p:sp>
        <p:nvSpPr>
          <p:cNvPr id="3" name="Content Placeholder 2"/>
          <p:cNvSpPr>
            <a:spLocks noGrp="1"/>
          </p:cNvSpPr>
          <p:nvPr>
            <p:ph idx="1"/>
          </p:nvPr>
        </p:nvSpPr>
        <p:spPr/>
        <p:txBody>
          <a:bodyPr wrap="square">
            <a:normAutofit/>
          </a:bodyPr>
          <a:lstStyle/>
          <a:p>
            <a:endParaRPr/>
          </a:p>
          <a:p>
            <a:r>
              <a:t>Metadata complete and correct</a:t>
            </a:r>
          </a:p>
          <a:p>
            <a:r>
              <a:t>Conversation and summary logs exist</a:t>
            </a:r>
          </a:p>
          <a:p>
            <a:r>
              <a:t>README.md updated for notable artifacts</a:t>
            </a:r>
          </a:p>
          <a:p>
            <a:r>
              <a:t>No sensitive data in outputs</a:t>
            </a:r>
          </a:p>
          <a:p>
            <a:r>
              <a:t>All AI-generated content traces to a chat log</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Copilot Integration Requirements</a:t>
            </a:r>
          </a:p>
        </p:txBody>
      </p:sp>
      <p:sp>
        <p:nvSpPr>
          <p:cNvPr id="3" name="Content Placeholder 2"/>
          <p:cNvSpPr>
            <a:spLocks noGrp="1"/>
          </p:cNvSpPr>
          <p:nvPr>
            <p:ph idx="1"/>
          </p:nvPr>
        </p:nvSpPr>
        <p:spPr/>
        <p:txBody>
          <a:bodyPr wrap="square">
            <a:normAutofit/>
          </a:bodyPr>
          <a:lstStyle/>
          <a:p>
            <a:endParaRPr/>
          </a:p>
          <a:p>
            <a:r>
              <a:t>Copilot must auto-manage chat IDs and logs</a:t>
            </a:r>
          </a:p>
          <a:p>
            <a:r>
              <a:t>Metadata injected automatically</a:t>
            </a:r>
          </a:p>
          <a:p>
            <a:r>
              <a:t>Block artifact creation if chat context is missing</a:t>
            </a:r>
          </a:p>
          <a:p>
            <a:r>
              <a:t>Enforce provenance before file creation</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Enforcement &amp; Remediation</a:t>
            </a:r>
          </a:p>
        </p:txBody>
      </p:sp>
      <p:sp>
        <p:nvSpPr>
          <p:cNvPr id="3" name="Content Placeholder 2"/>
          <p:cNvSpPr>
            <a:spLocks noGrp="1"/>
          </p:cNvSpPr>
          <p:nvPr>
            <p:ph idx="1"/>
          </p:nvPr>
        </p:nvSpPr>
        <p:spPr/>
        <p:txBody>
          <a:bodyPr wrap="square">
            <a:normAutofit/>
          </a:bodyPr>
          <a:lstStyle/>
          <a:p>
            <a:endParaRPr/>
          </a:p>
          <a:p>
            <a:r>
              <a:t>PRs blocked if provenance is incomplete</a:t>
            </a:r>
          </a:p>
          <a:p>
            <a:r>
              <a:t>Missing logs or metadata must be added before merge</a:t>
            </a:r>
          </a:p>
          <a:p>
            <a:r>
              <a:t>Orphaned artifacts require reconstruction of logs and metadata</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Why This Matters</a:t>
            </a:r>
          </a:p>
        </p:txBody>
      </p:sp>
      <p:sp>
        <p:nvSpPr>
          <p:cNvPr id="3" name="Content Placeholder 2"/>
          <p:cNvSpPr>
            <a:spLocks noGrp="1"/>
          </p:cNvSpPr>
          <p:nvPr>
            <p:ph idx="1"/>
          </p:nvPr>
        </p:nvSpPr>
        <p:spPr/>
        <p:txBody>
          <a:bodyPr wrap="square">
            <a:normAutofit/>
          </a:bodyPr>
          <a:lstStyle/>
          <a:p>
            <a:endParaRPr/>
          </a:p>
          <a:p>
            <a:r>
              <a:t>Enables auditability and trust in AI outputs</a:t>
            </a:r>
          </a:p>
          <a:p>
            <a:r>
              <a:t>Protects against orphaned or unverifiable artifacts</a:t>
            </a:r>
          </a:p>
          <a:p>
            <a:r>
              <a:t>Supports team collaboration and compliance</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Instruction files</a:t>
            </a:r>
          </a:p>
        </p:txBody>
      </p:sp>
      <p:sp>
        <p:nvSpPr>
          <p:cNvPr id="3" name="Content Placeholder 2"/>
          <p:cNvSpPr>
            <a:spLocks noGrp="1"/>
          </p:cNvSpPr>
          <p:nvPr>
            <p:ph idx="1"/>
          </p:nvPr>
        </p:nvSpPr>
        <p:spPr/>
        <p:txBody>
          <a:bodyPr wrap="square">
            <a:normAutofit fontScale="77500" lnSpcReduction="20000"/>
          </a:bodyPr>
          <a:lstStyle/>
          <a:p>
            <a:endParaRPr/>
          </a:p>
          <a:p>
            <a:r>
              <a:t>chatmode-file.instructions.md</a:t>
            </a:r>
          </a:p>
          <a:p>
            <a:endParaRPr/>
          </a:p>
          <a:p>
            <a:r>
              <a:t>Defines the structure and contents of agents</a:t>
            </a:r>
          </a:p>
          <a:p>
            <a:r>
              <a:t>  instruction-files.instructions.md</a:t>
            </a:r>
          </a:p>
          <a:p>
            <a:r>
              <a:t>Defines the structure and contents of instruction files</a:t>
            </a:r>
          </a:p>
          <a:p>
            <a:r>
              <a:t>  prompt-file.instructions.md</a:t>
            </a:r>
          </a:p>
          <a:p>
            <a:r>
              <a:t>Defines the structure and contents of prompts</a:t>
            </a:r>
          </a:p>
          <a:p>
            <a:r>
              <a:t>  instruction-prompt-files.instructions.md</a:t>
            </a:r>
          </a:p>
          <a:p>
            <a:r>
              <a:t>Defines the structure and contents of prompts the create instruction files</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Copy the Core Instructions</a:t>
            </a:r>
          </a:p>
        </p:txBody>
      </p:sp>
      <p:sp>
        <p:nvSpPr>
          <p:cNvPr id="3" name="Content Placeholder 2"/>
          <p:cNvSpPr>
            <a:spLocks noGrp="1"/>
          </p:cNvSpPr>
          <p:nvPr>
            <p:ph sz="half" idx="1"/>
          </p:nvPr>
        </p:nvSpPr>
        <p:spPr/>
        <p:txBody>
          <a:bodyPr wrap="square">
            <a:normAutofit fontScale="47500" lnSpcReduction="20000"/>
          </a:bodyPr>
          <a:lstStyle/>
          <a:p>
            <a:pPr marL="0" indent="0">
              <a:buNone/>
            </a:pPr>
            <a:r>
              <a:rPr b="1" dirty="0"/>
              <a:t>Objectives</a:t>
            </a:r>
          </a:p>
          <a:p>
            <a:r>
              <a:rPr dirty="0"/>
              <a:t>Understand file organization for AI-assisted output policies</a:t>
            </a:r>
          </a:p>
          <a:p>
            <a:r>
              <a:rPr dirty="0"/>
              <a:t>Practice copying files between repositories</a:t>
            </a:r>
          </a:p>
          <a:p>
            <a:r>
              <a:rPr dirty="0"/>
              <a:t>Ensure compliance with output metadata requirements</a:t>
            </a:r>
          </a:p>
          <a:p>
            <a:endParaRPr lang="en-US" dirty="0"/>
          </a:p>
          <a:p>
            <a:pPr marL="0" indent="0">
              <a:buNone/>
            </a:pPr>
            <a:r>
              <a:rPr b="1" dirty="0"/>
              <a:t>Activities</a:t>
            </a:r>
          </a:p>
          <a:p>
            <a:pPr marL="0" indent="0">
              <a:buNone/>
            </a:pPr>
            <a:r>
              <a:rPr dirty="0"/>
              <a:t>1. Locate .</a:t>
            </a:r>
            <a:r>
              <a:rPr dirty="0" err="1"/>
              <a:t>github</a:t>
            </a:r>
            <a:r>
              <a:rPr dirty="0"/>
              <a:t>/instructions/ai-assisted-output.instructions.md in the AI-Assisted-Software-Development repository</a:t>
            </a:r>
          </a:p>
          <a:p>
            <a:pPr marL="0" indent="0">
              <a:buNone/>
            </a:pPr>
            <a:r>
              <a:rPr dirty="0"/>
              <a:t>2. Copy the file into the .</a:t>
            </a:r>
            <a:r>
              <a:rPr dirty="0" err="1"/>
              <a:t>github</a:t>
            </a:r>
            <a:r>
              <a:rPr dirty="0"/>
              <a:t>/instructions folder of the current repository</a:t>
            </a:r>
          </a:p>
          <a:p>
            <a:pPr marL="0" indent="0">
              <a:buNone/>
            </a:pPr>
            <a:r>
              <a:rPr dirty="0"/>
              <a:t>3. Copy these files as well:</a:t>
            </a:r>
          </a:p>
          <a:p>
            <a:pPr lvl="1"/>
            <a:r>
              <a:rPr dirty="0"/>
              <a:t>chatmode-file.instructions.md</a:t>
            </a:r>
          </a:p>
          <a:p>
            <a:pPr lvl="1"/>
            <a:r>
              <a:rPr dirty="0"/>
              <a:t>instruction-files.instructions.md</a:t>
            </a:r>
          </a:p>
          <a:p>
            <a:pPr lvl="1"/>
            <a:r>
              <a:rPr dirty="0"/>
              <a:t>instruction-prompt-files.instructions.md</a:t>
            </a:r>
          </a:p>
          <a:p>
            <a:pPr lvl="1"/>
            <a:r>
              <a:rPr dirty="0"/>
              <a:t>prompt-file.instructions.md</a:t>
            </a:r>
          </a:p>
        </p:txBody>
      </p:sp>
      <p:sp>
        <p:nvSpPr>
          <p:cNvPr id="4" name="Content Placeholder 3">
            <a:extLst>
              <a:ext uri="{FF2B5EF4-FFF2-40B4-BE49-F238E27FC236}">
                <a16:creationId xmlns:a16="http://schemas.microsoft.com/office/drawing/2014/main" id="{AA8435AE-743E-3B71-1C18-A1165AD33C16}"/>
              </a:ext>
            </a:extLst>
          </p:cNvPr>
          <p:cNvSpPr>
            <a:spLocks noGrp="1"/>
          </p:cNvSpPr>
          <p:nvPr>
            <p:ph sz="half" idx="2"/>
          </p:nvPr>
        </p:nvSpPr>
        <p:spPr/>
        <p:txBody>
          <a:bodyPr>
            <a:normAutofit fontScale="47500" lnSpcReduction="20000"/>
          </a:bodyPr>
          <a:lstStyle/>
          <a:p>
            <a:pPr marL="0" indent="0">
              <a:buNone/>
            </a:pPr>
            <a:r>
              <a:rPr lang="en-US" dirty="0"/>
              <a:t>4. Verify the copied files matches the original</a:t>
            </a:r>
          </a:p>
          <a:p>
            <a:pPr marL="0" indent="0">
              <a:buNone/>
            </a:pPr>
            <a:r>
              <a:rPr lang="en-US" dirty="0"/>
              <a:t>5. Review the instructions</a:t>
            </a:r>
          </a:p>
          <a:p>
            <a:pPr marL="0" indent="0">
              <a:buNone/>
            </a:pPr>
            <a:endParaRPr lang="en-US" dirty="0"/>
          </a:p>
          <a:p>
            <a:pPr marL="0" indent="0">
              <a:buNone/>
            </a:pPr>
            <a:r>
              <a:rPr lang="en-US" b="1" dirty="0"/>
              <a:t>Success Criteria</a:t>
            </a:r>
          </a:p>
          <a:p>
            <a:pPr lvl="1"/>
            <a:r>
              <a:rPr lang="en-US" dirty="0"/>
              <a:t>The files are present in the current repo</a:t>
            </a:r>
          </a:p>
          <a:p>
            <a:pPr lvl="1"/>
            <a:r>
              <a:rPr lang="en-US" dirty="0"/>
              <a:t>The content matches the source file</a:t>
            </a:r>
          </a:p>
          <a:p>
            <a:pPr lvl="1"/>
            <a:r>
              <a:rPr lang="en-US" dirty="0"/>
              <a:t>No metadata or formatting is lost</a:t>
            </a:r>
          </a:p>
          <a:p>
            <a:endParaRPr 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Create an Instruction File for Evergreen Development</a:t>
            </a:r>
          </a:p>
        </p:txBody>
      </p:sp>
      <p:sp>
        <p:nvSpPr>
          <p:cNvPr id="3" name="Content Placeholder 2"/>
          <p:cNvSpPr>
            <a:spLocks noGrp="1"/>
          </p:cNvSpPr>
          <p:nvPr>
            <p:ph sz="half" idx="1"/>
          </p:nvPr>
        </p:nvSpPr>
        <p:spPr/>
        <p:txBody>
          <a:bodyPr wrap="square">
            <a:normAutofit fontScale="92500" lnSpcReduction="20000"/>
          </a:bodyPr>
          <a:lstStyle/>
          <a:p>
            <a:pPr marL="0" indent="0">
              <a:buNone/>
            </a:pPr>
            <a:r>
              <a:rPr b="1" dirty="0"/>
              <a:t>Objectives</a:t>
            </a:r>
          </a:p>
          <a:p>
            <a:r>
              <a:rPr dirty="0"/>
              <a:t>Capture evergreen principles</a:t>
            </a:r>
          </a:p>
          <a:p>
            <a:r>
              <a:rPr dirty="0"/>
              <a:t>Define architectural boundaries</a:t>
            </a:r>
          </a:p>
          <a:p>
            <a:r>
              <a:rPr dirty="0"/>
              <a:t>Specify modernization rules</a:t>
            </a:r>
          </a:p>
          <a:p>
            <a:endParaRPr lang="en-US" dirty="0"/>
          </a:p>
          <a:p>
            <a:pPr marL="0" indent="0">
              <a:buNone/>
            </a:pPr>
            <a:r>
              <a:rPr lang="en-US" b="1" dirty="0"/>
              <a:t>A</a:t>
            </a:r>
            <a:r>
              <a:rPr b="1" dirty="0"/>
              <a:t>ctivities</a:t>
            </a:r>
          </a:p>
          <a:p>
            <a:pPr marL="0" indent="0">
              <a:buNone/>
            </a:pPr>
            <a:r>
              <a:rPr lang="en-US" dirty="0"/>
              <a:t>1. </a:t>
            </a:r>
            <a:r>
              <a:rPr dirty="0"/>
              <a:t>Submit the Evergreen Instructions prompt</a:t>
            </a:r>
          </a:p>
          <a:p>
            <a:pPr marL="0" indent="0">
              <a:buNone/>
            </a:pPr>
            <a:r>
              <a:rPr lang="en-US" dirty="0"/>
              <a:t>2. </a:t>
            </a:r>
            <a:r>
              <a:rPr dirty="0"/>
              <a:t>Review the instructions</a:t>
            </a:r>
          </a:p>
          <a:p>
            <a:endParaRPr lang="en-US" dirty="0"/>
          </a:p>
        </p:txBody>
      </p:sp>
      <p:sp>
        <p:nvSpPr>
          <p:cNvPr id="4" name="Content Placeholder 3">
            <a:extLst>
              <a:ext uri="{FF2B5EF4-FFF2-40B4-BE49-F238E27FC236}">
                <a16:creationId xmlns:a16="http://schemas.microsoft.com/office/drawing/2014/main" id="{F2D47263-5BE8-5398-F6C4-ED2BA1D1B889}"/>
              </a:ext>
            </a:extLst>
          </p:cNvPr>
          <p:cNvSpPr>
            <a:spLocks noGrp="1"/>
          </p:cNvSpPr>
          <p:nvPr>
            <p:ph sz="half" idx="2"/>
          </p:nvPr>
        </p:nvSpPr>
        <p:spPr/>
        <p:txBody>
          <a:bodyPr>
            <a:normAutofit fontScale="92500" lnSpcReduction="20000"/>
          </a:bodyPr>
          <a:lstStyle/>
          <a:p>
            <a:pPr marL="0" indent="0">
              <a:buNone/>
            </a:pPr>
            <a:r>
              <a:rPr lang="en-US" b="1" dirty="0"/>
              <a:t>Success Criteria</a:t>
            </a:r>
          </a:p>
          <a:p>
            <a:r>
              <a:rPr lang="en-US" dirty="0"/>
              <a:t>Instruction file is stable and reusable</a:t>
            </a:r>
          </a:p>
          <a:p>
            <a:r>
              <a:rPr lang="en-US" dirty="0"/>
              <a:t>Reflects evergreen development values</a:t>
            </a:r>
          </a:p>
          <a:p>
            <a:r>
              <a:rPr lang="en-US" dirty="0"/>
              <a:t>Provides clear guardrails</a:t>
            </a:r>
          </a:p>
          <a:p>
            <a:endParaRPr 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Create a Prompt File</a:t>
            </a:r>
          </a:p>
        </p:txBody>
      </p:sp>
      <p:sp>
        <p:nvSpPr>
          <p:cNvPr id="3" name="Content Placeholder 2"/>
          <p:cNvSpPr>
            <a:spLocks noGrp="1"/>
          </p:cNvSpPr>
          <p:nvPr>
            <p:ph idx="1"/>
          </p:nvPr>
        </p:nvSpPr>
        <p:spPr/>
        <p:txBody>
          <a:bodyPr wrap="square">
            <a:normAutofit fontScale="62500" lnSpcReduction="20000"/>
          </a:bodyPr>
          <a:lstStyle/>
          <a:p>
            <a:endParaRPr/>
          </a:p>
          <a:p>
            <a:r>
              <a:t>Objectives</a:t>
            </a:r>
          </a:p>
          <a:p>
            <a:r>
              <a:t>Understand prompt structure</a:t>
            </a:r>
          </a:p>
          <a:p>
            <a:r>
              <a:t>Practice defining task intent</a:t>
            </a:r>
          </a:p>
          <a:p>
            <a:r>
              <a:t>Apply constraints and success criteria</a:t>
            </a:r>
          </a:p>
          <a:p>
            <a:r>
              <a:t>Activities</a:t>
            </a:r>
          </a:p>
          <a:p>
            <a:r>
              <a:t>Prompt Copilot to create a prompt file that creates an instruction file for evergreen software development</a:t>
            </a:r>
          </a:p>
          <a:p>
            <a:r>
              <a:t>Review the prompt</a:t>
            </a:r>
          </a:p>
          <a:p>
            <a:r>
              <a:t>Success Criteria</a:t>
            </a:r>
          </a:p>
          <a:p>
            <a:r>
              <a:t>Prompt is clear, scoped, and reusable</a:t>
            </a:r>
          </a:p>
          <a:p>
            <a:r>
              <a:t>Includes constraints and success criteria</a:t>
            </a:r>
          </a:p>
          <a:p>
            <a:r>
              <a:t>Avoids unnecessary context</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Create an Agent</a:t>
            </a:r>
          </a:p>
        </p:txBody>
      </p:sp>
      <p:sp>
        <p:nvSpPr>
          <p:cNvPr id="3" name="Content Placeholder 2"/>
          <p:cNvSpPr>
            <a:spLocks noGrp="1"/>
          </p:cNvSpPr>
          <p:nvPr>
            <p:ph idx="1"/>
          </p:nvPr>
        </p:nvSpPr>
        <p:spPr/>
        <p:txBody>
          <a:bodyPr wrap="square">
            <a:normAutofit fontScale="32500" lnSpcReduction="20000"/>
          </a:bodyPr>
          <a:lstStyle/>
          <a:p>
            <a:endParaRPr/>
          </a:p>
          <a:p>
            <a:r>
              <a:t>Objectives</a:t>
            </a:r>
          </a:p>
          <a:p>
            <a:r>
              <a:t>Define a persona optimized for brownfield work</a:t>
            </a:r>
          </a:p>
          <a:p>
            <a:r>
              <a:t>Emphasize safety and incrementalism</a:t>
            </a:r>
          </a:p>
          <a:p>
            <a:r>
              <a:t>Encode risk-aware behaviors</a:t>
            </a:r>
          </a:p>
          <a:p>
            <a:r>
              <a:t>Activities</a:t>
            </a:r>
          </a:p>
          <a:p>
            <a:r>
              <a:t>Draft a Agent that:</a:t>
            </a:r>
          </a:p>
          <a:p>
            <a:endParaRPr/>
          </a:p>
          <a:p>
            <a:r>
              <a:t>Respects working systems</a:t>
            </a:r>
          </a:p>
          <a:p>
            <a:r>
              <a:t>Avoids risky rewrites</a:t>
            </a:r>
          </a:p>
          <a:p>
            <a:r>
              <a:t>Surfaces context gaps</a:t>
            </a:r>
          </a:p>
          <a:p>
            <a:r>
              <a:t>Encourages incremental changes</a:t>
            </a:r>
          </a:p>
          <a:p>
            <a:r>
              <a:t>  Add tone and behavioral guidelines</a:t>
            </a:r>
          </a:p>
          <a:p>
            <a:r>
              <a:t>  Add provenance metadata</a:t>
            </a:r>
          </a:p>
          <a:p>
            <a:r>
              <a:t>  Success Criteria</a:t>
            </a:r>
          </a:p>
          <a:p>
            <a:r>
              <a:t>  Agent behaves like a cautious senior engineer</a:t>
            </a:r>
          </a:p>
          <a:p>
            <a:r>
              <a:t>  Encourages safe modernization</a:t>
            </a:r>
          </a:p>
          <a:p>
            <a:r>
              <a:t>  Includes clear behavioral rules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Generate Instruction Files</a:t>
            </a:r>
          </a:p>
        </p:txBody>
      </p:sp>
      <p:sp>
        <p:nvSpPr>
          <p:cNvPr id="3" name="Content Placeholder 2"/>
          <p:cNvSpPr>
            <a:spLocks noGrp="1"/>
          </p:cNvSpPr>
          <p:nvPr>
            <p:ph sz="half" idx="1"/>
          </p:nvPr>
        </p:nvSpPr>
        <p:spPr/>
        <p:txBody>
          <a:bodyPr wrap="square">
            <a:normAutofit fontScale="77500" lnSpcReduction="20000"/>
          </a:bodyPr>
          <a:lstStyle/>
          <a:p>
            <a:pPr marL="0" indent="0">
              <a:buNone/>
            </a:pPr>
            <a:r>
              <a:rPr b="1" dirty="0"/>
              <a:t>Objectives</a:t>
            </a:r>
          </a:p>
          <a:p>
            <a:r>
              <a:rPr dirty="0"/>
              <a:t>Use meta prompts to scale instruction-file creation</a:t>
            </a:r>
          </a:p>
          <a:p>
            <a:r>
              <a:rPr dirty="0"/>
              <a:t>Capture module-specific rules</a:t>
            </a:r>
          </a:p>
          <a:p>
            <a:r>
              <a:rPr dirty="0"/>
              <a:t>Encode domain and architectural constraints</a:t>
            </a:r>
          </a:p>
          <a:p>
            <a:endParaRPr lang="en-US" dirty="0"/>
          </a:p>
          <a:p>
            <a:pPr marL="0" indent="0">
              <a:buNone/>
            </a:pPr>
            <a:r>
              <a:rPr b="1" dirty="0"/>
              <a:t>Activities</a:t>
            </a:r>
          </a:p>
          <a:p>
            <a:pPr marL="0" indent="0">
              <a:buNone/>
            </a:pPr>
            <a:r>
              <a:rPr lang="en-US" dirty="0"/>
              <a:t>1. </a:t>
            </a:r>
            <a:r>
              <a:rPr dirty="0"/>
              <a:t>Prompt Copilot to create instruction files for the standards and conventions of the tech stack</a:t>
            </a:r>
          </a:p>
          <a:p>
            <a:pPr marL="0" indent="0">
              <a:buNone/>
            </a:pPr>
            <a:r>
              <a:rPr lang="en-US" dirty="0"/>
              <a:t>2. </a:t>
            </a:r>
            <a:r>
              <a:rPr dirty="0"/>
              <a:t>Review instructions</a:t>
            </a:r>
          </a:p>
          <a:p>
            <a:endParaRPr lang="en-US" dirty="0"/>
          </a:p>
        </p:txBody>
      </p:sp>
      <p:sp>
        <p:nvSpPr>
          <p:cNvPr id="4" name="Content Placeholder 3">
            <a:extLst>
              <a:ext uri="{FF2B5EF4-FFF2-40B4-BE49-F238E27FC236}">
                <a16:creationId xmlns:a16="http://schemas.microsoft.com/office/drawing/2014/main" id="{266054BA-256B-5AB6-6D26-DDBB8FDD7926}"/>
              </a:ext>
            </a:extLst>
          </p:cNvPr>
          <p:cNvSpPr>
            <a:spLocks noGrp="1"/>
          </p:cNvSpPr>
          <p:nvPr>
            <p:ph sz="half" idx="2"/>
          </p:nvPr>
        </p:nvSpPr>
        <p:spPr/>
        <p:txBody>
          <a:bodyPr>
            <a:normAutofit fontScale="77500" lnSpcReduction="20000"/>
          </a:bodyPr>
          <a:lstStyle/>
          <a:p>
            <a:pPr marL="0" indent="0">
              <a:buNone/>
            </a:pPr>
            <a:r>
              <a:rPr lang="en-US" b="1" dirty="0"/>
              <a:t>Success Criteria</a:t>
            </a:r>
          </a:p>
          <a:p>
            <a:r>
              <a:rPr lang="en-US" dirty="0"/>
              <a:t>Instruction files reflect real system constraints</a:t>
            </a:r>
          </a:p>
          <a:p>
            <a:r>
              <a:rPr lang="en-US" dirty="0"/>
              <a:t>Meta prompts produce consistent structure</a:t>
            </a:r>
          </a:p>
          <a:p>
            <a:r>
              <a:rPr lang="en-US" dirty="0"/>
              <a:t>Files are ready for team use</a:t>
            </a:r>
          </a:p>
          <a:p>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Context-Related Issues</a:t>
            </a:r>
          </a:p>
        </p:txBody>
      </p:sp>
      <p:sp>
        <p:nvSpPr>
          <p:cNvPr id="3" name="Content Placeholder 2"/>
          <p:cNvSpPr>
            <a:spLocks noGrp="1"/>
          </p:cNvSpPr>
          <p:nvPr>
            <p:ph sz="half" idx="1"/>
          </p:nvPr>
        </p:nvSpPr>
        <p:spPr/>
        <p:txBody>
          <a:bodyPr wrap="square">
            <a:normAutofit fontScale="77500" lnSpcReduction="20000"/>
          </a:bodyPr>
          <a:lstStyle/>
          <a:p>
            <a:pPr marL="0" indent="0">
              <a:buNone/>
            </a:pPr>
            <a:r>
              <a:rPr b="1" dirty="0"/>
              <a:t>Objectives</a:t>
            </a:r>
          </a:p>
          <a:p>
            <a:r>
              <a:rPr dirty="0"/>
              <a:t>Identify missing context</a:t>
            </a:r>
          </a:p>
          <a:p>
            <a:r>
              <a:rPr dirty="0"/>
              <a:t>Detect token overflow risks</a:t>
            </a:r>
          </a:p>
          <a:p>
            <a:r>
              <a:rPr dirty="0"/>
              <a:t>Improve prompt scoping</a:t>
            </a:r>
          </a:p>
          <a:p>
            <a:endParaRPr lang="en-US" dirty="0"/>
          </a:p>
          <a:p>
            <a:pPr marL="0" indent="0">
              <a:buNone/>
            </a:pPr>
            <a:r>
              <a:rPr b="1" dirty="0"/>
              <a:t>Activities</a:t>
            </a:r>
          </a:p>
          <a:p>
            <a:pPr marL="0" indent="0">
              <a:buNone/>
            </a:pPr>
            <a:r>
              <a:rPr lang="en-US" dirty="0"/>
              <a:t>1. </a:t>
            </a:r>
            <a:r>
              <a:rPr dirty="0"/>
              <a:t>Copy the check-context.prompt.md file from the AIASD repository</a:t>
            </a:r>
          </a:p>
          <a:p>
            <a:pPr marL="0" indent="0">
              <a:buNone/>
            </a:pPr>
            <a:r>
              <a:rPr lang="en-US" dirty="0"/>
              <a:t>2. </a:t>
            </a:r>
            <a:r>
              <a:rPr dirty="0"/>
              <a:t>Review the prompt</a:t>
            </a:r>
          </a:p>
          <a:p>
            <a:pPr marL="0" indent="0">
              <a:buNone/>
            </a:pPr>
            <a:r>
              <a:rPr lang="en-US" dirty="0"/>
              <a:t>3. </a:t>
            </a:r>
            <a:r>
              <a:rPr dirty="0"/>
              <a:t>Submit the prompt</a:t>
            </a:r>
          </a:p>
          <a:p>
            <a:pPr marL="0" indent="0">
              <a:buNone/>
            </a:pPr>
            <a:r>
              <a:rPr lang="en-US" dirty="0"/>
              <a:t>4. </a:t>
            </a:r>
            <a:r>
              <a:rPr dirty="0"/>
              <a:t>Review the output</a:t>
            </a:r>
            <a:endParaRPr lang="en-US" dirty="0"/>
          </a:p>
          <a:p>
            <a:pPr marL="0" indent="0">
              <a:buNone/>
            </a:pPr>
            <a:endParaRPr dirty="0"/>
          </a:p>
        </p:txBody>
      </p:sp>
      <p:sp>
        <p:nvSpPr>
          <p:cNvPr id="4" name="Content Placeholder 3">
            <a:extLst>
              <a:ext uri="{FF2B5EF4-FFF2-40B4-BE49-F238E27FC236}">
                <a16:creationId xmlns:a16="http://schemas.microsoft.com/office/drawing/2014/main" id="{4C3EA33D-CBCC-559A-5BD2-AE483FA75B65}"/>
              </a:ext>
            </a:extLst>
          </p:cNvPr>
          <p:cNvSpPr>
            <a:spLocks noGrp="1"/>
          </p:cNvSpPr>
          <p:nvPr>
            <p:ph sz="half" idx="2"/>
          </p:nvPr>
        </p:nvSpPr>
        <p:spPr/>
        <p:txBody>
          <a:bodyPr>
            <a:normAutofit fontScale="77500" lnSpcReduction="20000"/>
          </a:bodyPr>
          <a:lstStyle/>
          <a:p>
            <a:pPr marL="0" indent="0">
              <a:buNone/>
            </a:pPr>
            <a:r>
              <a:rPr lang="en-US" b="1" dirty="0"/>
              <a:t>Success Criteria</a:t>
            </a:r>
          </a:p>
          <a:p>
            <a:r>
              <a:rPr lang="en-US" dirty="0"/>
              <a:t>Correctly identified context gaps</a:t>
            </a:r>
          </a:p>
          <a:p>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Instructions</a:t>
            </a:r>
          </a:p>
        </p:txBody>
      </p:sp>
      <p:graphicFrame>
        <p:nvGraphicFramePr>
          <p:cNvPr id="3" name="Table 2"/>
          <p:cNvGraphicFramePr>
            <a:graphicFrameLocks noGrp="1"/>
          </p:cNvGraphicFramePr>
          <p:nvPr/>
        </p:nvGraphicFramePr>
        <p:xfrm>
          <a:off x="457200" y="1828800"/>
          <a:ext cx="8229600" cy="29260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a:defRPr sz="1296" b="1"/>
                      </a:pPr>
                      <a:r>
                        <a:t>Instruction File</a:t>
                      </a:r>
                    </a:p>
                  </a:txBody>
                  <a:tcPr/>
                </a:tc>
                <a:tc>
                  <a:txBody>
                    <a:bodyPr/>
                    <a:lstStyle/>
                    <a:p>
                      <a:pPr>
                        <a:defRPr sz="1296" b="1"/>
                      </a:pPr>
                      <a:r>
                        <a:t>Purpose</a:t>
                      </a:r>
                    </a:p>
                  </a:txBody>
                  <a:tcPr/>
                </a:tc>
                <a:extLst>
                  <a:ext uri="{0D108BD9-81ED-4DB2-BD59-A6C34878D82A}">
                    <a16:rowId xmlns:a16="http://schemas.microsoft.com/office/drawing/2014/main" val="10000"/>
                  </a:ext>
                </a:extLst>
              </a:tr>
              <a:tr h="457200">
                <a:tc>
                  <a:txBody>
                    <a:bodyPr/>
                    <a:lstStyle/>
                    <a:p>
                      <a:r>
                        <a:t>ai-assisted-output.instructions.md</a:t>
                      </a:r>
                    </a:p>
                  </a:txBody>
                  <a:tcPr/>
                </a:tc>
                <a:tc>
                  <a:txBody>
                    <a:bodyPr/>
                    <a:lstStyle/>
                    <a:p>
                      <a:r>
                        <a:t>Guidance for AI generated artifacts</a:t>
                      </a:r>
                    </a:p>
                  </a:txBody>
                  <a:tcPr/>
                </a:tc>
                <a:extLst>
                  <a:ext uri="{0D108BD9-81ED-4DB2-BD59-A6C34878D82A}">
                    <a16:rowId xmlns:a16="http://schemas.microsoft.com/office/drawing/2014/main" val="10001"/>
                  </a:ext>
                </a:extLst>
              </a:tr>
              <a:tr h="457200">
                <a:tc>
                  <a:txBody>
                    <a:bodyPr/>
                    <a:lstStyle/>
                    <a:p>
                      <a:r>
                        <a:t>chatmode-file.instructions.md</a:t>
                      </a:r>
                    </a:p>
                  </a:txBody>
                  <a:tcPr/>
                </a:tc>
                <a:tc>
                  <a:txBody>
                    <a:bodyPr/>
                    <a:lstStyle/>
                    <a:p>
                      <a:r>
                        <a:t>Guidance for generating chat modes</a:t>
                      </a:r>
                    </a:p>
                  </a:txBody>
                  <a:tcPr/>
                </a:tc>
                <a:extLst>
                  <a:ext uri="{0D108BD9-81ED-4DB2-BD59-A6C34878D82A}">
                    <a16:rowId xmlns:a16="http://schemas.microsoft.com/office/drawing/2014/main" val="10002"/>
                  </a:ext>
                </a:extLst>
              </a:tr>
              <a:tr h="457200">
                <a:tc>
                  <a:txBody>
                    <a:bodyPr/>
                    <a:lstStyle/>
                    <a:p>
                      <a:r>
                        <a:t>instruction-files.instructions.md</a:t>
                      </a:r>
                    </a:p>
                  </a:txBody>
                  <a:tcPr/>
                </a:tc>
                <a:tc>
                  <a:txBody>
                    <a:bodyPr/>
                    <a:lstStyle/>
                    <a:p>
                      <a:r>
                        <a:t>Guidance for generating instruction files</a:t>
                      </a:r>
                    </a:p>
                  </a:txBody>
                  <a:tcPr/>
                </a:tc>
                <a:extLst>
                  <a:ext uri="{0D108BD9-81ED-4DB2-BD59-A6C34878D82A}">
                    <a16:rowId xmlns:a16="http://schemas.microsoft.com/office/drawing/2014/main" val="10003"/>
                  </a:ext>
                </a:extLst>
              </a:tr>
              <a:tr h="457200">
                <a:tc>
                  <a:txBody>
                    <a:bodyPr/>
                    <a:lstStyle/>
                    <a:p>
                      <a:r>
                        <a:t>prompt-file.instructions.md</a:t>
                      </a:r>
                    </a:p>
                  </a:txBody>
                  <a:tcPr/>
                </a:tc>
                <a:tc>
                  <a:txBody>
                    <a:bodyPr/>
                    <a:lstStyle/>
                    <a:p>
                      <a:r>
                        <a:t>Guidance for generating prompt files</a:t>
                      </a:r>
                    </a:p>
                  </a:txBody>
                  <a:tcPr/>
                </a:tc>
                <a:extLst>
                  <a:ext uri="{0D108BD9-81ED-4DB2-BD59-A6C34878D82A}">
                    <a16:rowId xmlns:a16="http://schemas.microsoft.com/office/drawing/2014/main" val="10004"/>
                  </a:ext>
                </a:extLst>
              </a:tr>
              <a:tr h="457200">
                <a:tc>
                  <a:txBody>
                    <a:bodyPr/>
                    <a:lstStyle/>
                    <a:p>
                      <a:r>
                        <a:t>instruction-prompt-files.instructions.md</a:t>
                      </a:r>
                    </a:p>
                  </a:txBody>
                  <a:tcPr/>
                </a:tc>
                <a:tc>
                  <a:txBody>
                    <a:bodyPr/>
                    <a:lstStyle/>
                    <a:p>
                      <a:r>
                        <a:t>Guidance for generating prompts that generate instruction files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Organizational vs. Repository Instruction Files</a:t>
            </a:r>
          </a:p>
        </p:txBody>
      </p:sp>
      <p:sp>
        <p:nvSpPr>
          <p:cNvPr id="3" name="Content Placeholder 2"/>
          <p:cNvSpPr>
            <a:spLocks noGrp="1"/>
          </p:cNvSpPr>
          <p:nvPr>
            <p:ph idx="1"/>
          </p:nvPr>
        </p:nvSpPr>
        <p:spPr/>
        <p:txBody>
          <a:bodyPr wrap="square">
            <a:normAutofit/>
          </a:bodyPr>
          <a:lstStyle/>
          <a:p>
            <a:endParaRPr/>
          </a:p>
          <a:p>
            <a:r>
              <a:t>Business/Enterprise tier capabilities</a:t>
            </a:r>
          </a:p>
          <a:p>
            <a:r>
              <a:t>Path-scoped instruction files</a:t>
            </a:r>
          </a:p>
          <a:p>
            <a:r>
              <a:t>Folder-level technology-specific rules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Why Two Instruction Layers Exist</a:t>
            </a:r>
          </a:p>
        </p:txBody>
      </p:sp>
      <p:sp>
        <p:nvSpPr>
          <p:cNvPr id="3" name="Content Placeholder 2"/>
          <p:cNvSpPr>
            <a:spLocks noGrp="1"/>
          </p:cNvSpPr>
          <p:nvPr>
            <p:ph idx="1"/>
          </p:nvPr>
        </p:nvSpPr>
        <p:spPr/>
        <p:txBody>
          <a:bodyPr wrap="square">
            <a:normAutofit fontScale="92500" lnSpcReduction="20000"/>
          </a:bodyPr>
          <a:lstStyle/>
          <a:p>
            <a:endParaRPr/>
          </a:p>
          <a:p>
            <a:r>
              <a:t>Enterprise instructions enforce baseline policy and governance</a:t>
            </a:r>
          </a:p>
          <a:p>
            <a:r>
              <a:t>Repository instructions optimize for project context and implementation detail</a:t>
            </a:r>
          </a:p>
          <a:p>
            <a:r>
              <a:t>Together they balance consistency and local autonomy</a:t>
            </a:r>
          </a:p>
          <a:p>
            <a:endParaRPr/>
          </a:p>
          <a:p>
            <a:r>
              <a:t>### Key Idea</a:t>
            </a:r>
          </a:p>
          <a:p>
            <a:endParaRPr/>
          </a:p>
          <a:p>
            <a:r>
              <a:t>Define global guardrails once, then narrow behavior where code lives.</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Business/Enterprise Tier Capabilities</a:t>
            </a:r>
          </a:p>
        </p:txBody>
      </p:sp>
      <p:sp>
        <p:nvSpPr>
          <p:cNvPr id="3" name="Content Placeholder 2"/>
          <p:cNvSpPr>
            <a:spLocks noGrp="1"/>
          </p:cNvSpPr>
          <p:nvPr>
            <p:ph idx="1"/>
          </p:nvPr>
        </p:nvSpPr>
        <p:spPr/>
        <p:txBody>
          <a:bodyPr wrap="square">
            <a:normAutofit fontScale="92500" lnSpcReduction="10000"/>
          </a:bodyPr>
          <a:lstStyle/>
          <a:p>
            <a:endParaRPr dirty="0"/>
          </a:p>
          <a:p>
            <a:r>
              <a:rPr dirty="0"/>
              <a:t>Organization-wide safety and compliance standards</a:t>
            </a:r>
          </a:p>
          <a:p>
            <a:r>
              <a:rPr dirty="0"/>
              <a:t>Approved model and tool usage policy</a:t>
            </a:r>
          </a:p>
          <a:p>
            <a:r>
              <a:rPr dirty="0"/>
              <a:t>Mandatory provenance and audit requirements</a:t>
            </a:r>
          </a:p>
          <a:p>
            <a:r>
              <a:rPr dirty="0"/>
              <a:t>Security and legal baselines (secret handling, license constraints)</a:t>
            </a:r>
          </a:p>
          <a:p>
            <a:r>
              <a:rPr dirty="0"/>
              <a:t>Shared quality gates for CI/CD</a:t>
            </a:r>
          </a:p>
          <a:p>
            <a:endParaRPr dirty="0"/>
          </a:p>
          <a:p>
            <a:pPr marL="0" indent="0">
              <a:buNone/>
            </a:pPr>
            <a:r>
              <a:rPr dirty="0"/>
              <a:t>Typical Scope</a:t>
            </a:r>
          </a:p>
          <a:p>
            <a:r>
              <a:rPr dirty="0"/>
              <a:t>All repositories, all teams, all environments.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Path-Scoped Instruction Files</a:t>
            </a:r>
          </a:p>
        </p:txBody>
      </p:sp>
      <p:sp>
        <p:nvSpPr>
          <p:cNvPr id="3" name="Content Placeholder 2"/>
          <p:cNvSpPr>
            <a:spLocks noGrp="1"/>
          </p:cNvSpPr>
          <p:nvPr>
            <p:ph idx="1"/>
          </p:nvPr>
        </p:nvSpPr>
        <p:spPr/>
        <p:txBody>
          <a:bodyPr wrap="square">
            <a:normAutofit fontScale="32500" lnSpcReduction="20000"/>
          </a:bodyPr>
          <a:lstStyle/>
          <a:p>
            <a:endParaRPr/>
          </a:p>
          <a:p>
            <a:r>
              <a:t>Path-scoped instructions apply behavior only where it is needed.</a:t>
            </a:r>
          </a:p>
          <a:p>
            <a:endParaRPr/>
          </a:p>
          <a:p>
            <a:r>
              <a:t>```yaml</a:t>
            </a:r>
          </a:p>
          <a:p>
            <a:r>
              <a:t>applyTo: "Slides/individual-slides/**"</a:t>
            </a:r>
          </a:p>
          <a:p>
            <a:r>
              <a:t>```</a:t>
            </a:r>
          </a:p>
          <a:p>
            <a:endParaRPr/>
          </a:p>
          <a:p>
            <a:r>
              <a:t>```yaml</a:t>
            </a:r>
          </a:p>
          <a:p>
            <a:r>
              <a:t>applyTo: "**/*.{cs,ts,js,py,java,go,rb}"</a:t>
            </a:r>
          </a:p>
          <a:p>
            <a:r>
              <a:t>```</a:t>
            </a:r>
          </a:p>
          <a:p>
            <a:endParaRPr/>
          </a:p>
          <a:p>
            <a:r>
              <a:t>```yaml</a:t>
            </a:r>
          </a:p>
          <a:p>
            <a:r>
              <a:t>applyTo: "**/*.instructions.md"</a:t>
            </a:r>
          </a:p>
          <a:p>
            <a:r>
              <a:t>```</a:t>
            </a:r>
          </a:p>
          <a:p>
            <a:endParaRPr/>
          </a:p>
          <a:p>
            <a:r>
              <a:t>### Benefit</a:t>
            </a:r>
          </a:p>
          <a:p>
            <a:endParaRPr/>
          </a:p>
          <a:p>
            <a:r>
              <a:t>Granular control without forcing unrelated files to follow irrelevant rules.</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Folder-Level Technology-Specific Rules</a:t>
            </a:r>
          </a:p>
        </p:txBody>
      </p:sp>
      <p:sp>
        <p:nvSpPr>
          <p:cNvPr id="3" name="Content Placeholder 2"/>
          <p:cNvSpPr>
            <a:spLocks noGrp="1"/>
          </p:cNvSpPr>
          <p:nvPr>
            <p:ph idx="1"/>
          </p:nvPr>
        </p:nvSpPr>
        <p:spPr/>
        <p:txBody>
          <a:bodyPr wrap="square">
            <a:normAutofit fontScale="77500" lnSpcReduction="20000"/>
          </a:bodyPr>
          <a:lstStyle/>
          <a:p>
            <a:endParaRPr/>
          </a:p>
          <a:p>
            <a:r>
              <a:t>Use folder-level rules to match local stack and workflow.</a:t>
            </a:r>
          </a:p>
          <a:p>
            <a:endParaRPr/>
          </a:p>
          <a:p>
            <a:r>
              <a:t>`Slides/` for Marp formatting and speaker-note conventions</a:t>
            </a:r>
          </a:p>
          <a:p>
            <a:r>
              <a:t>`Labs/lab1-3-python/` for Python lint/test guidance</a:t>
            </a:r>
          </a:p>
          <a:p>
            <a:r>
              <a:t>`Labs/lab1-3-typescript/` for TypeScript build/test patterns</a:t>
            </a:r>
          </a:p>
          <a:p>
            <a:r>
              <a:t>`Course/course.github/` for docs automation and publishing rules</a:t>
            </a:r>
          </a:p>
          <a:p>
            <a:endParaRPr/>
          </a:p>
          <a:p>
            <a:r>
              <a:t>### Pattern</a:t>
            </a:r>
          </a:p>
          <a:p>
            <a:endParaRPr/>
          </a:p>
          <a:p>
            <a:r>
              <a:t>Place rules near code ownership boundaries.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Layering Model and Precedence</a:t>
            </a:r>
          </a:p>
        </p:txBody>
      </p:sp>
      <p:sp>
        <p:nvSpPr>
          <p:cNvPr id="3" name="Content Placeholder 2"/>
          <p:cNvSpPr>
            <a:spLocks noGrp="1"/>
          </p:cNvSpPr>
          <p:nvPr>
            <p:ph idx="1"/>
          </p:nvPr>
        </p:nvSpPr>
        <p:spPr/>
        <p:txBody>
          <a:bodyPr wrap="square">
            <a:normAutofit fontScale="70000" lnSpcReduction="20000"/>
          </a:bodyPr>
          <a:lstStyle/>
          <a:p>
            <a:endParaRPr/>
          </a:p>
          <a:p>
            <a:r>
              <a:t>```mermaid</a:t>
            </a:r>
          </a:p>
          <a:p>
            <a:r>
              <a:t>flowchart TD</a:t>
            </a:r>
          </a:p>
          <a:p>
            <a:r>
              <a:t>  A[Enterprise Instructions\nGlobal Guardrails] --&gt; B[Repository Instructions\nProject Standards]</a:t>
            </a:r>
          </a:p>
          <a:p>
            <a:r>
              <a:t>  B --&gt; C[Path-Scoped Rules\nTargeted Behavior]</a:t>
            </a:r>
          </a:p>
          <a:p>
            <a:r>
              <a:t>  C --&gt; D[Folder-Level Tech Rules\nLocal Implementation]</a:t>
            </a:r>
          </a:p>
          <a:p>
            <a:r>
              <a:t>```</a:t>
            </a:r>
          </a:p>
          <a:p>
            <a:endParaRPr/>
          </a:p>
          <a:p>
            <a:r>
              <a:t>### Resolution Rule</a:t>
            </a:r>
          </a:p>
          <a:p>
            <a:endParaRPr/>
          </a:p>
          <a:p>
            <a:r>
              <a:t>Prefer the most specific matching instruction when guidance overlaps.</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Governance Checklist</a:t>
            </a:r>
          </a:p>
        </p:txBody>
      </p:sp>
      <p:sp>
        <p:nvSpPr>
          <p:cNvPr id="3" name="Content Placeholder 2"/>
          <p:cNvSpPr>
            <a:spLocks noGrp="1"/>
          </p:cNvSpPr>
          <p:nvPr>
            <p:ph idx="1"/>
          </p:nvPr>
        </p:nvSpPr>
        <p:spPr/>
        <p:txBody>
          <a:bodyPr wrap="square">
            <a:normAutofit/>
          </a:bodyPr>
          <a:lstStyle/>
          <a:p>
            <a:endParaRPr/>
          </a:p>
          <a:p>
            <a:r>
              <a:t>Keep enterprise files policy-focused and durable</a:t>
            </a:r>
          </a:p>
          <a:p>
            <a:r>
              <a:t>Keep repository files implementation-focused and current</a:t>
            </a:r>
          </a:p>
          <a:p>
            <a:r>
              <a:t>Use explicit `applyTo` patterns for every specialized rule file</a:t>
            </a:r>
          </a:p>
          <a:p>
            <a:r>
              <a:t>Review instruction overlap quarterly to reduce conflicts</a:t>
            </a:r>
          </a:p>
          <a:p>
            <a:r>
              <a:t>Validate behavior with small representative prompts per folder</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Exercise: Technology Inventory &amp; Instruction Generation</a:t>
            </a:r>
          </a:p>
        </p:txBody>
      </p:sp>
      <p:sp>
        <p:nvSpPr>
          <p:cNvPr id="3" name="Content Placeholder 2"/>
          <p:cNvSpPr>
            <a:spLocks noGrp="1"/>
          </p:cNvSpPr>
          <p:nvPr>
            <p:ph sz="half" idx="1"/>
          </p:nvPr>
        </p:nvSpPr>
        <p:spPr/>
        <p:txBody>
          <a:bodyPr wrap="square">
            <a:normAutofit fontScale="40000" lnSpcReduction="20000"/>
          </a:bodyPr>
          <a:lstStyle/>
          <a:p>
            <a:pPr marL="0" indent="0">
              <a:buNone/>
            </a:pPr>
            <a:r>
              <a:rPr b="1" dirty="0"/>
              <a:t>Objectives</a:t>
            </a:r>
          </a:p>
          <a:p>
            <a:r>
              <a:rPr dirty="0"/>
              <a:t>Create a clear inventory of project technologies across the repository</a:t>
            </a:r>
          </a:p>
          <a:p>
            <a:r>
              <a:rPr dirty="0"/>
              <a:t>Use background sessions to run concurrent analysis and drafting work</a:t>
            </a:r>
          </a:p>
          <a:p>
            <a:r>
              <a:rPr dirty="0"/>
              <a:t>Generate multiple instruction files simultaneously from the inventory results</a:t>
            </a:r>
          </a:p>
          <a:p>
            <a:r>
              <a:rPr dirty="0"/>
              <a:t>Practice session management interface workflows for parallel task control</a:t>
            </a:r>
          </a:p>
          <a:p>
            <a:endParaRPr dirty="0"/>
          </a:p>
          <a:p>
            <a:pPr marL="0" indent="0">
              <a:buNone/>
            </a:pPr>
            <a:r>
              <a:rPr b="1" dirty="0"/>
              <a:t>Activities</a:t>
            </a:r>
          </a:p>
          <a:p>
            <a:r>
              <a:rPr dirty="0"/>
              <a:t>1. Technology Inventory Build:</a:t>
            </a:r>
          </a:p>
          <a:p>
            <a:pPr lvl="1"/>
            <a:r>
              <a:rPr dirty="0"/>
              <a:t>Scan the repository and list languages, frameworks, build tools, and test stacks</a:t>
            </a:r>
          </a:p>
          <a:p>
            <a:pPr lvl="1"/>
            <a:r>
              <a:rPr dirty="0"/>
              <a:t>Group technologies by folder ownership and lifecycle criticality</a:t>
            </a:r>
          </a:p>
          <a:p>
            <a:pPr lvl="1"/>
            <a:r>
              <a:rPr dirty="0"/>
              <a:t>Identify missing or outdated instruction coverage per technology area</a:t>
            </a:r>
          </a:p>
          <a:p>
            <a:r>
              <a:rPr dirty="0"/>
              <a:t>2. Background Session Orchestration:</a:t>
            </a:r>
          </a:p>
          <a:p>
            <a:pPr lvl="1"/>
            <a:r>
              <a:rPr dirty="0"/>
              <a:t>Start parallel background sessions for discovery, drafting, and validation</a:t>
            </a:r>
          </a:p>
          <a:p>
            <a:pPr lvl="1"/>
            <a:r>
              <a:rPr dirty="0"/>
              <a:t>Assign one focused outcome per session (inventory, file generation, review)</a:t>
            </a:r>
          </a:p>
          <a:p>
            <a:pPr lvl="1"/>
            <a:r>
              <a:rPr dirty="0"/>
              <a:t>Capture each session's outputs and merge findings into one working backlog</a:t>
            </a:r>
          </a:p>
        </p:txBody>
      </p:sp>
      <p:sp>
        <p:nvSpPr>
          <p:cNvPr id="4" name="Content Placeholder 3">
            <a:extLst>
              <a:ext uri="{FF2B5EF4-FFF2-40B4-BE49-F238E27FC236}">
                <a16:creationId xmlns:a16="http://schemas.microsoft.com/office/drawing/2014/main" id="{2205F32E-3CE1-A082-475F-316E5C11DE2B}"/>
              </a:ext>
            </a:extLst>
          </p:cNvPr>
          <p:cNvSpPr>
            <a:spLocks noGrp="1"/>
          </p:cNvSpPr>
          <p:nvPr>
            <p:ph sz="half" idx="2"/>
          </p:nvPr>
        </p:nvSpPr>
        <p:spPr/>
        <p:txBody>
          <a:bodyPr>
            <a:normAutofit fontScale="40000" lnSpcReduction="20000"/>
          </a:bodyPr>
          <a:lstStyle/>
          <a:p>
            <a:r>
              <a:rPr lang="en-US" dirty="0"/>
              <a:t>3. Simultaneous Instruction Generation:</a:t>
            </a:r>
          </a:p>
          <a:p>
            <a:pPr lvl="1"/>
            <a:r>
              <a:rPr lang="en-US" dirty="0"/>
              <a:t>Generate multiple instruction files for high-priority technology folders</a:t>
            </a:r>
          </a:p>
          <a:p>
            <a:pPr lvl="1"/>
            <a:r>
              <a:rPr lang="en-US" dirty="0"/>
              <a:t>Apply path-scoped patterns to each generated instruction file</a:t>
            </a:r>
          </a:p>
          <a:p>
            <a:pPr lvl="1"/>
            <a:r>
              <a:rPr lang="en-US" dirty="0"/>
              <a:t>Validate that each file is targeted, non-overlapping, and implementation-ready</a:t>
            </a:r>
          </a:p>
          <a:p>
            <a:r>
              <a:rPr lang="en-US" dirty="0"/>
              <a:t>4. Session Management Interface Review:</a:t>
            </a:r>
          </a:p>
          <a:p>
            <a:pPr lvl="1"/>
            <a:r>
              <a:rPr lang="en-US" dirty="0"/>
              <a:t>Track session state, ownership, and completion status</a:t>
            </a:r>
          </a:p>
          <a:p>
            <a:pPr lvl="1"/>
            <a:r>
              <a:rPr lang="en-US" dirty="0"/>
              <a:t>Resolve collisions between concurrently generated instruction outputs</a:t>
            </a:r>
          </a:p>
          <a:p>
            <a:pPr lvl="1"/>
            <a:r>
              <a:rPr lang="en-US" dirty="0"/>
              <a:t>Close sessions with a summarized decision log and next-step actions</a:t>
            </a:r>
          </a:p>
          <a:p>
            <a:endParaRPr lang="en-US" dirty="0"/>
          </a:p>
          <a:p>
            <a:pPr marL="0" indent="0">
              <a:buNone/>
            </a:pPr>
            <a:r>
              <a:rPr lang="en-US" b="1" dirty="0"/>
              <a:t>Success Criteria</a:t>
            </a:r>
          </a:p>
          <a:p>
            <a:r>
              <a:rPr lang="en-US" dirty="0"/>
              <a:t>Technology inventory includes stack, location, and risk/priority attributes</a:t>
            </a:r>
          </a:p>
          <a:p>
            <a:r>
              <a:rPr lang="en-US" dirty="0"/>
              <a:t>At least three instruction files are generated concurrently and scoped correctly</a:t>
            </a:r>
          </a:p>
          <a:p>
            <a:r>
              <a:rPr lang="en-US" dirty="0"/>
              <a:t>Background sessions are documented with clear responsibilities and outcomes</a:t>
            </a:r>
          </a:p>
          <a:p>
            <a:r>
              <a:rPr lang="en-US" dirty="0"/>
              <a:t>Session management process is repeatable for future multi-stream work</a:t>
            </a:r>
          </a:p>
          <a:p>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wrap="square">
            <a:normAutofit/>
          </a:bodyPr>
          <a:lstStyle/>
          <a:p>
            <a:endParaRPr/>
          </a:p>
          <a:p>
            <a:r>
              <a:t>Intro</a:t>
            </a:r>
          </a:p>
          <a:p>
            <a:r>
              <a:t>AI Assisted Software Development</a:t>
            </a:r>
          </a:p>
          <a:p>
            <a:r>
              <a:t>Intro to Copilot</a:t>
            </a:r>
          </a:p>
          <a:p>
            <a:r>
              <a:t>AI Assistance in Action</a:t>
            </a:r>
          </a:p>
          <a:p>
            <a:r>
              <a:t>Adding AI Guardrails</a:t>
            </a:r>
          </a:p>
          <a:p>
            <a:r>
              <a:rPr b="1"/>
              <a:t>▶ Managing Context</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Managing Context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Managing Context</a:t>
            </a:r>
          </a:p>
        </p:txBody>
      </p:sp>
      <p:sp>
        <p:nvSpPr>
          <p:cNvPr id="3" name="Content Placeholder 2"/>
          <p:cNvSpPr>
            <a:spLocks noGrp="1"/>
          </p:cNvSpPr>
          <p:nvPr>
            <p:ph idx="1"/>
          </p:nvPr>
        </p:nvSpPr>
        <p:spPr/>
        <p:txBody>
          <a:bodyPr wrap="square">
            <a:normAutofit/>
          </a:bodyPr>
          <a:lstStyle/>
          <a:p>
            <a:endParaRPr/>
          </a:p>
          <a:p>
            <a:r>
              <a:t>Managing GitHub Copilot Effectively</a:t>
            </a:r>
          </a:p>
          <a:p>
            <a:r>
              <a:t>Managing Instruction Files &amp; Context Windows</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Managing GitHub Copilot Effectively</a:t>
            </a:r>
          </a:p>
        </p:txBody>
      </p:sp>
      <p:sp>
        <p:nvSpPr>
          <p:cNvPr id="3" name="Content Placeholder 2"/>
          <p:cNvSpPr>
            <a:spLocks noGrp="1"/>
          </p:cNvSpPr>
          <p:nvPr>
            <p:ph idx="1"/>
          </p:nvPr>
        </p:nvSpPr>
        <p:spPr/>
        <p:txBody>
          <a:bodyPr wrap="square">
            <a:normAutofit/>
          </a:bodyPr>
          <a:lstStyle/>
          <a:p>
            <a:endParaRPr/>
          </a:p>
          <a:p>
            <a:r>
              <a:t>Copilot is powerful, but not entirely autonomous</a:t>
            </a:r>
          </a:p>
          <a:p>
            <a:r>
              <a:t>Effective use requires structure, guardrails, and clear intent</a:t>
            </a:r>
          </a:p>
          <a:p>
            <a:r>
              <a:t>Treat Copilot as a developer whose output improves with guidance</a:t>
            </a:r>
          </a:p>
          <a:p>
            <a:r>
              <a:t>Your process determines the quality of its contributions</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Managed Junior Developer</a:t>
            </a:r>
          </a:p>
        </p:txBody>
      </p:sp>
      <p:sp>
        <p:nvSpPr>
          <p:cNvPr id="3" name="Content Placeholder 2"/>
          <p:cNvSpPr>
            <a:spLocks noGrp="1"/>
          </p:cNvSpPr>
          <p:nvPr>
            <p:ph idx="1"/>
          </p:nvPr>
        </p:nvSpPr>
        <p:spPr/>
        <p:txBody>
          <a:bodyPr wrap="square">
            <a:normAutofit/>
          </a:bodyPr>
          <a:lstStyle/>
          <a:p>
            <a:endParaRPr/>
          </a:p>
          <a:p>
            <a:r>
              <a:t>Copilot is fast, eager, and sometimes confidently wrong</a:t>
            </a:r>
          </a:p>
          <a:p>
            <a:r>
              <a:t>Provide clear instructions, constraints, and examples</a:t>
            </a:r>
          </a:p>
          <a:p>
            <a:r>
              <a:t>Review everything – trust its speed, not its judgment</a:t>
            </a:r>
          </a:p>
          <a:p>
            <a:r>
              <a:t>Use iterative loops: instruct → generate → review → refine</a:t>
            </a:r>
          </a:p>
          <a:p>
            <a:r>
              <a:t>Give Copilot ownership of tasks, not architecture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Understanding Context &amp; Tokens</a:t>
            </a:r>
          </a:p>
        </p:txBody>
      </p:sp>
      <p:sp>
        <p:nvSpPr>
          <p:cNvPr id="3" name="Content Placeholder 2"/>
          <p:cNvSpPr>
            <a:spLocks noGrp="1"/>
          </p:cNvSpPr>
          <p:nvPr>
            <p:ph idx="1"/>
          </p:nvPr>
        </p:nvSpPr>
        <p:spPr/>
        <p:txBody>
          <a:bodyPr wrap="square">
            <a:normAutofit fontScale="85000" lnSpcReduction="20000"/>
          </a:bodyPr>
          <a:lstStyle/>
          <a:p>
            <a:endParaRPr/>
          </a:p>
          <a:p>
            <a:r>
              <a:t>Copilot can only “see” a limited amount of text at once</a:t>
            </a:r>
          </a:p>
          <a:p>
            <a:r>
              <a:t>Large files, long conversations, or complex repos can exceed context</a:t>
            </a:r>
          </a:p>
          <a:p>
            <a:r>
              <a:t>Important details may fall out of the window without you realizing</a:t>
            </a:r>
          </a:p>
          <a:p>
            <a:r>
              <a:t>Use these techniques to keep context focused:</a:t>
            </a:r>
          </a:p>
          <a:p>
            <a:endParaRPr/>
          </a:p>
          <a:p>
            <a:r>
              <a:t>Summaries</a:t>
            </a:r>
          </a:p>
          <a:p>
            <a:r>
              <a:t>Instruction files</a:t>
            </a:r>
          </a:p>
          <a:p>
            <a:r>
              <a:t>Modular prompts</a:t>
            </a:r>
          </a:p>
          <a:p>
            <a:r>
              <a:t>Smaller working sets</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Prompt Engineering Best Practices</a:t>
            </a:r>
          </a:p>
        </p:txBody>
      </p:sp>
      <p:sp>
        <p:nvSpPr>
          <p:cNvPr id="3" name="Content Placeholder 2"/>
          <p:cNvSpPr>
            <a:spLocks noGrp="1"/>
          </p:cNvSpPr>
          <p:nvPr>
            <p:ph idx="1"/>
          </p:nvPr>
        </p:nvSpPr>
        <p:spPr/>
        <p:txBody>
          <a:bodyPr wrap="square">
            <a:normAutofit/>
          </a:bodyPr>
          <a:lstStyle/>
          <a:p>
            <a:endParaRPr/>
          </a:p>
          <a:p>
            <a:r>
              <a:t>Be explicit about goals, constraints, and success criteria</a:t>
            </a:r>
          </a:p>
          <a:p>
            <a:r>
              <a:t>Provide examples of the desired pattern or style</a:t>
            </a:r>
          </a:p>
          <a:p>
            <a:r>
              <a:t>Break large tasks into smaller, testable steps</a:t>
            </a:r>
          </a:p>
          <a:p>
            <a:r>
              <a:t>Use instruction files for stable rules and architectural boundaries</a:t>
            </a:r>
          </a:p>
          <a:p>
            <a:r>
              <a:t>Ask Copilot to explain its reasoning when correctness matters</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Selection Strategies</a:t>
            </a:r>
          </a:p>
        </p:txBody>
      </p:sp>
      <p:sp>
        <p:nvSpPr>
          <p:cNvPr id="3" name="Content Placeholder 2"/>
          <p:cNvSpPr>
            <a:spLocks noGrp="1"/>
          </p:cNvSpPr>
          <p:nvPr>
            <p:ph idx="1"/>
          </p:nvPr>
        </p:nvSpPr>
        <p:spPr/>
        <p:txBody>
          <a:bodyPr wrap="square">
            <a:normAutofit fontScale="85000" lnSpcReduction="20000"/>
          </a:bodyPr>
          <a:lstStyle/>
          <a:p>
            <a:endParaRPr dirty="0"/>
          </a:p>
          <a:p>
            <a:r>
              <a:rPr dirty="0"/>
              <a:t>Different models excel at different tasks</a:t>
            </a:r>
          </a:p>
          <a:p>
            <a:r>
              <a:rPr dirty="0"/>
              <a:t>High-end models (e.g., GPT-4o, Claude Sonnet) are best for:</a:t>
            </a:r>
          </a:p>
          <a:p>
            <a:pPr lvl="1"/>
            <a:r>
              <a:rPr dirty="0"/>
              <a:t>Architecture</a:t>
            </a:r>
          </a:p>
          <a:p>
            <a:pPr lvl="1"/>
            <a:r>
              <a:rPr dirty="0"/>
              <a:t>Refactoring</a:t>
            </a:r>
          </a:p>
          <a:p>
            <a:pPr lvl="1"/>
            <a:r>
              <a:rPr dirty="0"/>
              <a:t>Complex reasoning</a:t>
            </a:r>
          </a:p>
          <a:p>
            <a:pPr lvl="1"/>
            <a:r>
              <a:rPr dirty="0"/>
              <a:t>Multi-file changes</a:t>
            </a:r>
          </a:p>
          <a:p>
            <a:r>
              <a:rPr dirty="0"/>
              <a:t>Lightweight models are ideal for:</a:t>
            </a:r>
          </a:p>
          <a:p>
            <a:pPr lvl="1"/>
            <a:r>
              <a:rPr dirty="0"/>
              <a:t>Boilerplate</a:t>
            </a:r>
          </a:p>
          <a:p>
            <a:pPr lvl="1"/>
            <a:r>
              <a:rPr dirty="0"/>
              <a:t>Repetitive tasks</a:t>
            </a:r>
          </a:p>
          <a:p>
            <a:pPr lvl="1"/>
            <a:r>
              <a:rPr dirty="0"/>
              <a:t>Quick iterations</a:t>
            </a:r>
          </a:p>
          <a:p>
            <a:r>
              <a:rPr dirty="0"/>
              <a:t>  Match the model to the task, not the other way around</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Managing Instruction Files &amp; Context Windows</a:t>
            </a:r>
          </a:p>
        </p:txBody>
      </p:sp>
      <p:sp>
        <p:nvSpPr>
          <p:cNvPr id="3" name="Content Placeholder 2"/>
          <p:cNvSpPr>
            <a:spLocks noGrp="1"/>
          </p:cNvSpPr>
          <p:nvPr>
            <p:ph idx="1"/>
          </p:nvPr>
        </p:nvSpPr>
        <p:spPr/>
        <p:txBody>
          <a:bodyPr wrap="square">
            <a:normAutofit/>
          </a:bodyPr>
          <a:lstStyle/>
          <a:p>
            <a:endParaRPr/>
          </a:p>
          <a:p>
            <a:r>
              <a:t>Instruction sharing strategies</a:t>
            </a:r>
          </a:p>
          <a:p>
            <a:r>
              <a:t>Instruction file scope and application</a:t>
            </a:r>
          </a:p>
          <a:p>
            <a:r>
              <a:t>Context window monitoring tools</a:t>
            </a:r>
          </a:p>
          <a:p>
            <a:r>
              <a:t>Token consumption tracking</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Instruction Sharing Strategies</a:t>
            </a:r>
          </a:p>
        </p:txBody>
      </p:sp>
      <p:sp>
        <p:nvSpPr>
          <p:cNvPr id="3" name="Content Placeholder 2"/>
          <p:cNvSpPr>
            <a:spLocks noGrp="1"/>
          </p:cNvSpPr>
          <p:nvPr>
            <p:ph idx="1"/>
          </p:nvPr>
        </p:nvSpPr>
        <p:spPr/>
        <p:txBody>
          <a:bodyPr wrap="square">
            <a:normAutofit fontScale="92500" lnSpcReduction="20000"/>
          </a:bodyPr>
          <a:lstStyle/>
          <a:p>
            <a:endParaRPr dirty="0"/>
          </a:p>
          <a:p>
            <a:r>
              <a:rPr dirty="0"/>
              <a:t>Establish a central baseline in organization-level instructions</a:t>
            </a:r>
          </a:p>
          <a:p>
            <a:r>
              <a:rPr dirty="0"/>
              <a:t>Keep repository-level instructions close to implementation details</a:t>
            </a:r>
          </a:p>
          <a:p>
            <a:r>
              <a:rPr dirty="0"/>
              <a:t>Use reusable templates for recurring instruction patterns</a:t>
            </a:r>
          </a:p>
          <a:p>
            <a:r>
              <a:rPr dirty="0"/>
              <a:t>Share proven prompts and instruction snippets through version control</a:t>
            </a:r>
          </a:p>
          <a:p>
            <a:endParaRPr dirty="0"/>
          </a:p>
          <a:p>
            <a:pPr marL="0" indent="0">
              <a:buNone/>
            </a:pPr>
            <a:r>
              <a:rPr dirty="0"/>
              <a:t>Team Pattern</a:t>
            </a:r>
          </a:p>
          <a:p>
            <a:r>
              <a:rPr dirty="0"/>
              <a:t>Centralize policy, decentralize implementation guidance.</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Instruction File Scope and Application</a:t>
            </a:r>
          </a:p>
        </p:txBody>
      </p:sp>
      <p:sp>
        <p:nvSpPr>
          <p:cNvPr id="3" name="Content Placeholder 2"/>
          <p:cNvSpPr>
            <a:spLocks noGrp="1"/>
          </p:cNvSpPr>
          <p:nvPr>
            <p:ph idx="1"/>
          </p:nvPr>
        </p:nvSpPr>
        <p:spPr/>
        <p:txBody>
          <a:bodyPr wrap="square">
            <a:normAutofit fontScale="32500" lnSpcReduction="20000"/>
          </a:bodyPr>
          <a:lstStyle/>
          <a:p>
            <a:endParaRPr/>
          </a:p>
          <a:p>
            <a:r>
              <a:t>Use scope to target behavior precisely with `applyTo` patterns.</a:t>
            </a:r>
          </a:p>
          <a:p>
            <a:endParaRPr/>
          </a:p>
          <a:p>
            <a:r>
              <a:t>```yaml</a:t>
            </a:r>
          </a:p>
          <a:p>
            <a:r>
              <a:t>applyTo: "**/*"</a:t>
            </a:r>
          </a:p>
          <a:p>
            <a:r>
              <a:t>```</a:t>
            </a:r>
          </a:p>
          <a:p>
            <a:endParaRPr/>
          </a:p>
          <a:p>
            <a:r>
              <a:t>```yaml</a:t>
            </a:r>
          </a:p>
          <a:p>
            <a:r>
              <a:t>applyTo: "Slides/individual-slides/**"</a:t>
            </a:r>
          </a:p>
          <a:p>
            <a:r>
              <a:t>```</a:t>
            </a:r>
          </a:p>
          <a:p>
            <a:endParaRPr/>
          </a:p>
          <a:p>
            <a:r>
              <a:t>```yaml</a:t>
            </a:r>
          </a:p>
          <a:p>
            <a:r>
              <a:t>applyTo: "**/*.{cs,ts,js,py,java,go,rb}"</a:t>
            </a:r>
          </a:p>
          <a:p>
            <a:r>
              <a:t>```</a:t>
            </a:r>
          </a:p>
          <a:p>
            <a:endParaRPr/>
          </a:p>
          <a:p>
            <a:r>
              <a:t>### Rule of Thumb</a:t>
            </a:r>
          </a:p>
          <a:p>
            <a:endParaRPr/>
          </a:p>
          <a:p>
            <a:r>
              <a:t>The narrower the scope, the lower the risk of unintended instruction collisions.</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Context Window Monitoring Tools</a:t>
            </a:r>
          </a:p>
        </p:txBody>
      </p:sp>
      <p:sp>
        <p:nvSpPr>
          <p:cNvPr id="3" name="Content Placeholder 2"/>
          <p:cNvSpPr>
            <a:spLocks noGrp="1"/>
          </p:cNvSpPr>
          <p:nvPr>
            <p:ph idx="1"/>
          </p:nvPr>
        </p:nvSpPr>
        <p:spPr/>
        <p:txBody>
          <a:bodyPr wrap="square">
            <a:normAutofit fontScale="70000" lnSpcReduction="20000"/>
          </a:bodyPr>
          <a:lstStyle/>
          <a:p>
            <a:endParaRPr dirty="0"/>
          </a:p>
          <a:p>
            <a:r>
              <a:rPr dirty="0"/>
              <a:t>Use chat/session history panels to detect topic drift</a:t>
            </a:r>
          </a:p>
          <a:p>
            <a:r>
              <a:rPr dirty="0"/>
              <a:t>Track context attachments (`@workspace`, `@file`, `@terminal`) intentionally</a:t>
            </a:r>
          </a:p>
          <a:p>
            <a:r>
              <a:rPr dirty="0"/>
              <a:t>Start fresh chats when switching goals or bounded contexts</a:t>
            </a:r>
          </a:p>
          <a:p>
            <a:r>
              <a:rPr dirty="0"/>
              <a:t>Use lightweight check-ins: "What context are we currently using?"</a:t>
            </a:r>
            <a:endParaRPr lang="en-US" dirty="0"/>
          </a:p>
          <a:p>
            <a:pPr lvl="1"/>
            <a:r>
              <a:rPr lang="en-US" dirty="0"/>
              <a:t>Chat Debug View</a:t>
            </a:r>
            <a:endParaRPr dirty="0"/>
          </a:p>
          <a:p>
            <a:endParaRPr dirty="0"/>
          </a:p>
          <a:p>
            <a:pPr marL="0" indent="0">
              <a:buNone/>
            </a:pPr>
            <a:r>
              <a:rPr dirty="0"/>
              <a:t>Signals of Context Saturation</a:t>
            </a:r>
          </a:p>
          <a:p>
            <a:r>
              <a:rPr dirty="0"/>
              <a:t>Repeated clarifying questions</a:t>
            </a:r>
          </a:p>
          <a:p>
            <a:r>
              <a:rPr dirty="0"/>
              <a:t>Loss of earlier constraints</a:t>
            </a:r>
          </a:p>
          <a:p>
            <a:r>
              <a:rPr dirty="0"/>
              <a:t>Increasingly generic responses</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Token Consumption Tracking</a:t>
            </a:r>
          </a:p>
        </p:txBody>
      </p:sp>
      <p:sp>
        <p:nvSpPr>
          <p:cNvPr id="3" name="Content Placeholder 2"/>
          <p:cNvSpPr>
            <a:spLocks noGrp="1"/>
          </p:cNvSpPr>
          <p:nvPr>
            <p:ph idx="1"/>
          </p:nvPr>
        </p:nvSpPr>
        <p:spPr/>
        <p:txBody>
          <a:bodyPr wrap="square">
            <a:normAutofit fontScale="92500" lnSpcReduction="20000"/>
          </a:bodyPr>
          <a:lstStyle/>
          <a:p>
            <a:endParaRPr dirty="0"/>
          </a:p>
          <a:p>
            <a:r>
              <a:rPr dirty="0"/>
              <a:t>Monitor token usage indicators in the chat interface</a:t>
            </a:r>
          </a:p>
          <a:p>
            <a:r>
              <a:rPr dirty="0"/>
              <a:t>Prefer concise prompts with explicit file targets</a:t>
            </a:r>
          </a:p>
          <a:p>
            <a:r>
              <a:rPr dirty="0"/>
              <a:t>Split large tasks into smaller, well-bounded sessions</a:t>
            </a:r>
          </a:p>
          <a:p>
            <a:r>
              <a:rPr dirty="0"/>
              <a:t>Archive outcomes in files instead of keeping all context in-chat</a:t>
            </a:r>
          </a:p>
          <a:p>
            <a:endParaRPr dirty="0"/>
          </a:p>
          <a:p>
            <a:r>
              <a:rPr dirty="0"/>
              <a:t>Cost-Control Tactics</a:t>
            </a:r>
          </a:p>
          <a:p>
            <a:pPr lvl="1"/>
            <a:r>
              <a:rPr dirty="0"/>
              <a:t>Reduce redundant restatement</a:t>
            </a:r>
          </a:p>
          <a:p>
            <a:pPr lvl="1"/>
            <a:r>
              <a:rPr dirty="0"/>
              <a:t>Reuse instruction files over repeated long prompts</a:t>
            </a:r>
          </a:p>
          <a:p>
            <a:pPr lvl="1"/>
            <a:r>
              <a:rPr dirty="0"/>
              <a:t>Move stable constraints into persistent instruction artifacts</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Workflow Blueprint</a:t>
            </a:r>
          </a:p>
        </p:txBody>
      </p:sp>
      <p:sp>
        <p:nvSpPr>
          <p:cNvPr id="3" name="Content Placeholder 2"/>
          <p:cNvSpPr>
            <a:spLocks noGrp="1"/>
          </p:cNvSpPr>
          <p:nvPr>
            <p:ph idx="1"/>
          </p:nvPr>
        </p:nvSpPr>
        <p:spPr/>
        <p:txBody>
          <a:bodyPr wrap="square">
            <a:normAutofit fontScale="55000" lnSpcReduction="20000"/>
          </a:bodyPr>
          <a:lstStyle/>
          <a:p>
            <a:endParaRPr/>
          </a:p>
          <a:p>
            <a:r>
              <a:t>```mermaid</a:t>
            </a:r>
          </a:p>
          <a:p>
            <a:r>
              <a:t>flowchart LR</a:t>
            </a:r>
          </a:p>
          <a:p>
            <a:r>
              <a:t>  A[Define Task Goal] --&gt; B[Select Relevant Instruction Files]</a:t>
            </a:r>
          </a:p>
          <a:p>
            <a:r>
              <a:t>  B --&gt; C[Scope with applyTo Patterns]</a:t>
            </a:r>
          </a:p>
          <a:p>
            <a:r>
              <a:t>  C --&gt; D[Run Focused Chat Session]</a:t>
            </a:r>
          </a:p>
          <a:p>
            <a:r>
              <a:t>  D --&gt; E[Monitor Context and Tokens]</a:t>
            </a:r>
          </a:p>
          <a:p>
            <a:r>
              <a:t>  E --&gt; F[Persist Output and Start Next Session]</a:t>
            </a:r>
          </a:p>
          <a:p>
            <a:r>
              <a:t>```</a:t>
            </a:r>
          </a:p>
          <a:p>
            <a:endParaRPr/>
          </a:p>
          <a:p>
            <a:r>
              <a:t>### Outcome</a:t>
            </a:r>
          </a:p>
          <a:p>
            <a:endParaRPr/>
          </a:p>
          <a:p>
            <a:r>
              <a:t>Predictable outputs, lower token waste, and better team-level reuse.</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Checklist</a:t>
            </a:r>
          </a:p>
        </p:txBody>
      </p:sp>
      <p:sp>
        <p:nvSpPr>
          <p:cNvPr id="3" name="Content Placeholder 2"/>
          <p:cNvSpPr>
            <a:spLocks noGrp="1"/>
          </p:cNvSpPr>
          <p:nvPr>
            <p:ph idx="1"/>
          </p:nvPr>
        </p:nvSpPr>
        <p:spPr/>
        <p:txBody>
          <a:bodyPr wrap="square">
            <a:normAutofit/>
          </a:bodyPr>
          <a:lstStyle/>
          <a:p>
            <a:endParaRPr/>
          </a:p>
          <a:p>
            <a:r>
              <a:t>Define where instructions live: org, repo, folder, or file scope</a:t>
            </a:r>
          </a:p>
          <a:p>
            <a:r>
              <a:t>Validate `applyTo` patterns before broad adoption</a:t>
            </a:r>
          </a:p>
          <a:p>
            <a:r>
              <a:t>Monitor context quality every major prompt turn</a:t>
            </a:r>
          </a:p>
          <a:p>
            <a:r>
              <a:t>Track token trends for long-running work streams</a:t>
            </a:r>
          </a:p>
          <a:p>
            <a:r>
              <a:t>Capture reusable instruction improvements in versioned files</a:t>
            </a:r>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2211</TotalTime>
  <Words>28426</Words>
  <Application>Microsoft Office PowerPoint</Application>
  <PresentationFormat>Widescreen</PresentationFormat>
  <Paragraphs>4333</Paragraphs>
  <Slides>179</Slides>
  <Notes>179</Notes>
  <HiddenSlides>72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179</vt:i4>
      </vt:variant>
    </vt:vector>
  </HeadingPairs>
  <TitlesOfParts>
    <vt:vector size="185" baseType="lpstr">
      <vt:lpstr>Arial</vt:lpstr>
      <vt:lpstr>Calibri</vt:lpstr>
      <vt:lpstr>Cascadia Code</vt:lpstr>
      <vt:lpstr>Noto Sans</vt:lpstr>
      <vt:lpstr>Victor Mono</vt:lpstr>
      <vt:lpstr>CODE Training</vt:lpstr>
      <vt:lpstr>Welcome to AI Assisted Software Development</vt:lpstr>
      <vt:lpstr>John Michael Miller</vt:lpstr>
      <vt:lpstr>Introductions</vt:lpstr>
      <vt:lpstr>About CODE</vt:lpstr>
      <vt:lpstr>PowerPoint Presentation</vt:lpstr>
      <vt:lpstr>Daily Themes</vt:lpstr>
      <vt:lpstr>Course Modules</vt:lpstr>
      <vt:lpstr>AI Assisted Software Development</vt:lpstr>
      <vt:lpstr>AI Assisted Software Development</vt:lpstr>
      <vt:lpstr>WTBD - The Core Thesis</vt:lpstr>
      <vt:lpstr>A Brief History: Machine Code &amp; Assembly (1940s)</vt:lpstr>
      <vt:lpstr>High-Level Languages (1950s-1970s)</vt:lpstr>
      <vt:lpstr>Structured &amp; Object-Oriented Programming (1970s-1980s)</vt:lpstr>
      <vt:lpstr>IDEs &amp; Libraries (1990s)</vt:lpstr>
      <vt:lpstr>Web &amp; Scripting Languages (Late 1990s-2000s)</vt:lpstr>
      <vt:lpstr>Cloud, APIs &amp; Low-Code Platforms (2010s)</vt:lpstr>
      <vt:lpstr>The Modern Mainstream Coding Experience</vt:lpstr>
      <vt:lpstr>AI-Assisted Coding (Present/Future)</vt:lpstr>
      <vt:lpstr>Natural Language Coding: The Game Changer</vt:lpstr>
      <vt:lpstr>AI Understands Intent—Not Just Commands</vt:lpstr>
      <vt:lpstr>It's Just Another Tool</vt:lpstr>
      <vt:lpstr>Verification Still Matters</vt:lpstr>
      <vt:lpstr>The Future Is Still Intent-Driven Development</vt:lpstr>
      <vt:lpstr>Conclusion</vt:lpstr>
      <vt:lpstr>The AI Revolution?</vt:lpstr>
      <vt:lpstr>Why AI Assisted Software Development</vt:lpstr>
      <vt:lpstr>AI-First &amp; Prompt-First</vt:lpstr>
      <vt:lpstr>What Each Optimizes For</vt:lpstr>
      <vt:lpstr>How They Treat Artifacts</vt:lpstr>
      <vt:lpstr>Relationship Between the Two</vt:lpstr>
      <vt:lpstr>AI First Software Development</vt:lpstr>
      <vt:lpstr>Prompt-First Software Development</vt:lpstr>
      <vt:lpstr>**Concrete Examples**</vt:lpstr>
      <vt:lpstr>Shortest Summary</vt:lpstr>
      <vt:lpstr>Course Modules</vt:lpstr>
      <vt:lpstr>Intro to Copilot</vt:lpstr>
      <vt:lpstr>Intro to Copilot</vt:lpstr>
      <vt:lpstr>Repository and Tool Setup</vt:lpstr>
      <vt:lpstr>Lab: Clone the AI-Assisted-Software-Development Repository</vt:lpstr>
      <vt:lpstr>Exercise: Fork the AIASD-20260209-BF Repo</vt:lpstr>
      <vt:lpstr>Exercise: Fork the repos</vt:lpstr>
      <vt:lpstr>Hands-On with GitHub Copilot</vt:lpstr>
      <vt:lpstr>Exercise: Getting Started with GitHub Copilot</vt:lpstr>
      <vt:lpstr>Prompt Specificity</vt:lpstr>
      <vt:lpstr>Exercise: Understanding Context Management</vt:lpstr>
      <vt:lpstr>Exercise: Chat Management and Workflow</vt:lpstr>
      <vt:lpstr>Exercise: Exploring Copilot Modes</vt:lpstr>
      <vt:lpstr>Using Copilot in different modes</vt:lpstr>
      <vt:lpstr>IDE Support for AI Assistance</vt:lpstr>
      <vt:lpstr>Course Modules</vt:lpstr>
      <vt:lpstr>AI Assistance in Action</vt:lpstr>
      <vt:lpstr>AI Assistance in Action</vt:lpstr>
      <vt:lpstr>Collaborating on a Solution</vt:lpstr>
      <vt:lpstr>Exercise: Calculator Project - Setup and Basic Implementation</vt:lpstr>
      <vt:lpstr>Exercise: Calculator Project - Clear / Reset</vt:lpstr>
      <vt:lpstr>Exercise: Calculator Project - Decimal Input</vt:lpstr>
      <vt:lpstr>Exercise: Calculator Project - Sign Toggle (+/-)</vt:lpstr>
      <vt:lpstr>Exercise: Calculator Project - Percentage</vt:lpstr>
      <vt:lpstr>Exercise: Calculator Project - Memory Functions (M+, M-, MR, MC)</vt:lpstr>
      <vt:lpstr>Exercise: Calculator Project - Error Handling</vt:lpstr>
      <vt:lpstr>Exercise: Calculator Project - Add Trigonometric Functions</vt:lpstr>
      <vt:lpstr>Exercise: Calculator Project - UI</vt:lpstr>
      <vt:lpstr>Exercise: Calculator Project - Testing</vt:lpstr>
      <vt:lpstr>Exercise: Code Coverage</vt:lpstr>
      <vt:lpstr>Exercise: Dependency Management and Troubleshooting</vt:lpstr>
      <vt:lpstr>Exercise: Best Practices Review and Code Quality</vt:lpstr>
      <vt:lpstr>Exercise: Model Comparisons</vt:lpstr>
      <vt:lpstr>Exercise: Calculator Project - Encapsulate Core Logic</vt:lpstr>
      <vt:lpstr>Exercise: Security Review</vt:lpstr>
      <vt:lpstr>Exercise: Documentation</vt:lpstr>
      <vt:lpstr>Exercise: Refactoring</vt:lpstr>
      <vt:lpstr>Exercise: Test Coverage Improvement</vt:lpstr>
      <vt:lpstr>Exercise: Test-Driven Development (TDD) with Copilot</vt:lpstr>
      <vt:lpstr>AI-Assisted CI/CD Pipelines</vt:lpstr>
      <vt:lpstr>Why Pipelines Are Hard</vt:lpstr>
      <vt:lpstr>What AI Brings to CI/CD</vt:lpstr>
      <vt:lpstr>GitHub Actions YAML Generation</vt:lpstr>
      <vt:lpstr>Anatomy of an AI-Generated Workflow</vt:lpstr>
      <vt:lpstr>Coverage Thresholds</vt:lpstr>
      <vt:lpstr>Build Automation Patterns</vt:lpstr>
      <vt:lpstr>Maintaining Pipelines with AI</vt:lpstr>
      <vt:lpstr>Reusable Workflows</vt:lpstr>
      <vt:lpstr>Secrets, Permissions, and Security</vt:lpstr>
      <vt:lpstr>From Zero to Pipeline: Live Workflow</vt:lpstr>
      <vt:lpstr>Hands-On Exercise</vt:lpstr>
      <vt:lpstr>Key Takeaways</vt:lpstr>
      <vt:lpstr>AI-Assisted GitHub Pull Requests</vt:lpstr>
      <vt:lpstr>The Pull Request Lifecycle</vt:lpstr>
      <vt:lpstr>AI-Generated PR Descriptions</vt:lpstr>
      <vt:lpstr>Writing Effective PR Prompts</vt:lpstr>
      <vt:lpstr>AI-Powered Code Review</vt:lpstr>
      <vt:lpstr>Copilot PR Summaries</vt:lpstr>
      <vt:lpstr>Responding to Review Feedback</vt:lpstr>
      <vt:lpstr>Automated PR Checks with AI</vt:lpstr>
      <vt:lpstr>Real-World Patterns</vt:lpstr>
      <vt:lpstr>Best Practices</vt:lpstr>
      <vt:lpstr>Getting Started</vt:lpstr>
      <vt:lpstr>Summary</vt:lpstr>
      <vt:lpstr>Multi-Model Implementation Comparison</vt:lpstr>
      <vt:lpstr>Implementing Changes With Different AI Models</vt:lpstr>
      <vt:lpstr>Comparing Approaches &amp; Outcomes</vt:lpstr>
      <vt:lpstr>Risk Assessment &amp; Quality Evaluation</vt:lpstr>
      <vt:lpstr>Best Practice Synthesis</vt:lpstr>
      <vt:lpstr>Exercise: Prompt Multiple Models to Address Technical Debt</vt:lpstr>
      <vt:lpstr>Exercise: Assigning an Issue to Multiple Models</vt:lpstr>
      <vt:lpstr>Exercise: Delegating Work to Multiple Models</vt:lpstr>
      <vt:lpstr>Evergreen Software Development - Core Principles</vt:lpstr>
      <vt:lpstr>Why Software Fails to Be Evergreen</vt:lpstr>
      <vt:lpstr>Course Modules</vt:lpstr>
      <vt:lpstr>Adding AI Guardrails</vt:lpstr>
      <vt:lpstr>Adding AI Guardrails</vt:lpstr>
      <vt:lpstr>Adding AI Guardrails</vt:lpstr>
      <vt:lpstr>Instructions, Prompts &amp; Agents</vt:lpstr>
      <vt:lpstr>Creating Instruction, Prompt &amp; Agent Files</vt:lpstr>
      <vt:lpstr>Meta Prompts</vt:lpstr>
      <vt:lpstr>Instructions for Generating Artifacts</vt:lpstr>
      <vt:lpstr>Instruction Files</vt:lpstr>
      <vt:lpstr>Persistent AI Behavioral Guidelines</vt:lpstr>
      <vt:lpstr>What Are Instruction Files?</vt:lpstr>
      <vt:lpstr>Instruction File Structure</vt:lpstr>
      <vt:lpstr>Instruction Files: Use Cases</vt:lpstr>
      <vt:lpstr>What is applyTo</vt:lpstr>
      <vt:lpstr>Instruction File `applyTo` Patterns</vt:lpstr>
      <vt:lpstr>Where appliesTo Fits</vt:lpstr>
      <vt:lpstr>How appliesTo Interacts with the Stack</vt:lpstr>
      <vt:lpstr>Universal Application</vt:lpstr>
      <vt:lpstr>📝 File Extension Matching</vt:lpstr>
      <vt:lpstr>📁 Directory-Specific Patterns</vt:lpstr>
      <vt:lpstr>🔤 Glob Pattern Syntax</vt:lpstr>
      <vt:lpstr>💼 Real-World Examples</vt:lpstr>
      <vt:lpstr>Instruction Files Best Practices</vt:lpstr>
      <vt:lpstr>🎯 Best Practices</vt:lpstr>
      <vt:lpstr>⚠️ Common Pitfalls</vt:lpstr>
      <vt:lpstr>🔍 Testing Your Patterns</vt:lpstr>
      <vt:lpstr>📚 Pattern Matching Rules</vt:lpstr>
      <vt:lpstr>🎓 Summary &amp; Best Practices</vt:lpstr>
      <vt:lpstr>💡 Resources &amp; Next Steps</vt:lpstr>
      <vt:lpstr>📧 Thank You!</vt:lpstr>
      <vt:lpstr>Enforcing Provenance for AI Artifacts</vt:lpstr>
      <vt:lpstr>Instructions for AI Generated Artifacts</vt:lpstr>
      <vt:lpstr>AI-Assisted Output Instructions</vt:lpstr>
      <vt:lpstr>Required Provenance Metadata</vt:lpstr>
      <vt:lpstr>Metadata Placement Policy</vt:lpstr>
      <vt:lpstr>AI Chat Logging Workflow</vt:lpstr>
      <vt:lpstr>Quality &amp; PR Checklist</vt:lpstr>
      <vt:lpstr>Copilot Integration Requirements</vt:lpstr>
      <vt:lpstr>Enforcement &amp; Remediation</vt:lpstr>
      <vt:lpstr>Summary: Why This Matters</vt:lpstr>
      <vt:lpstr>Core Instruction files</vt:lpstr>
      <vt:lpstr>Exercise: Copy the Core Instructions</vt:lpstr>
      <vt:lpstr>Exercise: Create an Instruction File for Evergreen Development</vt:lpstr>
      <vt:lpstr>Exercise: Create a Prompt File</vt:lpstr>
      <vt:lpstr>Exercise: Create an Agent</vt:lpstr>
      <vt:lpstr>Exercise: Generate Instruction Files</vt:lpstr>
      <vt:lpstr>Exercise: Context-Related Issues</vt:lpstr>
      <vt:lpstr>Core Instructions</vt:lpstr>
      <vt:lpstr>Organizational vs. Repository Instruction Files</vt:lpstr>
      <vt:lpstr>Why Two Instruction Layers Exist</vt:lpstr>
      <vt:lpstr>Business/Enterprise Tier Capabilities</vt:lpstr>
      <vt:lpstr>Path-Scoped Instruction Files</vt:lpstr>
      <vt:lpstr>Folder-Level Technology-Specific Rules</vt:lpstr>
      <vt:lpstr>Layering Model and Precedence</vt:lpstr>
      <vt:lpstr>Practical Governance Checklist</vt:lpstr>
      <vt:lpstr>Exercise: Technology Inventory &amp; Instruction Generation</vt:lpstr>
      <vt:lpstr>Course Modules</vt:lpstr>
      <vt:lpstr>Managing Context</vt:lpstr>
      <vt:lpstr>Managing Context</vt:lpstr>
      <vt:lpstr>Managing GitHub Copilot Effectively</vt:lpstr>
      <vt:lpstr>A Managed Junior Developer</vt:lpstr>
      <vt:lpstr>Understanding Context &amp; Tokens</vt:lpstr>
      <vt:lpstr>Prompt Engineering Best Practices</vt:lpstr>
      <vt:lpstr>Model Selection Strategies</vt:lpstr>
      <vt:lpstr>Managing Instruction Files &amp; Context Windows</vt:lpstr>
      <vt:lpstr>Instruction Sharing Strategies</vt:lpstr>
      <vt:lpstr>Instruction File Scope and Application</vt:lpstr>
      <vt:lpstr>Context Window Monitoring Tools</vt:lpstr>
      <vt:lpstr>Token Consumption Tracking</vt:lpstr>
      <vt:lpstr>Workflow Blueprint</vt:lpstr>
      <vt:lpstr>Practical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6</cp:revision>
  <dcterms:created xsi:type="dcterms:W3CDTF">2025-10-19T18:09:53Z</dcterms:created>
  <dcterms:modified xsi:type="dcterms:W3CDTF">2026-04-07T14:15:45Z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