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3" r:id="rId1"/>
  </p:sldMasterIdLst>
  <p:notesMasterIdLst>
    <p:notesMasterId r:id="rId76"/>
  </p:notes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350" r:id="rId41"/>
    <p:sldId id="296" r:id="rId42"/>
    <p:sldId id="297" r:id="rId43"/>
    <p:sldId id="298" r:id="rId44"/>
    <p:sldId id="299" r:id="rId45"/>
    <p:sldId id="300" r:id="rId46"/>
    <p:sldId id="301" r:id="rId47"/>
    <p:sldId id="302" r:id="rId48"/>
    <p:sldId id="303" r:id="rId49"/>
    <p:sldId id="304" r:id="rId50"/>
    <p:sldId id="305" r:id="rId51"/>
    <p:sldId id="306" r:id="rId52"/>
    <p:sldId id="351" r:id="rId53"/>
    <p:sldId id="307" r:id="rId54"/>
    <p:sldId id="308" r:id="rId55"/>
    <p:sldId id="309" r:id="rId56"/>
    <p:sldId id="310" r:id="rId57"/>
    <p:sldId id="311" r:id="rId58"/>
    <p:sldId id="312" r:id="rId59"/>
    <p:sldId id="313" r:id="rId60"/>
    <p:sldId id="352" r:id="rId61"/>
    <p:sldId id="314" r:id="rId62"/>
    <p:sldId id="315" r:id="rId63"/>
    <p:sldId id="316" r:id="rId64"/>
    <p:sldId id="317" r:id="rId65"/>
    <p:sldId id="318" r:id="rId66"/>
    <p:sldId id="319" r:id="rId67"/>
    <p:sldId id="320" r:id="rId68"/>
    <p:sldId id="321" r:id="rId69"/>
    <p:sldId id="353" r:id="rId70"/>
    <p:sldId id="322" r:id="rId71"/>
    <p:sldId id="323" r:id="rId72"/>
    <p:sldId id="324" r:id="rId73"/>
    <p:sldId id="325" r:id="rId74"/>
    <p:sldId id="326" r:id="rId7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8B12"/>
    <a:srgbClr val="8E1416"/>
    <a:srgbClr val="922123"/>
    <a:srgbClr val="AA8200"/>
    <a:srgbClr val="DEAA00"/>
    <a:srgbClr val="007FB1"/>
    <a:srgbClr val="38955A"/>
    <a:srgbClr val="920000"/>
    <a:srgbClr val="212121"/>
    <a:srgbClr val="2C4D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1C7615-B8EB-4BF4-892C-C30B1D368EB0}" v="19" dt="2026-04-10T15:28:33.5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20007" autoAdjust="0"/>
    <p:restoredTop sz="63597" autoAdjust="0"/>
  </p:normalViewPr>
  <p:slideViewPr>
    <p:cSldViewPr snapToGrid="0" showGuides="1">
      <p:cViewPr varScale="1">
        <p:scale>
          <a:sx n="111" d="100"/>
          <a:sy n="111" d="100"/>
        </p:scale>
        <p:origin x="1844" y="72"/>
      </p:cViewPr>
      <p:guideLst/>
    </p:cSldViewPr>
  </p:slideViewPr>
  <p:outlineViewPr>
    <p:cViewPr>
      <p:scale>
        <a:sx n="33" d="100"/>
        <a:sy n="33" d="100"/>
      </p:scale>
      <p:origin x="0" y="-16152"/>
    </p:cViewPr>
  </p:outlineViewPr>
  <p:notesTextViewPr>
    <p:cViewPr>
      <p:scale>
        <a:sx n="1" d="1"/>
        <a:sy n="1" d="1"/>
      </p:scale>
      <p:origin x="0" y="0"/>
    </p:cViewPr>
  </p:notesTextViewPr>
  <p:sorterViewPr>
    <p:cViewPr>
      <p:scale>
        <a:sx n="100" d="100"/>
        <a:sy n="100" d="100"/>
      </p:scale>
      <p:origin x="0" y="-7776"/>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8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Miller" userId="70e70d2d-fa72-4952-98cf-67858fa4ef7a" providerId="ADAL" clId="{3C0F8D48-B805-4732-975A-89F26263F015}"/>
    <pc:docChg chg="undo redo custSel addSld delSld modSld">
      <pc:chgData name="John Miller" userId="70e70d2d-fa72-4952-98cf-67858fa4ef7a" providerId="ADAL" clId="{3C0F8D48-B805-4732-975A-89F26263F015}" dt="2026-04-10T15:32:52.312" v="356" actId="20577"/>
      <pc:docMkLst>
        <pc:docMk/>
      </pc:docMkLst>
      <pc:sldChg chg="modSp mod">
        <pc:chgData name="John Miller" userId="70e70d2d-fa72-4952-98cf-67858fa4ef7a" providerId="ADAL" clId="{3C0F8D48-B805-4732-975A-89F26263F015}" dt="2026-04-10T15:32:52.312" v="356" actId="20577"/>
        <pc:sldMkLst>
          <pc:docMk/>
          <pc:sldMk cId="0" sldId="257"/>
        </pc:sldMkLst>
        <pc:spChg chg="mod">
          <ac:chgData name="John Miller" userId="70e70d2d-fa72-4952-98cf-67858fa4ef7a" providerId="ADAL" clId="{3C0F8D48-B805-4732-975A-89F26263F015}" dt="2026-04-10T15:32:52.312" v="356" actId="20577"/>
          <ac:spMkLst>
            <pc:docMk/>
            <pc:sldMk cId="0" sldId="257"/>
            <ac:spMk id="3" creationId="{00000000-0000-0000-0000-000000000000}"/>
          </ac:spMkLst>
        </pc:spChg>
      </pc:sldChg>
      <pc:sldChg chg="mod modShow">
        <pc:chgData name="John Miller" userId="70e70d2d-fa72-4952-98cf-67858fa4ef7a" providerId="ADAL" clId="{3C0F8D48-B805-4732-975A-89F26263F015}" dt="2026-04-10T14:31:05.956" v="0" actId="729"/>
        <pc:sldMkLst>
          <pc:docMk/>
          <pc:sldMk cId="0" sldId="258"/>
        </pc:sldMkLst>
      </pc:sldChg>
      <pc:sldChg chg="modSp mod modClrScheme chgLayout">
        <pc:chgData name="John Miller" userId="70e70d2d-fa72-4952-98cf-67858fa4ef7a" providerId="ADAL" clId="{3C0F8D48-B805-4732-975A-89F26263F015}" dt="2026-04-10T14:31:38.441" v="6" actId="403"/>
        <pc:sldMkLst>
          <pc:docMk/>
          <pc:sldMk cId="0" sldId="259"/>
        </pc:sldMkLst>
        <pc:spChg chg="mod">
          <ac:chgData name="John Miller" userId="70e70d2d-fa72-4952-98cf-67858fa4ef7a" providerId="ADAL" clId="{3C0F8D48-B805-4732-975A-89F26263F015}" dt="2026-04-10T14:31:25.766" v="1" actId="26606"/>
          <ac:spMkLst>
            <pc:docMk/>
            <pc:sldMk cId="0" sldId="259"/>
            <ac:spMk id="2" creationId="{00000000-0000-0000-0000-000000000000}"/>
          </ac:spMkLst>
        </pc:spChg>
        <pc:spChg chg="mod">
          <ac:chgData name="John Miller" userId="70e70d2d-fa72-4952-98cf-67858fa4ef7a" providerId="ADAL" clId="{3C0F8D48-B805-4732-975A-89F26263F015}" dt="2026-04-10T14:31:38.441" v="6" actId="403"/>
          <ac:spMkLst>
            <pc:docMk/>
            <pc:sldMk cId="0" sldId="259"/>
            <ac:spMk id="3" creationId="{00000000-0000-0000-0000-000000000000}"/>
          </ac:spMkLst>
        </pc:spChg>
        <pc:picChg chg="mod">
          <ac:chgData name="John Miller" userId="70e70d2d-fa72-4952-98cf-67858fa4ef7a" providerId="ADAL" clId="{3C0F8D48-B805-4732-975A-89F26263F015}" dt="2026-04-10T14:31:25.766" v="1" actId="26606"/>
          <ac:picMkLst>
            <pc:docMk/>
            <pc:sldMk cId="0" sldId="259"/>
            <ac:picMk id="4" creationId="{00000000-0000-0000-0000-000000000000}"/>
          </ac:picMkLst>
        </pc:picChg>
      </pc:sldChg>
      <pc:sldChg chg="modSp mod">
        <pc:chgData name="John Miller" userId="70e70d2d-fa72-4952-98cf-67858fa4ef7a" providerId="ADAL" clId="{3C0F8D48-B805-4732-975A-89F26263F015}" dt="2026-04-10T14:32:35.440" v="14" actId="27636"/>
        <pc:sldMkLst>
          <pc:docMk/>
          <pc:sldMk cId="0" sldId="261"/>
        </pc:sldMkLst>
        <pc:spChg chg="mod">
          <ac:chgData name="John Miller" userId="70e70d2d-fa72-4952-98cf-67858fa4ef7a" providerId="ADAL" clId="{3C0F8D48-B805-4732-975A-89F26263F015}" dt="2026-04-10T14:32:35.440" v="14" actId="27636"/>
          <ac:spMkLst>
            <pc:docMk/>
            <pc:sldMk cId="0" sldId="261"/>
            <ac:spMk id="2" creationId="{00000000-0000-0000-0000-000000000000}"/>
          </ac:spMkLst>
        </pc:spChg>
        <pc:picChg chg="mod">
          <ac:chgData name="John Miller" userId="70e70d2d-fa72-4952-98cf-67858fa4ef7a" providerId="ADAL" clId="{3C0F8D48-B805-4732-975A-89F26263F015}" dt="2026-04-10T14:32:24.960" v="11" actId="14100"/>
          <ac:picMkLst>
            <pc:docMk/>
            <pc:sldMk cId="0" sldId="261"/>
            <ac:picMk id="3" creationId="{00000000-0000-0000-0000-000000000000}"/>
          </ac:picMkLst>
        </pc:picChg>
      </pc:sldChg>
      <pc:sldChg chg="modSp mod">
        <pc:chgData name="John Miller" userId="70e70d2d-fa72-4952-98cf-67858fa4ef7a" providerId="ADAL" clId="{3C0F8D48-B805-4732-975A-89F26263F015}" dt="2026-04-10T14:33:01.599" v="18" actId="27636"/>
        <pc:sldMkLst>
          <pc:docMk/>
          <pc:sldMk cId="0" sldId="264"/>
        </pc:sldMkLst>
        <pc:spChg chg="mod">
          <ac:chgData name="John Miller" userId="70e70d2d-fa72-4952-98cf-67858fa4ef7a" providerId="ADAL" clId="{3C0F8D48-B805-4732-975A-89F26263F015}" dt="2026-04-10T14:33:01.599" v="18" actId="27636"/>
          <ac:spMkLst>
            <pc:docMk/>
            <pc:sldMk cId="0" sldId="264"/>
            <ac:spMk id="3" creationId="{00000000-0000-0000-0000-000000000000}"/>
          </ac:spMkLst>
        </pc:spChg>
      </pc:sldChg>
      <pc:sldChg chg="modSp mod">
        <pc:chgData name="John Miller" userId="70e70d2d-fa72-4952-98cf-67858fa4ef7a" providerId="ADAL" clId="{3C0F8D48-B805-4732-975A-89F26263F015}" dt="2026-04-10T14:33:33.840" v="23" actId="27636"/>
        <pc:sldMkLst>
          <pc:docMk/>
          <pc:sldMk cId="0" sldId="265"/>
        </pc:sldMkLst>
        <pc:spChg chg="mod">
          <ac:chgData name="John Miller" userId="70e70d2d-fa72-4952-98cf-67858fa4ef7a" providerId="ADAL" clId="{3C0F8D48-B805-4732-975A-89F26263F015}" dt="2026-04-10T14:33:33.840" v="23" actId="27636"/>
          <ac:spMkLst>
            <pc:docMk/>
            <pc:sldMk cId="0" sldId="265"/>
            <ac:spMk id="3" creationId="{00000000-0000-0000-0000-000000000000}"/>
          </ac:spMkLst>
        </pc:spChg>
      </pc:sldChg>
      <pc:sldChg chg="modSp mod">
        <pc:chgData name="John Miller" userId="70e70d2d-fa72-4952-98cf-67858fa4ef7a" providerId="ADAL" clId="{3C0F8D48-B805-4732-975A-89F26263F015}" dt="2026-04-10T14:33:50.516" v="27" actId="404"/>
        <pc:sldMkLst>
          <pc:docMk/>
          <pc:sldMk cId="0" sldId="266"/>
        </pc:sldMkLst>
        <pc:spChg chg="mod">
          <ac:chgData name="John Miller" userId="70e70d2d-fa72-4952-98cf-67858fa4ef7a" providerId="ADAL" clId="{3C0F8D48-B805-4732-975A-89F26263F015}" dt="2026-04-10T14:33:50.516" v="27" actId="404"/>
          <ac:spMkLst>
            <pc:docMk/>
            <pc:sldMk cId="0" sldId="266"/>
            <ac:spMk id="4" creationId="{00000000-0000-0000-0000-000000000000}"/>
          </ac:spMkLst>
        </pc:spChg>
      </pc:sldChg>
      <pc:sldChg chg="modSp mod">
        <pc:chgData name="John Miller" userId="70e70d2d-fa72-4952-98cf-67858fa4ef7a" providerId="ADAL" clId="{3C0F8D48-B805-4732-975A-89F26263F015}" dt="2026-04-10T14:35:08.868" v="45" actId="20577"/>
        <pc:sldMkLst>
          <pc:docMk/>
          <pc:sldMk cId="0" sldId="267"/>
        </pc:sldMkLst>
        <pc:spChg chg="mod">
          <ac:chgData name="John Miller" userId="70e70d2d-fa72-4952-98cf-67858fa4ef7a" providerId="ADAL" clId="{3C0F8D48-B805-4732-975A-89F26263F015}" dt="2026-04-10T14:34:48.451" v="41" actId="27636"/>
          <ac:spMkLst>
            <pc:docMk/>
            <pc:sldMk cId="0" sldId="267"/>
            <ac:spMk id="3" creationId="{00000000-0000-0000-0000-000000000000}"/>
          </ac:spMkLst>
        </pc:spChg>
        <pc:spChg chg="mod">
          <ac:chgData name="John Miller" userId="70e70d2d-fa72-4952-98cf-67858fa4ef7a" providerId="ADAL" clId="{3C0F8D48-B805-4732-975A-89F26263F015}" dt="2026-04-10T14:35:08.868" v="45" actId="20577"/>
          <ac:spMkLst>
            <pc:docMk/>
            <pc:sldMk cId="0" sldId="267"/>
            <ac:spMk id="4" creationId="{00000000-0000-0000-0000-000000000000}"/>
          </ac:spMkLst>
        </pc:spChg>
      </pc:sldChg>
      <pc:sldChg chg="modSp mod">
        <pc:chgData name="John Miller" userId="70e70d2d-fa72-4952-98cf-67858fa4ef7a" providerId="ADAL" clId="{3C0F8D48-B805-4732-975A-89F26263F015}" dt="2026-04-10T14:36:32.458" v="49" actId="20577"/>
        <pc:sldMkLst>
          <pc:docMk/>
          <pc:sldMk cId="0" sldId="269"/>
        </pc:sldMkLst>
        <pc:spChg chg="mod">
          <ac:chgData name="John Miller" userId="70e70d2d-fa72-4952-98cf-67858fa4ef7a" providerId="ADAL" clId="{3C0F8D48-B805-4732-975A-89F26263F015}" dt="2026-04-10T14:36:32.458" v="49" actId="20577"/>
          <ac:spMkLst>
            <pc:docMk/>
            <pc:sldMk cId="0" sldId="269"/>
            <ac:spMk id="4" creationId="{00000000-0000-0000-0000-000000000000}"/>
          </ac:spMkLst>
        </pc:spChg>
      </pc:sldChg>
      <pc:sldChg chg="modSp mod">
        <pc:chgData name="John Miller" userId="70e70d2d-fa72-4952-98cf-67858fa4ef7a" providerId="ADAL" clId="{3C0F8D48-B805-4732-975A-89F26263F015}" dt="2026-04-10T15:32:40.730" v="355" actId="20577"/>
        <pc:sldMkLst>
          <pc:docMk/>
          <pc:sldMk cId="0" sldId="270"/>
        </pc:sldMkLst>
        <pc:spChg chg="mod">
          <ac:chgData name="John Miller" userId="70e70d2d-fa72-4952-98cf-67858fa4ef7a" providerId="ADAL" clId="{3C0F8D48-B805-4732-975A-89F26263F015}" dt="2026-04-10T15:32:40.730" v="355" actId="20577"/>
          <ac:spMkLst>
            <pc:docMk/>
            <pc:sldMk cId="0" sldId="270"/>
            <ac:spMk id="3" creationId="{00000000-0000-0000-0000-000000000000}"/>
          </ac:spMkLst>
        </pc:spChg>
      </pc:sldChg>
      <pc:sldChg chg="modSp mod modClrScheme chgLayout">
        <pc:chgData name="John Miller" userId="70e70d2d-fa72-4952-98cf-67858fa4ef7a" providerId="ADAL" clId="{3C0F8D48-B805-4732-975A-89F26263F015}" dt="2026-04-10T14:40:14.247" v="81" actId="403"/>
        <pc:sldMkLst>
          <pc:docMk/>
          <pc:sldMk cId="0" sldId="272"/>
        </pc:sldMkLst>
        <pc:spChg chg="mod ord">
          <ac:chgData name="John Miller" userId="70e70d2d-fa72-4952-98cf-67858fa4ef7a" providerId="ADAL" clId="{3C0F8D48-B805-4732-975A-89F26263F015}" dt="2026-04-10T14:40:14.247" v="81" actId="403"/>
          <ac:spMkLst>
            <pc:docMk/>
            <pc:sldMk cId="0" sldId="272"/>
            <ac:spMk id="2" creationId="{00000000-0000-0000-0000-000000000000}"/>
          </ac:spMkLst>
        </pc:spChg>
        <pc:spChg chg="mod ord">
          <ac:chgData name="John Miller" userId="70e70d2d-fa72-4952-98cf-67858fa4ef7a" providerId="ADAL" clId="{3C0F8D48-B805-4732-975A-89F26263F015}" dt="2026-04-10T14:38:27.657" v="57" actId="6549"/>
          <ac:spMkLst>
            <pc:docMk/>
            <pc:sldMk cId="0" sldId="272"/>
            <ac:spMk id="3" creationId="{00000000-0000-0000-0000-000000000000}"/>
          </ac:spMkLst>
        </pc:spChg>
      </pc:sldChg>
      <pc:sldChg chg="modSp mod">
        <pc:chgData name="John Miller" userId="70e70d2d-fa72-4952-98cf-67858fa4ef7a" providerId="ADAL" clId="{3C0F8D48-B805-4732-975A-89F26263F015}" dt="2026-04-10T14:40:42.548" v="84" actId="404"/>
        <pc:sldMkLst>
          <pc:docMk/>
          <pc:sldMk cId="0" sldId="273"/>
        </pc:sldMkLst>
        <pc:spChg chg="mod">
          <ac:chgData name="John Miller" userId="70e70d2d-fa72-4952-98cf-67858fa4ef7a" providerId="ADAL" clId="{3C0F8D48-B805-4732-975A-89F26263F015}" dt="2026-04-10T14:40:42.548" v="84" actId="404"/>
          <ac:spMkLst>
            <pc:docMk/>
            <pc:sldMk cId="0" sldId="273"/>
            <ac:spMk id="4" creationId="{00000000-0000-0000-0000-000000000000}"/>
          </ac:spMkLst>
        </pc:spChg>
      </pc:sldChg>
      <pc:sldChg chg="modSp mod">
        <pc:chgData name="John Miller" userId="70e70d2d-fa72-4952-98cf-67858fa4ef7a" providerId="ADAL" clId="{3C0F8D48-B805-4732-975A-89F26263F015}" dt="2026-04-10T14:40:58.339" v="87" actId="403"/>
        <pc:sldMkLst>
          <pc:docMk/>
          <pc:sldMk cId="0" sldId="274"/>
        </pc:sldMkLst>
        <pc:graphicFrameChg chg="modGraphic">
          <ac:chgData name="John Miller" userId="70e70d2d-fa72-4952-98cf-67858fa4ef7a" providerId="ADAL" clId="{3C0F8D48-B805-4732-975A-89F26263F015}" dt="2026-04-10T14:40:58.339" v="87" actId="403"/>
          <ac:graphicFrameMkLst>
            <pc:docMk/>
            <pc:sldMk cId="0" sldId="274"/>
            <ac:graphicFrameMk id="3" creationId="{00000000-0000-0000-0000-000000000000}"/>
          </ac:graphicFrameMkLst>
        </pc:graphicFrameChg>
      </pc:sldChg>
      <pc:sldChg chg="addSp delSp modSp mod">
        <pc:chgData name="John Miller" userId="70e70d2d-fa72-4952-98cf-67858fa4ef7a" providerId="ADAL" clId="{3C0F8D48-B805-4732-975A-89F26263F015}" dt="2026-04-10T14:41:23.704" v="91" actId="1076"/>
        <pc:sldMkLst>
          <pc:docMk/>
          <pc:sldMk cId="0" sldId="275"/>
        </pc:sldMkLst>
        <pc:spChg chg="mod">
          <ac:chgData name="John Miller" userId="70e70d2d-fa72-4952-98cf-67858fa4ef7a" providerId="ADAL" clId="{3C0F8D48-B805-4732-975A-89F26263F015}" dt="2026-04-10T14:41:11.205" v="89" actId="26606"/>
          <ac:spMkLst>
            <pc:docMk/>
            <pc:sldMk cId="0" sldId="275"/>
            <ac:spMk id="2" creationId="{00000000-0000-0000-0000-000000000000}"/>
          </ac:spMkLst>
        </pc:spChg>
        <pc:spChg chg="del">
          <ac:chgData name="John Miller" userId="70e70d2d-fa72-4952-98cf-67858fa4ef7a" providerId="ADAL" clId="{3C0F8D48-B805-4732-975A-89F26263F015}" dt="2026-04-10T14:41:11.205" v="89" actId="26606"/>
          <ac:spMkLst>
            <pc:docMk/>
            <pc:sldMk cId="0" sldId="275"/>
            <ac:spMk id="3" creationId="{00000000-0000-0000-0000-000000000000}"/>
          </ac:spMkLst>
        </pc:spChg>
        <pc:spChg chg="add">
          <ac:chgData name="John Miller" userId="70e70d2d-fa72-4952-98cf-67858fa4ef7a" providerId="ADAL" clId="{3C0F8D48-B805-4732-975A-89F26263F015}" dt="2026-04-10T14:41:11.205" v="89" actId="26606"/>
          <ac:spMkLst>
            <pc:docMk/>
            <pc:sldMk cId="0" sldId="275"/>
            <ac:spMk id="4" creationId="{00000000-0000-0000-0000-000000000000}"/>
          </ac:spMkLst>
        </pc:spChg>
        <pc:spChg chg="del mod replId">
          <ac:chgData name="John Miller" userId="70e70d2d-fa72-4952-98cf-67858fa4ef7a" providerId="ADAL" clId="{3C0F8D48-B805-4732-975A-89F26263F015}" dt="2026-04-10T14:41:11.205" v="89" actId="26606"/>
          <ac:spMkLst>
            <pc:docMk/>
            <pc:sldMk cId="0" sldId="275"/>
            <ac:spMk id="7" creationId="{00000000-0000-0000-0000-000000000000}"/>
          </ac:spMkLst>
        </pc:spChg>
        <pc:picChg chg="mod">
          <ac:chgData name="John Miller" userId="70e70d2d-fa72-4952-98cf-67858fa4ef7a" providerId="ADAL" clId="{3C0F8D48-B805-4732-975A-89F26263F015}" dt="2026-04-10T14:41:23.704" v="91" actId="1076"/>
          <ac:picMkLst>
            <pc:docMk/>
            <pc:sldMk cId="0" sldId="275"/>
            <ac:picMk id="5" creationId="{00000000-0000-0000-0000-000000000000}"/>
          </ac:picMkLst>
        </pc:picChg>
      </pc:sldChg>
      <pc:sldChg chg="modSp mod">
        <pc:chgData name="John Miller" userId="70e70d2d-fa72-4952-98cf-67858fa4ef7a" providerId="ADAL" clId="{3C0F8D48-B805-4732-975A-89F26263F015}" dt="2026-04-10T14:42:49.756" v="102" actId="27636"/>
        <pc:sldMkLst>
          <pc:docMk/>
          <pc:sldMk cId="0" sldId="276"/>
        </pc:sldMkLst>
        <pc:spChg chg="mod">
          <ac:chgData name="John Miller" userId="70e70d2d-fa72-4952-98cf-67858fa4ef7a" providerId="ADAL" clId="{3C0F8D48-B805-4732-975A-89F26263F015}" dt="2026-04-10T14:42:49.756" v="102" actId="27636"/>
          <ac:spMkLst>
            <pc:docMk/>
            <pc:sldMk cId="0" sldId="276"/>
            <ac:spMk id="3" creationId="{00000000-0000-0000-0000-000000000000}"/>
          </ac:spMkLst>
        </pc:spChg>
      </pc:sldChg>
      <pc:sldChg chg="modSp mod">
        <pc:chgData name="John Miller" userId="70e70d2d-fa72-4952-98cf-67858fa4ef7a" providerId="ADAL" clId="{3C0F8D48-B805-4732-975A-89F26263F015}" dt="2026-04-10T14:43:48.185" v="114" actId="27636"/>
        <pc:sldMkLst>
          <pc:docMk/>
          <pc:sldMk cId="0" sldId="277"/>
        </pc:sldMkLst>
        <pc:spChg chg="mod">
          <ac:chgData name="John Miller" userId="70e70d2d-fa72-4952-98cf-67858fa4ef7a" providerId="ADAL" clId="{3C0F8D48-B805-4732-975A-89F26263F015}" dt="2026-04-10T14:43:48.185" v="114" actId="27636"/>
          <ac:spMkLst>
            <pc:docMk/>
            <pc:sldMk cId="0" sldId="277"/>
            <ac:spMk id="3" creationId="{00000000-0000-0000-0000-000000000000}"/>
          </ac:spMkLst>
        </pc:spChg>
      </pc:sldChg>
      <pc:sldChg chg="modSp mod">
        <pc:chgData name="John Miller" userId="70e70d2d-fa72-4952-98cf-67858fa4ef7a" providerId="ADAL" clId="{3C0F8D48-B805-4732-975A-89F26263F015}" dt="2026-04-10T14:45:03.649" v="125" actId="255"/>
        <pc:sldMkLst>
          <pc:docMk/>
          <pc:sldMk cId="0" sldId="278"/>
        </pc:sldMkLst>
        <pc:spChg chg="mod">
          <ac:chgData name="John Miller" userId="70e70d2d-fa72-4952-98cf-67858fa4ef7a" providerId="ADAL" clId="{3C0F8D48-B805-4732-975A-89F26263F015}" dt="2026-04-10T14:44:23.697" v="121" actId="27636"/>
          <ac:spMkLst>
            <pc:docMk/>
            <pc:sldMk cId="0" sldId="278"/>
            <ac:spMk id="3" creationId="{00000000-0000-0000-0000-000000000000}"/>
          </ac:spMkLst>
        </pc:spChg>
        <pc:spChg chg="mod">
          <ac:chgData name="John Miller" userId="70e70d2d-fa72-4952-98cf-67858fa4ef7a" providerId="ADAL" clId="{3C0F8D48-B805-4732-975A-89F26263F015}" dt="2026-04-10T14:45:03.649" v="125" actId="255"/>
          <ac:spMkLst>
            <pc:docMk/>
            <pc:sldMk cId="0" sldId="278"/>
            <ac:spMk id="4" creationId="{00000000-0000-0000-0000-000000000000}"/>
          </ac:spMkLst>
        </pc:spChg>
      </pc:sldChg>
      <pc:sldChg chg="modSp mod">
        <pc:chgData name="John Miller" userId="70e70d2d-fa72-4952-98cf-67858fa4ef7a" providerId="ADAL" clId="{3C0F8D48-B805-4732-975A-89F26263F015}" dt="2026-04-10T15:32:29.877" v="354" actId="20577"/>
        <pc:sldMkLst>
          <pc:docMk/>
          <pc:sldMk cId="0" sldId="279"/>
        </pc:sldMkLst>
        <pc:spChg chg="mod">
          <ac:chgData name="John Miller" userId="70e70d2d-fa72-4952-98cf-67858fa4ef7a" providerId="ADAL" clId="{3C0F8D48-B805-4732-975A-89F26263F015}" dt="2026-04-10T15:32:29.877" v="354" actId="20577"/>
          <ac:spMkLst>
            <pc:docMk/>
            <pc:sldMk cId="0" sldId="279"/>
            <ac:spMk id="3" creationId="{00000000-0000-0000-0000-000000000000}"/>
          </ac:spMkLst>
        </pc:spChg>
      </pc:sldChg>
      <pc:sldChg chg="modSp mod">
        <pc:chgData name="John Miller" userId="70e70d2d-fa72-4952-98cf-67858fa4ef7a" providerId="ADAL" clId="{3C0F8D48-B805-4732-975A-89F26263F015}" dt="2026-04-10T14:56:48.556" v="127" actId="14100"/>
        <pc:sldMkLst>
          <pc:docMk/>
          <pc:sldMk cId="0" sldId="282"/>
        </pc:sldMkLst>
        <pc:picChg chg="mod">
          <ac:chgData name="John Miller" userId="70e70d2d-fa72-4952-98cf-67858fa4ef7a" providerId="ADAL" clId="{3C0F8D48-B805-4732-975A-89F26263F015}" dt="2026-04-10T14:56:48.556" v="127" actId="14100"/>
          <ac:picMkLst>
            <pc:docMk/>
            <pc:sldMk cId="0" sldId="282"/>
            <ac:picMk id="4" creationId="{00000000-0000-0000-0000-000000000000}"/>
          </ac:picMkLst>
        </pc:picChg>
      </pc:sldChg>
      <pc:sldChg chg="modSp mod">
        <pc:chgData name="John Miller" userId="70e70d2d-fa72-4952-98cf-67858fa4ef7a" providerId="ADAL" clId="{3C0F8D48-B805-4732-975A-89F26263F015}" dt="2026-04-10T14:57:40.994" v="130" actId="1076"/>
        <pc:sldMkLst>
          <pc:docMk/>
          <pc:sldMk cId="0" sldId="284"/>
        </pc:sldMkLst>
        <pc:picChg chg="mod">
          <ac:chgData name="John Miller" userId="70e70d2d-fa72-4952-98cf-67858fa4ef7a" providerId="ADAL" clId="{3C0F8D48-B805-4732-975A-89F26263F015}" dt="2026-04-10T14:57:40.994" v="130" actId="1076"/>
          <ac:picMkLst>
            <pc:docMk/>
            <pc:sldMk cId="0" sldId="284"/>
            <ac:picMk id="4" creationId="{00000000-0000-0000-0000-000000000000}"/>
          </ac:picMkLst>
        </pc:picChg>
      </pc:sldChg>
      <pc:sldChg chg="modSp mod">
        <pc:chgData name="John Miller" userId="70e70d2d-fa72-4952-98cf-67858fa4ef7a" providerId="ADAL" clId="{3C0F8D48-B805-4732-975A-89F26263F015}" dt="2026-04-10T14:57:55.879" v="133" actId="403"/>
        <pc:sldMkLst>
          <pc:docMk/>
          <pc:sldMk cId="0" sldId="285"/>
        </pc:sldMkLst>
        <pc:graphicFrameChg chg="modGraphic">
          <ac:chgData name="John Miller" userId="70e70d2d-fa72-4952-98cf-67858fa4ef7a" providerId="ADAL" clId="{3C0F8D48-B805-4732-975A-89F26263F015}" dt="2026-04-10T14:57:55.879" v="133" actId="403"/>
          <ac:graphicFrameMkLst>
            <pc:docMk/>
            <pc:sldMk cId="0" sldId="285"/>
            <ac:graphicFrameMk id="3" creationId="{00000000-0000-0000-0000-000000000000}"/>
          </ac:graphicFrameMkLst>
        </pc:graphicFrameChg>
      </pc:sldChg>
      <pc:sldChg chg="modSp mod">
        <pc:chgData name="John Miller" userId="70e70d2d-fa72-4952-98cf-67858fa4ef7a" providerId="ADAL" clId="{3C0F8D48-B805-4732-975A-89F26263F015}" dt="2026-04-10T15:32:20.072" v="353" actId="20577"/>
        <pc:sldMkLst>
          <pc:docMk/>
          <pc:sldMk cId="0" sldId="287"/>
        </pc:sldMkLst>
        <pc:spChg chg="mod">
          <ac:chgData name="John Miller" userId="70e70d2d-fa72-4952-98cf-67858fa4ef7a" providerId="ADAL" clId="{3C0F8D48-B805-4732-975A-89F26263F015}" dt="2026-04-10T15:32:20.072" v="353" actId="20577"/>
          <ac:spMkLst>
            <pc:docMk/>
            <pc:sldMk cId="0" sldId="287"/>
            <ac:spMk id="3" creationId="{00000000-0000-0000-0000-000000000000}"/>
          </ac:spMkLst>
        </pc:spChg>
      </pc:sldChg>
      <pc:sldChg chg="modSp mod">
        <pc:chgData name="John Miller" userId="70e70d2d-fa72-4952-98cf-67858fa4ef7a" providerId="ADAL" clId="{3C0F8D48-B805-4732-975A-89F26263F015}" dt="2026-04-10T15:01:08.743" v="147" actId="6549"/>
        <pc:sldMkLst>
          <pc:docMk/>
          <pc:sldMk cId="0" sldId="288"/>
        </pc:sldMkLst>
        <pc:spChg chg="mod">
          <ac:chgData name="John Miller" userId="70e70d2d-fa72-4952-98cf-67858fa4ef7a" providerId="ADAL" clId="{3C0F8D48-B805-4732-975A-89F26263F015}" dt="2026-04-10T15:00:54.785" v="145" actId="20577"/>
          <ac:spMkLst>
            <pc:docMk/>
            <pc:sldMk cId="0" sldId="288"/>
            <ac:spMk id="2" creationId="{00000000-0000-0000-0000-000000000000}"/>
          </ac:spMkLst>
        </pc:spChg>
        <pc:spChg chg="mod">
          <ac:chgData name="John Miller" userId="70e70d2d-fa72-4952-98cf-67858fa4ef7a" providerId="ADAL" clId="{3C0F8D48-B805-4732-975A-89F26263F015}" dt="2026-04-10T15:01:08.743" v="147" actId="6549"/>
          <ac:spMkLst>
            <pc:docMk/>
            <pc:sldMk cId="0" sldId="288"/>
            <ac:spMk id="3" creationId="{00000000-0000-0000-0000-000000000000}"/>
          </ac:spMkLst>
        </pc:spChg>
      </pc:sldChg>
      <pc:sldChg chg="modSp mod modClrScheme chgLayout">
        <pc:chgData name="John Miller" userId="70e70d2d-fa72-4952-98cf-67858fa4ef7a" providerId="ADAL" clId="{3C0F8D48-B805-4732-975A-89F26263F015}" dt="2026-04-10T15:01:47.340" v="151" actId="14100"/>
        <pc:sldMkLst>
          <pc:docMk/>
          <pc:sldMk cId="0" sldId="290"/>
        </pc:sldMkLst>
        <pc:spChg chg="mod">
          <ac:chgData name="John Miller" userId="70e70d2d-fa72-4952-98cf-67858fa4ef7a" providerId="ADAL" clId="{3C0F8D48-B805-4732-975A-89F26263F015}" dt="2026-04-10T15:01:31.294" v="148" actId="26606"/>
          <ac:spMkLst>
            <pc:docMk/>
            <pc:sldMk cId="0" sldId="290"/>
            <ac:spMk id="2" creationId="{00000000-0000-0000-0000-000000000000}"/>
          </ac:spMkLst>
        </pc:spChg>
        <pc:spChg chg="mod">
          <ac:chgData name="John Miller" userId="70e70d2d-fa72-4952-98cf-67858fa4ef7a" providerId="ADAL" clId="{3C0F8D48-B805-4732-975A-89F26263F015}" dt="2026-04-10T15:01:47.340" v="151" actId="14100"/>
          <ac:spMkLst>
            <pc:docMk/>
            <pc:sldMk cId="0" sldId="290"/>
            <ac:spMk id="3" creationId="{00000000-0000-0000-0000-000000000000}"/>
          </ac:spMkLst>
        </pc:spChg>
        <pc:picChg chg="mod">
          <ac:chgData name="John Miller" userId="70e70d2d-fa72-4952-98cf-67858fa4ef7a" providerId="ADAL" clId="{3C0F8D48-B805-4732-975A-89F26263F015}" dt="2026-04-10T15:01:43.045" v="150" actId="1076"/>
          <ac:picMkLst>
            <pc:docMk/>
            <pc:sldMk cId="0" sldId="290"/>
            <ac:picMk id="4" creationId="{00000000-0000-0000-0000-000000000000}"/>
          </ac:picMkLst>
        </pc:picChg>
      </pc:sldChg>
      <pc:sldChg chg="modSp mod">
        <pc:chgData name="John Miller" userId="70e70d2d-fa72-4952-98cf-67858fa4ef7a" providerId="ADAL" clId="{3C0F8D48-B805-4732-975A-89F26263F015}" dt="2026-04-10T15:03:27.357" v="165" actId="404"/>
        <pc:sldMkLst>
          <pc:docMk/>
          <pc:sldMk cId="0" sldId="291"/>
        </pc:sldMkLst>
        <pc:spChg chg="mod">
          <ac:chgData name="John Miller" userId="70e70d2d-fa72-4952-98cf-67858fa4ef7a" providerId="ADAL" clId="{3C0F8D48-B805-4732-975A-89F26263F015}" dt="2026-04-10T15:03:27.357" v="165" actId="404"/>
          <ac:spMkLst>
            <pc:docMk/>
            <pc:sldMk cId="0" sldId="291"/>
            <ac:spMk id="3" creationId="{00000000-0000-0000-0000-000000000000}"/>
          </ac:spMkLst>
        </pc:spChg>
      </pc:sldChg>
      <pc:sldChg chg="modSp mod">
        <pc:chgData name="John Miller" userId="70e70d2d-fa72-4952-98cf-67858fa4ef7a" providerId="ADAL" clId="{3C0F8D48-B805-4732-975A-89F26263F015}" dt="2026-04-10T15:03:56.518" v="172" actId="403"/>
        <pc:sldMkLst>
          <pc:docMk/>
          <pc:sldMk cId="0" sldId="292"/>
        </pc:sldMkLst>
        <pc:spChg chg="mod">
          <ac:chgData name="John Miller" userId="70e70d2d-fa72-4952-98cf-67858fa4ef7a" providerId="ADAL" clId="{3C0F8D48-B805-4732-975A-89F26263F015}" dt="2026-04-10T15:03:56.518" v="172" actId="403"/>
          <ac:spMkLst>
            <pc:docMk/>
            <pc:sldMk cId="0" sldId="292"/>
            <ac:spMk id="3" creationId="{00000000-0000-0000-0000-000000000000}"/>
          </ac:spMkLst>
        </pc:spChg>
      </pc:sldChg>
      <pc:sldChg chg="modSp mod modClrScheme chgLayout">
        <pc:chgData name="John Miller" userId="70e70d2d-fa72-4952-98cf-67858fa4ef7a" providerId="ADAL" clId="{3C0F8D48-B805-4732-975A-89F26263F015}" dt="2026-04-10T15:04:29.915" v="181" actId="14100"/>
        <pc:sldMkLst>
          <pc:docMk/>
          <pc:sldMk cId="0" sldId="293"/>
        </pc:sldMkLst>
        <pc:spChg chg="mod">
          <ac:chgData name="John Miller" userId="70e70d2d-fa72-4952-98cf-67858fa4ef7a" providerId="ADAL" clId="{3C0F8D48-B805-4732-975A-89F26263F015}" dt="2026-04-10T15:04:04.036" v="173" actId="26606"/>
          <ac:spMkLst>
            <pc:docMk/>
            <pc:sldMk cId="0" sldId="293"/>
            <ac:spMk id="2" creationId="{00000000-0000-0000-0000-000000000000}"/>
          </ac:spMkLst>
        </pc:spChg>
        <pc:spChg chg="mod">
          <ac:chgData name="John Miller" userId="70e70d2d-fa72-4952-98cf-67858fa4ef7a" providerId="ADAL" clId="{3C0F8D48-B805-4732-975A-89F26263F015}" dt="2026-04-10T15:04:16.835" v="178" actId="27636"/>
          <ac:spMkLst>
            <pc:docMk/>
            <pc:sldMk cId="0" sldId="293"/>
            <ac:spMk id="3" creationId="{00000000-0000-0000-0000-000000000000}"/>
          </ac:spMkLst>
        </pc:spChg>
        <pc:picChg chg="mod">
          <ac:chgData name="John Miller" userId="70e70d2d-fa72-4952-98cf-67858fa4ef7a" providerId="ADAL" clId="{3C0F8D48-B805-4732-975A-89F26263F015}" dt="2026-04-10T15:04:29.915" v="181" actId="14100"/>
          <ac:picMkLst>
            <pc:docMk/>
            <pc:sldMk cId="0" sldId="293"/>
            <ac:picMk id="4" creationId="{00000000-0000-0000-0000-000000000000}"/>
          </ac:picMkLst>
        </pc:picChg>
      </pc:sldChg>
      <pc:sldChg chg="modSp mod">
        <pc:chgData name="John Miller" userId="70e70d2d-fa72-4952-98cf-67858fa4ef7a" providerId="ADAL" clId="{3C0F8D48-B805-4732-975A-89F26263F015}" dt="2026-04-10T15:32:09.273" v="352" actId="6549"/>
        <pc:sldMkLst>
          <pc:docMk/>
          <pc:sldMk cId="0" sldId="295"/>
        </pc:sldMkLst>
        <pc:spChg chg="mod">
          <ac:chgData name="John Miller" userId="70e70d2d-fa72-4952-98cf-67858fa4ef7a" providerId="ADAL" clId="{3C0F8D48-B805-4732-975A-89F26263F015}" dt="2026-04-10T15:32:09.273" v="352" actId="6549"/>
          <ac:spMkLst>
            <pc:docMk/>
            <pc:sldMk cId="0" sldId="295"/>
            <ac:spMk id="3" creationId="{00000000-0000-0000-0000-000000000000}"/>
          </ac:spMkLst>
        </pc:spChg>
      </pc:sldChg>
      <pc:sldChg chg="modSp mod">
        <pc:chgData name="John Miller" userId="70e70d2d-fa72-4952-98cf-67858fa4ef7a" providerId="ADAL" clId="{3C0F8D48-B805-4732-975A-89F26263F015}" dt="2026-04-10T15:06:36.858" v="195" actId="20577"/>
        <pc:sldMkLst>
          <pc:docMk/>
          <pc:sldMk cId="0" sldId="296"/>
        </pc:sldMkLst>
        <pc:spChg chg="mod">
          <ac:chgData name="John Miller" userId="70e70d2d-fa72-4952-98cf-67858fa4ef7a" providerId="ADAL" clId="{3C0F8D48-B805-4732-975A-89F26263F015}" dt="2026-04-10T15:06:24.618" v="191"/>
          <ac:spMkLst>
            <pc:docMk/>
            <pc:sldMk cId="0" sldId="296"/>
            <ac:spMk id="2" creationId="{00000000-0000-0000-0000-000000000000}"/>
          </ac:spMkLst>
        </pc:spChg>
        <pc:spChg chg="mod">
          <ac:chgData name="John Miller" userId="70e70d2d-fa72-4952-98cf-67858fa4ef7a" providerId="ADAL" clId="{3C0F8D48-B805-4732-975A-89F26263F015}" dt="2026-04-10T15:06:36.858" v="195" actId="20577"/>
          <ac:spMkLst>
            <pc:docMk/>
            <pc:sldMk cId="0" sldId="296"/>
            <ac:spMk id="3" creationId="{00000000-0000-0000-0000-000000000000}"/>
          </ac:spMkLst>
        </pc:spChg>
      </pc:sldChg>
      <pc:sldChg chg="modSp mod">
        <pc:chgData name="John Miller" userId="70e70d2d-fa72-4952-98cf-67858fa4ef7a" providerId="ADAL" clId="{3C0F8D48-B805-4732-975A-89F26263F015}" dt="2026-04-10T15:07:57.353" v="201" actId="15"/>
        <pc:sldMkLst>
          <pc:docMk/>
          <pc:sldMk cId="0" sldId="298"/>
        </pc:sldMkLst>
        <pc:spChg chg="mod">
          <ac:chgData name="John Miller" userId="70e70d2d-fa72-4952-98cf-67858fa4ef7a" providerId="ADAL" clId="{3C0F8D48-B805-4732-975A-89F26263F015}" dt="2026-04-10T15:07:47.692" v="199" actId="6549"/>
          <ac:spMkLst>
            <pc:docMk/>
            <pc:sldMk cId="0" sldId="298"/>
            <ac:spMk id="2" creationId="{00000000-0000-0000-0000-000000000000}"/>
          </ac:spMkLst>
        </pc:spChg>
        <pc:spChg chg="mod">
          <ac:chgData name="John Miller" userId="70e70d2d-fa72-4952-98cf-67858fa4ef7a" providerId="ADAL" clId="{3C0F8D48-B805-4732-975A-89F26263F015}" dt="2026-04-10T15:07:57.353" v="201" actId="15"/>
          <ac:spMkLst>
            <pc:docMk/>
            <pc:sldMk cId="0" sldId="298"/>
            <ac:spMk id="3" creationId="{00000000-0000-0000-0000-000000000000}"/>
          </ac:spMkLst>
        </pc:spChg>
      </pc:sldChg>
      <pc:sldChg chg="modSp mod">
        <pc:chgData name="John Miller" userId="70e70d2d-fa72-4952-98cf-67858fa4ef7a" providerId="ADAL" clId="{3C0F8D48-B805-4732-975A-89F26263F015}" dt="2026-04-10T15:08:09.814" v="204" actId="403"/>
        <pc:sldMkLst>
          <pc:docMk/>
          <pc:sldMk cId="0" sldId="299"/>
        </pc:sldMkLst>
        <pc:graphicFrameChg chg="modGraphic">
          <ac:chgData name="John Miller" userId="70e70d2d-fa72-4952-98cf-67858fa4ef7a" providerId="ADAL" clId="{3C0F8D48-B805-4732-975A-89F26263F015}" dt="2026-04-10T15:08:09.814" v="204" actId="403"/>
          <ac:graphicFrameMkLst>
            <pc:docMk/>
            <pc:sldMk cId="0" sldId="299"/>
            <ac:graphicFrameMk id="3" creationId="{00000000-0000-0000-0000-000000000000}"/>
          </ac:graphicFrameMkLst>
        </pc:graphicFrameChg>
      </pc:sldChg>
      <pc:sldChg chg="modSp mod">
        <pc:chgData name="John Miller" userId="70e70d2d-fa72-4952-98cf-67858fa4ef7a" providerId="ADAL" clId="{3C0F8D48-B805-4732-975A-89F26263F015}" dt="2026-04-10T15:08:22.634" v="208" actId="20577"/>
        <pc:sldMkLst>
          <pc:docMk/>
          <pc:sldMk cId="0" sldId="300"/>
        </pc:sldMkLst>
        <pc:spChg chg="mod">
          <ac:chgData name="John Miller" userId="70e70d2d-fa72-4952-98cf-67858fa4ef7a" providerId="ADAL" clId="{3C0F8D48-B805-4732-975A-89F26263F015}" dt="2026-04-10T15:08:22.634" v="208" actId="20577"/>
          <ac:spMkLst>
            <pc:docMk/>
            <pc:sldMk cId="0" sldId="300"/>
            <ac:spMk id="3" creationId="{00000000-0000-0000-0000-000000000000}"/>
          </ac:spMkLst>
        </pc:spChg>
      </pc:sldChg>
      <pc:sldChg chg="modSp mod">
        <pc:chgData name="John Miller" userId="70e70d2d-fa72-4952-98cf-67858fa4ef7a" providerId="ADAL" clId="{3C0F8D48-B805-4732-975A-89F26263F015}" dt="2026-04-10T15:08:45.432" v="213" actId="20577"/>
        <pc:sldMkLst>
          <pc:docMk/>
          <pc:sldMk cId="0" sldId="301"/>
        </pc:sldMkLst>
        <pc:spChg chg="mod">
          <ac:chgData name="John Miller" userId="70e70d2d-fa72-4952-98cf-67858fa4ef7a" providerId="ADAL" clId="{3C0F8D48-B805-4732-975A-89F26263F015}" dt="2026-04-10T15:08:45.432" v="213" actId="20577"/>
          <ac:spMkLst>
            <pc:docMk/>
            <pc:sldMk cId="0" sldId="301"/>
            <ac:spMk id="3" creationId="{00000000-0000-0000-0000-000000000000}"/>
          </ac:spMkLst>
        </pc:spChg>
      </pc:sldChg>
      <pc:sldChg chg="modSp mod">
        <pc:chgData name="John Miller" userId="70e70d2d-fa72-4952-98cf-67858fa4ef7a" providerId="ADAL" clId="{3C0F8D48-B805-4732-975A-89F26263F015}" dt="2026-04-10T15:12:08.966" v="223" actId="27636"/>
        <pc:sldMkLst>
          <pc:docMk/>
          <pc:sldMk cId="0" sldId="302"/>
        </pc:sldMkLst>
        <pc:spChg chg="mod">
          <ac:chgData name="John Miller" userId="70e70d2d-fa72-4952-98cf-67858fa4ef7a" providerId="ADAL" clId="{3C0F8D48-B805-4732-975A-89F26263F015}" dt="2026-04-10T15:11:37.315" v="217" actId="20577"/>
          <ac:spMkLst>
            <pc:docMk/>
            <pc:sldMk cId="0" sldId="302"/>
            <ac:spMk id="2" creationId="{00000000-0000-0000-0000-000000000000}"/>
          </ac:spMkLst>
        </pc:spChg>
        <pc:spChg chg="mod">
          <ac:chgData name="John Miller" userId="70e70d2d-fa72-4952-98cf-67858fa4ef7a" providerId="ADAL" clId="{3C0F8D48-B805-4732-975A-89F26263F015}" dt="2026-04-10T15:12:08.966" v="223" actId="27636"/>
          <ac:spMkLst>
            <pc:docMk/>
            <pc:sldMk cId="0" sldId="302"/>
            <ac:spMk id="3" creationId="{00000000-0000-0000-0000-000000000000}"/>
          </ac:spMkLst>
        </pc:spChg>
      </pc:sldChg>
      <pc:sldChg chg="modSp mod">
        <pc:chgData name="John Miller" userId="70e70d2d-fa72-4952-98cf-67858fa4ef7a" providerId="ADAL" clId="{3C0F8D48-B805-4732-975A-89F26263F015}" dt="2026-04-10T15:16:38.566" v="225" actId="15"/>
        <pc:sldMkLst>
          <pc:docMk/>
          <pc:sldMk cId="0" sldId="303"/>
        </pc:sldMkLst>
        <pc:spChg chg="mod">
          <ac:chgData name="John Miller" userId="70e70d2d-fa72-4952-98cf-67858fa4ef7a" providerId="ADAL" clId="{3C0F8D48-B805-4732-975A-89F26263F015}" dt="2026-04-10T15:16:38.566" v="225" actId="15"/>
          <ac:spMkLst>
            <pc:docMk/>
            <pc:sldMk cId="0" sldId="303"/>
            <ac:spMk id="3" creationId="{00000000-0000-0000-0000-000000000000}"/>
          </ac:spMkLst>
        </pc:spChg>
      </pc:sldChg>
      <pc:sldChg chg="modSp mod">
        <pc:chgData name="John Miller" userId="70e70d2d-fa72-4952-98cf-67858fa4ef7a" providerId="ADAL" clId="{3C0F8D48-B805-4732-975A-89F26263F015}" dt="2026-04-10T15:16:55.064" v="227" actId="15"/>
        <pc:sldMkLst>
          <pc:docMk/>
          <pc:sldMk cId="0" sldId="304"/>
        </pc:sldMkLst>
        <pc:spChg chg="mod">
          <ac:chgData name="John Miller" userId="70e70d2d-fa72-4952-98cf-67858fa4ef7a" providerId="ADAL" clId="{3C0F8D48-B805-4732-975A-89F26263F015}" dt="2026-04-10T15:16:55.064" v="227" actId="15"/>
          <ac:spMkLst>
            <pc:docMk/>
            <pc:sldMk cId="0" sldId="304"/>
            <ac:spMk id="3" creationId="{00000000-0000-0000-0000-000000000000}"/>
          </ac:spMkLst>
        </pc:spChg>
      </pc:sldChg>
      <pc:sldChg chg="modSp mod">
        <pc:chgData name="John Miller" userId="70e70d2d-fa72-4952-98cf-67858fa4ef7a" providerId="ADAL" clId="{3C0F8D48-B805-4732-975A-89F26263F015}" dt="2026-04-10T15:17:55.972" v="261" actId="6549"/>
        <pc:sldMkLst>
          <pc:docMk/>
          <pc:sldMk cId="0" sldId="305"/>
        </pc:sldMkLst>
        <pc:spChg chg="mod">
          <ac:chgData name="John Miller" userId="70e70d2d-fa72-4952-98cf-67858fa4ef7a" providerId="ADAL" clId="{3C0F8D48-B805-4732-975A-89F26263F015}" dt="2026-04-10T15:17:02.459" v="231" actId="20577"/>
          <ac:spMkLst>
            <pc:docMk/>
            <pc:sldMk cId="0" sldId="305"/>
            <ac:spMk id="2" creationId="{00000000-0000-0000-0000-000000000000}"/>
          </ac:spMkLst>
        </pc:spChg>
        <pc:spChg chg="mod">
          <ac:chgData name="John Miller" userId="70e70d2d-fa72-4952-98cf-67858fa4ef7a" providerId="ADAL" clId="{3C0F8D48-B805-4732-975A-89F26263F015}" dt="2026-04-10T15:17:55.972" v="261" actId="6549"/>
          <ac:spMkLst>
            <pc:docMk/>
            <pc:sldMk cId="0" sldId="305"/>
            <ac:spMk id="3" creationId="{00000000-0000-0000-0000-000000000000}"/>
          </ac:spMkLst>
        </pc:spChg>
      </pc:sldChg>
      <pc:sldChg chg="modSp">
        <pc:chgData name="John Miller" userId="70e70d2d-fa72-4952-98cf-67858fa4ef7a" providerId="ADAL" clId="{3C0F8D48-B805-4732-975A-89F26263F015}" dt="2026-04-10T15:21:45.136" v="287"/>
        <pc:sldMkLst>
          <pc:docMk/>
          <pc:sldMk cId="0" sldId="307"/>
        </pc:sldMkLst>
        <pc:spChg chg="mod">
          <ac:chgData name="John Miller" userId="70e70d2d-fa72-4952-98cf-67858fa4ef7a" providerId="ADAL" clId="{3C0F8D48-B805-4732-975A-89F26263F015}" dt="2026-04-10T15:21:45.136" v="287"/>
          <ac:spMkLst>
            <pc:docMk/>
            <pc:sldMk cId="0" sldId="307"/>
            <ac:spMk id="2" creationId="{00000000-0000-0000-0000-000000000000}"/>
          </ac:spMkLst>
        </pc:spChg>
      </pc:sldChg>
      <pc:sldChg chg="modSp mod">
        <pc:chgData name="John Miller" userId="70e70d2d-fa72-4952-98cf-67858fa4ef7a" providerId="ADAL" clId="{3C0F8D48-B805-4732-975A-89F26263F015}" dt="2026-04-10T15:19:16.632" v="264" actId="1076"/>
        <pc:sldMkLst>
          <pc:docMk/>
          <pc:sldMk cId="0" sldId="308"/>
        </pc:sldMkLst>
        <pc:picChg chg="mod">
          <ac:chgData name="John Miller" userId="70e70d2d-fa72-4952-98cf-67858fa4ef7a" providerId="ADAL" clId="{3C0F8D48-B805-4732-975A-89F26263F015}" dt="2026-04-10T15:19:16.632" v="264" actId="1076"/>
          <ac:picMkLst>
            <pc:docMk/>
            <pc:sldMk cId="0" sldId="308"/>
            <ac:picMk id="4" creationId="{00000000-0000-0000-0000-000000000000}"/>
          </ac:picMkLst>
        </pc:picChg>
      </pc:sldChg>
      <pc:sldChg chg="modSp mod modClrScheme chgLayout">
        <pc:chgData name="John Miller" userId="70e70d2d-fa72-4952-98cf-67858fa4ef7a" providerId="ADAL" clId="{3C0F8D48-B805-4732-975A-89F26263F015}" dt="2026-04-10T15:19:22.063" v="265" actId="26606"/>
        <pc:sldMkLst>
          <pc:docMk/>
          <pc:sldMk cId="0" sldId="309"/>
        </pc:sldMkLst>
        <pc:spChg chg="mod">
          <ac:chgData name="John Miller" userId="70e70d2d-fa72-4952-98cf-67858fa4ef7a" providerId="ADAL" clId="{3C0F8D48-B805-4732-975A-89F26263F015}" dt="2026-04-10T15:19:22.063" v="265" actId="26606"/>
          <ac:spMkLst>
            <pc:docMk/>
            <pc:sldMk cId="0" sldId="309"/>
            <ac:spMk id="2" creationId="{00000000-0000-0000-0000-000000000000}"/>
          </ac:spMkLst>
        </pc:spChg>
        <pc:spChg chg="mod">
          <ac:chgData name="John Miller" userId="70e70d2d-fa72-4952-98cf-67858fa4ef7a" providerId="ADAL" clId="{3C0F8D48-B805-4732-975A-89F26263F015}" dt="2026-04-10T15:19:22.063" v="265" actId="26606"/>
          <ac:spMkLst>
            <pc:docMk/>
            <pc:sldMk cId="0" sldId="309"/>
            <ac:spMk id="3" creationId="{00000000-0000-0000-0000-000000000000}"/>
          </ac:spMkLst>
        </pc:spChg>
        <pc:picChg chg="mod">
          <ac:chgData name="John Miller" userId="70e70d2d-fa72-4952-98cf-67858fa4ef7a" providerId="ADAL" clId="{3C0F8D48-B805-4732-975A-89F26263F015}" dt="2026-04-10T15:19:22.063" v="265" actId="26606"/>
          <ac:picMkLst>
            <pc:docMk/>
            <pc:sldMk cId="0" sldId="309"/>
            <ac:picMk id="4" creationId="{00000000-0000-0000-0000-000000000000}"/>
          </ac:picMkLst>
        </pc:picChg>
      </pc:sldChg>
      <pc:sldChg chg="modSp mod modClrScheme chgLayout">
        <pc:chgData name="John Miller" userId="70e70d2d-fa72-4952-98cf-67858fa4ef7a" providerId="ADAL" clId="{3C0F8D48-B805-4732-975A-89F26263F015}" dt="2026-04-10T15:19:31.177" v="266" actId="26606"/>
        <pc:sldMkLst>
          <pc:docMk/>
          <pc:sldMk cId="0" sldId="310"/>
        </pc:sldMkLst>
        <pc:spChg chg="mod">
          <ac:chgData name="John Miller" userId="70e70d2d-fa72-4952-98cf-67858fa4ef7a" providerId="ADAL" clId="{3C0F8D48-B805-4732-975A-89F26263F015}" dt="2026-04-10T15:19:31.177" v="266" actId="26606"/>
          <ac:spMkLst>
            <pc:docMk/>
            <pc:sldMk cId="0" sldId="310"/>
            <ac:spMk id="2" creationId="{00000000-0000-0000-0000-000000000000}"/>
          </ac:spMkLst>
        </pc:spChg>
        <pc:spChg chg="mod">
          <ac:chgData name="John Miller" userId="70e70d2d-fa72-4952-98cf-67858fa4ef7a" providerId="ADAL" clId="{3C0F8D48-B805-4732-975A-89F26263F015}" dt="2026-04-10T15:19:31.177" v="266" actId="26606"/>
          <ac:spMkLst>
            <pc:docMk/>
            <pc:sldMk cId="0" sldId="310"/>
            <ac:spMk id="3" creationId="{00000000-0000-0000-0000-000000000000}"/>
          </ac:spMkLst>
        </pc:spChg>
        <pc:picChg chg="mod">
          <ac:chgData name="John Miller" userId="70e70d2d-fa72-4952-98cf-67858fa4ef7a" providerId="ADAL" clId="{3C0F8D48-B805-4732-975A-89F26263F015}" dt="2026-04-10T15:19:31.177" v="266" actId="26606"/>
          <ac:picMkLst>
            <pc:docMk/>
            <pc:sldMk cId="0" sldId="310"/>
            <ac:picMk id="4" creationId="{00000000-0000-0000-0000-000000000000}"/>
          </ac:picMkLst>
        </pc:picChg>
      </pc:sldChg>
      <pc:sldChg chg="modSp mod">
        <pc:chgData name="John Miller" userId="70e70d2d-fa72-4952-98cf-67858fa4ef7a" providerId="ADAL" clId="{3C0F8D48-B805-4732-975A-89F26263F015}" dt="2026-04-10T15:22:05.936" v="290" actId="403"/>
        <pc:sldMkLst>
          <pc:docMk/>
          <pc:sldMk cId="0" sldId="311"/>
        </pc:sldMkLst>
        <pc:spChg chg="mod">
          <ac:chgData name="John Miller" userId="70e70d2d-fa72-4952-98cf-67858fa4ef7a" providerId="ADAL" clId="{3C0F8D48-B805-4732-975A-89F26263F015}" dt="2026-04-10T15:22:05.936" v="290" actId="403"/>
          <ac:spMkLst>
            <pc:docMk/>
            <pc:sldMk cId="0" sldId="311"/>
            <ac:spMk id="3" creationId="{00000000-0000-0000-0000-000000000000}"/>
          </ac:spMkLst>
        </pc:spChg>
      </pc:sldChg>
      <pc:sldChg chg="modSp mod">
        <pc:chgData name="John Miller" userId="70e70d2d-fa72-4952-98cf-67858fa4ef7a" providerId="ADAL" clId="{3C0F8D48-B805-4732-975A-89F26263F015}" dt="2026-04-10T15:31:47.480" v="351" actId="20577"/>
        <pc:sldMkLst>
          <pc:docMk/>
          <pc:sldMk cId="0" sldId="313"/>
        </pc:sldMkLst>
        <pc:spChg chg="mod">
          <ac:chgData name="John Miller" userId="70e70d2d-fa72-4952-98cf-67858fa4ef7a" providerId="ADAL" clId="{3C0F8D48-B805-4732-975A-89F26263F015}" dt="2026-04-10T15:31:47.480" v="351" actId="20577"/>
          <ac:spMkLst>
            <pc:docMk/>
            <pc:sldMk cId="0" sldId="313"/>
            <ac:spMk id="3" creationId="{00000000-0000-0000-0000-000000000000}"/>
          </ac:spMkLst>
        </pc:spChg>
      </pc:sldChg>
      <pc:sldChg chg="modSp">
        <pc:chgData name="John Miller" userId="70e70d2d-fa72-4952-98cf-67858fa4ef7a" providerId="ADAL" clId="{3C0F8D48-B805-4732-975A-89F26263F015}" dt="2026-04-10T15:23:48.966" v="308"/>
        <pc:sldMkLst>
          <pc:docMk/>
          <pc:sldMk cId="0" sldId="314"/>
        </pc:sldMkLst>
        <pc:spChg chg="mod">
          <ac:chgData name="John Miller" userId="70e70d2d-fa72-4952-98cf-67858fa4ef7a" providerId="ADAL" clId="{3C0F8D48-B805-4732-975A-89F26263F015}" dt="2026-04-10T15:23:48.966" v="308"/>
          <ac:spMkLst>
            <pc:docMk/>
            <pc:sldMk cId="0" sldId="314"/>
            <ac:spMk id="2" creationId="{00000000-0000-0000-0000-000000000000}"/>
          </ac:spMkLst>
        </pc:spChg>
      </pc:sldChg>
      <pc:sldChg chg="modSp mod">
        <pc:chgData name="John Miller" userId="70e70d2d-fa72-4952-98cf-67858fa4ef7a" providerId="ADAL" clId="{3C0F8D48-B805-4732-975A-89F26263F015}" dt="2026-04-10T15:24:42.534" v="310" actId="14100"/>
        <pc:sldMkLst>
          <pc:docMk/>
          <pc:sldMk cId="0" sldId="315"/>
        </pc:sldMkLst>
        <pc:picChg chg="mod">
          <ac:chgData name="John Miller" userId="70e70d2d-fa72-4952-98cf-67858fa4ef7a" providerId="ADAL" clId="{3C0F8D48-B805-4732-975A-89F26263F015}" dt="2026-04-10T15:24:42.534" v="310" actId="14100"/>
          <ac:picMkLst>
            <pc:docMk/>
            <pc:sldMk cId="0" sldId="315"/>
            <ac:picMk id="4" creationId="{00000000-0000-0000-0000-000000000000}"/>
          </ac:picMkLst>
        </pc:picChg>
      </pc:sldChg>
      <pc:sldChg chg="modSp mod">
        <pc:chgData name="John Miller" userId="70e70d2d-fa72-4952-98cf-67858fa4ef7a" providerId="ADAL" clId="{3C0F8D48-B805-4732-975A-89F26263F015}" dt="2026-04-10T15:25:00.594" v="311" actId="6549"/>
        <pc:sldMkLst>
          <pc:docMk/>
          <pc:sldMk cId="0" sldId="316"/>
        </pc:sldMkLst>
        <pc:spChg chg="mod">
          <ac:chgData name="John Miller" userId="70e70d2d-fa72-4952-98cf-67858fa4ef7a" providerId="ADAL" clId="{3C0F8D48-B805-4732-975A-89F26263F015}" dt="2026-04-10T15:25:00.594" v="311" actId="6549"/>
          <ac:spMkLst>
            <pc:docMk/>
            <pc:sldMk cId="0" sldId="316"/>
            <ac:spMk id="3" creationId="{00000000-0000-0000-0000-000000000000}"/>
          </ac:spMkLst>
        </pc:spChg>
      </pc:sldChg>
      <pc:sldChg chg="modSp mod">
        <pc:chgData name="John Miller" userId="70e70d2d-fa72-4952-98cf-67858fa4ef7a" providerId="ADAL" clId="{3C0F8D48-B805-4732-975A-89F26263F015}" dt="2026-04-10T15:25:35.959" v="322" actId="27636"/>
        <pc:sldMkLst>
          <pc:docMk/>
          <pc:sldMk cId="0" sldId="317"/>
        </pc:sldMkLst>
        <pc:spChg chg="mod">
          <ac:chgData name="John Miller" userId="70e70d2d-fa72-4952-98cf-67858fa4ef7a" providerId="ADAL" clId="{3C0F8D48-B805-4732-975A-89F26263F015}" dt="2026-04-10T15:25:35.959" v="322" actId="27636"/>
          <ac:spMkLst>
            <pc:docMk/>
            <pc:sldMk cId="0" sldId="317"/>
            <ac:spMk id="3" creationId="{00000000-0000-0000-0000-000000000000}"/>
          </ac:spMkLst>
        </pc:spChg>
      </pc:sldChg>
      <pc:sldChg chg="modSp mod modClrScheme chgLayout">
        <pc:chgData name="John Miller" userId="70e70d2d-fa72-4952-98cf-67858fa4ef7a" providerId="ADAL" clId="{3C0F8D48-B805-4732-975A-89F26263F015}" dt="2026-04-10T15:25:45.114" v="323" actId="26606"/>
        <pc:sldMkLst>
          <pc:docMk/>
          <pc:sldMk cId="0" sldId="318"/>
        </pc:sldMkLst>
        <pc:spChg chg="mod">
          <ac:chgData name="John Miller" userId="70e70d2d-fa72-4952-98cf-67858fa4ef7a" providerId="ADAL" clId="{3C0F8D48-B805-4732-975A-89F26263F015}" dt="2026-04-10T15:25:45.114" v="323" actId="26606"/>
          <ac:spMkLst>
            <pc:docMk/>
            <pc:sldMk cId="0" sldId="318"/>
            <ac:spMk id="2" creationId="{00000000-0000-0000-0000-000000000000}"/>
          </ac:spMkLst>
        </pc:spChg>
        <pc:spChg chg="mod">
          <ac:chgData name="John Miller" userId="70e70d2d-fa72-4952-98cf-67858fa4ef7a" providerId="ADAL" clId="{3C0F8D48-B805-4732-975A-89F26263F015}" dt="2026-04-10T15:25:45.114" v="323" actId="26606"/>
          <ac:spMkLst>
            <pc:docMk/>
            <pc:sldMk cId="0" sldId="318"/>
            <ac:spMk id="3" creationId="{00000000-0000-0000-0000-000000000000}"/>
          </ac:spMkLst>
        </pc:spChg>
        <pc:picChg chg="mod">
          <ac:chgData name="John Miller" userId="70e70d2d-fa72-4952-98cf-67858fa4ef7a" providerId="ADAL" clId="{3C0F8D48-B805-4732-975A-89F26263F015}" dt="2026-04-10T15:25:45.114" v="323" actId="26606"/>
          <ac:picMkLst>
            <pc:docMk/>
            <pc:sldMk cId="0" sldId="318"/>
            <ac:picMk id="4" creationId="{00000000-0000-0000-0000-000000000000}"/>
          </ac:picMkLst>
        </pc:picChg>
      </pc:sldChg>
      <pc:sldChg chg="modSp mod">
        <pc:chgData name="John Miller" userId="70e70d2d-fa72-4952-98cf-67858fa4ef7a" providerId="ADAL" clId="{3C0F8D48-B805-4732-975A-89F26263F015}" dt="2026-04-10T15:26:06.766" v="328" actId="403"/>
        <pc:sldMkLst>
          <pc:docMk/>
          <pc:sldMk cId="0" sldId="319"/>
        </pc:sldMkLst>
        <pc:spChg chg="mod">
          <ac:chgData name="John Miller" userId="70e70d2d-fa72-4952-98cf-67858fa4ef7a" providerId="ADAL" clId="{3C0F8D48-B805-4732-975A-89F26263F015}" dt="2026-04-10T15:26:06.766" v="328" actId="403"/>
          <ac:spMkLst>
            <pc:docMk/>
            <pc:sldMk cId="0" sldId="319"/>
            <ac:spMk id="3" creationId="{00000000-0000-0000-0000-000000000000}"/>
          </ac:spMkLst>
        </pc:spChg>
      </pc:sldChg>
      <pc:sldChg chg="modSp mod">
        <pc:chgData name="John Miller" userId="70e70d2d-fa72-4952-98cf-67858fa4ef7a" providerId="ADAL" clId="{3C0F8D48-B805-4732-975A-89F26263F015}" dt="2026-04-10T15:31:37.638" v="350" actId="20577"/>
        <pc:sldMkLst>
          <pc:docMk/>
          <pc:sldMk cId="0" sldId="321"/>
        </pc:sldMkLst>
        <pc:spChg chg="mod">
          <ac:chgData name="John Miller" userId="70e70d2d-fa72-4952-98cf-67858fa4ef7a" providerId="ADAL" clId="{3C0F8D48-B805-4732-975A-89F26263F015}" dt="2026-04-10T15:31:37.638" v="350" actId="20577"/>
          <ac:spMkLst>
            <pc:docMk/>
            <pc:sldMk cId="0" sldId="321"/>
            <ac:spMk id="3" creationId="{00000000-0000-0000-0000-000000000000}"/>
          </ac:spMkLst>
        </pc:spChg>
      </pc:sldChg>
      <pc:sldChg chg="modSp mod">
        <pc:chgData name="John Miller" userId="70e70d2d-fa72-4952-98cf-67858fa4ef7a" providerId="ADAL" clId="{3C0F8D48-B805-4732-975A-89F26263F015}" dt="2026-04-10T15:28:33.606" v="342" actId="27636"/>
        <pc:sldMkLst>
          <pc:docMk/>
          <pc:sldMk cId="0" sldId="322"/>
        </pc:sldMkLst>
        <pc:spChg chg="mod">
          <ac:chgData name="John Miller" userId="70e70d2d-fa72-4952-98cf-67858fa4ef7a" providerId="ADAL" clId="{3C0F8D48-B805-4732-975A-89F26263F015}" dt="2026-04-10T15:28:33.606" v="342" actId="27636"/>
          <ac:spMkLst>
            <pc:docMk/>
            <pc:sldMk cId="0" sldId="322"/>
            <ac:spMk id="2" creationId="{00000000-0000-0000-0000-000000000000}"/>
          </ac:spMkLst>
        </pc:spChg>
      </pc:sldChg>
      <pc:sldChg chg="modSp mod">
        <pc:chgData name="John Miller" userId="70e70d2d-fa72-4952-98cf-67858fa4ef7a" providerId="ADAL" clId="{3C0F8D48-B805-4732-975A-89F26263F015}" dt="2026-04-10T15:29:02.179" v="345" actId="1076"/>
        <pc:sldMkLst>
          <pc:docMk/>
          <pc:sldMk cId="0" sldId="324"/>
        </pc:sldMkLst>
        <pc:picChg chg="mod">
          <ac:chgData name="John Miller" userId="70e70d2d-fa72-4952-98cf-67858fa4ef7a" providerId="ADAL" clId="{3C0F8D48-B805-4732-975A-89F26263F015}" dt="2026-04-10T15:29:02.179" v="345" actId="1076"/>
          <ac:picMkLst>
            <pc:docMk/>
            <pc:sldMk cId="0" sldId="324"/>
            <ac:picMk id="4" creationId="{00000000-0000-0000-0000-000000000000}"/>
          </ac:picMkLst>
        </pc:picChg>
      </pc:sldChg>
      <pc:sldChg chg="modSp mod">
        <pc:chgData name="John Miller" userId="70e70d2d-fa72-4952-98cf-67858fa4ef7a" providerId="ADAL" clId="{3C0F8D48-B805-4732-975A-89F26263F015}" dt="2026-04-10T15:29:21.175" v="347" actId="15"/>
        <pc:sldMkLst>
          <pc:docMk/>
          <pc:sldMk cId="0" sldId="325"/>
        </pc:sldMkLst>
        <pc:spChg chg="mod">
          <ac:chgData name="John Miller" userId="70e70d2d-fa72-4952-98cf-67858fa4ef7a" providerId="ADAL" clId="{3C0F8D48-B805-4732-975A-89F26263F015}" dt="2026-04-10T15:29:21.175" v="347" actId="15"/>
          <ac:spMkLst>
            <pc:docMk/>
            <pc:sldMk cId="0" sldId="325"/>
            <ac:spMk id="3" creationId="{00000000-0000-0000-0000-000000000000}"/>
          </ac:spMkLst>
        </pc:spChg>
      </pc:sldChg>
      <pc:sldChg chg="mod modShow">
        <pc:chgData name="John Miller" userId="70e70d2d-fa72-4952-98cf-67858fa4ef7a" providerId="ADAL" clId="{3C0F8D48-B805-4732-975A-89F26263F015}" dt="2026-04-10T15:29:35.138" v="348" actId="729"/>
        <pc:sldMkLst>
          <pc:docMk/>
          <pc:sldMk cId="0" sldId="327"/>
        </pc:sldMkLst>
      </pc:sldChg>
      <pc:sldChg chg="del">
        <pc:chgData name="John Miller" userId="70e70d2d-fa72-4952-98cf-67858fa4ef7a" providerId="ADAL" clId="{3C0F8D48-B805-4732-975A-89F26263F015}" dt="2026-04-10T15:31:28.554" v="349" actId="47"/>
        <pc:sldMkLst>
          <pc:docMk/>
          <pc:sldMk cId="0" sldId="328"/>
        </pc:sldMkLst>
      </pc:sldChg>
      <pc:sldChg chg="del">
        <pc:chgData name="John Miller" userId="70e70d2d-fa72-4952-98cf-67858fa4ef7a" providerId="ADAL" clId="{3C0F8D48-B805-4732-975A-89F26263F015}" dt="2026-04-10T15:31:28.554" v="349" actId="47"/>
        <pc:sldMkLst>
          <pc:docMk/>
          <pc:sldMk cId="0" sldId="329"/>
        </pc:sldMkLst>
      </pc:sldChg>
      <pc:sldChg chg="del">
        <pc:chgData name="John Miller" userId="70e70d2d-fa72-4952-98cf-67858fa4ef7a" providerId="ADAL" clId="{3C0F8D48-B805-4732-975A-89F26263F015}" dt="2026-04-10T15:31:28.554" v="349" actId="47"/>
        <pc:sldMkLst>
          <pc:docMk/>
          <pc:sldMk cId="0" sldId="330"/>
        </pc:sldMkLst>
      </pc:sldChg>
      <pc:sldChg chg="del">
        <pc:chgData name="John Miller" userId="70e70d2d-fa72-4952-98cf-67858fa4ef7a" providerId="ADAL" clId="{3C0F8D48-B805-4732-975A-89F26263F015}" dt="2026-04-10T15:31:28.554" v="349" actId="47"/>
        <pc:sldMkLst>
          <pc:docMk/>
          <pc:sldMk cId="0" sldId="331"/>
        </pc:sldMkLst>
      </pc:sldChg>
      <pc:sldChg chg="del">
        <pc:chgData name="John Miller" userId="70e70d2d-fa72-4952-98cf-67858fa4ef7a" providerId="ADAL" clId="{3C0F8D48-B805-4732-975A-89F26263F015}" dt="2026-04-10T15:31:28.554" v="349" actId="47"/>
        <pc:sldMkLst>
          <pc:docMk/>
          <pc:sldMk cId="0" sldId="332"/>
        </pc:sldMkLst>
      </pc:sldChg>
      <pc:sldChg chg="del">
        <pc:chgData name="John Miller" userId="70e70d2d-fa72-4952-98cf-67858fa4ef7a" providerId="ADAL" clId="{3C0F8D48-B805-4732-975A-89F26263F015}" dt="2026-04-10T15:31:28.554" v="349" actId="47"/>
        <pc:sldMkLst>
          <pc:docMk/>
          <pc:sldMk cId="0" sldId="333"/>
        </pc:sldMkLst>
      </pc:sldChg>
      <pc:sldChg chg="del">
        <pc:chgData name="John Miller" userId="70e70d2d-fa72-4952-98cf-67858fa4ef7a" providerId="ADAL" clId="{3C0F8D48-B805-4732-975A-89F26263F015}" dt="2026-04-10T15:31:28.554" v="349" actId="47"/>
        <pc:sldMkLst>
          <pc:docMk/>
          <pc:sldMk cId="0" sldId="334"/>
        </pc:sldMkLst>
      </pc:sldChg>
      <pc:sldChg chg="del">
        <pc:chgData name="John Miller" userId="70e70d2d-fa72-4952-98cf-67858fa4ef7a" providerId="ADAL" clId="{3C0F8D48-B805-4732-975A-89F26263F015}" dt="2026-04-10T15:31:28.554" v="349" actId="47"/>
        <pc:sldMkLst>
          <pc:docMk/>
          <pc:sldMk cId="0" sldId="335"/>
        </pc:sldMkLst>
      </pc:sldChg>
      <pc:sldChg chg="del">
        <pc:chgData name="John Miller" userId="70e70d2d-fa72-4952-98cf-67858fa4ef7a" providerId="ADAL" clId="{3C0F8D48-B805-4732-975A-89F26263F015}" dt="2026-04-10T15:31:28.554" v="349" actId="47"/>
        <pc:sldMkLst>
          <pc:docMk/>
          <pc:sldMk cId="0" sldId="336"/>
        </pc:sldMkLst>
      </pc:sldChg>
      <pc:sldChg chg="del">
        <pc:chgData name="John Miller" userId="70e70d2d-fa72-4952-98cf-67858fa4ef7a" providerId="ADAL" clId="{3C0F8D48-B805-4732-975A-89F26263F015}" dt="2026-04-10T15:31:28.554" v="349" actId="47"/>
        <pc:sldMkLst>
          <pc:docMk/>
          <pc:sldMk cId="0" sldId="337"/>
        </pc:sldMkLst>
      </pc:sldChg>
      <pc:sldChg chg="del">
        <pc:chgData name="John Miller" userId="70e70d2d-fa72-4952-98cf-67858fa4ef7a" providerId="ADAL" clId="{3C0F8D48-B805-4732-975A-89F26263F015}" dt="2026-04-10T15:31:28.554" v="349" actId="47"/>
        <pc:sldMkLst>
          <pc:docMk/>
          <pc:sldMk cId="0" sldId="338"/>
        </pc:sldMkLst>
      </pc:sldChg>
      <pc:sldChg chg="del">
        <pc:chgData name="John Miller" userId="70e70d2d-fa72-4952-98cf-67858fa4ef7a" providerId="ADAL" clId="{3C0F8D48-B805-4732-975A-89F26263F015}" dt="2026-04-10T15:31:28.554" v="349" actId="47"/>
        <pc:sldMkLst>
          <pc:docMk/>
          <pc:sldMk cId="0" sldId="339"/>
        </pc:sldMkLst>
      </pc:sldChg>
      <pc:sldChg chg="del">
        <pc:chgData name="John Miller" userId="70e70d2d-fa72-4952-98cf-67858fa4ef7a" providerId="ADAL" clId="{3C0F8D48-B805-4732-975A-89F26263F015}" dt="2026-04-10T15:31:28.554" v="349" actId="47"/>
        <pc:sldMkLst>
          <pc:docMk/>
          <pc:sldMk cId="0" sldId="340"/>
        </pc:sldMkLst>
      </pc:sldChg>
      <pc:sldChg chg="del">
        <pc:chgData name="John Miller" userId="70e70d2d-fa72-4952-98cf-67858fa4ef7a" providerId="ADAL" clId="{3C0F8D48-B805-4732-975A-89F26263F015}" dt="2026-04-10T15:31:28.554" v="349" actId="47"/>
        <pc:sldMkLst>
          <pc:docMk/>
          <pc:sldMk cId="0" sldId="341"/>
        </pc:sldMkLst>
      </pc:sldChg>
      <pc:sldChg chg="del">
        <pc:chgData name="John Miller" userId="70e70d2d-fa72-4952-98cf-67858fa4ef7a" providerId="ADAL" clId="{3C0F8D48-B805-4732-975A-89F26263F015}" dt="2026-04-10T15:31:28.554" v="349" actId="47"/>
        <pc:sldMkLst>
          <pc:docMk/>
          <pc:sldMk cId="0" sldId="342"/>
        </pc:sldMkLst>
      </pc:sldChg>
      <pc:sldChg chg="del">
        <pc:chgData name="John Miller" userId="70e70d2d-fa72-4952-98cf-67858fa4ef7a" providerId="ADAL" clId="{3C0F8D48-B805-4732-975A-89F26263F015}" dt="2026-04-10T15:31:28.554" v="349" actId="47"/>
        <pc:sldMkLst>
          <pc:docMk/>
          <pc:sldMk cId="0" sldId="343"/>
        </pc:sldMkLst>
      </pc:sldChg>
      <pc:sldChg chg="del">
        <pc:chgData name="John Miller" userId="70e70d2d-fa72-4952-98cf-67858fa4ef7a" providerId="ADAL" clId="{3C0F8D48-B805-4732-975A-89F26263F015}" dt="2026-04-10T15:31:28.554" v="349" actId="47"/>
        <pc:sldMkLst>
          <pc:docMk/>
          <pc:sldMk cId="0" sldId="344"/>
        </pc:sldMkLst>
      </pc:sldChg>
      <pc:sldChg chg="del">
        <pc:chgData name="John Miller" userId="70e70d2d-fa72-4952-98cf-67858fa4ef7a" providerId="ADAL" clId="{3C0F8D48-B805-4732-975A-89F26263F015}" dt="2026-04-10T15:31:28.554" v="349" actId="47"/>
        <pc:sldMkLst>
          <pc:docMk/>
          <pc:sldMk cId="0" sldId="345"/>
        </pc:sldMkLst>
      </pc:sldChg>
      <pc:sldChg chg="del">
        <pc:chgData name="John Miller" userId="70e70d2d-fa72-4952-98cf-67858fa4ef7a" providerId="ADAL" clId="{3C0F8D48-B805-4732-975A-89F26263F015}" dt="2026-04-10T15:31:28.554" v="349" actId="47"/>
        <pc:sldMkLst>
          <pc:docMk/>
          <pc:sldMk cId="0" sldId="346"/>
        </pc:sldMkLst>
      </pc:sldChg>
      <pc:sldChg chg="del">
        <pc:chgData name="John Miller" userId="70e70d2d-fa72-4952-98cf-67858fa4ef7a" providerId="ADAL" clId="{3C0F8D48-B805-4732-975A-89F26263F015}" dt="2026-04-10T15:31:28.554" v="349" actId="47"/>
        <pc:sldMkLst>
          <pc:docMk/>
          <pc:sldMk cId="0" sldId="347"/>
        </pc:sldMkLst>
      </pc:sldChg>
      <pc:sldChg chg="del">
        <pc:chgData name="John Miller" userId="70e70d2d-fa72-4952-98cf-67858fa4ef7a" providerId="ADAL" clId="{3C0F8D48-B805-4732-975A-89F26263F015}" dt="2026-04-10T15:31:28.554" v="349" actId="47"/>
        <pc:sldMkLst>
          <pc:docMk/>
          <pc:sldMk cId="0" sldId="348"/>
        </pc:sldMkLst>
      </pc:sldChg>
      <pc:sldChg chg="del">
        <pc:chgData name="John Miller" userId="70e70d2d-fa72-4952-98cf-67858fa4ef7a" providerId="ADAL" clId="{3C0F8D48-B805-4732-975A-89F26263F015}" dt="2026-04-10T15:31:28.554" v="349" actId="47"/>
        <pc:sldMkLst>
          <pc:docMk/>
          <pc:sldMk cId="0" sldId="349"/>
        </pc:sldMkLst>
      </pc:sldChg>
      <pc:sldChg chg="addSp delSp modSp new mod modClrScheme chgLayout">
        <pc:chgData name="John Miller" userId="70e70d2d-fa72-4952-98cf-67858fa4ef7a" providerId="ADAL" clId="{3C0F8D48-B805-4732-975A-89F26263F015}" dt="2026-04-10T15:06:05.787" v="190" actId="5793"/>
        <pc:sldMkLst>
          <pc:docMk/>
          <pc:sldMk cId="93510990" sldId="350"/>
        </pc:sldMkLst>
        <pc:spChg chg="del mod ord">
          <ac:chgData name="John Miller" userId="70e70d2d-fa72-4952-98cf-67858fa4ef7a" providerId="ADAL" clId="{3C0F8D48-B805-4732-975A-89F26263F015}" dt="2026-04-10T15:05:33.945" v="183" actId="700"/>
          <ac:spMkLst>
            <pc:docMk/>
            <pc:sldMk cId="93510990" sldId="350"/>
            <ac:spMk id="2" creationId="{1A921599-461E-A8C3-4D7F-630AB9205E6B}"/>
          </ac:spMkLst>
        </pc:spChg>
        <pc:spChg chg="del mod ord">
          <ac:chgData name="John Miller" userId="70e70d2d-fa72-4952-98cf-67858fa4ef7a" providerId="ADAL" clId="{3C0F8D48-B805-4732-975A-89F26263F015}" dt="2026-04-10T15:05:33.945" v="183" actId="700"/>
          <ac:spMkLst>
            <pc:docMk/>
            <pc:sldMk cId="93510990" sldId="350"/>
            <ac:spMk id="3" creationId="{E85249F6-F5C9-F7CF-D053-1B69DF1F65E6}"/>
          </ac:spMkLst>
        </pc:spChg>
        <pc:spChg chg="add mod ord">
          <ac:chgData name="John Miller" userId="70e70d2d-fa72-4952-98cf-67858fa4ef7a" providerId="ADAL" clId="{3C0F8D48-B805-4732-975A-89F26263F015}" dt="2026-04-10T15:05:46.496" v="186" actId="20577"/>
          <ac:spMkLst>
            <pc:docMk/>
            <pc:sldMk cId="93510990" sldId="350"/>
            <ac:spMk id="4" creationId="{CB395E6F-834D-AB05-F94F-903D6705AF06}"/>
          </ac:spMkLst>
        </pc:spChg>
        <pc:spChg chg="add mod ord">
          <ac:chgData name="John Miller" userId="70e70d2d-fa72-4952-98cf-67858fa4ef7a" providerId="ADAL" clId="{3C0F8D48-B805-4732-975A-89F26263F015}" dt="2026-04-10T15:06:05.787" v="190" actId="5793"/>
          <ac:spMkLst>
            <pc:docMk/>
            <pc:sldMk cId="93510990" sldId="350"/>
            <ac:spMk id="5" creationId="{4552946E-4CD8-D1A9-2A7A-054C7AD3D275}"/>
          </ac:spMkLst>
        </pc:spChg>
      </pc:sldChg>
      <pc:sldChg chg="addSp delSp modSp new mod modClrScheme chgLayout">
        <pc:chgData name="John Miller" userId="70e70d2d-fa72-4952-98cf-67858fa4ef7a" providerId="ADAL" clId="{3C0F8D48-B805-4732-975A-89F26263F015}" dt="2026-04-10T15:21:24.846" v="286" actId="5793"/>
        <pc:sldMkLst>
          <pc:docMk/>
          <pc:sldMk cId="3590845999" sldId="351"/>
        </pc:sldMkLst>
        <pc:spChg chg="del mod ord">
          <ac:chgData name="John Miller" userId="70e70d2d-fa72-4952-98cf-67858fa4ef7a" providerId="ADAL" clId="{3C0F8D48-B805-4732-975A-89F26263F015}" dt="2026-04-10T15:20:59.345" v="279" actId="700"/>
          <ac:spMkLst>
            <pc:docMk/>
            <pc:sldMk cId="3590845999" sldId="351"/>
            <ac:spMk id="2" creationId="{275C06CE-B705-A919-B3C6-FDB1B2F8E7A1}"/>
          </ac:spMkLst>
        </pc:spChg>
        <pc:spChg chg="del mod ord">
          <ac:chgData name="John Miller" userId="70e70d2d-fa72-4952-98cf-67858fa4ef7a" providerId="ADAL" clId="{3C0F8D48-B805-4732-975A-89F26263F015}" dt="2026-04-10T15:20:59.345" v="279" actId="700"/>
          <ac:spMkLst>
            <pc:docMk/>
            <pc:sldMk cId="3590845999" sldId="351"/>
            <ac:spMk id="3" creationId="{63DC8B83-9A46-D14B-3D2D-FCF975D155A3}"/>
          </ac:spMkLst>
        </pc:spChg>
        <pc:spChg chg="add mod ord">
          <ac:chgData name="John Miller" userId="70e70d2d-fa72-4952-98cf-67858fa4ef7a" providerId="ADAL" clId="{3C0F8D48-B805-4732-975A-89F26263F015}" dt="2026-04-10T15:21:05.982" v="282" actId="20577"/>
          <ac:spMkLst>
            <pc:docMk/>
            <pc:sldMk cId="3590845999" sldId="351"/>
            <ac:spMk id="4" creationId="{1AD5DFB2-BB58-CE6D-C034-7052C870E7F2}"/>
          </ac:spMkLst>
        </pc:spChg>
        <pc:spChg chg="add mod ord">
          <ac:chgData name="John Miller" userId="70e70d2d-fa72-4952-98cf-67858fa4ef7a" providerId="ADAL" clId="{3C0F8D48-B805-4732-975A-89F26263F015}" dt="2026-04-10T15:21:24.846" v="286" actId="5793"/>
          <ac:spMkLst>
            <pc:docMk/>
            <pc:sldMk cId="3590845999" sldId="351"/>
            <ac:spMk id="5" creationId="{FDDB5FF9-4445-9144-510E-650ADB6C0394}"/>
          </ac:spMkLst>
        </pc:spChg>
      </pc:sldChg>
      <pc:sldChg chg="addSp delSp modSp new mod modClrScheme chgLayout">
        <pc:chgData name="John Miller" userId="70e70d2d-fa72-4952-98cf-67858fa4ef7a" providerId="ADAL" clId="{3C0F8D48-B805-4732-975A-89F26263F015}" dt="2026-04-10T15:23:28.106" v="307" actId="27636"/>
        <pc:sldMkLst>
          <pc:docMk/>
          <pc:sldMk cId="2580001666" sldId="352"/>
        </pc:sldMkLst>
        <pc:spChg chg="del mod ord">
          <ac:chgData name="John Miller" userId="70e70d2d-fa72-4952-98cf-67858fa4ef7a" providerId="ADAL" clId="{3C0F8D48-B805-4732-975A-89F26263F015}" dt="2026-04-10T15:22:29.609" v="292" actId="700"/>
          <ac:spMkLst>
            <pc:docMk/>
            <pc:sldMk cId="2580001666" sldId="352"/>
            <ac:spMk id="2" creationId="{A6FEC2E0-1432-89CF-41B1-1FB4128A2452}"/>
          </ac:spMkLst>
        </pc:spChg>
        <pc:spChg chg="del mod ord">
          <ac:chgData name="John Miller" userId="70e70d2d-fa72-4952-98cf-67858fa4ef7a" providerId="ADAL" clId="{3C0F8D48-B805-4732-975A-89F26263F015}" dt="2026-04-10T15:22:29.609" v="292" actId="700"/>
          <ac:spMkLst>
            <pc:docMk/>
            <pc:sldMk cId="2580001666" sldId="352"/>
            <ac:spMk id="3" creationId="{9C8A41ED-BC10-AB4F-5BC1-FACE186D8F2B}"/>
          </ac:spMkLst>
        </pc:spChg>
        <pc:spChg chg="add mod ord">
          <ac:chgData name="John Miller" userId="70e70d2d-fa72-4952-98cf-67858fa4ef7a" providerId="ADAL" clId="{3C0F8D48-B805-4732-975A-89F26263F015}" dt="2026-04-10T15:23:10.966" v="299" actId="20577"/>
          <ac:spMkLst>
            <pc:docMk/>
            <pc:sldMk cId="2580001666" sldId="352"/>
            <ac:spMk id="4" creationId="{4276F35B-A7C6-A247-E1E4-70CE87668BB3}"/>
          </ac:spMkLst>
        </pc:spChg>
        <pc:spChg chg="add mod ord">
          <ac:chgData name="John Miller" userId="70e70d2d-fa72-4952-98cf-67858fa4ef7a" providerId="ADAL" clId="{3C0F8D48-B805-4732-975A-89F26263F015}" dt="2026-04-10T15:23:28.106" v="307" actId="27636"/>
          <ac:spMkLst>
            <pc:docMk/>
            <pc:sldMk cId="2580001666" sldId="352"/>
            <ac:spMk id="5" creationId="{1E9EEA91-407C-2A9F-22C4-332FD227DA50}"/>
          </ac:spMkLst>
        </pc:spChg>
      </pc:sldChg>
      <pc:sldChg chg="addSp delSp modSp new mod modClrScheme chgLayout">
        <pc:chgData name="John Miller" userId="70e70d2d-fa72-4952-98cf-67858fa4ef7a" providerId="ADAL" clId="{3C0F8D48-B805-4732-975A-89F26263F015}" dt="2026-04-10T15:28:12.993" v="340"/>
        <pc:sldMkLst>
          <pc:docMk/>
          <pc:sldMk cId="2912363826" sldId="353"/>
        </pc:sldMkLst>
        <pc:spChg chg="del mod ord">
          <ac:chgData name="John Miller" userId="70e70d2d-fa72-4952-98cf-67858fa4ef7a" providerId="ADAL" clId="{3C0F8D48-B805-4732-975A-89F26263F015}" dt="2026-04-10T15:27:53.352" v="330" actId="700"/>
          <ac:spMkLst>
            <pc:docMk/>
            <pc:sldMk cId="2912363826" sldId="353"/>
            <ac:spMk id="2" creationId="{C54E11CC-10DD-D454-A7F7-63863841CEC2}"/>
          </ac:spMkLst>
        </pc:spChg>
        <pc:spChg chg="del mod ord">
          <ac:chgData name="John Miller" userId="70e70d2d-fa72-4952-98cf-67858fa4ef7a" providerId="ADAL" clId="{3C0F8D48-B805-4732-975A-89F26263F015}" dt="2026-04-10T15:27:53.352" v="330" actId="700"/>
          <ac:spMkLst>
            <pc:docMk/>
            <pc:sldMk cId="2912363826" sldId="353"/>
            <ac:spMk id="3" creationId="{61FA6F8F-0309-7F4D-5B7C-EED7E8722C40}"/>
          </ac:spMkLst>
        </pc:spChg>
        <pc:spChg chg="add mod ord">
          <ac:chgData name="John Miller" userId="70e70d2d-fa72-4952-98cf-67858fa4ef7a" providerId="ADAL" clId="{3C0F8D48-B805-4732-975A-89F26263F015}" dt="2026-04-10T15:28:07.892" v="338" actId="20577"/>
          <ac:spMkLst>
            <pc:docMk/>
            <pc:sldMk cId="2912363826" sldId="353"/>
            <ac:spMk id="4" creationId="{8C4D4219-13DA-8836-07CB-D9832EF3189E}"/>
          </ac:spMkLst>
        </pc:spChg>
        <pc:spChg chg="add mod ord">
          <ac:chgData name="John Miller" userId="70e70d2d-fa72-4952-98cf-67858fa4ef7a" providerId="ADAL" clId="{3C0F8D48-B805-4732-975A-89F26263F015}" dt="2026-04-10T15:28:12.993" v="340"/>
          <ac:spMkLst>
            <pc:docMk/>
            <pc:sldMk cId="2912363826" sldId="353"/>
            <ac:spMk id="5" creationId="{8C250C31-D696-2537-BDAA-426C5525388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87355B-E5B2-6E48-8859-C40F7DC7FE0C}" type="datetimeFigureOut">
              <a:rPr lang="en-US" smtClean="0"/>
              <a:t>4/10/2026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31DA66-BB00-F84C-BB6F-3E6E140CFF70}" type="slidenum">
              <a:rPr lang="en-US" smtClean="0"/>
              <a:t>‹#›</a:t>
            </a:fld>
            <a:endParaRPr lang="en-US"/>
          </a:p>
        </p:txBody>
      </p:sp>
    </p:spTree>
    <p:extLst>
      <p:ext uri="{BB962C8B-B14F-4D97-AF65-F5344CB8AC3E}">
        <p14:creationId xmlns:p14="http://schemas.microsoft.com/office/powerpoint/2010/main" val="622745019"/>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Welcome everyone back to the session. Take a moment to let people settle in before diving into content. Acknowledge that it's great to see everyone back and express enthusiasm for the session ahead.</a:t>
            </a:r>
          </a:p>
          <a:p>
            <a:endParaRPr/>
          </a:p>
          <a:p>
            <a:r>
              <a:t>Key talking points:</a:t>
            </a:r>
          </a:p>
          <a:p>
            <a:endParaRPr/>
          </a:p>
          <a:p>
            <a:r>
              <a:t>- Remind attendees of the previous session's topics briefly</a:t>
            </a:r>
          </a:p>
          <a:p>
            <a:r>
              <a:t>- Emphasize that questions are encouraged at any point — not just at the end</a:t>
            </a:r>
          </a:p>
          <a:p>
            <a:r>
              <a:t>- Set a positive, inclusive tone for the session</a:t>
            </a:r>
          </a:p>
          <a:p>
            <a:r>
              <a:t>- If this is after a break, give people 30 seconds to get re-focused</a:t>
            </a:r>
          </a:p>
          <a:p>
            <a:endParaRPr/>
          </a:p>
          <a:p>
            <a:r>
              <a:t>Transition: "Let's pick up right where we left off..."</a:t>
            </a:r>
          </a:p>
          <a:p>
            <a:endParaRPr/>
          </a:p>
          <a:p>
            <a:r>
              <a:t>---</a:t>
            </a:r>
          </a:p>
          <a:p>
            <a:endParaRPr/>
          </a:p>
          <a:p>
            <a:r>
              <a:t>Source: slides\marp\welcome-back.deck.md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audience through the lifecycle from left to right and keep the focus on the review gates between each AI-generated artifact. Stress that requirements are not handed directly to code generation; instead, they are refined into instruction files and then into implementation prompts, with stakeholder approval at each stage. Use the diagram to reinforce that this is a controlled pipeline where AI accelerates each step but humans still own correctness, safety, and acceptance. End by linking this workflow back to the checklist on the previous slides: foundation, automation, specialization, and integration all support this end-to-end model.</a:t>
            </a:r>
          </a:p>
          <a:p>
            <a:endParaRPr/>
          </a:p>
          <a:p>
            <a:r>
              <a:t>---</a:t>
            </a:r>
          </a:p>
          <a:p>
            <a:endParaRPr/>
          </a:p>
          <a:p>
            <a:r>
              <a:t>Source: slides\marp\getting-started-checklist.deck.md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Shift to greenfield best practices: requirements, prompts, and verification workflows.</a:t>
            </a:r>
          </a:p>
          <a:p>
            <a:endParaRPr/>
          </a:p>
          <a:p>
            <a:r>
              <a:t>---</a:t>
            </a:r>
          </a:p>
          <a:p>
            <a:endParaRPr/>
          </a:p>
          <a:p>
            <a:r>
              <a:t>Source: slides\marp\starting-with-requirements.deck.md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slides\marp\starting-with-requirements.deck.md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slides\marp\starting-with-requirements.deck.md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slides\marp\starting-with-requirements.deck.md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slides\marp\starting-with-requirements.deck.md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slides\marp\starting-with-requirements.deck.md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~00:20</a:t>
            </a:r>
          </a:p>
          <a:p>
            <a:endParaRPr/>
          </a:p>
          <a:p>
            <a:r>
              <a:t>Author requirement docs, then use Copilot to generate scaffolding and validate alignment.</a:t>
            </a:r>
          </a:p>
          <a:p>
            <a:endParaRPr/>
          </a:p>
          <a:p>
            <a:r>
              <a:t>Prompt: create a requirements document for a simple calculator application</a:t>
            </a:r>
          </a:p>
          <a:p>
            <a:endParaRPr/>
          </a:p>
          <a:p>
            <a:r>
              <a:t>---</a:t>
            </a:r>
          </a:p>
          <a:p>
            <a:endParaRPr/>
          </a:p>
          <a:p>
            <a:r>
              <a:t>Source: slides\marp\exercise\exercise-generate-business-requirements.deck.md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~00:20</a:t>
            </a:r>
          </a:p>
          <a:p>
            <a:endParaRPr dirty="0"/>
          </a:p>
          <a:p>
            <a:r>
              <a:rPr dirty="0"/>
              <a:t>Prompts:</a:t>
            </a:r>
          </a:p>
          <a:p>
            <a:endParaRPr dirty="0"/>
          </a:p>
          <a:p>
            <a:r>
              <a:rPr dirty="0"/>
              <a:t>using #file:business-rules-to-slices.instructions.md update the #file:calculator-app-requirements.md implementation plan to implement using vertical slices</a:t>
            </a:r>
          </a:p>
          <a:p>
            <a:endParaRPr dirty="0"/>
          </a:p>
          <a:p>
            <a:r>
              <a:rPr dirty="0"/>
              <a:t>what is the difference between the phases and vertical slices?</a:t>
            </a:r>
          </a:p>
          <a:p>
            <a:endParaRPr dirty="0"/>
          </a:p>
          <a:p>
            <a:r>
              <a:rPr dirty="0"/>
              <a:t>update the plan to make this distinction clear</a:t>
            </a:r>
          </a:p>
          <a:p>
            <a:endParaRPr dirty="0"/>
          </a:p>
          <a:p>
            <a:r>
              <a:rPr dirty="0"/>
              <a:t>add a diagram that shows the phases -&gt; slices -&gt; use cases</a:t>
            </a:r>
          </a:p>
          <a:p>
            <a:endParaRPr dirty="0"/>
          </a:p>
          <a:p>
            <a:r>
              <a:rPr dirty="0"/>
              <a:t>which of the slices can be implemented in parallel and which have a </a:t>
            </a:r>
            <a:r>
              <a:rPr dirty="0" err="1"/>
              <a:t>dependancy</a:t>
            </a:r>
            <a:r>
              <a:rPr dirty="0"/>
              <a:t> on another slice</a:t>
            </a:r>
          </a:p>
          <a:p>
            <a:endParaRPr dirty="0"/>
          </a:p>
          <a:p>
            <a:r>
              <a:rPr dirty="0"/>
              <a:t>---</a:t>
            </a:r>
          </a:p>
          <a:p>
            <a:endParaRPr dirty="0"/>
          </a:p>
          <a:p>
            <a:r>
              <a:rPr dirty="0"/>
              <a:t>Source: slides\marp\exercise\exercise-generate-business-requirements-2.deck.md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slides\marp\exercise\exercise-business-requirements-generation.deck.md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~00:17</a:t>
            </a:r>
          </a:p>
          <a:p>
            <a:endParaRPr dirty="0"/>
          </a:p>
          <a:p>
            <a:endParaRPr dirty="0"/>
          </a:p>
          <a:p>
            <a:r>
              <a:rPr dirty="0"/>
              <a:t>**Prerequisites:** Access to the Greenfield branch, ability to create a personal branch, and access to the Product Manager agent plus the repository instruction files</a:t>
            </a:r>
          </a:p>
          <a:p>
            <a:endParaRPr dirty="0"/>
          </a:p>
          <a:p>
            <a:r>
              <a:rPr dirty="0"/>
              <a:t>Use this exercise to establish the Greenfield workflow discipline early. Start by making participants branch from Greenfield before they do any prompting so the requirements artifact has a clean ownership path and can be reviewed independently later. In the first few minutes, emphasize that the goal is not to produce a perfect PRD in one pass, but to create a usable calculator requirements document using the Product Manager agent together with repository guidance. During the clarification window, call out the common confusion points explicitly: correct repository, personal branch strategy, what to do with any existing PRD material, and that tooling differences between Visual Studio and VS Code are secondary to getting the requirements quality right. For the working block, let students operate independently, but use periodic check-ins to see whether instruction files improved the output and whether anyone is stuck on scope, branching, or prompt quality. Transition from this exercise by connecting the completed requirements document to the next Greenfield planning steps, especially technology instructions, slice planning, and implementation prompts.</a:t>
            </a:r>
          </a:p>
          <a:p>
            <a:endParaRPr dirty="0"/>
          </a:p>
          <a:p>
            <a:r>
              <a:rPr dirty="0"/>
              <a:t>---</a:t>
            </a:r>
          </a:p>
          <a:p>
            <a:endParaRPr dirty="0"/>
          </a:p>
          <a:p>
            <a:r>
              <a:rPr dirty="0"/>
              <a:t>Source: slides\marp\exercise\exercise-business-requirements-generation.deck.md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slides\marp\cqrs-architecture.deck.md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~00:01</a:t>
            </a:r>
          </a:p>
          <a:p>
            <a:endParaRPr dirty="0"/>
          </a:p>
          <a:p>
            <a:r>
              <a:rPr dirty="0"/>
              <a:t>Welcome to the CQRS Architecture module. This session covers Command Query Responsibility Segregation — a pattern that separates read and write operations into distinct models to improve scalability and maintainability.</a:t>
            </a:r>
          </a:p>
          <a:p>
            <a:endParaRPr dirty="0"/>
          </a:p>
          <a:p>
            <a:r>
              <a:rPr dirty="0"/>
              <a:t>**Key Points**:</a:t>
            </a:r>
          </a:p>
          <a:p>
            <a:endParaRPr dirty="0"/>
          </a:p>
          <a:p>
            <a:r>
              <a:rPr dirty="0"/>
              <a:t>- CQRS separates write (command) operations from read (query) operations</a:t>
            </a:r>
          </a:p>
          <a:p>
            <a:r>
              <a:rPr dirty="0"/>
              <a:t>- Enables independent scaling and optimization of each model</a:t>
            </a:r>
          </a:p>
          <a:p>
            <a:r>
              <a:rPr dirty="0"/>
              <a:t>- Useful when read and write workloads have very different characteristics</a:t>
            </a:r>
          </a:p>
          <a:p>
            <a:endParaRPr dirty="0"/>
          </a:p>
          <a:p>
            <a:r>
              <a:rPr dirty="0"/>
              <a:t>**Delivery**: Begin by asking the audience about pain points with traditional CRUD APIs — high query complexity, slow writes due to query-optimized schemas, or contention between reads and writes.</a:t>
            </a:r>
          </a:p>
          <a:p>
            <a:endParaRPr dirty="0"/>
          </a:p>
          <a:p>
            <a:r>
              <a:rPr dirty="0"/>
              <a:t>**Transition**: "Let's start with when CQRS makes sense — and when it doesn't."</a:t>
            </a:r>
          </a:p>
          <a:p>
            <a:endParaRPr dirty="0"/>
          </a:p>
          <a:p>
            <a:r>
              <a:rPr dirty="0"/>
              <a:t>---</a:t>
            </a:r>
          </a:p>
          <a:p>
            <a:endParaRPr dirty="0"/>
          </a:p>
          <a:p>
            <a:r>
              <a:rPr dirty="0"/>
              <a:t>Source: slides\marp\cqrs-architecture.deck.md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CQRS is a powerful pattern but it adds operational complexity. Use it only when the benefits outweigh the costs.</a:t>
            </a:r>
          </a:p>
          <a:p>
            <a:endParaRPr/>
          </a:p>
          <a:p>
            <a:r>
              <a:t>**Key Points**:</a:t>
            </a:r>
          </a:p>
          <a:p>
            <a:r>
              <a:t>- The classic CRUD pattern couples reads and writes to the same model — fine for simple domains</a:t>
            </a:r>
          </a:p>
          <a:p>
            <a:r>
              <a:t>- CQRS shines when the query model needs to be radically different from the write model</a:t>
            </a:r>
          </a:p>
          <a:p>
            <a:r>
              <a:t>- Event sourcing almost always pairs with CQRS</a:t>
            </a:r>
          </a:p>
          <a:p>
            <a:r>
              <a:t>- Small teams or simple domains should avoid CQRS due to added complexity</a:t>
            </a:r>
          </a:p>
          <a:p>
            <a:endParaRPr/>
          </a:p>
          <a:p>
            <a:r>
              <a:t>**Real-World Example**: An e-commerce order system where writes go through strict business validation but reads need highly denormalized views for catalog search, order history dashboards, and analytics.</a:t>
            </a:r>
          </a:p>
          <a:p>
            <a:endParaRPr/>
          </a:p>
          <a:p>
            <a:r>
              <a:t>**Audience Question**: "Has anyone implemented something like CQRS without knowing it had a name?"</a:t>
            </a:r>
          </a:p>
          <a:p>
            <a:endParaRPr/>
          </a:p>
          <a:p>
            <a:r>
              <a:t>**Transition**: "Let's look at the core principles that underpin CQRS."</a:t>
            </a:r>
          </a:p>
          <a:p>
            <a:endParaRPr/>
          </a:p>
          <a:p>
            <a:r>
              <a:t>---</a:t>
            </a:r>
          </a:p>
          <a:p>
            <a:endParaRPr/>
          </a:p>
          <a:p>
            <a:r>
              <a:t>Source: slides\marp\cqrs-architecture.deck.md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These five principles guide every CQRS implementation decision.</a:t>
            </a:r>
          </a:p>
          <a:p>
            <a:endParaRPr/>
          </a:p>
          <a:p>
            <a:r>
              <a:t>**Key Points**:</a:t>
            </a:r>
          </a:p>
          <a:p>
            <a:endParaRPr/>
          </a:p>
          <a:p>
            <a:r>
              <a:t>- The read/write separation is absolute — queries must be side-effect free</a:t>
            </a:r>
          </a:p>
          <a:p>
            <a:r>
              <a:t>- Write model is where business logic lives — all invariants enforced here</a:t>
            </a:r>
          </a:p>
          <a:p>
            <a:r>
              <a:t>- Read models are projections built from the write model's events</a:t>
            </a:r>
          </a:p>
          <a:p>
            <a:r>
              <a:t>- Independence is key — you can evolve the read schema without touching write logic</a:t>
            </a:r>
          </a:p>
          <a:p>
            <a:r>
              <a:t>- Eventual consistency is usually acceptable; design for it intentionally</a:t>
            </a:r>
          </a:p>
          <a:p>
            <a:endParaRPr/>
          </a:p>
          <a:p>
            <a:r>
              <a:t>**Common Misconception**: CQRS does not require separate databases. You can start with a single database and separate logical models before introducing physical separation.</a:t>
            </a:r>
          </a:p>
          <a:p>
            <a:endParaRPr/>
          </a:p>
          <a:p>
            <a:r>
              <a:t>**Transition**: "What are the actual architectural components we need to build?"</a:t>
            </a:r>
          </a:p>
          <a:p>
            <a:endParaRPr/>
          </a:p>
          <a:p>
            <a:r>
              <a:t>---</a:t>
            </a:r>
          </a:p>
          <a:p>
            <a:endParaRPr/>
          </a:p>
          <a:p>
            <a:r>
              <a:t>Source: slides\marp\cqrs-architecture.deck.md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This diagram shows the minimum components for a CQRS implementation.</a:t>
            </a:r>
          </a:p>
          <a:p>
            <a:endParaRPr/>
          </a:p>
          <a:p>
            <a:r>
              <a:t>**Walk Through the Diagram**:</a:t>
            </a:r>
          </a:p>
          <a:p>
            <a:endParaRPr/>
          </a:p>
          <a:p>
            <a:r>
              <a:t>1. Command API receives write requests and routes to handlers</a:t>
            </a:r>
          </a:p>
          <a:p>
            <a:r>
              <a:t>2. Command Handler orchestrates domain logic and writes to the Write Store</a:t>
            </a:r>
          </a:p>
          <a:p>
            <a:r>
              <a:t>3. Events are published after successful writes</a:t>
            </a:r>
          </a:p>
          <a:p>
            <a:r>
              <a:t>4. Projection Updater subscribes to events and updates the Read Store</a:t>
            </a:r>
          </a:p>
          <a:p>
            <a:r>
              <a:t>5. Query API serves the Read Store with fast, optimized queries</a:t>
            </a:r>
          </a:p>
          <a:p>
            <a:endParaRPr/>
          </a:p>
          <a:p>
            <a:r>
              <a:t>**Key Components**:</a:t>
            </a:r>
          </a:p>
          <a:p>
            <a:endParaRPr/>
          </a:p>
          <a:p>
            <a:r>
              <a:t>- **Command API**: Validates input, routes to appropriate handler</a:t>
            </a:r>
          </a:p>
          <a:p>
            <a:r>
              <a:t>- **Command Handler**: Enforces invariants, orchestrates domain operations</a:t>
            </a:r>
          </a:p>
          <a:p>
            <a:r>
              <a:t>- **Write Store**: OLTP database for aggregates and consistency</a:t>
            </a:r>
          </a:p>
          <a:p>
            <a:r>
              <a:t>- **Event Publisher**: Reliable event emission (use outbox pattern)</a:t>
            </a:r>
          </a:p>
          <a:p>
            <a:r>
              <a:t>- **Projection Updater**: Maintains read models from events</a:t>
            </a:r>
          </a:p>
          <a:p>
            <a:r>
              <a:t>- **Query API**: Serves denormalized, query-optimized data</a:t>
            </a:r>
          </a:p>
          <a:p>
            <a:r>
              <a:t>- **Read Store**: OLAP or document store optimized for reads</a:t>
            </a:r>
          </a:p>
          <a:p>
            <a:endParaRPr/>
          </a:p>
          <a:p>
            <a:r>
              <a:t>**Transition**: "Let's look at command model design in more detail."</a:t>
            </a:r>
          </a:p>
          <a:p>
            <a:endParaRPr/>
          </a:p>
          <a:p>
            <a:r>
              <a:t>---</a:t>
            </a:r>
          </a:p>
          <a:p>
            <a:endParaRPr/>
          </a:p>
          <a:p>
            <a:r>
              <a:t>Source: slides\marp\cqrs-architecture.deck.md</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~00:03</a:t>
            </a:r>
          </a:p>
          <a:p>
            <a:endParaRPr dirty="0"/>
          </a:p>
          <a:p>
            <a:r>
              <a:rPr dirty="0"/>
              <a:t>Consistency is often the most debated aspect of CQRS implementations.</a:t>
            </a:r>
          </a:p>
          <a:p>
            <a:endParaRPr dirty="0"/>
          </a:p>
          <a:p>
            <a:r>
              <a:rPr dirty="0"/>
              <a:t>**Key Points**:</a:t>
            </a:r>
          </a:p>
          <a:p>
            <a:endParaRPr dirty="0"/>
          </a:p>
          <a:p>
            <a:r>
              <a:rPr dirty="0"/>
              <a:t>- Not all data requires strong consistency — choosing the right model reduces complexity</a:t>
            </a:r>
          </a:p>
          <a:p>
            <a:r>
              <a:rPr dirty="0"/>
              <a:t>- The Outbox Pattern is the industry standard for reliable event publishing</a:t>
            </a:r>
          </a:p>
          <a:p>
            <a:r>
              <a:rPr dirty="0"/>
              <a:t>- "Dual writes" (write to DB and publish in the same transaction) are dangerous — use the outbox</a:t>
            </a:r>
          </a:p>
          <a:p>
            <a:r>
              <a:rPr dirty="0"/>
              <a:t>- Idempotent consumers handle duplicate event delivery gracefully</a:t>
            </a:r>
          </a:p>
          <a:p>
            <a:endParaRPr dirty="0"/>
          </a:p>
          <a:p>
            <a:r>
              <a:rPr dirty="0"/>
              <a:t>**The Outbox Pattern**:</a:t>
            </a:r>
          </a:p>
          <a:p>
            <a:endParaRPr dirty="0"/>
          </a:p>
          <a:p>
            <a:r>
              <a:rPr dirty="0"/>
              <a:t>1. Within the same database transaction: write the domain change AND an outbox event record</a:t>
            </a:r>
          </a:p>
          <a:p>
            <a:r>
              <a:rPr dirty="0"/>
              <a:t>2. A background process reads unprocessed outbox events and publishes them to the message broker</a:t>
            </a:r>
          </a:p>
          <a:p>
            <a:r>
              <a:rPr dirty="0"/>
              <a:t>3. Mark events as processed after successful publication</a:t>
            </a:r>
          </a:p>
          <a:p>
            <a:r>
              <a:rPr dirty="0"/>
              <a:t>4. Consumers handle duplicates idempotently</a:t>
            </a:r>
          </a:p>
          <a:p>
            <a:endParaRPr dirty="0"/>
          </a:p>
          <a:p>
            <a:r>
              <a:rPr dirty="0"/>
              <a:t>**Transition**: "What common mistakes should we avoid?"</a:t>
            </a:r>
          </a:p>
          <a:p>
            <a:endParaRPr dirty="0"/>
          </a:p>
          <a:p>
            <a:r>
              <a:rPr dirty="0"/>
              <a:t>---</a:t>
            </a:r>
          </a:p>
          <a:p>
            <a:endParaRPr dirty="0"/>
          </a:p>
          <a:p>
            <a:r>
              <a:rPr dirty="0"/>
              <a:t>Source: slides\marp\cqrs-architecture.deck.md</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Tying the concepts together with a concrete example makes the pattern tangible.</a:t>
            </a:r>
          </a:p>
          <a:p>
            <a:endParaRPr/>
          </a:p>
          <a:p>
            <a:r>
              <a:t>**Key Points**:</a:t>
            </a:r>
          </a:p>
          <a:p>
            <a:endParaRPr/>
          </a:p>
          <a:p>
            <a:r>
              <a:t>- The command and query flows are completely independent paths</a:t>
            </a:r>
          </a:p>
          <a:p>
            <a:r>
              <a:t>- The event bridges the write and read sides asynchronously</a:t>
            </a:r>
          </a:p>
          <a:p>
            <a:r>
              <a:t>- `lastUpdatedUtc` in the query response lets the UI show freshness information</a:t>
            </a:r>
          </a:p>
          <a:p>
            <a:r>
              <a:t>- The UI can display a "processing" indicator while the projection catches up after a command</a:t>
            </a:r>
          </a:p>
          <a:p>
            <a:endParaRPr/>
          </a:p>
          <a:p>
            <a:r>
              <a:t>**Discussion Question**: "What are the tradeoffs of showing the read model data vs. the command result directly after an approval?"</a:t>
            </a:r>
          </a:p>
          <a:p>
            <a:endParaRPr/>
          </a:p>
          <a:p>
            <a:r>
              <a:t>**Key Takeaway**: CQRS is not magic — it's a deliberate architectural choice that pays off when reads and writes truly have different requirements.</a:t>
            </a:r>
          </a:p>
          <a:p>
            <a:endParaRPr/>
          </a:p>
          <a:p>
            <a:r>
              <a:t>---</a:t>
            </a:r>
          </a:p>
          <a:p>
            <a:endParaRPr/>
          </a:p>
          <a:p>
            <a:r>
              <a:t>Source: slides\marp\cqrs-architecture.deck.md</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Summarize the key points and provide resources for deeper learning.</a:t>
            </a:r>
          </a:p>
          <a:p>
            <a:endParaRPr/>
          </a:p>
          <a:p>
            <a:r>
              <a:t>**Summary**:</a:t>
            </a:r>
          </a:p>
          <a:p>
            <a:endParaRPr/>
          </a:p>
          <a:p>
            <a:r>
              <a:t>- CQRS separates write models (commands) from read models (queries)</a:t>
            </a:r>
          </a:p>
          <a:p>
            <a:r>
              <a:t>- Use it when the complexity pays off — don't over-apply</a:t>
            </a:r>
          </a:p>
          <a:p>
            <a:r>
              <a:t>- Reliable event publication requires the outbox pattern</a:t>
            </a:r>
          </a:p>
          <a:p>
            <a:r>
              <a:t>- Eventual consistency is the norm — manage client expectations</a:t>
            </a:r>
          </a:p>
          <a:p>
            <a:r>
              <a:t>- Incremental migration is the safe approach</a:t>
            </a:r>
          </a:p>
          <a:p>
            <a:endParaRPr/>
          </a:p>
          <a:p>
            <a:r>
              <a:t>**Call to Action**: Review the `cqrs-architecture.instructions.md` file in the repository for implementation checklists and code examples.</a:t>
            </a:r>
          </a:p>
          <a:p>
            <a:endParaRPr/>
          </a:p>
          <a:p>
            <a:r>
              <a:t>**Q&amp;A**: Open the floor for architecture questions and real-world implementation challenges.</a:t>
            </a:r>
          </a:p>
          <a:p>
            <a:endParaRPr/>
          </a:p>
          <a:p>
            <a:r>
              <a:t>---</a:t>
            </a:r>
          </a:p>
          <a:p>
            <a:endParaRPr/>
          </a:p>
          <a:p>
            <a:r>
              <a:t>Source: slides\marp\cqrs-architecture.deck.md</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slides\marp\technology-stack-instruction-files.deck.md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~00:17</a:t>
            </a:r>
          </a:p>
          <a:p>
            <a:endParaRPr/>
          </a:p>
          <a:p>
            <a:r>
              <a:t>Frame this section as part of the greenfield foundation work rather than a documentation side quest. Explain that instruction files help the AI and the team align on standards before implementation begins, which reduces drift and rework later. Transition by asking what should exist before anyone prompts for technology-specific instructions.</a:t>
            </a:r>
          </a:p>
          <a:p>
            <a:endParaRPr/>
          </a:p>
          <a:p>
            <a:r>
              <a:t>---</a:t>
            </a:r>
          </a:p>
          <a:p>
            <a:endParaRPr/>
          </a:p>
          <a:p>
            <a:r>
              <a:t>Source: slides\marp\technology-stack-instruction-files.deck.md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Explain that instruction files are most valuable when they reflect the actual technology choices and constraints of the project. If the requirements are vague, the generated guidance will also be vague, so the stack definition has to come first. Transition by showing the simple prompting pattern used to produce the first draft.</a:t>
            </a:r>
          </a:p>
          <a:p>
            <a:endParaRPr/>
          </a:p>
          <a:p>
            <a:r>
              <a:t>---</a:t>
            </a:r>
          </a:p>
          <a:p>
            <a:endParaRPr/>
          </a:p>
          <a:p>
            <a:r>
              <a:t>Source: slides\marp\technology-stack-instruction-files.deck.md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Make the point that the initial prompt does not need to be elaborate to be useful. What matters is that it clearly names the technologies and asks for standards that map to real development concerns like semantics, accessibility, and runtime performance. Transition by moving from prompt generation to what a good instruction file should contain.</a:t>
            </a:r>
          </a:p>
          <a:p>
            <a:endParaRPr/>
          </a:p>
          <a:p>
            <a:r>
              <a:t>---</a:t>
            </a:r>
          </a:p>
          <a:p>
            <a:endParaRPr/>
          </a:p>
          <a:p>
            <a:r>
              <a:t>Source: slides\marp\technology-stack-instruction-files.deck.md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Explain that review is what turns an acceptable draft into a dependable working standard. Teams should inspect whether the file is actionable for the AI, readable for humans, and explicit enough to guide consistent output across sessions. Transition by introducing the role of multiple models in improving quality.</a:t>
            </a:r>
          </a:p>
          <a:p>
            <a:endParaRPr/>
          </a:p>
          <a:p>
            <a:r>
              <a:t>---</a:t>
            </a:r>
          </a:p>
          <a:p>
            <a:endParaRPr/>
          </a:p>
          <a:p>
            <a:r>
              <a:t>Source: slides\marp\technology-stack-instruction-files.deck.md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Position multi-model review as a quality-control tactic rather than a competition. Different models expose different blind spots, so having one model critique another often surfaces missing examples, incomplete checklists, or weakly stated rules. Transition by tying this evaluation loop back to the broader foundation phase of a new project.</a:t>
            </a:r>
          </a:p>
          <a:p>
            <a:endParaRPr/>
          </a:p>
          <a:p>
            <a:r>
              <a:t>---</a:t>
            </a:r>
          </a:p>
          <a:p>
            <a:endParaRPr/>
          </a:p>
          <a:p>
            <a:r>
              <a:t>Source: slides\marp\technology-stack-instruction-files.deck.md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Close by connecting technology instruction files to the larger greenfield workflow. These files are foundational because they shape the quality of later prompts, implementation plans, and generated code, especially when multiple people and multiple models are involved. End by suggesting that every new stack choice should trigger the question, what instruction file do we need before we start building?</a:t>
            </a:r>
          </a:p>
          <a:p>
            <a:endParaRPr/>
          </a:p>
          <a:p>
            <a:r>
              <a:t>---</a:t>
            </a:r>
          </a:p>
          <a:p>
            <a:endParaRPr/>
          </a:p>
          <a:p>
            <a:r>
              <a:t>Source: slides\marp\technology-stack-instruction-files.deck.md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~00:01</a:t>
            </a:r>
          </a:p>
          <a:p>
            <a:endParaRPr dirty="0"/>
          </a:p>
          <a:p>
            <a:r>
              <a:rPr dirty="0"/>
              <a:t>Welcome to the vertical slicing architecture introduction. This section explains why organizing code by feature can make complex systems easier to understand, extend, and maintain.</a:t>
            </a:r>
          </a:p>
          <a:p>
            <a:endParaRPr dirty="0"/>
          </a:p>
          <a:p>
            <a:r>
              <a:rPr dirty="0"/>
              <a:t>Open by asking how many people have had to change a feature by touching controllers, services, repositories, and models in four different folders.</a:t>
            </a:r>
          </a:p>
          <a:p>
            <a:endParaRPr dirty="0"/>
          </a:p>
          <a:p>
            <a:r>
              <a:rPr dirty="0"/>
              <a:t>Emphasize that vertical slicing is not just a folder rename. It changes how teams think about boundaries, ownership, and end-to-end feature delivery.</a:t>
            </a:r>
          </a:p>
          <a:p>
            <a:endParaRPr dirty="0"/>
          </a:p>
          <a:p>
            <a:r>
              <a:rPr dirty="0"/>
              <a:t>Transition with: "Let's define the pattern first, then compare it to the layered structure most teams already know."</a:t>
            </a:r>
          </a:p>
          <a:p>
            <a:endParaRPr dirty="0"/>
          </a:p>
          <a:p>
            <a:r>
              <a:rPr dirty="0"/>
              <a:t>---</a:t>
            </a:r>
          </a:p>
          <a:p>
            <a:endParaRPr dirty="0"/>
          </a:p>
          <a:p>
            <a:r>
              <a:rPr dirty="0"/>
              <a:t>Source: slides\marp\vertical-slicing-architecture-introduction.deck.md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core idea for the section, so spend roughly three minutes here. Explain that a slice is a full path through the system for one business capability, such as user registration or order checkout.</a:t>
            </a:r>
          </a:p>
          <a:p>
            <a:endParaRPr/>
          </a:p>
          <a:p>
            <a:r>
              <a:t>Point out that the goal is strong feature boundaries. A developer should be able to open one folder and understand most of what matters for that feature without navigating the whole solution.</a:t>
            </a:r>
          </a:p>
          <a:p>
            <a:endParaRPr/>
          </a:p>
          <a:p>
            <a:r>
              <a:t>Call out the independence rule explicitly: features should not directly reference each other. Shared abstractions can exist, but the feature itself should remain loosely coupled.</a:t>
            </a:r>
          </a:p>
          <a:p>
            <a:endParaRPr/>
          </a:p>
          <a:p>
            <a:r>
              <a:t>Transition with: "That definition becomes clearer when we compare the file structure side by side."</a:t>
            </a:r>
          </a:p>
          <a:p>
            <a:endParaRPr/>
          </a:p>
          <a:p>
            <a:r>
              <a:t>---</a:t>
            </a:r>
          </a:p>
          <a:p>
            <a:endParaRPr/>
          </a:p>
          <a:p>
            <a:r>
              <a:t>Source: slides\marp\vertical-slicing-architecture-introduction.deck.md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Use about three minutes here and walk the audience through the diagram from left to right. In the layered view, explain that user registration logic is split across multiple folders, which creates navigation overhead and makes changes feel scattered.</a:t>
            </a:r>
          </a:p>
          <a:p>
            <a:endParaRPr/>
          </a:p>
          <a:p>
            <a:r>
              <a:t>Then move to the vertical slice view and show how each feature becomes a mini-application. The `Features/UserRegistration` folder contains the command, handler, validator, and any related response or data access pieces in one place.</a:t>
            </a:r>
          </a:p>
          <a:p>
            <a:endParaRPr/>
          </a:p>
          <a:p>
            <a:r>
              <a:t>This is a good moment to mention that enhancing one feature becomes easier because the impact area is much more visible. The file structure starts reflecting business capabilities instead of technical plumbing.</a:t>
            </a:r>
          </a:p>
          <a:p>
            <a:endParaRPr/>
          </a:p>
          <a:p>
            <a:r>
              <a:t>Transition with: "Once the structure changes, the day-to-day developer experience changes too."</a:t>
            </a:r>
          </a:p>
          <a:p>
            <a:endParaRPr/>
          </a:p>
          <a:p>
            <a:r>
              <a:t>---</a:t>
            </a:r>
          </a:p>
          <a:p>
            <a:endParaRPr/>
          </a:p>
          <a:p>
            <a:r>
              <a:t>Source: slides\marp\vertical-slicing-architecture-introduction.deck.md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~00:03</a:t>
            </a:r>
          </a:p>
          <a:p>
            <a:endParaRPr dirty="0"/>
          </a:p>
          <a:p>
            <a:r>
              <a:rPr dirty="0"/>
              <a:t> Describe the common experience of implementing a new feature in a layered system, where developers bounce between folders just to follow one request from start to finish.</a:t>
            </a:r>
          </a:p>
          <a:p>
            <a:endParaRPr dirty="0"/>
          </a:p>
          <a:p>
            <a:r>
              <a:rPr dirty="0"/>
              <a:t>Contrast that with a vertical slice where the work stays mostly inside one feature folder. That reduces cognitive load and makes it easier for a developer to reason about the full behavior before they edit anything.</a:t>
            </a:r>
          </a:p>
          <a:p>
            <a:endParaRPr dirty="0"/>
          </a:p>
          <a:p>
            <a:r>
              <a:rPr dirty="0"/>
              <a:t>For maintainability, stress that the architecture makes the blast radius of a change smaller. When the boundary is clear, debugging and refactoring become safer and faster.</a:t>
            </a:r>
          </a:p>
          <a:p>
            <a:endParaRPr dirty="0"/>
          </a:p>
          <a:p>
            <a:r>
              <a:rPr dirty="0"/>
              <a:t>Transition with: "Those same boundaries also help teams collaborate and test more effectively."</a:t>
            </a:r>
          </a:p>
          <a:p>
            <a:endParaRPr dirty="0"/>
          </a:p>
          <a:p>
            <a:r>
              <a:rPr dirty="0"/>
              <a:t>---</a:t>
            </a:r>
          </a:p>
          <a:p>
            <a:endParaRPr dirty="0"/>
          </a:p>
          <a:p>
            <a:r>
              <a:rPr dirty="0"/>
              <a:t>Source: slides\marp\vertical-slicing-architecture-introduction.deck.md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about two to three minutes on this slide. Explain that feature folders create natural seams for parallel work, so two developers can often build different slices without changing the same files.</a:t>
            </a:r>
          </a:p>
          <a:p>
            <a:endParaRPr/>
          </a:p>
          <a:p>
            <a:r>
              <a:t>In testing, highlight that the unit of reasoning becomes the feature, not a service class in isolation. That leads to tests that better reflect user behavior and system outcomes.</a:t>
            </a:r>
          </a:p>
          <a:p>
            <a:endParaRPr/>
          </a:p>
          <a:p>
            <a:r>
              <a:t>You can also mention that mocking is still useful, but it tends to happen at boundaries instead of inside every technical layer. That usually produces simpler tests with clearer intent.</a:t>
            </a:r>
          </a:p>
          <a:p>
            <a:endParaRPr/>
          </a:p>
          <a:p>
            <a:r>
              <a:t>Transition with: "Vertical slices also pair naturally with another pattern many teams use: CQRS."</a:t>
            </a:r>
          </a:p>
          <a:p>
            <a:endParaRPr/>
          </a:p>
          <a:p>
            <a:r>
              <a:t>---</a:t>
            </a:r>
          </a:p>
          <a:p>
            <a:endParaRPr/>
          </a:p>
          <a:p>
            <a:r>
              <a:t>Source: slides\marp\vertical-slicing-architecture-introduction.deck.md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 Explain that Command Query Responsibility Segregation separates the write path from the read path because those two concerns often want different models and optimizations.</a:t>
            </a:r>
          </a:p>
          <a:p>
            <a:endParaRPr/>
          </a:p>
          <a:p>
            <a:r>
              <a:t>On the read side, teams may denormalize data, cache aggressively, or build projections for fast display. On the write side, the focus is enforcing rules, validating intent, and updating authoritative data correctly.</a:t>
            </a:r>
          </a:p>
          <a:p>
            <a:endParaRPr/>
          </a:p>
          <a:p>
            <a:r>
              <a:t>Now connect it back to vertical slices: each feature can own both its command side and its query side. That makes CQRS feel less abstract because the pattern is implemented within a feature boundary rather than as a separate architectural island.</a:t>
            </a:r>
          </a:p>
          <a:p>
            <a:endParaRPr/>
          </a:p>
          <a:p>
            <a:r>
              <a:t>Transition with: "Let's close with the main ideas you want people to remember after this section."</a:t>
            </a:r>
          </a:p>
          <a:p>
            <a:endParaRPr/>
          </a:p>
          <a:p>
            <a:r>
              <a:t>---</a:t>
            </a:r>
          </a:p>
          <a:p>
            <a:endParaRPr/>
          </a:p>
          <a:p>
            <a:r>
              <a:t>Source: slides\marp\vertical-slicing-architecture-introduction.deck.md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Use about one minute to close. Recap that vertical slicing is primarily about improving feature ownership and reducing the cost of change.</a:t>
            </a:r>
          </a:p>
          <a:p>
            <a:endParaRPr/>
          </a:p>
          <a:p>
            <a:r>
              <a:t>Reinforce that the architecture helps both individuals and teams: developers move faster, changes are easier to contain, and the codebase better reflects how the business thinks about work.</a:t>
            </a:r>
          </a:p>
          <a:p>
            <a:endParaRPr/>
          </a:p>
          <a:p>
            <a:r>
              <a:t>If you want an audience prompt, ask which current feature in their codebase would be easiest to convert into a first slice. That question helps bridge the presentation into practical adoption.</a:t>
            </a:r>
          </a:p>
          <a:p>
            <a:endParaRPr/>
          </a:p>
          <a:p>
            <a:r>
              <a:t>End by signaling that the next step is usually implementation guidance, where teams define commands, handlers, validators, and feature-level tests.</a:t>
            </a:r>
          </a:p>
          <a:p>
            <a:endParaRPr/>
          </a:p>
          <a:p>
            <a:r>
              <a:t>---</a:t>
            </a:r>
          </a:p>
          <a:p>
            <a:endParaRPr/>
          </a:p>
          <a:p>
            <a:r>
              <a:t>Source: slides\marp\vertical-slicing-architecture-introduction.deck.md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Open by framing this section as the bridge between architecture guidance and actual delivery planning.</a:t>
            </a:r>
          </a:p>
          <a:p>
            <a:endParaRPr dirty="0"/>
          </a:p>
          <a:p>
            <a:r>
              <a:rPr dirty="0"/>
              <a:t>Explain that vertical slices are not just a coding pattern; they are also a planning tool. The point of the section is to help the audience see how to move from requirements to a buildable roadmap.</a:t>
            </a:r>
          </a:p>
          <a:p>
            <a:endParaRPr dirty="0"/>
          </a:p>
          <a:p>
            <a:r>
              <a:rPr dirty="0"/>
              <a:t>Spend a few seconds previewing the three parts of the talk: reviewing the planning instruction file, generating implementation plans with AI, and improving those plans through multi-model evaluation.</a:t>
            </a:r>
          </a:p>
          <a:p>
            <a:endParaRPr dirty="0"/>
          </a:p>
          <a:p>
            <a:r>
              <a:rPr dirty="0"/>
              <a:t>---</a:t>
            </a:r>
          </a:p>
          <a:p>
            <a:endParaRPr dirty="0"/>
          </a:p>
          <a:p>
            <a:r>
              <a:rPr dirty="0"/>
              <a:t>Source: slides\marp\vertical-slice-implementation-plans.deck.md</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slide as a table of contents for the section. Keep the pace brisk and make it clear that each bullet corresponds to a practical planning step teams can repeat.</a:t>
            </a:r>
          </a:p>
          <a:p>
            <a:endParaRPr/>
          </a:p>
          <a:p>
            <a:r>
              <a:t>Emphasize that the section is intentionally operational. It is about making slices small enough to implement, complete enough to deliver value, and structured enough that AI can help generate plans instead of vague suggestions.</a:t>
            </a:r>
          </a:p>
          <a:p>
            <a:endParaRPr/>
          </a:p>
          <a:p>
            <a:r>
              <a:t>Transition by saying the first step is understanding the instruction file that defines the planning rules.</a:t>
            </a:r>
          </a:p>
          <a:p>
            <a:endParaRPr/>
          </a:p>
          <a:p>
            <a:r>
              <a:t>---</a:t>
            </a:r>
          </a:p>
          <a:p>
            <a:endParaRPr/>
          </a:p>
          <a:p>
            <a:r>
              <a:t>Source: slides\marp\vertical-slice-implementation-plans.deck.md</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 instruction file as the planning playbook. It tells both humans and AI how to reason about a feature before code is written.</a:t>
            </a:r>
          </a:p>
          <a:p>
            <a:endParaRPr/>
          </a:p>
          <a:p>
            <a:r>
              <a:t>Call out that a strong instruction file improves consistency. Instead of every plan starting from scratch, the team gets a repeatable way to identify slices, document dependencies, and define an implementation sequence.</a:t>
            </a:r>
          </a:p>
          <a:p>
            <a:endParaRPr/>
          </a:p>
          <a:p>
            <a:r>
              <a:t>Mention that the file is valuable even when AI is not involved because it clarifies how the team wants work decomposed.</a:t>
            </a:r>
          </a:p>
          <a:p>
            <a:endParaRPr/>
          </a:p>
          <a:p>
            <a:r>
              <a:t>---</a:t>
            </a:r>
          </a:p>
          <a:p>
            <a:endParaRPr/>
          </a:p>
          <a:p>
            <a:r>
              <a:t>Source: slides\marp\vertical-slice-implementation-plans.deck.md</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audience through the five strategies and explain that no single strategy is always correct. The right one depends on the kind of behavior being modeled.</a:t>
            </a:r>
          </a:p>
          <a:p>
            <a:endParaRPr/>
          </a:p>
          <a:p>
            <a:r>
              <a:t>For user action decomposition, use an example like "submit order" or "reset password." For CRUD, use admin maintenance screens. For workflow stages, mention onboarding or approvals. For business events, use order placed or payment failed. For CQRS, explain separating queries from commands when reads and writes differ significantly.</a:t>
            </a:r>
          </a:p>
          <a:p>
            <a:endParaRPr/>
          </a:p>
          <a:p>
            <a:r>
              <a:t>Stress that the planning file helps choose a strategy rather than forcing one pattern onto every feature.</a:t>
            </a:r>
          </a:p>
          <a:p>
            <a:endParaRPr/>
          </a:p>
          <a:p>
            <a:r>
              <a:t>---</a:t>
            </a:r>
          </a:p>
          <a:p>
            <a:endParaRPr/>
          </a:p>
          <a:p>
            <a:r>
              <a:t>Source: slides\marp\vertical-slice-implementation-plans.deck.md</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defines the quality bar for a slice. Explain that a slice should deliver one meaningful capability and contain everything needed to implement that capability end to end.</a:t>
            </a:r>
          </a:p>
          <a:p>
            <a:endParaRPr/>
          </a:p>
          <a:p>
            <a:r>
              <a:t>Clarify "no horizontal sharing" by contrasting a real slice with a layer-based task such as "build all repositories first." Horizontal work may still exist, but it should not become the primary planning unit.</a:t>
            </a:r>
          </a:p>
          <a:p>
            <a:endParaRPr/>
          </a:p>
          <a:p>
            <a:r>
              <a:t>Use the phrase "valuable and manageable" more than once. That is the balance teams often miss when they either create giant epics or tiny technical chores that produce no user value.</a:t>
            </a:r>
          </a:p>
          <a:p>
            <a:endParaRPr/>
          </a:p>
          <a:p>
            <a:r>
              <a:t>---</a:t>
            </a:r>
          </a:p>
          <a:p>
            <a:endParaRPr/>
          </a:p>
          <a:p>
            <a:r>
              <a:t>Source: slides\marp\vertical-slice-implementation-plans.deck.md</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slicing is not just naming features. It requires examining data dependencies and service dependencies before locking in the plan.</a:t>
            </a:r>
          </a:p>
          <a:p>
            <a:endParaRPr/>
          </a:p>
          <a:p>
            <a:r>
              <a:t>Walk through the decision aid from left to right. Start with the flow, then look at dependency boundaries, then check whether the proposed slice is too large or too fragmented, and finally place it into an execution sequence.</a:t>
            </a:r>
          </a:p>
          <a:p>
            <a:endParaRPr/>
          </a:p>
          <a:p>
            <a:r>
              <a:t>This is a good moment to remind the audience that planning errors often come from ignoring dependencies until implementation begins.</a:t>
            </a:r>
          </a:p>
          <a:p>
            <a:endParaRPr/>
          </a:p>
          <a:p>
            <a:r>
              <a:t>---</a:t>
            </a:r>
          </a:p>
          <a:p>
            <a:endParaRPr/>
          </a:p>
          <a:p>
            <a:r>
              <a:t>Source: slides\marp\vertical-slice-implementation-plans.deck.md</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the prompt works because it combines two inputs: the planning instructions and the actual feature requirements. Without both, the output is usually too generic.</a:t>
            </a:r>
          </a:p>
          <a:p>
            <a:endParaRPr/>
          </a:p>
          <a:p>
            <a:r>
              <a:t>Point out that this is where AI becomes a planning accelerator. Instead of starting from a blank page, the team gets a draft plan containing slices, dependencies, sequencing, and potential sprint structure.</a:t>
            </a:r>
          </a:p>
          <a:p>
            <a:endParaRPr/>
          </a:p>
          <a:p>
            <a:r>
              <a:t>Also note that the prompt is intentionally simple. The quality comes from the instruction file and source requirements, not from a complicated prompt.</a:t>
            </a:r>
          </a:p>
          <a:p>
            <a:endParaRPr/>
          </a:p>
          <a:p>
            <a:r>
              <a:t>---</a:t>
            </a:r>
          </a:p>
          <a:p>
            <a:endParaRPr/>
          </a:p>
          <a:p>
            <a:r>
              <a:t>Source: slides\marp\vertical-slice-implementation-plans.deck.md</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slide to define evaluation criteria for AI-generated plans. The audience should leave knowing what "good" looks like, not just that AI can produce something.</a:t>
            </a:r>
          </a:p>
          <a:p>
            <a:endParaRPr/>
          </a:p>
          <a:p>
            <a:r>
              <a:t>Explain that different models may emphasize different aspects. One might provide stronger rationale, another might produce cleaner sequencing, and another might be better at summarizing requirements.</a:t>
            </a:r>
          </a:p>
          <a:p>
            <a:endParaRPr/>
          </a:p>
          <a:p>
            <a:r>
              <a:t>Encourage the audience to compare outputs rather than assuming the first plan is correct. This leads naturally into the multi-model review exercise.</a:t>
            </a:r>
          </a:p>
          <a:p>
            <a:endParaRPr/>
          </a:p>
          <a:p>
            <a:r>
              <a:t>---</a:t>
            </a:r>
          </a:p>
          <a:p>
            <a:endParaRPr/>
          </a:p>
          <a:p>
            <a:r>
              <a:t>Source: slides\marp\vertical-slice-implementation-plans.deck.md</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Translate the abstract process into a concrete example. Use the calculator scenario because it is simple enough to understand quickly while still showing real decomposition choices.</a:t>
            </a:r>
          </a:p>
          <a:p>
            <a:endParaRPr/>
          </a:p>
          <a:p>
            <a:r>
              <a:t>Mention that one model may group input and validation together, while another may separate them. One may treat history as a later slice because it depends on completed calculations. These are exactly the kinds of planning differences worth discussing.</a:t>
            </a:r>
          </a:p>
          <a:p>
            <a:endParaRPr/>
          </a:p>
          <a:p>
            <a:r>
              <a:t>Reinforce that the output is not just a list of tasks. It is a roadmap with ordering logic.</a:t>
            </a:r>
          </a:p>
          <a:p>
            <a:endParaRPr/>
          </a:p>
          <a:p>
            <a:r>
              <a:t>---</a:t>
            </a:r>
          </a:p>
          <a:p>
            <a:endParaRPr/>
          </a:p>
          <a:p>
            <a:r>
              <a:t>Source: slides\marp\vertical-slice-implementation-plans.deck.md</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 this as a quality-improvement exercise, not a competition between models. The value comes from using one model to review the blind spots of another.</a:t>
            </a:r>
          </a:p>
          <a:p>
            <a:endParaRPr/>
          </a:p>
          <a:p>
            <a:r>
              <a:t>Walk through the six findings quickly and frame them as practical improvements. These are not cosmetic issues; they affect whether teams can actually use the planning artifact consistently.</a:t>
            </a:r>
          </a:p>
          <a:p>
            <a:endParaRPr/>
          </a:p>
          <a:p>
            <a:r>
              <a:t>Highlight that evaluation uncovered missing completeness in examples and templates, which matters because templates are what guide future AI generations.</a:t>
            </a:r>
          </a:p>
          <a:p>
            <a:endParaRPr/>
          </a:p>
          <a:p>
            <a:r>
              <a:t>---</a:t>
            </a:r>
          </a:p>
          <a:p>
            <a:endParaRPr/>
          </a:p>
          <a:p>
            <a:r>
              <a:t>Source: slides\marp\vertical-slice-implementation-plans.deck.md</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with the repeatable workflow. This gives the audience a practical method they can adopt immediately.</a:t>
            </a:r>
          </a:p>
          <a:p>
            <a:endParaRPr/>
          </a:p>
          <a:p>
            <a:r>
              <a:t>Emphasize that the instruction file is the stable asset, AI provides the first draft, and multi-model review improves quality. Over time, the planning assets themselves get better, which improves every future plan.</a:t>
            </a:r>
          </a:p>
          <a:p>
            <a:endParaRPr/>
          </a:p>
          <a:p>
            <a:r>
              <a:t>End by connecting this section to execution: once the slices and roadmap are solid, implementation becomes faster, safer, and easier to parallelize.</a:t>
            </a:r>
          </a:p>
          <a:p>
            <a:endParaRPr/>
          </a:p>
          <a:p>
            <a:r>
              <a:t>---</a:t>
            </a:r>
          </a:p>
          <a:p>
            <a:endParaRPr/>
          </a:p>
          <a:p>
            <a:r>
              <a:t>Source: slides\marp\vertical-slice-implementation-plans.deck.md</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~00:04</a:t>
            </a:r>
          </a:p>
          <a:p>
            <a:endParaRPr dirty="0"/>
          </a:p>
          <a:p>
            <a:r>
              <a:rPr dirty="0"/>
              <a:t>Introduce this section as the point where planning becomes executable rather than aspirational. Explain that dependency analysis helps the team decide what must be built first, what can safely wait, and what can happen in parallel without creating blockers.  Transition by showing a simple dependency graph and explaining how to read it.</a:t>
            </a:r>
          </a:p>
          <a:p>
            <a:endParaRPr dirty="0"/>
          </a:p>
          <a:p>
            <a:r>
              <a:rPr dirty="0"/>
              <a:t>---</a:t>
            </a:r>
          </a:p>
          <a:p>
            <a:endParaRPr dirty="0"/>
          </a:p>
          <a:p>
            <a:r>
              <a:rPr dirty="0"/>
              <a:t>Source: slides\marp\dependency-analysis-planning.deck.md</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Explain that a dependency graph is a visual map of implementation order, not just a picture of the system. Root nodes such as foundation setup are important because they unlock other work, while downstream nodes cannot start safely until their prerequisites exist.  Transition by asking which path through the graph will determine overall progress.</a:t>
            </a:r>
          </a:p>
          <a:p>
            <a:endParaRPr/>
          </a:p>
          <a:p>
            <a:r>
              <a:t>---</a:t>
            </a:r>
          </a:p>
          <a:p>
            <a:endParaRPr/>
          </a:p>
          <a:p>
            <a:r>
              <a:t>Source: slides\marp\dependency-analysis-planning.deck.md</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Make the point that not every task has the same scheduling weight. The chain from foundation through Slice 1 and Slice 2 to release readiness is the critical path because a delay anywhere in that line affects the final delivery date.  Transition by showing that some branches can still be parallelized once the right prerequisites are in place.</a:t>
            </a:r>
          </a:p>
          <a:p>
            <a:endParaRPr/>
          </a:p>
          <a:p>
            <a:r>
              <a:t>---</a:t>
            </a:r>
          </a:p>
          <a:p>
            <a:endParaRPr/>
          </a:p>
          <a:p>
            <a:r>
              <a:t>Source: slides\marp\dependency-analysis-planning.deck.md</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Explain that parallelization is useful, but only after the common enabling work is complete. In this example, Slice 1 and Slice 2 can move at the same time, yet the integration slice must wait until both are finished, so sequencing still matters.  Transition by separating foundational work from dependent features so the audience can see how to prioritize the backlog.</a:t>
            </a:r>
          </a:p>
          <a:p>
            <a:endParaRPr/>
          </a:p>
          <a:p>
            <a:r>
              <a:t>---</a:t>
            </a:r>
          </a:p>
          <a:p>
            <a:endParaRPr/>
          </a:p>
          <a:p>
            <a:r>
              <a:t>Source: slides\marp\dependency-analysis-planning.deck.md</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Clarify that foundational work is valuable because it unlocks many downstream slices, not because it is glamorous. Dependent features usually deliver visible business value, but they become risky or inefficient if the core infrastructure they need is missing or unstable.  Transition by summarizing a lightweight planning process the team can repeat for every implementation plan.</a:t>
            </a:r>
          </a:p>
          <a:p>
            <a:endParaRPr/>
          </a:p>
          <a:p>
            <a:r>
              <a:t>---</a:t>
            </a:r>
          </a:p>
          <a:p>
            <a:endParaRPr/>
          </a:p>
          <a:p>
            <a:r>
              <a:t>Source: slides\marp\dependency-analysis-planning.deck.md</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Close by turning the concept into a repeatable planning workflow. The audience should leave with the idea that dependency analysis is a small upfront investment that prevents scheduling confusion, blocked development, and unrealistic sequencing later.  End by connecting this back to vertical slices, where smart sequencing makes incremental delivery much easier.</a:t>
            </a:r>
          </a:p>
          <a:p>
            <a:endParaRPr/>
          </a:p>
          <a:p>
            <a:r>
              <a:t>---</a:t>
            </a:r>
          </a:p>
          <a:p>
            <a:endParaRPr/>
          </a:p>
          <a:p>
            <a:r>
              <a:t>Source: slides\marp\dependency-analysis-planning.deck.md</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1DA66-BB00-F84C-BB6F-3E6E140CFF70}" type="slidenum">
              <a:rPr lang="en-US" smtClean="0"/>
              <a:t>60</a:t>
            </a:fld>
            <a:endParaRPr lang="en-US"/>
          </a:p>
        </p:txBody>
      </p:sp>
    </p:spTree>
    <p:extLst>
      <p:ext uri="{BB962C8B-B14F-4D97-AF65-F5344CB8AC3E}">
        <p14:creationId xmlns:p14="http://schemas.microsoft.com/office/powerpoint/2010/main" val="82844684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~00:22</a:t>
            </a:r>
          </a:p>
          <a:p>
            <a:endParaRPr dirty="0"/>
          </a:p>
          <a:p>
            <a:r>
              <a:rPr dirty="0"/>
              <a:t>Introduce this section as the bridge between planning and actual implementation. The audience should understand that a slice plan becomes much more useful when it is converted into a precise prompt that tells the AI what to build, how to verify it, and how to demonstrate it.  Transition by asking what information a good implementation prompt must capture before any code is generated.</a:t>
            </a:r>
          </a:p>
          <a:p>
            <a:endParaRPr dirty="0"/>
          </a:p>
          <a:p>
            <a:r>
              <a:rPr dirty="0"/>
              <a:t>---</a:t>
            </a:r>
          </a:p>
          <a:p>
            <a:endParaRPr dirty="0"/>
          </a:p>
          <a:p>
            <a:r>
              <a:rPr dirty="0"/>
              <a:t>Source: slides\marp\implementation-prompts-verification.deck.md</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Explain that the best implementation prompts are intentionally narrow. Rather than asking for an entire application, the team picks one slice from the plan and turns that into a focused request that can be reviewed and tested independently.  Transition by showing what the actual prompt needs to contain once the slice is chosen.</a:t>
            </a:r>
          </a:p>
          <a:p>
            <a:endParaRPr/>
          </a:p>
          <a:p>
            <a:r>
              <a:t>---</a:t>
            </a:r>
          </a:p>
          <a:p>
            <a:endParaRPr/>
          </a:p>
          <a:p>
            <a:r>
              <a:t>Source: slides\marp\implementation-prompts-verification.deck.md</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Frame this slide around prompt construction, not just prompt wording. The important move is that the request names the slice, points to the governing instructions, and asks for more than code generation by explicitly requiring verification and demonstration guidance.  Transition by breaking down the expected deliverables inside the generated prompt file.</a:t>
            </a:r>
          </a:p>
          <a:p>
            <a:endParaRPr/>
          </a:p>
          <a:p>
            <a:r>
              <a:t>---</a:t>
            </a:r>
          </a:p>
          <a:p>
            <a:endParaRPr/>
          </a:p>
          <a:p>
            <a:r>
              <a:t>Source: slides\marp\implementation-prompts-verification.deck.md</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Walk through the prompt output as if you are reviewing a generated file with the class. The goal is not merely to list filenames, but to show that the prompt should describe what each file is responsible for and how the pieces fit together.  Transition by moving from implementation detail to the checks that prove the slice actually works.</a:t>
            </a:r>
          </a:p>
          <a:p>
            <a:endParaRPr/>
          </a:p>
          <a:p>
            <a:r>
              <a:t>---</a:t>
            </a:r>
          </a:p>
          <a:p>
            <a:endParaRPr/>
          </a:p>
          <a:p>
            <a:r>
              <a:t>Source: slides\marp\implementation-prompts-verification.deck.md</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Explain that verification should be authored before or alongside implementation, not after the fact. The checks on this slide are strong examples because they cover default state, observable behavior, and accessibility requirements in a way that reviewers and demonstrators can both understand.  Transition by showing how showcase instructions differ from verification even though the two are related.</a:t>
            </a:r>
          </a:p>
          <a:p>
            <a:endParaRPr/>
          </a:p>
          <a:p>
            <a:r>
              <a:t>---</a:t>
            </a:r>
          </a:p>
          <a:p>
            <a:endParaRPr/>
          </a:p>
          <a:p>
            <a:r>
              <a:t>Source: slides\marp\implementation-prompts-verification.deck.md</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Make the distinction between proving correctness and presenting value. Verification asks whether the slice works; showcase guidance tells a human demonstrator how to walk stakeholders through what appears on screen, what changes, and why they should care.  Transition by expanding from one slice to the broader roadmap of multiple prompts.</a:t>
            </a:r>
          </a:p>
          <a:p>
            <a:endParaRPr/>
          </a:p>
          <a:p>
            <a:r>
              <a:t>---</a:t>
            </a:r>
          </a:p>
          <a:p>
            <a:endParaRPr/>
          </a:p>
          <a:p>
            <a:r>
              <a:t>Source: slides\marp\implementation-prompts-verification.deck.md</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Close by connecting the single-slice example to the full delivery workflow. Each prompt becomes a reusable unit of work that can be re-run, refined, and audited over time, which is especially useful when implementation spans multiple sessions or contributors.  End by encouraging the audience to treat prompt files as versioned implementation assets, not disposable chat text.</a:t>
            </a:r>
          </a:p>
          <a:p>
            <a:endParaRPr/>
          </a:p>
          <a:p>
            <a:r>
              <a:t>---</a:t>
            </a:r>
          </a:p>
          <a:p>
            <a:endParaRPr/>
          </a:p>
          <a:p>
            <a:r>
              <a:t>Source: slides\marp\implementation-prompts-verification.deck.md</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Introduce the deck as a practical delivery workflow, not just an architecture concept. Emphasize that each vertical slice includes API, domain logic, persistence, and tests. Mention that parallel work is possible only after dependency analysis confirms slice independence.</a:t>
            </a:r>
          </a:p>
          <a:p>
            <a:endParaRPr dirty="0"/>
          </a:p>
          <a:p>
            <a:r>
              <a:rPr dirty="0"/>
              <a:t>---</a:t>
            </a:r>
          </a:p>
          <a:p>
            <a:endParaRPr dirty="0"/>
          </a:p>
          <a:p>
            <a:r>
              <a:rPr dirty="0"/>
              <a:t>Source: slides\marp\basic-vertical-slice-workflow.deck.md</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teams should avoid horizontal tasks like build all repositories first. Reinforce that each slice should produce demonstrable value. Recommend a short template for each slice so implementation and review stay consistent.</a:t>
            </a:r>
          </a:p>
          <a:p>
            <a:endParaRPr/>
          </a:p>
          <a:p>
            <a:r>
              <a:t>---</a:t>
            </a:r>
          </a:p>
          <a:p>
            <a:endParaRPr/>
          </a:p>
          <a:p>
            <a:r>
              <a:t>Source: slides\marp\basic-vertical-slice-workflow.deck.md</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left to right. Call out that Foundation might include authentication baseline, shared contracts, and CI setup. Then point to slices A, B, and C as intentionally parallel lanes. Close by explaining that integration hardening is a separate explicit phase.</a:t>
            </a:r>
          </a:p>
          <a:p>
            <a:endParaRPr/>
          </a:p>
          <a:p>
            <a:r>
              <a:t>---</a:t>
            </a:r>
          </a:p>
          <a:p>
            <a:endParaRPr/>
          </a:p>
          <a:p>
            <a:r>
              <a:t>Source: slides\marp\basic-vertical-slice-workflow.deck.md</a:t>
            </a: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Emphasize team coordination practices. Explain that parallel work fails when contracts are ambiguous. Recommend daily integration checks and a lightweight dependency board to catch collisions early.</a:t>
            </a:r>
          </a:p>
          <a:p>
            <a:endParaRPr/>
          </a:p>
          <a:p>
            <a:r>
              <a:t>---</a:t>
            </a:r>
          </a:p>
          <a:p>
            <a:endParaRPr/>
          </a:p>
          <a:p>
            <a:r>
              <a:t>Source: slides\marp\basic-vertical-slice-workflow.deck.md</a:t>
            </a:r>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Describe this as controlled convergence, not a big bang merge. Point out that each slice already passed its own checks, so this phase focuses on system behavior and production readiness. Encourage using release checklists to avoid late surprises.</a:t>
            </a:r>
          </a:p>
          <a:p>
            <a:endParaRPr/>
          </a:p>
          <a:p>
            <a:r>
              <a:t>---</a:t>
            </a:r>
          </a:p>
          <a:p>
            <a:endParaRPr/>
          </a:p>
          <a:p>
            <a:r>
              <a:t>Source: slides\marp\basic-vertical-slice-workflow.deck.md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007FB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E5D4979-0E48-181C-5438-B441393DCAC1}"/>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
        <p:nvSpPr>
          <p:cNvPr id="2" name="Title 1">
            <a:extLst>
              <a:ext uri="{FF2B5EF4-FFF2-40B4-BE49-F238E27FC236}">
                <a16:creationId xmlns:a16="http://schemas.microsoft.com/office/drawing/2014/main" id="{38BA191F-D9FD-C2EB-983F-9B42F26EB6F6}"/>
              </a:ext>
            </a:extLst>
          </p:cNvPr>
          <p:cNvSpPr>
            <a:spLocks noGrp="1"/>
          </p:cNvSpPr>
          <p:nvPr>
            <p:ph type="ctrTitle"/>
          </p:nvPr>
        </p:nvSpPr>
        <p:spPr>
          <a:xfrm>
            <a:off x="1524000" y="2759384"/>
            <a:ext cx="9144000" cy="1891556"/>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2FDDE32-D155-6EE2-5EAC-C0A0C4B0AB69}"/>
              </a:ext>
            </a:extLst>
          </p:cNvPr>
          <p:cNvSpPr>
            <a:spLocks noGrp="1"/>
          </p:cNvSpPr>
          <p:nvPr>
            <p:ph type="subTitle" idx="1"/>
          </p:nvPr>
        </p:nvSpPr>
        <p:spPr>
          <a:xfrm>
            <a:off x="1524000" y="4952326"/>
            <a:ext cx="9144000" cy="132507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5" name="Picture 4">
            <a:extLst>
              <a:ext uri="{FF2B5EF4-FFF2-40B4-BE49-F238E27FC236}">
                <a16:creationId xmlns:a16="http://schemas.microsoft.com/office/drawing/2014/main" id="{A09F10DC-7230-4581-E771-A51DC87C601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4294437" y="1238105"/>
            <a:ext cx="3578217" cy="1288157"/>
          </a:xfrm>
          <a:prstGeom prst="rect">
            <a:avLst/>
          </a:prstGeom>
          <a:ln>
            <a:noFill/>
          </a:ln>
          <a:effectLst/>
        </p:spPr>
      </p:pic>
    </p:spTree>
    <p:extLst>
      <p:ext uri="{BB962C8B-B14F-4D97-AF65-F5344CB8AC3E}">
        <p14:creationId xmlns:p14="http://schemas.microsoft.com/office/powerpoint/2010/main" val="3742734728"/>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0587407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2282959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318506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2"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9783303"/>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entere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644564"/>
            <a:ext cx="8928887" cy="1568871"/>
          </a:xfrm>
        </p:spPr>
        <p:txBody>
          <a:bodyP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52021016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9545636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
        <p:nvSpPr>
          <p:cNvPr id="3" name="Picture Placeholder 3">
            <a:extLst>
              <a:ext uri="{FF2B5EF4-FFF2-40B4-BE49-F238E27FC236}">
                <a16:creationId xmlns:a16="http://schemas.microsoft.com/office/drawing/2014/main" id="{F1C99E23-E5F1-1D9C-BF82-D83E6E9F1346}"/>
              </a:ext>
            </a:extLst>
          </p:cNvPr>
          <p:cNvSpPr>
            <a:spLocks noGrp="1"/>
          </p:cNvSpPr>
          <p:nvPr>
            <p:ph type="pic" sz="quarter" idx="10"/>
          </p:nvPr>
        </p:nvSpPr>
        <p:spPr>
          <a:xfrm>
            <a:off x="900113" y="2433638"/>
            <a:ext cx="10391774" cy="3790950"/>
          </a:xfrm>
        </p:spPr>
        <p:txBody>
          <a:bodyPr/>
          <a:lstStyle/>
          <a:p>
            <a:endParaRPr lang="en-US"/>
          </a:p>
        </p:txBody>
      </p:sp>
      <p:sp>
        <p:nvSpPr>
          <p:cNvPr id="4" name="Text Placeholder 5">
            <a:extLst>
              <a:ext uri="{FF2B5EF4-FFF2-40B4-BE49-F238E27FC236}">
                <a16:creationId xmlns:a16="http://schemas.microsoft.com/office/drawing/2014/main" id="{63708861-970C-B5DB-BF46-526E75A04C16}"/>
              </a:ext>
            </a:extLst>
          </p:cNvPr>
          <p:cNvSpPr>
            <a:spLocks noGrp="1"/>
          </p:cNvSpPr>
          <p:nvPr>
            <p:ph type="body" sz="quarter" idx="11" hasCustomPrompt="1"/>
          </p:nvPr>
        </p:nvSpPr>
        <p:spPr>
          <a:xfrm>
            <a:off x="900113" y="1444625"/>
            <a:ext cx="10391774" cy="649288"/>
          </a:xfrm>
        </p:spPr>
        <p:txBody>
          <a:bodyPr/>
          <a:lstStyle>
            <a:lvl1pPr marL="0" indent="0">
              <a:buNone/>
              <a:defRPr/>
            </a:lvl1pPr>
          </a:lstStyle>
          <a:p>
            <a:pPr lvl="0"/>
            <a:r>
              <a:rPr lang="en-US" dirty="0"/>
              <a:t>Image Caption</a:t>
            </a:r>
          </a:p>
        </p:txBody>
      </p:sp>
    </p:spTree>
    <p:extLst>
      <p:ext uri="{BB962C8B-B14F-4D97-AF65-F5344CB8AC3E}">
        <p14:creationId xmlns:p14="http://schemas.microsoft.com/office/powerpoint/2010/main" val="182745761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7113423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7AB04E-CD14-3B5B-FB56-FF0AC2426BBE}"/>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Tree>
    <p:extLst>
      <p:ext uri="{BB962C8B-B14F-4D97-AF65-F5344CB8AC3E}">
        <p14:creationId xmlns:p14="http://schemas.microsoft.com/office/powerpoint/2010/main" val="435387362"/>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de">
    <p:bg>
      <p:bgPr>
        <a:solidFill>
          <a:srgbClr val="21212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DF442E2-8683-D251-03C0-5FDD0CBEBC4F}"/>
              </a:ext>
            </a:extLst>
          </p:cNvPr>
          <p:cNvSpPr>
            <a:spLocks noGrp="1"/>
          </p:cNvSpPr>
          <p:nvPr>
            <p:ph type="body" sz="quarter" idx="10" hasCustomPrompt="1"/>
          </p:nvPr>
        </p:nvSpPr>
        <p:spPr>
          <a:xfrm>
            <a:off x="833480" y="1051965"/>
            <a:ext cx="9831823" cy="313932"/>
          </a:xfrm>
        </p:spPr>
        <p:txBody>
          <a:bodyPr>
            <a:spAutoFit/>
          </a:bodyPr>
          <a:lstStyle>
            <a:lvl1pPr marL="0" indent="0">
              <a:buFontTx/>
              <a:buNone/>
              <a:defRPr sz="1600">
                <a:latin typeface="Victor Mono" pitchFamily="49" charset="0"/>
              </a:defRPr>
            </a:lvl1pPr>
            <a:lvl2pPr marL="457200" indent="0">
              <a:buFontTx/>
              <a:buNone/>
              <a:defRPr>
                <a:latin typeface="Victor Mono" pitchFamily="49" charset="0"/>
              </a:defRPr>
            </a:lvl2pPr>
            <a:lvl3pPr marL="914400" indent="0">
              <a:buFontTx/>
              <a:buNone/>
              <a:defRPr>
                <a:latin typeface="Victor Mono" pitchFamily="49" charset="0"/>
              </a:defRPr>
            </a:lvl3pPr>
            <a:lvl4pPr marL="1371600" indent="0">
              <a:buFontTx/>
              <a:buNone/>
              <a:defRPr>
                <a:latin typeface="Victor Mono" pitchFamily="49" charset="0"/>
              </a:defRPr>
            </a:lvl4pPr>
            <a:lvl5pPr marL="1828800" indent="0">
              <a:buFontTx/>
              <a:buNone/>
              <a:defRPr>
                <a:latin typeface="Victor Mono" pitchFamily="49" charset="0"/>
              </a:defRPr>
            </a:lvl5pPr>
          </a:lstStyle>
          <a:p>
            <a:pPr lvl="0"/>
            <a:r>
              <a:rPr lang="en-US" dirty="0"/>
              <a:t>Click to edit Code text</a:t>
            </a:r>
          </a:p>
        </p:txBody>
      </p:sp>
    </p:spTree>
    <p:extLst>
      <p:ext uri="{BB962C8B-B14F-4D97-AF65-F5344CB8AC3E}">
        <p14:creationId xmlns:p14="http://schemas.microsoft.com/office/powerpoint/2010/main" val="87609124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entered Two Titl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429000"/>
            <a:ext cx="8928887" cy="1200000"/>
          </a:xfrm>
        </p:spPr>
        <p:txBody>
          <a:bodyPr/>
          <a:lstStyle>
            <a:lvl1pPr algn="ctr">
              <a:defRPr/>
            </a:lvl1pPr>
          </a:lstStyle>
          <a:p>
            <a:r>
              <a:rPr lang="en-US"/>
              <a:t>Click to edit Master title style</a:t>
            </a:r>
            <a:endParaRPr lang="en-US" dirty="0"/>
          </a:p>
        </p:txBody>
      </p:sp>
      <p:sp>
        <p:nvSpPr>
          <p:cNvPr id="3" name="Subtitle 2"/>
          <p:cNvSpPr>
            <a:spLocks noGrp="1"/>
          </p:cNvSpPr>
          <p:nvPr>
            <p:ph type="subTitle" idx="1"/>
          </p:nvPr>
        </p:nvSpPr>
        <p:spPr>
          <a:xfrm>
            <a:off x="1631556" y="3829000"/>
            <a:ext cx="8928887" cy="600000"/>
          </a:xfrm>
        </p:spPr>
        <p:txBody>
          <a:bodyPr/>
          <a:lstStyle>
            <a:lvl1pPr algn="ctr">
              <a:defRPr/>
            </a:lvl1pPr>
          </a:lstStyle>
          <a:p>
            <a:r>
              <a:rPr lang="en-US"/>
              <a:t>Click to edit Master subtitle style</a:t>
            </a:r>
          </a:p>
        </p:txBody>
      </p:sp>
    </p:spTree>
    <p:extLst>
      <p:ext uri="{BB962C8B-B14F-4D97-AF65-F5344CB8AC3E}">
        <p14:creationId xmlns:p14="http://schemas.microsoft.com/office/powerpoint/2010/main" val="52021016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7FB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C53BF9-6377-93D8-5BD7-30937619B4E2}"/>
              </a:ext>
            </a:extLst>
          </p:cNvPr>
          <p:cNvPicPr>
            <a:picLocks noChangeAspect="1"/>
          </p:cNvPicPr>
          <p:nvPr userDrawn="1"/>
        </p:nvPicPr>
        <p:blipFill>
          <a:blip r:embed="rId14">
            <a:alphaModFix amt="20000"/>
          </a:blip>
          <a:srcRect l="301" t="5222" r="713" b="10945"/>
          <a:stretch/>
        </p:blipFill>
        <p:spPr>
          <a:xfrm>
            <a:off x="0" y="-1"/>
            <a:ext cx="12192000" cy="6858001"/>
          </a:xfrm>
          <a:prstGeom prst="rect">
            <a:avLst/>
          </a:prstGeom>
        </p:spPr>
      </p:pic>
      <p:sp>
        <p:nvSpPr>
          <p:cNvPr id="2" name="Title Placeholder 1">
            <a:extLst>
              <a:ext uri="{FF2B5EF4-FFF2-40B4-BE49-F238E27FC236}">
                <a16:creationId xmlns:a16="http://schemas.microsoft.com/office/drawing/2014/main" id="{3A4163A3-B061-0949-1965-0375841BDB05}"/>
              </a:ext>
            </a:extLst>
          </p:cNvPr>
          <p:cNvSpPr>
            <a:spLocks noGrp="1"/>
          </p:cNvSpPr>
          <p:nvPr>
            <p:ph type="title"/>
          </p:nvPr>
        </p:nvSpPr>
        <p:spPr>
          <a:xfrm>
            <a:off x="838200" y="365126"/>
            <a:ext cx="8928887" cy="70302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76094-9BD4-ED01-3BE5-5F760EE32E2A}"/>
              </a:ext>
            </a:extLst>
          </p:cNvPr>
          <p:cNvSpPr>
            <a:spLocks noGrp="1"/>
          </p:cNvSpPr>
          <p:nvPr>
            <p:ph type="body" idx="1"/>
          </p:nvPr>
        </p:nvSpPr>
        <p:spPr>
          <a:xfrm>
            <a:off x="838200" y="1461483"/>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CD6163BC-C951-C17F-421A-4AD743EDDB29}"/>
              </a:ext>
            </a:extLst>
          </p:cNvPr>
          <p:cNvPicPr>
            <a:picLocks noChangeAspect="1"/>
          </p:cNvPicPr>
          <p:nvPr userDrawn="1"/>
        </p:nvPicPr>
        <p:blipFill>
          <a:blip r:embed="rId15"/>
          <a:srcRect/>
          <a:stretch/>
        </p:blipFill>
        <p:spPr>
          <a:xfrm>
            <a:off x="10016117" y="424540"/>
            <a:ext cx="1783676" cy="643610"/>
          </a:xfrm>
          <a:prstGeom prst="rect">
            <a:avLst/>
          </a:prstGeom>
          <a:ln>
            <a:noFill/>
          </a:ln>
          <a:effectLst/>
        </p:spPr>
      </p:pic>
    </p:spTree>
    <p:extLst>
      <p:ext uri="{BB962C8B-B14F-4D97-AF65-F5344CB8AC3E}">
        <p14:creationId xmlns:p14="http://schemas.microsoft.com/office/powerpoint/2010/main" val="2005844286"/>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97" r:id="rId3"/>
    <p:sldLayoutId id="2147483746" r:id="rId4"/>
    <p:sldLayoutId id="2147483784" r:id="rId5"/>
    <p:sldLayoutId id="2147483747" r:id="rId6"/>
    <p:sldLayoutId id="2147483748" r:id="rId7"/>
    <p:sldLayoutId id="2147483792" r:id="rId8"/>
    <p:sldLayoutId id="2147483749" r:id="rId9"/>
    <p:sldLayoutId id="2147483750" r:id="rId10"/>
    <p:sldLayoutId id="2147483751" r:id="rId11"/>
    <p:sldLayoutId id="2147483798" r:id="rId12"/>
  </p:sldLayoutIdLst>
  <p:transition>
    <p:fade/>
  </p:transition>
  <p:txStyles>
    <p:titleStyle>
      <a:lvl1pPr algn="l" defTabSz="914400" rtl="0" eaLnBrk="1" latinLnBrk="0" hangingPunct="1">
        <a:lnSpc>
          <a:spcPct val="90000"/>
        </a:lnSpc>
        <a:spcBef>
          <a:spcPct val="0"/>
        </a:spcBef>
        <a:buNone/>
        <a:defRPr sz="4400" b="1"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The Return of the Prompter</a:t>
            </a:r>
          </a:p>
        </p:txBody>
      </p:sp>
      <p:sp>
        <p:nvSpPr>
          <p:cNvPr id="3" name="Content Placeholder 2"/>
          <p:cNvSpPr>
            <a:spLocks noGrp="1"/>
          </p:cNvSpPr>
          <p:nvPr>
            <p:ph idx="1"/>
          </p:nvPr>
        </p:nvSpPr>
        <p:spPr/>
        <p:txBody>
          <a:bodyPr wrap="square">
            <a:normAutofit/>
          </a:bodyPr>
          <a:lstStyle/>
          <a:p>
            <a:r>
              <a:rPr sz="2800" b="0" i="0" u="none"/>
              <a:t>Ready to continue where we left off</a:t>
            </a:r>
            <a:endParaRPr sz="2800" b="0" i="0">
              <a:latin typeface="Arial"/>
            </a:endParaRPr>
          </a:p>
          <a:p>
            <a:r>
              <a:rPr sz="2800" b="0" i="0" u="none"/>
              <a:t>Today's session builds on what we've covered</a:t>
            </a:r>
            <a:endParaRPr sz="2800" b="0" i="0">
              <a:latin typeface="Arial"/>
            </a:endParaRPr>
          </a:p>
          <a:p>
            <a:r>
              <a:rPr sz="2800" b="0" i="0" u="none"/>
              <a:t>We're all in this together — participation welcome</a:t>
            </a:r>
            <a:endParaRPr sz="2800" b="0" i="0">
              <a:latin typeface="Arial"/>
            </a:endParaRPr>
          </a:p>
          <a:p>
            <a:r>
              <a:rPr sz="2800" b="1" i="0" u="none"/>
              <a:t>Questions are always welcome — ask anytime!</a:t>
            </a:r>
            <a:endParaRPr sz="2800" b="0" i="0">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Autofit/>
          </a:bodyPr>
          <a:lstStyle/>
          <a:p>
            <a:r>
              <a:rPr sz="2350" b="0" i="0" u="none" dirty="0"/>
              <a:t>Intro</a:t>
            </a:r>
          </a:p>
          <a:p>
            <a:r>
              <a:rPr sz="2350" b="1" i="0" u="none" dirty="0"/>
              <a:t>▶ Specification Driven Software Development</a:t>
            </a:r>
          </a:p>
          <a:p>
            <a:r>
              <a:rPr sz="2350" b="0" i="0" u="none" dirty="0"/>
              <a:t>Architecture Specification</a:t>
            </a:r>
          </a:p>
          <a:p>
            <a:r>
              <a:rPr sz="2350" b="0" i="0" u="none" dirty="0"/>
              <a:t>Technology Specification</a:t>
            </a:r>
          </a:p>
          <a:p>
            <a:r>
              <a:rPr sz="2350" b="0" i="0" u="none" dirty="0"/>
              <a:t>Implementation Specification</a:t>
            </a:r>
          </a:p>
          <a:p>
            <a:r>
              <a:rPr sz="2350" b="0" i="0" u="none" dirty="0"/>
              <a:t>Implementation Planning</a:t>
            </a:r>
          </a:p>
          <a:p>
            <a:r>
              <a:rPr sz="2350" b="0" i="0" u="none" dirty="0"/>
              <a:t>Implementation Prompts</a:t>
            </a:r>
          </a:p>
          <a:p>
            <a:r>
              <a:rPr sz="2350" b="0" i="0" u="none" dirty="0"/>
              <a:t>Vertical </a:t>
            </a:r>
            <a:r>
              <a:rPr sz="2350" b="0" i="0" u="none"/>
              <a:t>Slice Implementation</a:t>
            </a:r>
            <a:endParaRPr sz="2350" b="0" i="0" u="none"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928887" cy="703024"/>
          </a:xfrm>
        </p:spPr>
        <p:txBody>
          <a:bodyPr anchor="ctr">
            <a:normAutofit/>
          </a:bodyPr>
          <a:lstStyle/>
          <a:p>
            <a:pPr>
              <a:buNone/>
            </a:pPr>
            <a:r>
              <a:rPr b="0" i="0" u="none"/>
              <a:t>High Level AI Assisted Workflow</a:t>
            </a:r>
          </a:p>
        </p:txBody>
      </p:sp>
      <p:sp>
        <p:nvSpPr>
          <p:cNvPr id="3" name="Content Placeholder 2"/>
          <p:cNvSpPr>
            <a:spLocks noGrp="1"/>
          </p:cNvSpPr>
          <p:nvPr>
            <p:ph sz="half" idx="1"/>
          </p:nvPr>
        </p:nvSpPr>
        <p:spPr>
          <a:xfrm>
            <a:off x="838200" y="1463752"/>
            <a:ext cx="5181600" cy="4351338"/>
          </a:xfrm>
        </p:spPr>
        <p:txBody>
          <a:bodyPr>
            <a:normAutofit fontScale="92500" lnSpcReduction="10000"/>
          </a:bodyPr>
          <a:lstStyle/>
          <a:p>
            <a:pPr>
              <a:lnSpc>
                <a:spcPct val="90000"/>
              </a:lnSpc>
              <a:buNone/>
            </a:pPr>
            <a:r>
              <a:rPr lang="en-US" sz="1400" b="1" i="0" u="none" dirty="0"/>
              <a:t>From Requirements to a Solution</a:t>
            </a:r>
            <a:endParaRPr lang="en-US" sz="1400" b="0" i="0" dirty="0"/>
          </a:p>
          <a:p>
            <a:pPr>
              <a:lnSpc>
                <a:spcPct val="90000"/>
              </a:lnSpc>
              <a:buNone/>
            </a:pPr>
            <a:endParaRPr lang="en-US" sz="1400" b="0" i="0" dirty="0"/>
          </a:p>
          <a:p>
            <a:pPr>
              <a:lnSpc>
                <a:spcPct val="90000"/>
              </a:lnSpc>
            </a:pPr>
            <a:r>
              <a:rPr lang="en-US" sz="1400" b="0" i="0" u="none" dirty="0"/>
              <a:t>Stakeholders such as SMEs, architects, SREs, and DBAs define the requirements with AI assistance.</a:t>
            </a:r>
            <a:endParaRPr lang="en-US" sz="1400" b="0" i="0" dirty="0"/>
          </a:p>
          <a:p>
            <a:pPr lvl="1">
              <a:lnSpc>
                <a:spcPct val="90000"/>
              </a:lnSpc>
            </a:pPr>
            <a:r>
              <a:rPr lang="en-US" sz="1400" b="0" i="0" u="none" dirty="0"/>
              <a:t>AI transforms the requirements into implementation instruction files that guide the work.</a:t>
            </a:r>
            <a:endParaRPr lang="en-US" sz="1400" b="0" i="0" dirty="0"/>
          </a:p>
          <a:p>
            <a:pPr>
              <a:lnSpc>
                <a:spcPct val="90000"/>
              </a:lnSpc>
            </a:pPr>
            <a:r>
              <a:rPr lang="en-US" sz="1400" b="0" i="0" u="none" dirty="0"/>
              <a:t>Stakeholders review, improve, and approve the instruction files.</a:t>
            </a:r>
            <a:endParaRPr lang="en-US" sz="1400" b="0" i="0" dirty="0"/>
          </a:p>
          <a:p>
            <a:pPr lvl="1">
              <a:lnSpc>
                <a:spcPct val="90000"/>
              </a:lnSpc>
            </a:pPr>
            <a:r>
              <a:rPr lang="en-US" sz="1400" b="0" i="0" u="none" dirty="0"/>
              <a:t>AI uses those instruction files to create prompts that implement the business requirements.</a:t>
            </a:r>
            <a:endParaRPr lang="en-US" sz="1400" b="0" i="0" dirty="0"/>
          </a:p>
          <a:p>
            <a:pPr lvl="1">
              <a:lnSpc>
                <a:spcPct val="90000"/>
              </a:lnSpc>
            </a:pPr>
            <a:r>
              <a:rPr lang="en-US" sz="1400" b="0" i="0" u="none" dirty="0"/>
              <a:t>Implementation prompts explain how the feature should be built and how acceptance criteria should be verified.</a:t>
            </a:r>
            <a:endParaRPr lang="en-US" sz="1400" b="0" i="0" dirty="0"/>
          </a:p>
          <a:p>
            <a:pPr>
              <a:lnSpc>
                <a:spcPct val="90000"/>
              </a:lnSpc>
            </a:pPr>
            <a:r>
              <a:rPr lang="en-US" sz="1400" b="0" i="0" u="none" dirty="0"/>
              <a:t>Stakeholders review, improve, and approve the implementation prompts.</a:t>
            </a:r>
            <a:endParaRPr lang="en-US" sz="1400" b="0" i="0" dirty="0"/>
          </a:p>
          <a:p>
            <a:pPr lvl="1">
              <a:lnSpc>
                <a:spcPct val="90000"/>
              </a:lnSpc>
            </a:pPr>
            <a:r>
              <a:rPr lang="en-US" sz="1400" b="0" i="0" u="none" dirty="0"/>
              <a:t>Submitting the implementation prompts produces an implementation that conforms to the </a:t>
            </a:r>
            <a:r>
              <a:rPr lang="en-US" sz="1400" b="0" i="0" u="none" dirty="0" err="1"/>
              <a:t>ianstruction</a:t>
            </a:r>
            <a:r>
              <a:rPr lang="en-US" sz="1400" b="0" i="0" u="none" dirty="0"/>
              <a:t> files and meets the acceptance criteria.</a:t>
            </a:r>
            <a:endParaRPr lang="en-US" sz="1400" b="0" i="0" dirty="0"/>
          </a:p>
          <a:p>
            <a:pPr>
              <a:lnSpc>
                <a:spcPct val="90000"/>
              </a:lnSpc>
            </a:pPr>
            <a:r>
              <a:rPr lang="en-US" sz="1400" b="0" i="0" u="none" dirty="0"/>
              <a:t>Stakeholders review and approve the resulting implementation.</a:t>
            </a:r>
            <a:endParaRPr lang="en-US" sz="1400" b="0" i="0" dirty="0"/>
          </a:p>
        </p:txBody>
      </p:sp>
      <p:pic>
        <p:nvPicPr>
          <p:cNvPr id="4" name="Picture 3" descr="_Getting_Started_Checklist_slide03_5.png"/>
          <p:cNvPicPr>
            <a:picLocks noChangeAspect="1"/>
          </p:cNvPicPr>
          <p:nvPr/>
        </p:nvPicPr>
        <p:blipFill>
          <a:blip r:embed="rId3"/>
          <a:stretch>
            <a:fillRect/>
          </a:stretch>
        </p:blipFill>
        <p:spPr>
          <a:xfrm>
            <a:off x="7773071" y="1463752"/>
            <a:ext cx="1979858" cy="4351338"/>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Starting with Requirements</a:t>
            </a:r>
          </a:p>
        </p:txBody>
      </p:sp>
      <p:sp>
        <p:nvSpPr>
          <p:cNvPr id="3" name="Subtitle 2"/>
          <p:cNvSpPr>
            <a:spLocks noGrp="1"/>
          </p:cNvSpPr>
          <p:nvPr>
            <p:ph type="subTitle" idx="1"/>
          </p:nvPr>
        </p:nvSpPr>
        <p:spPr/>
        <p:txBody>
          <a:bodyPr wrap="square">
            <a:noAutofit/>
          </a:bodyPr>
          <a:lstStyle/>
          <a:p>
            <a:pPr>
              <a:buNone/>
            </a:pPr>
            <a:r>
              <a:rPr sz="2750" b="0" i="0" u="none"/>
              <a:t>Build the Right Thing Before Building the Thing Right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33405" y="1866122"/>
            <a:ext cx="4715774" cy="1562878"/>
          </a:xfrm>
        </p:spPr>
        <p:txBody>
          <a:bodyPr wrap="square">
            <a:normAutofit/>
          </a:bodyPr>
          <a:lstStyle/>
          <a:p>
            <a:pPr>
              <a:buNone/>
            </a:pPr>
            <a:r>
              <a:rPr b="0" i="0" u="none" dirty="0"/>
              <a:t>Business Rules as Requirements</a:t>
            </a:r>
          </a:p>
        </p:txBody>
      </p:sp>
      <p:pic>
        <p:nvPicPr>
          <p:cNvPr id="3" name="Picture 2" descr="_Starting_with_Project_Requirements_slide02_4.png"/>
          <p:cNvPicPr>
            <a:picLocks noChangeAspect="1"/>
          </p:cNvPicPr>
          <p:nvPr/>
        </p:nvPicPr>
        <p:blipFill>
          <a:blip r:embed="rId3"/>
          <a:stretch>
            <a:fillRect/>
          </a:stretch>
        </p:blipFill>
        <p:spPr>
          <a:xfrm>
            <a:off x="244990" y="232338"/>
            <a:ext cx="6483613" cy="640833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Conceptual Models</a:t>
            </a:r>
          </a:p>
        </p:txBody>
      </p:sp>
      <p:sp>
        <p:nvSpPr>
          <p:cNvPr id="3" name="Content Placeholder 2"/>
          <p:cNvSpPr>
            <a:spLocks noGrp="1"/>
          </p:cNvSpPr>
          <p:nvPr>
            <p:ph idx="1"/>
          </p:nvPr>
        </p:nvSpPr>
        <p:spPr/>
        <p:txBody>
          <a:bodyPr wrap="square">
            <a:normAutofit/>
          </a:bodyPr>
          <a:lstStyle/>
          <a:p>
            <a:r>
              <a:rPr sz="2800" b="0" i="0" u="none"/>
              <a:t>Technology Agnostic</a:t>
            </a:r>
            <a:endParaRPr sz="2800" b="0" i="0">
              <a:latin typeface="Arial"/>
            </a:endParaRPr>
          </a:p>
          <a:p>
            <a:pPr lvl="1"/>
            <a:r>
              <a:rPr sz="2800" b="0" i="0" u="none"/>
              <a:t>Transformable into Logical Models</a:t>
            </a:r>
            <a:endParaRPr sz="2800" b="0" i="0">
              <a:latin typeface="Arial"/>
            </a:endParaRPr>
          </a:p>
          <a:p>
            <a:r>
              <a:rPr sz="2800" b="0" i="0" u="none"/>
              <a:t>Clarity</a:t>
            </a:r>
            <a:endParaRPr sz="2800" b="0" i="0">
              <a:latin typeface="Arial"/>
            </a:endParaRPr>
          </a:p>
          <a:p>
            <a:pPr lvl="1"/>
            <a:r>
              <a:rPr sz="2800" b="0" i="0" u="none"/>
              <a:t>Expressive</a:t>
            </a:r>
            <a:endParaRPr sz="2800" b="0" i="0">
              <a:latin typeface="Arial"/>
            </a:endParaRPr>
          </a:p>
          <a:p>
            <a:pPr lvl="1"/>
            <a:r>
              <a:rPr sz="2800" b="0" i="0" u="none"/>
              <a:t>Formal</a:t>
            </a:r>
            <a:endParaRPr sz="2800" b="0" i="0">
              <a:latin typeface="Arial"/>
            </a:endParaRPr>
          </a:p>
          <a:p>
            <a:r>
              <a:rPr sz="2800" b="0" i="0" u="none"/>
              <a:t>Conceptual Models are not a requirement</a:t>
            </a:r>
            <a:endParaRPr sz="2800" b="0" i="0">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Object Role Models</a:t>
            </a:r>
          </a:p>
        </p:txBody>
      </p:sp>
      <p:sp>
        <p:nvSpPr>
          <p:cNvPr id="3" name="Content Placeholder 2"/>
          <p:cNvSpPr>
            <a:spLocks noGrp="1"/>
          </p:cNvSpPr>
          <p:nvPr>
            <p:ph idx="1"/>
          </p:nvPr>
        </p:nvSpPr>
        <p:spPr/>
        <p:txBody>
          <a:bodyPr wrap="square">
            <a:normAutofit/>
          </a:bodyPr>
          <a:lstStyle/>
          <a:p>
            <a:r>
              <a:rPr sz="2800" b="0" i="0" u="none"/>
              <a:t>A type of conceptual model</a:t>
            </a:r>
            <a:endParaRPr sz="2800" b="0" i="0">
              <a:latin typeface="Arial"/>
            </a:endParaRPr>
          </a:p>
          <a:p>
            <a:r>
              <a:rPr sz="2800" b="0" i="0" u="none"/>
              <a:t>Supported by a Visual Studio Extension (NORMA)</a:t>
            </a:r>
            <a:endParaRPr sz="2800" b="0" i="0">
              <a:latin typeface="Arial"/>
            </a:endParaRPr>
          </a:p>
          <a:p>
            <a:r>
              <a:rPr sz="2800" b="0" i="0" u="none"/>
              <a:t>Object Role Models are textual and visual</a:t>
            </a:r>
            <a:endParaRPr sz="2800" b="0" i="0">
              <a:latin typeface="Arial"/>
            </a:endParaRPr>
          </a:p>
          <a:p>
            <a:pPr lvl="1"/>
            <a:r>
              <a:rPr sz="2800" b="0" i="0" u="none"/>
              <a:t>Text can be visualized</a:t>
            </a:r>
            <a:endParaRPr sz="2800" b="0" i="0">
              <a:latin typeface="Arial"/>
            </a:endParaRPr>
          </a:p>
          <a:p>
            <a:pPr lvl="1"/>
            <a:r>
              <a:rPr sz="2800" b="0" i="0" u="none"/>
              <a:t>Diagrams can be verbalized</a:t>
            </a:r>
            <a:endParaRPr sz="2800" b="0" i="0">
              <a:latin typeface="Arial"/>
            </a:endParaRPr>
          </a:p>
          <a:p>
            <a:r>
              <a:rPr sz="2800" b="0" i="0" u="none"/>
              <a:t>Textual representation is in a formal natural language that can be validated by subject matter experts</a:t>
            </a:r>
            <a:endParaRPr sz="2800" b="0" i="0">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Zeus.Academia.3b</a:t>
            </a:r>
          </a:p>
        </p:txBody>
      </p:sp>
      <p:sp>
        <p:nvSpPr>
          <p:cNvPr id="3" name="Content Placeholder 2"/>
          <p:cNvSpPr>
            <a:spLocks noGrp="1"/>
          </p:cNvSpPr>
          <p:nvPr>
            <p:ph idx="1"/>
          </p:nvPr>
        </p:nvSpPr>
        <p:spPr/>
        <p:txBody>
          <a:bodyPr wrap="square">
            <a:normAutofit fontScale="92500"/>
          </a:bodyPr>
          <a:lstStyle/>
          <a:p>
            <a:r>
              <a:rPr b="0" i="0" u="none" dirty="0"/>
              <a:t>Based on a publicly available model of a commonly understood domain</a:t>
            </a:r>
            <a:endParaRPr b="0" i="0" dirty="0">
              <a:latin typeface="Consolas"/>
            </a:endParaRPr>
          </a:p>
          <a:p>
            <a:pPr>
              <a:buNone/>
            </a:pPr>
            <a:r>
              <a:rPr b="0" i="0" u="none" dirty="0"/>
              <a:t>  </a:t>
            </a:r>
            <a:r>
              <a:rPr b="0" i="0" u="none" dirty="0">
                <a:latin typeface="Consolas"/>
              </a:rPr>
              <a:t>https://orm.net/pdf/ORMwhitePaper.pdf</a:t>
            </a:r>
            <a:endParaRPr b="0" i="0" dirty="0">
              <a:latin typeface="Consolas"/>
            </a:endParaRPr>
          </a:p>
          <a:p>
            <a:r>
              <a:rPr b="0" i="0" u="none" dirty="0"/>
              <a:t>Allows us to quickly move from requirements to implementation</a:t>
            </a:r>
            <a:endParaRPr b="0" i="0" dirty="0">
              <a:latin typeface="Consolas"/>
            </a:endParaRPr>
          </a:p>
          <a:p>
            <a:pPr lvl="1"/>
            <a:r>
              <a:rPr sz="2800" b="0" i="0" u="none" dirty="0">
                <a:latin typeface="Consolas"/>
              </a:rPr>
              <a:t>https://github.com/johnmillerATcodemag-com/zeus.academia.3b</a:t>
            </a:r>
            <a:endParaRPr sz="2800" b="0" i="0" dirty="0">
              <a:latin typeface="Consolas"/>
            </a:endParaRPr>
          </a:p>
          <a:p>
            <a:r>
              <a:rPr b="0" i="0" u="none" dirty="0"/>
              <a:t>Why 3b?</a:t>
            </a:r>
            <a:endParaRPr b="0" i="0" dirty="0">
              <a:latin typeface="Consolas"/>
            </a:endParaRPr>
          </a:p>
          <a:p>
            <a:pPr lvl="1"/>
            <a:r>
              <a:rPr sz="2800" b="0" i="0" u="none" dirty="0"/>
              <a:t>Third Iteration in progress</a:t>
            </a:r>
            <a:endParaRPr sz="2800" b="0" i="0" dirty="0">
              <a:latin typeface="Consolas"/>
            </a:endParaRPr>
          </a:p>
          <a:p>
            <a:pPr lvl="1"/>
            <a:r>
              <a:rPr sz="2800" b="0" i="0" u="none" dirty="0"/>
              <a:t>If something is hard, do it often</a:t>
            </a:r>
            <a:endParaRPr sz="2800" b="0" i="0" dirty="0">
              <a:latin typeface="Consola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Use Cases</a:t>
            </a:r>
          </a:p>
        </p:txBody>
      </p:sp>
      <p:sp>
        <p:nvSpPr>
          <p:cNvPr id="3" name="Content Placeholder 2"/>
          <p:cNvSpPr>
            <a:spLocks noGrp="1"/>
          </p:cNvSpPr>
          <p:nvPr>
            <p:ph idx="1"/>
          </p:nvPr>
        </p:nvSpPr>
        <p:spPr/>
        <p:txBody>
          <a:bodyPr wrap="square">
            <a:normAutofit fontScale="85000" lnSpcReduction="10000"/>
          </a:bodyPr>
          <a:lstStyle/>
          <a:p>
            <a:pPr>
              <a:buNone/>
            </a:pPr>
            <a:r>
              <a:rPr sz="2800" b="0" i="1" u="none" dirty="0"/>
              <a:t>Use cases are specific scenarios that guide data capture and processing in the application</a:t>
            </a:r>
            <a:endParaRPr lang="en-US" sz="2800" b="0" i="1" u="none" dirty="0"/>
          </a:p>
          <a:p>
            <a:pPr>
              <a:buNone/>
            </a:pPr>
            <a:endParaRPr sz="2800" b="0" i="0" dirty="0">
              <a:latin typeface="Arial"/>
            </a:endParaRPr>
          </a:p>
          <a:p>
            <a:r>
              <a:rPr sz="3200" b="0" i="0" u="none" dirty="0"/>
              <a:t>Promote a Lecturer to Senior Lecturer</a:t>
            </a:r>
            <a:endParaRPr sz="3200" b="0" i="0" dirty="0">
              <a:latin typeface="Arial"/>
            </a:endParaRPr>
          </a:p>
          <a:p>
            <a:r>
              <a:rPr sz="3200" b="0" i="0" u="none" dirty="0"/>
              <a:t>Promote a Senior Lecturer to Associate Professor</a:t>
            </a:r>
            <a:endParaRPr sz="3200" b="0" i="0" dirty="0">
              <a:latin typeface="Arial"/>
            </a:endParaRPr>
          </a:p>
          <a:p>
            <a:r>
              <a:rPr sz="3200" b="0" i="0" u="none" dirty="0"/>
              <a:t>Promote an Associate Professor to Professor</a:t>
            </a:r>
            <a:endParaRPr sz="3200" b="0" i="0" dirty="0">
              <a:latin typeface="Arial"/>
            </a:endParaRPr>
          </a:p>
          <a:p>
            <a:r>
              <a:rPr sz="3200" b="0" i="0" u="none" dirty="0"/>
              <a:t>Assign a Class to an Academic</a:t>
            </a:r>
            <a:endParaRPr sz="3200" b="0" i="0" dirty="0">
              <a:latin typeface="Arial"/>
            </a:endParaRPr>
          </a:p>
          <a:p>
            <a:r>
              <a:rPr sz="3200" b="0" i="0" u="none" dirty="0"/>
              <a:t>Add a new Academic to the faculty capturing all required information and allowing the capture of optional information</a:t>
            </a:r>
            <a:endParaRPr sz="3200" b="0" i="0" dirty="0">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3400" b="0" i="0" u="none"/>
              <a:t>Exercise: Generate Business Requirements</a:t>
            </a:r>
          </a:p>
        </p:txBody>
      </p:sp>
      <p:sp>
        <p:nvSpPr>
          <p:cNvPr id="3" name="Content Placeholder 2"/>
          <p:cNvSpPr>
            <a:spLocks noGrp="1"/>
          </p:cNvSpPr>
          <p:nvPr>
            <p:ph sz="half" idx="1"/>
          </p:nvPr>
        </p:nvSpPr>
        <p:spPr/>
        <p:txBody>
          <a:bodyPr wrap="square">
            <a:noAutofit/>
          </a:bodyPr>
          <a:lstStyle/>
          <a:p>
            <a:pPr>
              <a:buNone/>
            </a:pPr>
            <a:r>
              <a:rPr sz="1850" b="0" i="0" u="none"/>
              <a:t>Objectives:</a:t>
            </a:r>
            <a:endParaRPr sz="1850" b="0" i="0">
              <a:latin typeface="Arial"/>
            </a:endParaRPr>
          </a:p>
          <a:p>
            <a:pPr lvl="1"/>
            <a:r>
              <a:rPr sz="1850" b="0" i="0" u="none"/>
              <a:t>Use the Product Manager chat mode to create a requirements document for a calculator</a:t>
            </a:r>
            <a:endParaRPr sz="1850" b="0" i="0">
              <a:latin typeface="Arial"/>
            </a:endParaRPr>
          </a:p>
          <a:p>
            <a:pPr>
              <a:buNone/>
            </a:pPr>
            <a:endParaRPr sz="1850" b="0" i="0">
              <a:latin typeface="Arial"/>
            </a:endParaRPr>
          </a:p>
          <a:p>
            <a:pPr>
              <a:buNone/>
            </a:pPr>
            <a:r>
              <a:rPr sz="1850" b="0" i="0" u="none"/>
              <a:t>Activities:</a:t>
            </a:r>
            <a:endParaRPr sz="1850" b="0" i="0">
              <a:latin typeface="Arial"/>
            </a:endParaRPr>
          </a:p>
          <a:p>
            <a:pPr lvl="1">
              <a:buNone/>
            </a:pPr>
            <a:r>
              <a:rPr sz="1850" b="0" i="0" u="none"/>
              <a:t>  1. Activate the Product Manager chat mode</a:t>
            </a:r>
            <a:endParaRPr sz="1850" b="0" i="0">
              <a:latin typeface="Arial"/>
            </a:endParaRPr>
          </a:p>
          <a:p>
            <a:pPr lvl="1">
              <a:buNone/>
            </a:pPr>
            <a:r>
              <a:rPr sz="1850" b="0" i="0" u="none"/>
              <a:t>  2. Prompt the AI to create a requirements document</a:t>
            </a:r>
            <a:endParaRPr sz="1850" b="0" i="0">
              <a:latin typeface="Arial"/>
            </a:endParaRPr>
          </a:p>
          <a:p>
            <a:pPr lvl="1">
              <a:buNone/>
            </a:pPr>
            <a:r>
              <a:rPr sz="1850" b="0" i="0" u="none"/>
              <a:t>  3. Review the requirements</a:t>
            </a:r>
            <a:endParaRPr sz="1850" b="0" i="0">
              <a:latin typeface="Arial"/>
            </a:endParaRPr>
          </a:p>
          <a:p>
            <a:pPr lvl="1">
              <a:buNone/>
            </a:pPr>
            <a:r>
              <a:rPr sz="1850" b="0" i="0" u="none"/>
              <a:t>  4. Add an implementation plan using vertical slices</a:t>
            </a:r>
            <a:endParaRPr sz="1850" b="0" i="0">
              <a:latin typeface="Arial"/>
            </a:endParaRPr>
          </a:p>
        </p:txBody>
      </p:sp>
      <p:sp>
        <p:nvSpPr>
          <p:cNvPr id="4" name="Content Placeholder 3"/>
          <p:cNvSpPr>
            <a:spLocks noGrp="1"/>
          </p:cNvSpPr>
          <p:nvPr>
            <p:ph sz="half" idx="2"/>
          </p:nvPr>
        </p:nvSpPr>
        <p:spPr/>
        <p:txBody>
          <a:bodyPr wrap="square">
            <a:noAutofit/>
          </a:bodyPr>
          <a:lstStyle/>
          <a:p>
            <a:pPr>
              <a:buNone/>
            </a:pPr>
            <a:r>
              <a:rPr sz="1600" b="0" i="0" u="none" dirty="0"/>
              <a:t>5. Review the changes</a:t>
            </a:r>
            <a:endParaRPr sz="1600" b="0" i="0" dirty="0">
              <a:latin typeface="Arial"/>
            </a:endParaRPr>
          </a:p>
          <a:p>
            <a:pPr lvl="1">
              <a:buNone/>
            </a:pPr>
            <a:r>
              <a:rPr sz="1600" b="0" i="0" u="none" dirty="0"/>
              <a:t>  6. Add a diagram showing the relationship between Phases, Slices, and User Stories</a:t>
            </a:r>
            <a:endParaRPr sz="1600" b="0" i="0" dirty="0">
              <a:latin typeface="Arial"/>
            </a:endParaRPr>
          </a:p>
          <a:p>
            <a:pPr>
              <a:buNone/>
            </a:pPr>
            <a:endParaRPr sz="1600" b="0" i="0" dirty="0">
              <a:latin typeface="Arial"/>
            </a:endParaRPr>
          </a:p>
          <a:p>
            <a:pPr>
              <a:buNone/>
            </a:pPr>
            <a:r>
              <a:rPr sz="1600" b="0" i="0" u="none" dirty="0"/>
              <a:t>Success Criteria</a:t>
            </a:r>
            <a:endParaRPr sz="1600" b="0" i="0" dirty="0">
              <a:latin typeface="Arial"/>
            </a:endParaRPr>
          </a:p>
          <a:p>
            <a:pPr lvl="1"/>
            <a:r>
              <a:rPr sz="1600" b="0" i="0" u="none" dirty="0"/>
              <a:t>The requirements document exists and passes review</a:t>
            </a:r>
            <a:endParaRPr sz="1600" b="0" i="0" dirty="0">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3400" b="0" i="0" u="none"/>
              <a:t>Exercise: Generate Business Requirements</a:t>
            </a:r>
          </a:p>
        </p:txBody>
      </p:sp>
      <p:sp>
        <p:nvSpPr>
          <p:cNvPr id="3" name="Content Placeholder 2"/>
          <p:cNvSpPr>
            <a:spLocks noGrp="1"/>
          </p:cNvSpPr>
          <p:nvPr>
            <p:ph sz="half" idx="1"/>
          </p:nvPr>
        </p:nvSpPr>
        <p:spPr/>
        <p:txBody>
          <a:bodyPr wrap="square">
            <a:normAutofit/>
          </a:bodyPr>
          <a:lstStyle/>
          <a:p>
            <a:pPr>
              <a:buNone/>
            </a:pPr>
            <a:r>
              <a:rPr sz="2000" b="0" i="0" u="none" dirty="0"/>
              <a:t>Objectives:</a:t>
            </a:r>
            <a:endParaRPr sz="2000" b="0" i="0" dirty="0">
              <a:latin typeface="Arial"/>
            </a:endParaRPr>
          </a:p>
          <a:p>
            <a:pPr lvl="1"/>
            <a:r>
              <a:rPr sz="2000" b="0" i="0" u="none" dirty="0"/>
              <a:t>Use the Product Manager chat mode to update the requirements document to implement using vertical slices</a:t>
            </a:r>
            <a:endParaRPr lang="en-US" sz="2000" b="0" i="0" u="none" dirty="0"/>
          </a:p>
          <a:p>
            <a:pPr lvl="1"/>
            <a:endParaRPr lang="en-US" sz="2000" dirty="0">
              <a:latin typeface="Arial"/>
            </a:endParaRPr>
          </a:p>
          <a:p>
            <a:pPr>
              <a:buNone/>
            </a:pPr>
            <a:r>
              <a:rPr lang="en-US" sz="2000" dirty="0"/>
              <a:t>Activities:</a:t>
            </a:r>
            <a:endParaRPr lang="en-US" sz="2000" dirty="0">
              <a:latin typeface="Arial"/>
            </a:endParaRPr>
          </a:p>
          <a:p>
            <a:pPr lvl="1">
              <a:buNone/>
            </a:pPr>
            <a:r>
              <a:rPr lang="en-US" sz="2000" dirty="0"/>
              <a:t>  1. Activate the Product Manager chat mode</a:t>
            </a:r>
            <a:endParaRPr lang="en-US" sz="2000" dirty="0">
              <a:latin typeface="Arial"/>
            </a:endParaRPr>
          </a:p>
          <a:p>
            <a:pPr lvl="1">
              <a:buNone/>
            </a:pPr>
            <a:r>
              <a:rPr lang="en-US" sz="2000" dirty="0"/>
              <a:t>  2. Prompt the AI to add a vertical slices implementation plan</a:t>
            </a:r>
            <a:endParaRPr lang="en-US" sz="2000" dirty="0">
              <a:latin typeface="Arial"/>
            </a:endParaRPr>
          </a:p>
        </p:txBody>
      </p:sp>
      <p:sp>
        <p:nvSpPr>
          <p:cNvPr id="4" name="Content Placeholder 3"/>
          <p:cNvSpPr>
            <a:spLocks noGrp="1"/>
          </p:cNvSpPr>
          <p:nvPr>
            <p:ph sz="half" idx="2"/>
          </p:nvPr>
        </p:nvSpPr>
        <p:spPr/>
        <p:txBody>
          <a:bodyPr wrap="square">
            <a:noAutofit/>
          </a:bodyPr>
          <a:lstStyle/>
          <a:p>
            <a:pPr>
              <a:buNone/>
            </a:pPr>
            <a:r>
              <a:rPr sz="1850" b="0" i="0" u="none" dirty="0"/>
              <a:t>3. Review the changes</a:t>
            </a:r>
            <a:endParaRPr lang="en-US" sz="1850" b="0" i="0" u="none" dirty="0"/>
          </a:p>
          <a:p>
            <a:pPr>
              <a:buNone/>
            </a:pPr>
            <a:r>
              <a:rPr sz="1850" b="0" i="0" u="none" dirty="0"/>
              <a:t>4. Add a diagram showing the relationship between Phases, Slices, and User Stories</a:t>
            </a:r>
            <a:endParaRPr sz="1850" b="0" i="0" dirty="0">
              <a:latin typeface="Arial"/>
            </a:endParaRPr>
          </a:p>
          <a:p>
            <a:pPr>
              <a:buNone/>
            </a:pPr>
            <a:endParaRPr sz="1850" b="0" i="0" dirty="0">
              <a:latin typeface="Arial"/>
            </a:endParaRPr>
          </a:p>
          <a:p>
            <a:pPr>
              <a:buNone/>
            </a:pPr>
            <a:r>
              <a:rPr sz="1850" b="0" i="0" u="none" dirty="0"/>
              <a:t>Success Criteria</a:t>
            </a:r>
            <a:endParaRPr sz="1850" b="0" i="0" dirty="0">
              <a:latin typeface="Arial"/>
            </a:endParaRPr>
          </a:p>
          <a:p>
            <a:pPr lvl="1"/>
            <a:r>
              <a:rPr sz="1850" b="0" i="0" u="none" dirty="0"/>
              <a:t>The implementation plan passes review</a:t>
            </a:r>
            <a:endParaRPr sz="1850" b="0" i="0" dirty="0">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4000" b="0" i="0" u="none"/>
              <a:t>Exercise: Business Requirements Generation</a:t>
            </a:r>
          </a:p>
        </p:txBody>
      </p:sp>
      <p:sp>
        <p:nvSpPr>
          <p:cNvPr id="3" name="Subtitle 2"/>
          <p:cNvSpPr>
            <a:spLocks noGrp="1"/>
          </p:cNvSpPr>
          <p:nvPr>
            <p:ph type="subTitle" idx="1"/>
          </p:nvPr>
        </p:nvSpPr>
        <p:spPr/>
        <p:txBody>
          <a:bodyPr wrap="square">
            <a:normAutofit/>
          </a:bodyPr>
          <a:lstStyle/>
          <a:p>
            <a:pPr>
              <a:buNone/>
            </a:pPr>
            <a:r>
              <a:rPr b="0" i="0" u="none"/>
              <a:t>Let the AI Write the Requirements for Once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3250" b="0" i="0" u="none"/>
              <a:t>Exercise: Business Requirements Generation</a:t>
            </a:r>
          </a:p>
        </p:txBody>
      </p:sp>
      <p:sp>
        <p:nvSpPr>
          <p:cNvPr id="3" name="Content Placeholder 2"/>
          <p:cNvSpPr>
            <a:spLocks noGrp="1"/>
          </p:cNvSpPr>
          <p:nvPr>
            <p:ph sz="half" idx="1"/>
          </p:nvPr>
        </p:nvSpPr>
        <p:spPr/>
        <p:txBody>
          <a:bodyPr wrap="square">
            <a:noAutofit/>
          </a:bodyPr>
          <a:lstStyle/>
          <a:p>
            <a:pPr>
              <a:buNone/>
            </a:pPr>
            <a:r>
              <a:rPr sz="1400" b="0" i="0" u="none"/>
              <a:t>Objectives</a:t>
            </a:r>
            <a:endParaRPr sz="1400" b="0" i="0">
              <a:latin typeface="Arial"/>
            </a:endParaRPr>
          </a:p>
          <a:p>
            <a:pPr lvl="1"/>
            <a:r>
              <a:rPr sz="1400" b="0" i="0" u="none"/>
              <a:t>Create a business requirements document for the calculator project</a:t>
            </a:r>
            <a:endParaRPr sz="1400" b="0" i="0">
              <a:latin typeface="Arial"/>
            </a:endParaRPr>
          </a:p>
          <a:p>
            <a:pPr lvl="1"/>
            <a:r>
              <a:rPr sz="1400" b="0" i="0" u="none"/>
              <a:t>Use the Product Manager agent with existing instruction files</a:t>
            </a:r>
            <a:endParaRPr sz="1400" b="0" i="0">
              <a:latin typeface="Arial"/>
            </a:endParaRPr>
          </a:p>
          <a:p>
            <a:pPr lvl="1"/>
            <a:r>
              <a:rPr sz="1400" b="0" i="0" u="none"/>
              <a:t>Apply the expected branch and repository workflow for Greenfield work</a:t>
            </a:r>
            <a:endParaRPr sz="1400" b="0" i="0">
              <a:latin typeface="Arial"/>
            </a:endParaRPr>
          </a:p>
          <a:p>
            <a:pPr lvl="1"/>
            <a:r>
              <a:rPr sz="1400" b="0" i="0" u="none"/>
              <a:t>Validate the requirements draft through review, clarification, and independent iteration</a:t>
            </a:r>
            <a:endParaRPr sz="1400" b="0" i="0">
              <a:latin typeface="Arial"/>
            </a:endParaRPr>
          </a:p>
          <a:p>
            <a:pPr>
              <a:buNone/>
            </a:pPr>
            <a:endParaRPr sz="1400" b="0" i="0">
              <a:latin typeface="Arial"/>
            </a:endParaRPr>
          </a:p>
          <a:p>
            <a:pPr>
              <a:buNone/>
            </a:pPr>
            <a:r>
              <a:rPr sz="1400" b="0" i="0" u="none"/>
              <a:t>Activities</a:t>
            </a:r>
            <a:endParaRPr sz="1400" b="0" i="0">
              <a:latin typeface="Arial"/>
            </a:endParaRPr>
          </a:p>
          <a:p>
            <a:pPr lvl="1">
              <a:buNone/>
            </a:pPr>
            <a:r>
              <a:rPr sz="1400" b="0" i="0" u="none"/>
              <a:t>  1. Create a personal branch from the Greenfield branch in the class repository.</a:t>
            </a:r>
            <a:endParaRPr sz="1400" b="0" i="0">
              <a:latin typeface="Arial"/>
            </a:endParaRPr>
          </a:p>
          <a:p>
            <a:pPr lvl="1">
              <a:buNone/>
            </a:pPr>
            <a:r>
              <a:rPr sz="1400" b="0" i="0" u="none"/>
              <a:t>  2. Use the Product Manager agent to generate a calculator requirements document.</a:t>
            </a:r>
            <a:endParaRPr sz="1400" b="0" i="0">
              <a:latin typeface="Arial"/>
            </a:endParaRPr>
          </a:p>
          <a:p>
            <a:pPr lvl="1">
              <a:buNone/>
            </a:pPr>
            <a:r>
              <a:rPr sz="1400" b="0" i="0" u="none"/>
              <a:t>  3. Apply the existing instruction files to improve scope, structure, and consistency.</a:t>
            </a:r>
            <a:endParaRPr sz="1400" b="0" i="0">
              <a:latin typeface="Arial"/>
            </a:endParaRPr>
          </a:p>
        </p:txBody>
      </p:sp>
      <p:sp>
        <p:nvSpPr>
          <p:cNvPr id="4" name="Content Placeholder 3"/>
          <p:cNvSpPr>
            <a:spLocks noGrp="1"/>
          </p:cNvSpPr>
          <p:nvPr>
            <p:ph sz="half" idx="2"/>
          </p:nvPr>
        </p:nvSpPr>
        <p:spPr/>
        <p:txBody>
          <a:bodyPr wrap="square">
            <a:noAutofit/>
          </a:bodyPr>
          <a:lstStyle/>
          <a:p>
            <a:pPr>
              <a:buNone/>
            </a:pPr>
            <a:r>
              <a:rPr sz="1500" b="0" i="0" u="none" dirty="0"/>
              <a:t>4. Confirm repository choice, branching strategy, and how to handle any existing PRD content before continuing.</a:t>
            </a:r>
            <a:endParaRPr lang="en-US" sz="1500" dirty="0">
              <a:latin typeface="Arial"/>
            </a:endParaRPr>
          </a:p>
          <a:p>
            <a:pPr>
              <a:buNone/>
            </a:pPr>
            <a:r>
              <a:rPr sz="1500" b="0" i="0" u="none" dirty="0"/>
              <a:t>5. Work independently on the requirements document while the instructor provides check-ins and support.</a:t>
            </a:r>
            <a:endParaRPr sz="1500" b="0" i="0" dirty="0">
              <a:latin typeface="Arial"/>
            </a:endParaRPr>
          </a:p>
          <a:p>
            <a:pPr>
              <a:buNone/>
            </a:pPr>
            <a:endParaRPr sz="1500" b="0" i="0" dirty="0">
              <a:latin typeface="Arial"/>
            </a:endParaRPr>
          </a:p>
          <a:p>
            <a:pPr>
              <a:buNone/>
            </a:pPr>
            <a:r>
              <a:rPr sz="1500" b="0" i="0" u="none" dirty="0"/>
              <a:t>Success Criteria</a:t>
            </a:r>
            <a:endParaRPr sz="1500" b="0" i="0" dirty="0">
              <a:latin typeface="Arial"/>
            </a:endParaRPr>
          </a:p>
          <a:p>
            <a:pPr lvl="1"/>
            <a:r>
              <a:rPr sz="1500" b="0" i="0" u="none" dirty="0"/>
              <a:t>A calculator business requirements document exists on the correct personal branch</a:t>
            </a:r>
            <a:endParaRPr sz="1500" b="0" i="0" dirty="0">
              <a:latin typeface="Arial"/>
            </a:endParaRPr>
          </a:p>
          <a:p>
            <a:pPr lvl="1"/>
            <a:r>
              <a:rPr sz="1500" b="0" i="0" u="none" dirty="0"/>
              <a:t>The Product Manager agent and instruction files are both used effectively</a:t>
            </a:r>
            <a:endParaRPr sz="1500" b="0" i="0" dirty="0">
              <a:latin typeface="Arial"/>
            </a:endParaRPr>
          </a:p>
          <a:p>
            <a:pPr lvl="1"/>
            <a:r>
              <a:rPr sz="1500" b="0" i="0" u="none" dirty="0"/>
              <a:t>Repository and branching decisions are applied correctly and consistently</a:t>
            </a:r>
            <a:endParaRPr sz="1500" b="0" i="0" dirty="0">
              <a:latin typeface="Arial"/>
            </a:endParaRPr>
          </a:p>
          <a:p>
            <a:pPr lvl="1"/>
            <a:r>
              <a:rPr sz="1500" b="0" i="0" u="none" dirty="0"/>
              <a:t>Participants can explain what changed after clarifications and independent refinement</a:t>
            </a:r>
            <a:endParaRPr sz="1500" b="0" i="0" dirty="0">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Autofit/>
          </a:bodyPr>
          <a:lstStyle/>
          <a:p>
            <a:r>
              <a:rPr sz="2350" b="0" i="0" u="none" dirty="0"/>
              <a:t>Intro</a:t>
            </a:r>
          </a:p>
          <a:p>
            <a:r>
              <a:rPr sz="2350" b="0" i="0" u="none" dirty="0"/>
              <a:t>Specification Driven Software Development</a:t>
            </a:r>
          </a:p>
          <a:p>
            <a:r>
              <a:rPr sz="2350" b="1" i="0" u="none" dirty="0"/>
              <a:t>▶ Architecture Specification</a:t>
            </a:r>
          </a:p>
          <a:p>
            <a:r>
              <a:rPr sz="2350" b="0" i="0" u="none" dirty="0"/>
              <a:t>Technology Specification</a:t>
            </a:r>
          </a:p>
          <a:p>
            <a:r>
              <a:rPr sz="2350" b="0" i="0" u="none" dirty="0"/>
              <a:t>Implementation Specification</a:t>
            </a:r>
          </a:p>
          <a:p>
            <a:r>
              <a:rPr sz="2350" b="0" i="0" u="none" dirty="0"/>
              <a:t>Implementation Planning</a:t>
            </a:r>
          </a:p>
          <a:p>
            <a:r>
              <a:rPr sz="2350" b="0" i="0" u="none" dirty="0"/>
              <a:t>Implementation Prompts</a:t>
            </a:r>
          </a:p>
          <a:p>
            <a:r>
              <a:rPr sz="2350" b="0" i="0" u="none" dirty="0"/>
              <a:t>Vertical Slice Implementation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CQRS Architecture</a:t>
            </a:r>
          </a:p>
        </p:txBody>
      </p:sp>
      <p:sp>
        <p:nvSpPr>
          <p:cNvPr id="3" name="Subtitle 2"/>
          <p:cNvSpPr>
            <a:spLocks noGrp="1"/>
          </p:cNvSpPr>
          <p:nvPr>
            <p:ph type="subTitle" idx="1"/>
          </p:nvPr>
        </p:nvSpPr>
        <p:spPr/>
        <p:txBody>
          <a:bodyPr wrap="square">
            <a:normAutofit/>
          </a:bodyPr>
          <a:lstStyle/>
          <a:p>
            <a:pPr>
              <a:buNone/>
            </a:pPr>
            <a:r>
              <a:rPr b="0" i="0" u="none"/>
              <a:t>Reads and Writes: Better Apart, Like Most Couples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lang="en-US" b="0" i="0" u="none" dirty="0"/>
              <a:t>CQRS Benefits</a:t>
            </a:r>
            <a:endParaRPr b="0" i="0" u="none" dirty="0"/>
          </a:p>
        </p:txBody>
      </p:sp>
      <p:sp>
        <p:nvSpPr>
          <p:cNvPr id="3" name="Subtitle 2"/>
          <p:cNvSpPr>
            <a:spLocks noGrp="1"/>
          </p:cNvSpPr>
          <p:nvPr>
            <p:ph idx="1"/>
          </p:nvPr>
        </p:nvSpPr>
        <p:spPr/>
        <p:txBody>
          <a:bodyPr wrap="square">
            <a:normAutofit/>
          </a:bodyPr>
          <a:lstStyle/>
          <a:p>
            <a:r>
              <a:rPr lang="en-US" dirty="0"/>
              <a:t>CQRS separates write (command) operations from read (query) operations</a:t>
            </a:r>
          </a:p>
          <a:p>
            <a:r>
              <a:rPr lang="en-US" dirty="0"/>
              <a:t>Enables independent scaling and optimization of each model</a:t>
            </a:r>
          </a:p>
          <a:p>
            <a:r>
              <a:rPr lang="en-US" dirty="0"/>
              <a:t>Useful when read and write workloads have very different characteristics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When to Use CQRS</a:t>
            </a:r>
          </a:p>
        </p:txBody>
      </p:sp>
      <p:sp>
        <p:nvSpPr>
          <p:cNvPr id="3" name="Content Placeholder 2"/>
          <p:cNvSpPr>
            <a:spLocks noGrp="1"/>
          </p:cNvSpPr>
          <p:nvPr>
            <p:ph sz="half" idx="1"/>
          </p:nvPr>
        </p:nvSpPr>
        <p:spPr/>
        <p:txBody>
          <a:bodyPr wrap="square">
            <a:noAutofit/>
          </a:bodyPr>
          <a:lstStyle/>
          <a:p>
            <a:pPr>
              <a:buNone/>
            </a:pPr>
            <a:r>
              <a:rPr sz="2000" b="1" i="0" u="none"/>
              <a:t>✅ Use CQRS when:</a:t>
            </a:r>
            <a:endParaRPr sz="2000" b="0" i="0">
              <a:latin typeface="Arial"/>
            </a:endParaRPr>
          </a:p>
          <a:p>
            <a:pPr lvl="1"/>
            <a:r>
              <a:rPr sz="2000" b="0" i="0" u="none"/>
              <a:t>Read and write workloads scale differently</a:t>
            </a:r>
            <a:endParaRPr sz="2000" b="0" i="0">
              <a:latin typeface="Arial"/>
            </a:endParaRPr>
          </a:p>
          <a:p>
            <a:pPr lvl="1"/>
            <a:r>
              <a:rPr sz="2000" b="0" i="0" u="none"/>
              <a:t>Read models need denormalization, caching, or projections</a:t>
            </a:r>
            <a:endParaRPr sz="2000" b="0" i="0">
              <a:latin typeface="Arial"/>
            </a:endParaRPr>
          </a:p>
          <a:p>
            <a:pPr lvl="1"/>
            <a:r>
              <a:rPr sz="2000" b="0" i="0" u="none"/>
              <a:t>Write model needs strong invariants and task-focused workflows</a:t>
            </a:r>
            <a:endParaRPr sz="2000" b="0" i="0">
              <a:latin typeface="Arial"/>
            </a:endParaRPr>
          </a:p>
          <a:p>
            <a:pPr lvl="1"/>
            <a:r>
              <a:rPr sz="2000" b="0" i="0" u="none"/>
              <a:t>Auditing or event sourcing is required</a:t>
            </a:r>
            <a:endParaRPr sz="2000" b="0" i="0">
              <a:latin typeface="Arial"/>
            </a:endParaRPr>
          </a:p>
          <a:p>
            <a:pPr lvl="1"/>
            <a:r>
              <a:rPr sz="2000" b="0" i="0" u="none"/>
              <a:t>Query complexity slows transactional throughput</a:t>
            </a:r>
            <a:endParaRPr sz="2000" b="0" i="0">
              <a:latin typeface="Arial"/>
            </a:endParaRPr>
          </a:p>
        </p:txBody>
      </p:sp>
      <p:sp>
        <p:nvSpPr>
          <p:cNvPr id="4" name="Content Placeholder 3"/>
          <p:cNvSpPr>
            <a:spLocks noGrp="1"/>
          </p:cNvSpPr>
          <p:nvPr>
            <p:ph sz="half" idx="2"/>
          </p:nvPr>
        </p:nvSpPr>
        <p:spPr/>
        <p:txBody>
          <a:bodyPr wrap="square">
            <a:normAutofit/>
          </a:bodyPr>
          <a:lstStyle/>
          <a:p>
            <a:pPr>
              <a:buNone/>
            </a:pPr>
            <a:r>
              <a:rPr sz="2800" b="1" i="0" u="none" dirty="0"/>
              <a:t>❌ </a:t>
            </a:r>
            <a:r>
              <a:rPr sz="1800" b="1" i="0" u="none" dirty="0"/>
              <a:t>Avoid CQRS when:</a:t>
            </a:r>
            <a:endParaRPr sz="1800" b="0" i="0" dirty="0">
              <a:latin typeface="Arial"/>
            </a:endParaRPr>
          </a:p>
          <a:p>
            <a:pPr lvl="1"/>
            <a:r>
              <a:rPr sz="1800" b="0" i="0" u="none" dirty="0"/>
              <a:t>Domain is small and reads/writes are balanced</a:t>
            </a:r>
            <a:endParaRPr sz="1800" b="0" i="0" dirty="0">
              <a:latin typeface="Arial"/>
            </a:endParaRPr>
          </a:p>
          <a:p>
            <a:pPr lvl="1"/>
            <a:r>
              <a:rPr sz="1800" b="0" i="0" u="none" dirty="0"/>
              <a:t>No clear boundary between commands and queries</a:t>
            </a:r>
            <a:endParaRPr sz="1800" b="0" i="0" dirty="0">
              <a:latin typeface="Arial"/>
            </a:endParaRPr>
          </a:p>
          <a:p>
            <a:pPr lvl="1"/>
            <a:r>
              <a:rPr sz="1800" b="0" i="0" u="none" dirty="0"/>
              <a:t>Operational overhead is not justified</a:t>
            </a:r>
            <a:endParaRPr sz="1800" b="0" i="0" dirty="0">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Core Principles</a:t>
            </a:r>
          </a:p>
        </p:txBody>
      </p:sp>
      <p:graphicFrame>
        <p:nvGraphicFramePr>
          <p:cNvPr id="3" name="Table 2"/>
          <p:cNvGraphicFramePr>
            <a:graphicFrameLocks noGrp="1"/>
          </p:cNvGraphicFramePr>
          <p:nvPr>
            <p:extLst>
              <p:ext uri="{D42A27DB-BD31-4B8C-83A1-F6EECF244321}">
                <p14:modId xmlns:p14="http://schemas.microsoft.com/office/powerpoint/2010/main" val="2783845449"/>
              </p:ext>
            </p:extLst>
          </p:nvPr>
        </p:nvGraphicFramePr>
        <p:xfrm>
          <a:off x="1219200" y="1828800"/>
          <a:ext cx="9753600" cy="4206240"/>
        </p:xfrm>
        <a:graphic>
          <a:graphicData uri="http://schemas.openxmlformats.org/drawingml/2006/table">
            <a:tbl>
              <a:tblPr firstRow="1" bandRow="1">
                <a:tableStyleId>{5C22544A-7EE6-4342-B048-85BDC9FD1C3A}</a:tableStyleId>
              </a:tblPr>
              <a:tblGrid>
                <a:gridCol w="4876800">
                  <a:extLst>
                    <a:ext uri="{9D8B030D-6E8A-4147-A177-3AD203B41FA5}">
                      <a16:colId xmlns:a16="http://schemas.microsoft.com/office/drawing/2014/main" val="20000"/>
                    </a:ext>
                  </a:extLst>
                </a:gridCol>
                <a:gridCol w="4876800">
                  <a:extLst>
                    <a:ext uri="{9D8B030D-6E8A-4147-A177-3AD203B41FA5}">
                      <a16:colId xmlns:a16="http://schemas.microsoft.com/office/drawing/2014/main" val="20001"/>
                    </a:ext>
                  </a:extLst>
                </a:gridCol>
              </a:tblGrid>
              <a:tr h="457200">
                <a:tc>
                  <a:txBody>
                    <a:bodyPr/>
                    <a:lstStyle/>
                    <a:p>
                      <a:pPr>
                        <a:buNone/>
                        <a:defRPr sz="1600" b="1">
                          <a:solidFill>
                            <a:schemeClr val="bg1"/>
                          </a:solidFill>
                        </a:defRPr>
                      </a:pPr>
                      <a:r>
                        <a:rPr sz="2400" b="0" i="0" u="none"/>
                        <a:t>Principle</a:t>
                      </a:r>
                    </a:p>
                  </a:txBody>
                  <a:tcPr>
                    <a:solidFill>
                      <a:schemeClr val="accent4"/>
                    </a:solidFill>
                  </a:tcPr>
                </a:tc>
                <a:tc>
                  <a:txBody>
                    <a:bodyPr/>
                    <a:lstStyle/>
                    <a:p>
                      <a:pPr>
                        <a:buNone/>
                        <a:defRPr sz="1600" b="1">
                          <a:solidFill>
                            <a:schemeClr val="bg1"/>
                          </a:solidFill>
                        </a:defRPr>
                      </a:pPr>
                      <a:r>
                        <a:rPr sz="2400" b="0" i="0" u="none"/>
                        <a:t>Detail</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2400" b="1" i="0" u="none"/>
                        <a:t>Separation</a:t>
                      </a:r>
                    </a:p>
                  </a:txBody>
                  <a:tcPr>
                    <a:solidFill>
                      <a:schemeClr val="accent4">
                        <a:lumMod val="20000"/>
                        <a:lumOff val="80000"/>
                      </a:schemeClr>
                    </a:solidFill>
                  </a:tcPr>
                </a:tc>
                <a:tc>
                  <a:txBody>
                    <a:bodyPr/>
                    <a:lstStyle/>
                    <a:p>
                      <a:pPr>
                        <a:buNone/>
                        <a:defRPr sz="1600" b="0">
                          <a:solidFill>
                            <a:schemeClr val="tx1"/>
                          </a:solidFill>
                        </a:defRPr>
                      </a:pPr>
                      <a:r>
                        <a:rPr sz="2400" b="0" i="0" u="none"/>
                        <a:t>Commands change state; queries never change state</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2400" b="1" i="0" u="none"/>
                        <a:t>Invariants</a:t>
                      </a:r>
                    </a:p>
                  </a:txBody>
                  <a:tcPr>
                    <a:solidFill>
                      <a:schemeClr val="accent4">
                        <a:lumMod val="8000"/>
                        <a:lumOff val="92000"/>
                      </a:schemeClr>
                    </a:solidFill>
                  </a:tcPr>
                </a:tc>
                <a:tc>
                  <a:txBody>
                    <a:bodyPr/>
                    <a:lstStyle/>
                    <a:p>
                      <a:pPr>
                        <a:buNone/>
                        <a:defRPr sz="1600" b="0">
                          <a:solidFill>
                            <a:schemeClr val="tx1"/>
                          </a:solidFill>
                        </a:defRPr>
                      </a:pPr>
                      <a:r>
                        <a:rPr sz="2400" b="0" i="0" u="none"/>
                        <a:t>Write model enforces all business rules</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2400" b="1" i="0" u="none"/>
                        <a:t>Optimization</a:t>
                      </a:r>
                    </a:p>
                  </a:txBody>
                  <a:tcPr>
                    <a:solidFill>
                      <a:schemeClr val="accent4">
                        <a:lumMod val="20000"/>
                        <a:lumOff val="80000"/>
                      </a:schemeClr>
                    </a:solidFill>
                  </a:tcPr>
                </a:tc>
                <a:tc>
                  <a:txBody>
                    <a:bodyPr/>
                    <a:lstStyle/>
                    <a:p>
                      <a:pPr>
                        <a:buNone/>
                        <a:defRPr sz="1600" b="0">
                          <a:solidFill>
                            <a:schemeClr val="tx1"/>
                          </a:solidFill>
                        </a:defRPr>
                      </a:pPr>
                      <a:r>
                        <a:rPr sz="2400" b="0" i="0" u="none"/>
                        <a:t>Read model is shaped for query use cases</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2400" b="1" i="0" u="none" dirty="0"/>
                        <a:t>Independence</a:t>
                      </a:r>
                    </a:p>
                  </a:txBody>
                  <a:tcPr>
                    <a:solidFill>
                      <a:schemeClr val="accent4">
                        <a:lumMod val="8000"/>
                        <a:lumOff val="92000"/>
                      </a:schemeClr>
                    </a:solidFill>
                  </a:tcPr>
                </a:tc>
                <a:tc>
                  <a:txBody>
                    <a:bodyPr/>
                    <a:lstStyle/>
                    <a:p>
                      <a:pPr>
                        <a:buNone/>
                        <a:defRPr sz="1600" b="0">
                          <a:solidFill>
                            <a:schemeClr val="tx1"/>
                          </a:solidFill>
                        </a:defRPr>
                      </a:pPr>
                      <a:r>
                        <a:rPr sz="2400" b="0" i="0" u="none"/>
                        <a:t>Models can evolve separately</a:t>
                      </a:r>
                    </a:p>
                  </a:txBody>
                  <a:tcPr>
                    <a:solidFill>
                      <a:schemeClr val="accent4">
                        <a:lumMod val="8000"/>
                        <a:lumOff val="92000"/>
                      </a:schemeClr>
                    </a:solidFill>
                  </a:tcPr>
                </a:tc>
                <a:extLst>
                  <a:ext uri="{0D108BD9-81ED-4DB2-BD59-A6C34878D82A}">
                    <a16:rowId xmlns:a16="http://schemas.microsoft.com/office/drawing/2014/main" val="10004"/>
                  </a:ext>
                </a:extLst>
              </a:tr>
              <a:tr h="457200">
                <a:tc>
                  <a:txBody>
                    <a:bodyPr/>
                    <a:lstStyle/>
                    <a:p>
                      <a:pPr>
                        <a:buNone/>
                        <a:defRPr sz="1600" b="0">
                          <a:solidFill>
                            <a:schemeClr val="tx1"/>
                          </a:solidFill>
                        </a:defRPr>
                      </a:pPr>
                      <a:r>
                        <a:rPr sz="2400" b="1" i="0" u="none"/>
                        <a:t>Consistency</a:t>
                      </a:r>
                    </a:p>
                  </a:txBody>
                  <a:tcPr>
                    <a:solidFill>
                      <a:schemeClr val="accent4">
                        <a:lumMod val="20000"/>
                        <a:lumOff val="80000"/>
                      </a:schemeClr>
                    </a:solidFill>
                  </a:tcPr>
                </a:tc>
                <a:tc>
                  <a:txBody>
                    <a:bodyPr/>
                    <a:lstStyle/>
                    <a:p>
                      <a:pPr>
                        <a:buNone/>
                        <a:defRPr sz="1600" b="0">
                          <a:solidFill>
                            <a:schemeClr val="tx1"/>
                          </a:solidFill>
                        </a:defRPr>
                      </a:pPr>
                      <a:r>
                        <a:rPr sz="2400" b="0" i="0" u="none" dirty="0"/>
                        <a:t>Eventual consistency between write and read</a:t>
                      </a:r>
                    </a:p>
                  </a:txBody>
                  <a:tcPr>
                    <a:solidFill>
                      <a:schemeClr val="accent4">
                        <a:lumMod val="20000"/>
                        <a:lumOff val="80000"/>
                      </a:schemeClr>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928887" cy="703024"/>
          </a:xfrm>
        </p:spPr>
        <p:txBody>
          <a:bodyPr anchor="ctr">
            <a:normAutofit/>
          </a:bodyPr>
          <a:lstStyle/>
          <a:p>
            <a:pPr>
              <a:buNone/>
            </a:pPr>
            <a:r>
              <a:rPr b="0" i="0" u="none"/>
              <a:t>CQRS Architecture Components</a:t>
            </a:r>
          </a:p>
        </p:txBody>
      </p:sp>
      <p:sp>
        <p:nvSpPr>
          <p:cNvPr id="4" name="Content Placeholder 3"/>
          <p:cNvSpPr>
            <a:spLocks noGrp="1"/>
          </p:cNvSpPr>
          <p:nvPr>
            <p:ph sz="half" idx="1"/>
          </p:nvPr>
        </p:nvSpPr>
        <p:spPr>
          <a:xfrm>
            <a:off x="838200" y="1463752"/>
            <a:ext cx="5181600" cy="4351338"/>
          </a:xfrm>
        </p:spPr>
        <p:txBody>
          <a:bodyPr>
            <a:normAutofit/>
          </a:bodyPr>
          <a:lstStyle/>
          <a:p>
            <a:pPr>
              <a:lnSpc>
                <a:spcPct val="90000"/>
              </a:lnSpc>
              <a:buNone/>
            </a:pPr>
            <a:r>
              <a:rPr sz="1800" b="1" i="0" u="none"/>
              <a:t>Minimum components</a:t>
            </a:r>
            <a:endParaRPr sz="1800" b="0" i="0"/>
          </a:p>
          <a:p>
            <a:pPr>
              <a:lnSpc>
                <a:spcPct val="90000"/>
              </a:lnSpc>
              <a:buNone/>
            </a:pPr>
            <a:endParaRPr sz="1800" b="0" i="0"/>
          </a:p>
          <a:p>
            <a:pPr>
              <a:lnSpc>
                <a:spcPct val="90000"/>
              </a:lnSpc>
            </a:pPr>
            <a:r>
              <a:rPr sz="1800" b="1" i="0" u="none"/>
              <a:t>Command API</a:t>
            </a:r>
            <a:r>
              <a:rPr sz="1800" b="0" i="0" u="none"/>
              <a:t> — receives write requests</a:t>
            </a:r>
            <a:endParaRPr sz="1800" b="0" i="0"/>
          </a:p>
          <a:p>
            <a:pPr>
              <a:lnSpc>
                <a:spcPct val="90000"/>
              </a:lnSpc>
            </a:pPr>
            <a:r>
              <a:rPr sz="1800" b="1" i="0" u="none"/>
              <a:t>Command Handler</a:t>
            </a:r>
            <a:r>
              <a:rPr sz="1800" b="0" i="0" u="none"/>
              <a:t> — enforces domain rules</a:t>
            </a:r>
            <a:endParaRPr sz="1800" b="0" i="0"/>
          </a:p>
          <a:p>
            <a:pPr>
              <a:lnSpc>
                <a:spcPct val="90000"/>
              </a:lnSpc>
            </a:pPr>
            <a:r>
              <a:rPr sz="1800" b="1" i="0" u="none"/>
              <a:t>Write Store</a:t>
            </a:r>
            <a:r>
              <a:rPr sz="1800" b="0" i="0" u="none"/>
              <a:t> — authoritative OLTP system</a:t>
            </a:r>
            <a:endParaRPr sz="1800" b="0" i="0"/>
          </a:p>
          <a:p>
            <a:pPr>
              <a:lnSpc>
                <a:spcPct val="90000"/>
              </a:lnSpc>
            </a:pPr>
            <a:r>
              <a:rPr sz="1800" b="1" i="0" u="none"/>
              <a:t>Publisher</a:t>
            </a:r>
            <a:r>
              <a:rPr sz="1800" b="0" i="0" u="none"/>
              <a:t> — emits events reliably</a:t>
            </a:r>
            <a:endParaRPr sz="1800" b="0" i="0"/>
          </a:p>
          <a:p>
            <a:pPr>
              <a:lnSpc>
                <a:spcPct val="90000"/>
              </a:lnSpc>
            </a:pPr>
            <a:r>
              <a:rPr sz="1800" b="1" i="0" u="none"/>
              <a:t>Projection Updater</a:t>
            </a:r>
            <a:r>
              <a:rPr sz="1800" b="0" i="0" u="none"/>
              <a:t> — rebuilds read models</a:t>
            </a:r>
            <a:endParaRPr sz="1800" b="0" i="0"/>
          </a:p>
          <a:p>
            <a:pPr>
              <a:lnSpc>
                <a:spcPct val="90000"/>
              </a:lnSpc>
            </a:pPr>
            <a:r>
              <a:rPr sz="1800" b="1" i="0" u="none"/>
              <a:t>Query API</a:t>
            </a:r>
            <a:r>
              <a:rPr sz="1800" b="0" i="0" u="none"/>
              <a:t> — serves optimized reads</a:t>
            </a:r>
            <a:endParaRPr sz="1800" b="0" i="0"/>
          </a:p>
          <a:p>
            <a:pPr>
              <a:lnSpc>
                <a:spcPct val="90000"/>
              </a:lnSpc>
            </a:pPr>
            <a:r>
              <a:rPr sz="1800" b="1" i="0" u="none"/>
              <a:t>Read Store</a:t>
            </a:r>
            <a:r>
              <a:rPr sz="1800" b="0" i="0" u="none"/>
              <a:t> — denormalized query model</a:t>
            </a:r>
            <a:endParaRPr sz="1800" b="0" i="0"/>
          </a:p>
        </p:txBody>
      </p:sp>
      <p:pic>
        <p:nvPicPr>
          <p:cNvPr id="5" name="Picture 4" descr="4a2852d4d21f792f7a6b28036dc3ccf83df8be51.png"/>
          <p:cNvPicPr>
            <a:picLocks noChangeAspect="1"/>
          </p:cNvPicPr>
          <p:nvPr/>
        </p:nvPicPr>
        <p:blipFill>
          <a:blip r:embed="rId3"/>
          <a:stretch>
            <a:fillRect/>
          </a:stretch>
        </p:blipFill>
        <p:spPr>
          <a:xfrm>
            <a:off x="7288639" y="1068150"/>
            <a:ext cx="3339104" cy="5732368"/>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Consistency Strategy</a:t>
            </a:r>
          </a:p>
        </p:txBody>
      </p:sp>
      <p:sp>
        <p:nvSpPr>
          <p:cNvPr id="3" name="Content Placeholder 2"/>
          <p:cNvSpPr>
            <a:spLocks noGrp="1"/>
          </p:cNvSpPr>
          <p:nvPr>
            <p:ph idx="1"/>
          </p:nvPr>
        </p:nvSpPr>
        <p:spPr/>
        <p:txBody>
          <a:bodyPr wrap="square">
            <a:normAutofit lnSpcReduction="10000"/>
          </a:bodyPr>
          <a:lstStyle/>
          <a:p>
            <a:pPr>
              <a:buNone/>
            </a:pPr>
            <a:r>
              <a:rPr sz="2400" b="1" i="0" u="none" dirty="0"/>
              <a:t>Strong Consistency</a:t>
            </a:r>
            <a:r>
              <a:rPr sz="2400" b="0" i="0" u="none" dirty="0"/>
              <a:t> — needed for:</a:t>
            </a:r>
            <a:endParaRPr sz="2400" b="0" i="0" dirty="0">
              <a:latin typeface="Arial"/>
            </a:endParaRPr>
          </a:p>
          <a:p>
            <a:pPr lvl="1"/>
            <a:r>
              <a:rPr sz="1400" b="0" i="0" u="none" dirty="0"/>
              <a:t>Payments and financial transactions</a:t>
            </a:r>
            <a:endParaRPr sz="1400" b="0" i="0" dirty="0">
              <a:latin typeface="Arial"/>
            </a:endParaRPr>
          </a:p>
          <a:p>
            <a:pPr lvl="1"/>
            <a:r>
              <a:rPr sz="1400" b="0" i="0" u="none" dirty="0"/>
              <a:t>Inventory management</a:t>
            </a:r>
            <a:endParaRPr sz="1400" b="0" i="0" dirty="0">
              <a:latin typeface="Arial"/>
            </a:endParaRPr>
          </a:p>
          <a:p>
            <a:pPr lvl="1"/>
            <a:r>
              <a:rPr sz="1400" b="0" i="0" u="none" dirty="0"/>
              <a:t>Security and access control</a:t>
            </a:r>
            <a:endParaRPr sz="1400" b="0" i="0" dirty="0">
              <a:latin typeface="Arial"/>
            </a:endParaRPr>
          </a:p>
          <a:p>
            <a:pPr>
              <a:buNone/>
            </a:pPr>
            <a:r>
              <a:rPr sz="2400" b="1" i="0" u="none" dirty="0"/>
              <a:t>Eventual Consistency</a:t>
            </a:r>
            <a:r>
              <a:rPr sz="2400" b="0" i="0" u="none" dirty="0"/>
              <a:t> — acceptable for:</a:t>
            </a:r>
            <a:endParaRPr sz="2400" b="0" i="0" dirty="0">
              <a:latin typeface="Arial"/>
            </a:endParaRPr>
          </a:p>
          <a:p>
            <a:pPr lvl="1"/>
            <a:r>
              <a:rPr sz="1400" b="0" i="0" u="none" dirty="0"/>
              <a:t>Activity feeds and notifications</a:t>
            </a:r>
            <a:endParaRPr sz="1400" b="0" i="0" dirty="0">
              <a:latin typeface="Arial"/>
            </a:endParaRPr>
          </a:p>
          <a:p>
            <a:pPr lvl="1"/>
            <a:r>
              <a:rPr sz="1400" b="0" i="0" u="none" dirty="0"/>
              <a:t>Analytics dashboards</a:t>
            </a:r>
            <a:endParaRPr sz="1400" b="0" i="0" dirty="0">
              <a:latin typeface="Arial"/>
            </a:endParaRPr>
          </a:p>
          <a:p>
            <a:pPr lvl="1"/>
            <a:r>
              <a:rPr sz="1400" b="0" i="0" u="none" dirty="0"/>
              <a:t>Search indexes and recommendations</a:t>
            </a:r>
            <a:endParaRPr sz="1400" b="0" i="0" dirty="0">
              <a:latin typeface="Arial"/>
            </a:endParaRPr>
          </a:p>
          <a:p>
            <a:pPr>
              <a:buNone/>
            </a:pPr>
            <a:r>
              <a:rPr sz="2400" b="1" i="0" u="none" dirty="0"/>
              <a:t>Reliable Event Publication</a:t>
            </a:r>
            <a:r>
              <a:rPr sz="2400" b="0" i="0" u="none" dirty="0"/>
              <a:t> — use the Outbox Pattern:</a:t>
            </a:r>
            <a:endParaRPr sz="2400" b="0" i="0" dirty="0">
              <a:latin typeface="Arial"/>
            </a:endParaRPr>
          </a:p>
          <a:p>
            <a:pPr>
              <a:buNone/>
            </a:pPr>
            <a:endParaRPr sz="2400" b="0" i="0" dirty="0">
              <a:latin typeface="Arial"/>
            </a:endParaRPr>
          </a:p>
          <a:p>
            <a:pPr>
              <a:buNone/>
            </a:pPr>
            <a:r>
              <a:rPr sz="2400" b="0" i="1" u="none" dirty="0"/>
              <a:t>Write event to database table atomically with domain change → background process publishes → idempotent consumers</a:t>
            </a:r>
            <a:endParaRPr sz="2400" b="0" i="0" dirty="0">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Example: Order Approval Flow</a:t>
            </a:r>
          </a:p>
        </p:txBody>
      </p:sp>
      <p:sp>
        <p:nvSpPr>
          <p:cNvPr id="3" name="Content Placeholder 2"/>
          <p:cNvSpPr>
            <a:spLocks noGrp="1"/>
          </p:cNvSpPr>
          <p:nvPr>
            <p:ph idx="1"/>
          </p:nvPr>
        </p:nvSpPr>
        <p:spPr/>
        <p:txBody>
          <a:bodyPr wrap="square">
            <a:normAutofit lnSpcReduction="10000"/>
          </a:bodyPr>
          <a:lstStyle/>
          <a:p>
            <a:pPr>
              <a:buNone/>
            </a:pPr>
            <a:r>
              <a:rPr b="1" i="0" u="none" dirty="0"/>
              <a:t>Command flow (write)</a:t>
            </a:r>
            <a:r>
              <a:rPr b="0" i="0" u="none" dirty="0"/>
              <a:t>:</a:t>
            </a:r>
            <a:endParaRPr b="0" i="0" dirty="0">
              <a:latin typeface="Consolas"/>
            </a:endParaRPr>
          </a:p>
          <a:p>
            <a:pPr lvl="1">
              <a:buNone/>
            </a:pPr>
            <a:r>
              <a:rPr sz="1600" b="0" i="0" u="none" dirty="0"/>
              <a:t>1. API receives </a:t>
            </a:r>
            <a:r>
              <a:rPr sz="1600" b="0" i="0" u="none" dirty="0" err="1">
                <a:latin typeface="Consolas"/>
              </a:rPr>
              <a:t>ApproveOrder</a:t>
            </a:r>
            <a:r>
              <a:rPr sz="1600" b="0" i="0" u="none" dirty="0"/>
              <a:t> command</a:t>
            </a:r>
            <a:endParaRPr sz="1600" b="0" i="0" dirty="0">
              <a:latin typeface="Consolas"/>
            </a:endParaRPr>
          </a:p>
          <a:p>
            <a:pPr lvl="1">
              <a:buNone/>
            </a:pPr>
            <a:r>
              <a:rPr sz="1600" b="0" i="0" u="none" dirty="0"/>
              <a:t>2. Command handler loads </a:t>
            </a:r>
            <a:r>
              <a:rPr sz="1600" b="0" i="0" u="none" dirty="0">
                <a:latin typeface="Consolas"/>
              </a:rPr>
              <a:t>Order</a:t>
            </a:r>
            <a:r>
              <a:rPr sz="1600" b="0" i="0" u="none" dirty="0"/>
              <a:t> aggregate</a:t>
            </a:r>
            <a:endParaRPr sz="1600" b="0" i="0" dirty="0">
              <a:latin typeface="Consolas"/>
            </a:endParaRPr>
          </a:p>
          <a:p>
            <a:pPr lvl="1">
              <a:buNone/>
            </a:pPr>
            <a:r>
              <a:rPr sz="1600" b="0" i="0" u="none" dirty="0"/>
              <a:t>3. Aggregate validates approval rules</a:t>
            </a:r>
            <a:endParaRPr sz="1600" b="0" i="0" dirty="0">
              <a:latin typeface="Consolas"/>
            </a:endParaRPr>
          </a:p>
          <a:p>
            <a:pPr lvl="1">
              <a:buNone/>
            </a:pPr>
            <a:r>
              <a:rPr sz="1600" b="0" i="0" u="none" dirty="0"/>
              <a:t>4. Transaction commits to write store</a:t>
            </a:r>
            <a:endParaRPr sz="1600" b="0" i="0" dirty="0">
              <a:latin typeface="Consolas"/>
            </a:endParaRPr>
          </a:p>
          <a:p>
            <a:pPr lvl="1">
              <a:buNone/>
            </a:pPr>
            <a:r>
              <a:rPr sz="1600" b="0" i="0" u="none" dirty="0"/>
              <a:t>5. </a:t>
            </a:r>
            <a:r>
              <a:rPr sz="1600" b="0" i="0" u="none" dirty="0" err="1">
                <a:latin typeface="Consolas"/>
              </a:rPr>
              <a:t>OrderApproved</a:t>
            </a:r>
            <a:r>
              <a:rPr sz="1600" b="0" i="0" u="none" dirty="0"/>
              <a:t> event published via outbox</a:t>
            </a:r>
            <a:endParaRPr sz="1600" b="0" i="0" dirty="0">
              <a:latin typeface="Consolas"/>
            </a:endParaRPr>
          </a:p>
          <a:p>
            <a:pPr>
              <a:buNone/>
            </a:pPr>
            <a:endParaRPr lang="en-US" b="1" i="0" u="none" dirty="0"/>
          </a:p>
          <a:p>
            <a:pPr>
              <a:buNone/>
            </a:pPr>
            <a:r>
              <a:rPr b="1" i="0" u="none" dirty="0"/>
              <a:t>Query flow (read)</a:t>
            </a:r>
            <a:r>
              <a:rPr b="0" i="0" u="none" dirty="0"/>
              <a:t>:</a:t>
            </a:r>
            <a:endParaRPr b="0" i="0" dirty="0">
              <a:latin typeface="Consolas"/>
            </a:endParaRPr>
          </a:p>
          <a:p>
            <a:pPr lvl="1">
              <a:buNone/>
            </a:pPr>
            <a:r>
              <a:rPr sz="1600" b="0" i="0" u="none" dirty="0"/>
              <a:t>1. UI requests order summary dashboard</a:t>
            </a:r>
            <a:endParaRPr sz="1600" b="0" i="0" dirty="0">
              <a:latin typeface="Consolas"/>
            </a:endParaRPr>
          </a:p>
          <a:p>
            <a:pPr lvl="1">
              <a:buNone/>
            </a:pPr>
            <a:r>
              <a:rPr sz="1600" b="0" i="0" u="none" dirty="0"/>
              <a:t>2. Query API reads </a:t>
            </a:r>
            <a:r>
              <a:rPr sz="1600" b="0" i="0" u="none" dirty="0" err="1">
                <a:latin typeface="Consolas"/>
              </a:rPr>
              <a:t>OrderSummary</a:t>
            </a:r>
            <a:r>
              <a:rPr sz="1600" b="0" i="0" u="none" dirty="0"/>
              <a:t> projection</a:t>
            </a:r>
            <a:endParaRPr sz="1600" b="0" i="0" dirty="0">
              <a:latin typeface="Consolas"/>
            </a:endParaRPr>
          </a:p>
          <a:p>
            <a:pPr lvl="1">
              <a:buNone/>
            </a:pPr>
            <a:r>
              <a:rPr sz="1600" b="0" i="0" u="none" dirty="0"/>
              <a:t>3. Read store returns denormalized view</a:t>
            </a:r>
            <a:endParaRPr sz="1600" b="0" i="0" dirty="0">
              <a:latin typeface="Consolas"/>
            </a:endParaRPr>
          </a:p>
          <a:p>
            <a:pPr lvl="1">
              <a:buNone/>
            </a:pPr>
            <a:r>
              <a:rPr sz="1600" b="0" i="0" u="none" dirty="0"/>
              <a:t>4. Response includes </a:t>
            </a:r>
            <a:r>
              <a:rPr sz="1600" b="0" i="0" u="none" dirty="0" err="1">
                <a:latin typeface="Consolas"/>
              </a:rPr>
              <a:t>lastUpdatedUtc</a:t>
            </a:r>
            <a:r>
              <a:rPr sz="1600" b="0" i="0" u="none" dirty="0"/>
              <a:t> for freshness indicator</a:t>
            </a:r>
            <a:endParaRPr sz="1600" b="0" i="0" dirty="0">
              <a:latin typeface="Consola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Key Takeaways</a:t>
            </a:r>
          </a:p>
        </p:txBody>
      </p:sp>
      <p:sp>
        <p:nvSpPr>
          <p:cNvPr id="3" name="Content Placeholder 2"/>
          <p:cNvSpPr>
            <a:spLocks noGrp="1"/>
          </p:cNvSpPr>
          <p:nvPr>
            <p:ph sz="half" idx="1"/>
          </p:nvPr>
        </p:nvSpPr>
        <p:spPr/>
        <p:txBody>
          <a:bodyPr wrap="square">
            <a:normAutofit fontScale="92500"/>
          </a:bodyPr>
          <a:lstStyle/>
          <a:p>
            <a:pPr>
              <a:buNone/>
            </a:pPr>
            <a:r>
              <a:rPr sz="3200" b="1" i="0" u="none" dirty="0"/>
              <a:t>Core reminders</a:t>
            </a:r>
            <a:endParaRPr sz="3200" b="0" i="0" dirty="0">
              <a:latin typeface="Arial"/>
            </a:endParaRPr>
          </a:p>
          <a:p>
            <a:pPr lvl="1"/>
            <a:r>
              <a:rPr b="0" i="0" u="none" dirty="0"/>
              <a:t>Separate commands from queries at the architectural level</a:t>
            </a:r>
            <a:endParaRPr b="0" i="0" dirty="0">
              <a:latin typeface="Arial"/>
            </a:endParaRPr>
          </a:p>
          <a:p>
            <a:pPr lvl="1"/>
            <a:r>
              <a:rPr b="0" i="0" u="none" dirty="0"/>
              <a:t>Use CQRS when read and write workloads differ materially</a:t>
            </a:r>
            <a:endParaRPr b="0" i="0" dirty="0">
              <a:latin typeface="Arial"/>
            </a:endParaRPr>
          </a:p>
          <a:p>
            <a:pPr lvl="1"/>
            <a:r>
              <a:rPr b="0" i="0" u="none" dirty="0"/>
              <a:t>Use the outbox pattern for reliable event publication</a:t>
            </a:r>
            <a:endParaRPr b="0" i="0" dirty="0">
              <a:latin typeface="Arial"/>
            </a:endParaRPr>
          </a:p>
          <a:p>
            <a:pPr lvl="1"/>
            <a:r>
              <a:rPr b="0" i="0" u="none" dirty="0"/>
              <a:t>Design for eventual consistency intentionally</a:t>
            </a:r>
            <a:endParaRPr b="0" i="0" dirty="0">
              <a:latin typeface="Arial"/>
            </a:endParaRPr>
          </a:p>
          <a:p>
            <a:pPr lvl="1"/>
            <a:r>
              <a:rPr b="0" i="0" u="none" dirty="0"/>
              <a:t>Start small and migrate one context at a time</a:t>
            </a:r>
            <a:endParaRPr b="0" i="0" dirty="0">
              <a:latin typeface="Arial"/>
            </a:endParaRPr>
          </a:p>
        </p:txBody>
      </p:sp>
      <p:sp>
        <p:nvSpPr>
          <p:cNvPr id="4" name="Content Placeholder 3"/>
          <p:cNvSpPr>
            <a:spLocks noGrp="1"/>
          </p:cNvSpPr>
          <p:nvPr>
            <p:ph sz="half" idx="2"/>
          </p:nvPr>
        </p:nvSpPr>
        <p:spPr/>
        <p:txBody>
          <a:bodyPr wrap="square">
            <a:noAutofit/>
          </a:bodyPr>
          <a:lstStyle/>
          <a:p>
            <a:pPr>
              <a:buNone/>
            </a:pPr>
            <a:r>
              <a:rPr sz="3000" b="1" i="0" u="none" dirty="0"/>
              <a:t>Further reading</a:t>
            </a:r>
          </a:p>
          <a:p>
            <a:r>
              <a:rPr sz="2200" b="0" i="0" u="none" dirty="0"/>
              <a:t>Martin Fowler: </a:t>
            </a:r>
            <a:r>
              <a:rPr sz="2200" b="0" i="0" u="none" dirty="0">
                <a:latin typeface="Consolas"/>
              </a:rPr>
              <a:t>martinfowler.com/bliki/CQRS.html</a:t>
            </a:r>
          </a:p>
          <a:p>
            <a:r>
              <a:rPr sz="2200" b="0" i="0" u="none" dirty="0"/>
              <a:t>Transactional outbox: </a:t>
            </a:r>
            <a:r>
              <a:rPr sz="2200" b="0" i="0" u="none" dirty="0">
                <a:latin typeface="Consolas"/>
              </a:rPr>
              <a:t>microservices.io/patterns/data/transactional-outbox.html</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Autofit/>
          </a:bodyPr>
          <a:lstStyle/>
          <a:p>
            <a:r>
              <a:rPr sz="2350" b="0" i="0" u="none" dirty="0"/>
              <a:t>Intro</a:t>
            </a:r>
          </a:p>
          <a:p>
            <a:r>
              <a:rPr sz="2350" b="0" i="0" u="none" dirty="0"/>
              <a:t>Specification Driven Software Development</a:t>
            </a:r>
          </a:p>
          <a:p>
            <a:r>
              <a:rPr sz="2350" b="0" i="0" u="none" dirty="0"/>
              <a:t>Architecture Specification</a:t>
            </a:r>
          </a:p>
          <a:p>
            <a:r>
              <a:rPr sz="2350" b="1" i="0" u="none" dirty="0"/>
              <a:t>▶ Technology Specification</a:t>
            </a:r>
          </a:p>
          <a:p>
            <a:r>
              <a:rPr sz="2350" b="0" i="0" u="none" dirty="0"/>
              <a:t>Implementation Specification</a:t>
            </a:r>
          </a:p>
          <a:p>
            <a:r>
              <a:rPr sz="2350" b="0" i="0" u="none" dirty="0"/>
              <a:t>Implementation Planning</a:t>
            </a:r>
          </a:p>
          <a:p>
            <a:r>
              <a:rPr sz="2350" b="0" i="0" u="none" dirty="0"/>
              <a:t>Implementation Prompts</a:t>
            </a:r>
          </a:p>
          <a:p>
            <a:r>
              <a:rPr sz="2350" b="0" i="0" u="none" dirty="0"/>
              <a:t>Vertical Slice Implementation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4300" b="0" i="0" u="none"/>
              <a:t>Technology Stack Instruction Files</a:t>
            </a:r>
          </a:p>
        </p:txBody>
      </p:sp>
      <p:sp>
        <p:nvSpPr>
          <p:cNvPr id="3" name="Subtitle 2"/>
          <p:cNvSpPr>
            <a:spLocks noGrp="1"/>
          </p:cNvSpPr>
          <p:nvPr>
            <p:ph type="subTitle" idx="1"/>
          </p:nvPr>
        </p:nvSpPr>
        <p:spPr/>
        <p:txBody>
          <a:bodyPr wrap="square">
            <a:normAutofit/>
          </a:bodyPr>
          <a:lstStyle/>
          <a:p>
            <a:pPr>
              <a:buNone/>
            </a:pPr>
            <a:r>
              <a:rPr b="0" i="0" u="none"/>
              <a:t>Teaching Your AI the House Rules for Every Room</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4300" b="0" i="0" u="none"/>
              <a:t>Technology Stack Instruction Files</a:t>
            </a:r>
          </a:p>
        </p:txBody>
      </p:sp>
      <p:sp>
        <p:nvSpPr>
          <p:cNvPr id="3" name="Content Placeholder 2"/>
          <p:cNvSpPr>
            <a:spLocks noGrp="1"/>
          </p:cNvSpPr>
          <p:nvPr>
            <p:ph idx="1"/>
          </p:nvPr>
        </p:nvSpPr>
        <p:spPr/>
        <p:txBody>
          <a:bodyPr wrap="square">
            <a:normAutofit/>
          </a:bodyPr>
          <a:lstStyle/>
          <a:p>
            <a:r>
              <a:rPr sz="2800" b="0" i="0" u="none"/>
              <a:t>Turning requirements into tech-specific guidance</a:t>
            </a:r>
            <a:endParaRPr sz="2800" b="0" i="0">
              <a:latin typeface="Arial"/>
            </a:endParaRPr>
          </a:p>
          <a:p>
            <a:r>
              <a:rPr sz="2800" b="0" i="0" u="none"/>
              <a:t>Show how teams generate, review, and improve instruction files</a:t>
            </a:r>
            <a:endParaRPr sz="2800" b="0" i="0">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Start with the Requirements</a:t>
            </a:r>
          </a:p>
        </p:txBody>
      </p:sp>
      <p:sp>
        <p:nvSpPr>
          <p:cNvPr id="3" name="Content Placeholder 2"/>
          <p:cNvSpPr>
            <a:spLocks noGrp="1"/>
          </p:cNvSpPr>
          <p:nvPr>
            <p:ph idx="1"/>
          </p:nvPr>
        </p:nvSpPr>
        <p:spPr/>
        <p:txBody>
          <a:bodyPr wrap="square">
            <a:normAutofit/>
          </a:bodyPr>
          <a:lstStyle/>
          <a:p>
            <a:r>
              <a:rPr sz="2800" b="0" i="0" u="none"/>
              <a:t>Review the requirements document before generating any instruction file</a:t>
            </a:r>
            <a:endParaRPr sz="2800" b="0" i="0">
              <a:latin typeface="Arial"/>
            </a:endParaRPr>
          </a:p>
          <a:p>
            <a:r>
              <a:rPr sz="2800" b="0" i="0" u="none"/>
              <a:t>Identify the front-end and implementation technologies explicitly in scope</a:t>
            </a:r>
            <a:endParaRPr sz="2800" b="0" i="0">
              <a:latin typeface="Arial"/>
            </a:endParaRPr>
          </a:p>
          <a:p>
            <a:r>
              <a:rPr sz="2800" b="0" i="0" u="none"/>
              <a:t>Decide on the tech stack</a:t>
            </a:r>
            <a:endParaRPr sz="2800" b="0" i="0">
              <a:latin typeface="Arial"/>
            </a:endParaRPr>
          </a:p>
          <a:p>
            <a:r>
              <a:rPr sz="2800" b="0" i="0" u="none"/>
              <a:t>Use the requirements to anchor standards, constraints, accessibility, and security expectations</a:t>
            </a:r>
            <a:endParaRPr sz="2800" b="0" i="0">
              <a:latin typeface="Arial"/>
            </a:endParaRPr>
          </a:p>
        </p:txBody>
      </p:sp>
      <p:pic>
        <p:nvPicPr>
          <p:cNvPr id="4" name="Picture 3" descr="f18b6ca36c1577de1ed613e0cd6469782137c03d.png"/>
          <p:cNvPicPr>
            <a:picLocks noChangeAspect="1"/>
          </p:cNvPicPr>
          <p:nvPr/>
        </p:nvPicPr>
        <p:blipFill>
          <a:blip r:embed="rId3"/>
          <a:stretch>
            <a:fillRect/>
          </a:stretch>
        </p:blipFill>
        <p:spPr>
          <a:xfrm>
            <a:off x="838199" y="5396517"/>
            <a:ext cx="10133265" cy="659226"/>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Generate the First Draft Quickly</a:t>
            </a:r>
          </a:p>
        </p:txBody>
      </p:sp>
      <p:sp>
        <p:nvSpPr>
          <p:cNvPr id="3" name="Content Placeholder 2"/>
          <p:cNvSpPr>
            <a:spLocks noGrp="1"/>
          </p:cNvSpPr>
          <p:nvPr>
            <p:ph idx="1"/>
          </p:nvPr>
        </p:nvSpPr>
        <p:spPr/>
        <p:txBody>
          <a:bodyPr wrap="square">
            <a:noAutofit/>
          </a:bodyPr>
          <a:lstStyle/>
          <a:p>
            <a:r>
              <a:rPr sz="2300" b="0" i="0" u="none"/>
              <a:t>Use a direct prompt such as: </a:t>
            </a:r>
            <a:r>
              <a:rPr sz="2300" b="1" i="0" u="none"/>
              <a:t>Create instruction files for the following technologies</a:t>
            </a:r>
            <a:endParaRPr sz="2300" b="0" i="0">
              <a:latin typeface="Arial"/>
            </a:endParaRPr>
          </a:p>
          <a:p>
            <a:r>
              <a:rPr sz="2300" b="0" i="0" u="none"/>
              <a:t>Name the stack clearly</a:t>
            </a:r>
            <a:endParaRPr sz="2300" b="0" i="0">
              <a:latin typeface="Arial"/>
            </a:endParaRPr>
          </a:p>
          <a:p>
            <a:r>
              <a:rPr sz="2300" b="0" i="0" u="none"/>
              <a:t>Ask for guidance on:</a:t>
            </a:r>
            <a:endParaRPr sz="2300" b="0" i="0">
              <a:latin typeface="Arial"/>
            </a:endParaRPr>
          </a:p>
          <a:p>
            <a:pPr lvl="1"/>
            <a:r>
              <a:rPr sz="2300" b="0" i="0" u="none"/>
              <a:t>semantic markup</a:t>
            </a:r>
            <a:endParaRPr sz="2300" b="0" i="0">
              <a:latin typeface="Arial"/>
            </a:endParaRPr>
          </a:p>
          <a:p>
            <a:pPr lvl="1"/>
            <a:r>
              <a:rPr sz="2300" b="0" i="0" u="none"/>
              <a:t>accessibility</a:t>
            </a:r>
            <a:endParaRPr sz="2300" b="0" i="0">
              <a:latin typeface="Arial"/>
            </a:endParaRPr>
          </a:p>
          <a:p>
            <a:pPr lvl="1"/>
            <a:r>
              <a:rPr sz="2300" b="0" i="0" u="none"/>
              <a:t>modern CSS practices</a:t>
            </a:r>
            <a:endParaRPr sz="2300" b="0" i="0">
              <a:latin typeface="Arial"/>
            </a:endParaRPr>
          </a:p>
          <a:p>
            <a:pPr lvl="1"/>
            <a:r>
              <a:rPr sz="2300" b="0" i="0" u="none"/>
              <a:t>security</a:t>
            </a:r>
            <a:endParaRPr sz="2300" b="0" i="0">
              <a:latin typeface="Arial"/>
            </a:endParaRPr>
          </a:p>
          <a:p>
            <a:pPr lvl="1"/>
            <a:r>
              <a:rPr sz="2300" b="0" i="0" u="none"/>
              <a:t>performance</a:t>
            </a:r>
            <a:endParaRPr sz="2300" b="0" i="0">
              <a:latin typeface="Arial"/>
            </a:endParaRPr>
          </a:p>
          <a:p>
            <a:r>
              <a:rPr sz="2300" b="0" i="0" u="none"/>
              <a:t>Treat the first output as a draft, not as final policy</a:t>
            </a:r>
            <a:endParaRPr sz="2300" b="0" i="0">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4150" b="0" i="0" u="none"/>
              <a:t>Review the Generated File Critically</a:t>
            </a:r>
          </a:p>
        </p:txBody>
      </p:sp>
      <p:sp>
        <p:nvSpPr>
          <p:cNvPr id="3" name="Content Placeholder 2"/>
          <p:cNvSpPr>
            <a:spLocks noGrp="1"/>
          </p:cNvSpPr>
          <p:nvPr>
            <p:ph idx="1"/>
          </p:nvPr>
        </p:nvSpPr>
        <p:spPr/>
        <p:txBody>
          <a:bodyPr wrap="square">
            <a:normAutofit/>
          </a:bodyPr>
          <a:lstStyle/>
          <a:p>
            <a:r>
              <a:rPr sz="2800" b="0" i="0" u="none"/>
              <a:t>Check the file structure, scope, and clarity</a:t>
            </a:r>
            <a:endParaRPr sz="2800" b="0" i="0">
              <a:latin typeface="Arial"/>
            </a:endParaRPr>
          </a:p>
          <a:p>
            <a:r>
              <a:rPr sz="2800" b="0" i="0" u="none"/>
              <a:t>Ensure a validation checklist is included</a:t>
            </a:r>
            <a:endParaRPr sz="2800" b="0" i="0">
              <a:latin typeface="Arial"/>
            </a:endParaRPr>
          </a:p>
          <a:p>
            <a:r>
              <a:rPr sz="2800" b="0" i="0" u="none"/>
              <a:t>Confirm the primary audience is </a:t>
            </a:r>
            <a:r>
              <a:rPr sz="2800" b="1" i="0" u="none"/>
              <a:t>AI assistants</a:t>
            </a:r>
            <a:r>
              <a:rPr sz="2800" b="0" i="0" u="none"/>
              <a:t> and the secondary audience is </a:t>
            </a:r>
            <a:r>
              <a:rPr sz="2800" b="1" i="0" u="none"/>
              <a:t>developers</a:t>
            </a:r>
            <a:endParaRPr sz="2800" b="0" i="0">
              <a:latin typeface="Arial"/>
            </a:endParaRPr>
          </a:p>
          <a:p>
            <a:r>
              <a:rPr sz="2800" b="0" i="0" u="none"/>
              <a:t>Verify security and performance guidance is concrete</a:t>
            </a:r>
            <a:endParaRPr sz="2800" b="0" i="0">
              <a:latin typeface="Arial"/>
            </a:endParaRPr>
          </a:p>
          <a:p>
            <a:r>
              <a:rPr sz="2800" b="0" i="0" u="none"/>
              <a:t>Confirm related documentation references are present and accurate</a:t>
            </a:r>
            <a:endParaRPr sz="2800" b="0" i="0">
              <a:latin typeface="Arial"/>
            </a:endParaRPr>
          </a:p>
        </p:txBody>
      </p:sp>
      <p:pic>
        <p:nvPicPr>
          <p:cNvPr id="4" name="Picture 3" descr="2cdfba148f0d928b1eb6daef1523c58fcb03eaa1.png"/>
          <p:cNvPicPr>
            <a:picLocks noChangeAspect="1"/>
          </p:cNvPicPr>
          <p:nvPr/>
        </p:nvPicPr>
        <p:blipFill>
          <a:blip r:embed="rId3"/>
          <a:stretch>
            <a:fillRect/>
          </a:stretch>
        </p:blipFill>
        <p:spPr>
          <a:xfrm>
            <a:off x="1429685" y="4821589"/>
            <a:ext cx="8751470" cy="174676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3650" b="0" i="0" u="none"/>
              <a:t>Use Multiple Models to Improve Quality</a:t>
            </a:r>
          </a:p>
        </p:txBody>
      </p:sp>
      <p:graphicFrame>
        <p:nvGraphicFramePr>
          <p:cNvPr id="3" name="Table 2"/>
          <p:cNvGraphicFramePr>
            <a:graphicFrameLocks noGrp="1"/>
          </p:cNvGraphicFramePr>
          <p:nvPr>
            <p:extLst>
              <p:ext uri="{D42A27DB-BD31-4B8C-83A1-F6EECF244321}">
                <p14:modId xmlns:p14="http://schemas.microsoft.com/office/powerpoint/2010/main" val="2880877286"/>
              </p:ext>
            </p:extLst>
          </p:nvPr>
        </p:nvGraphicFramePr>
        <p:xfrm>
          <a:off x="1219200" y="1828800"/>
          <a:ext cx="9753600" cy="1737360"/>
        </p:xfrm>
        <a:graphic>
          <a:graphicData uri="http://schemas.openxmlformats.org/drawingml/2006/table">
            <a:tbl>
              <a:tblPr firstRow="1" bandRow="1">
                <a:tableStyleId>{5C22544A-7EE6-4342-B048-85BDC9FD1C3A}</a:tableStyleId>
              </a:tblPr>
              <a:tblGrid>
                <a:gridCol w="4876800">
                  <a:extLst>
                    <a:ext uri="{9D8B030D-6E8A-4147-A177-3AD203B41FA5}">
                      <a16:colId xmlns:a16="http://schemas.microsoft.com/office/drawing/2014/main" val="20000"/>
                    </a:ext>
                  </a:extLst>
                </a:gridCol>
                <a:gridCol w="4876800">
                  <a:extLst>
                    <a:ext uri="{9D8B030D-6E8A-4147-A177-3AD203B41FA5}">
                      <a16:colId xmlns:a16="http://schemas.microsoft.com/office/drawing/2014/main" val="20001"/>
                    </a:ext>
                  </a:extLst>
                </a:gridCol>
              </a:tblGrid>
              <a:tr h="457200">
                <a:tc>
                  <a:txBody>
                    <a:bodyPr/>
                    <a:lstStyle/>
                    <a:p>
                      <a:pPr>
                        <a:buNone/>
                        <a:defRPr sz="1600" b="1">
                          <a:solidFill>
                            <a:schemeClr val="bg1"/>
                          </a:solidFill>
                        </a:defRPr>
                      </a:pPr>
                      <a:r>
                        <a:rPr sz="2400" b="0" i="0" u="none"/>
                        <a:t>Model tendency</a:t>
                      </a:r>
                    </a:p>
                  </a:txBody>
                  <a:tcPr>
                    <a:solidFill>
                      <a:schemeClr val="accent4"/>
                    </a:solidFill>
                  </a:tcPr>
                </a:tc>
                <a:tc>
                  <a:txBody>
                    <a:bodyPr/>
                    <a:lstStyle/>
                    <a:p>
                      <a:pPr>
                        <a:buNone/>
                        <a:defRPr sz="1600" b="1">
                          <a:solidFill>
                            <a:schemeClr val="bg1"/>
                          </a:solidFill>
                        </a:defRPr>
                      </a:pPr>
                      <a:r>
                        <a:rPr sz="2400" b="0" i="0" u="none"/>
                        <a:t>Practical takeaway</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2400" b="0" i="0" u="none"/>
                        <a:t>Claude Sonnet: more comprehensive</a:t>
                      </a:r>
                    </a:p>
                  </a:txBody>
                  <a:tcPr>
                    <a:solidFill>
                      <a:schemeClr val="accent4">
                        <a:lumMod val="20000"/>
                        <a:lumOff val="80000"/>
                      </a:schemeClr>
                    </a:solidFill>
                  </a:tcPr>
                </a:tc>
                <a:tc>
                  <a:txBody>
                    <a:bodyPr/>
                    <a:lstStyle/>
                    <a:p>
                      <a:pPr>
                        <a:buNone/>
                        <a:defRPr sz="1600" b="0">
                          <a:solidFill>
                            <a:schemeClr val="tx1"/>
                          </a:solidFill>
                        </a:defRPr>
                      </a:pPr>
                      <a:r>
                        <a:rPr sz="2400" b="0" i="0" u="none"/>
                        <a:t>Good for broad first drafts</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2400" b="0" i="0" u="none"/>
                        <a:t>GPT-4: more variable</a:t>
                      </a:r>
                    </a:p>
                  </a:txBody>
                  <a:tcPr>
                    <a:solidFill>
                      <a:schemeClr val="accent4">
                        <a:lumMod val="8000"/>
                        <a:lumOff val="92000"/>
                      </a:schemeClr>
                    </a:solidFill>
                  </a:tcPr>
                </a:tc>
                <a:tc>
                  <a:txBody>
                    <a:bodyPr/>
                    <a:lstStyle/>
                    <a:p>
                      <a:pPr>
                        <a:buNone/>
                        <a:defRPr sz="1600" b="0">
                          <a:solidFill>
                            <a:schemeClr val="tx1"/>
                          </a:solidFill>
                        </a:defRPr>
                      </a:pPr>
                      <a:r>
                        <a:rPr sz="2400" b="0" i="0" u="none" dirty="0"/>
                        <a:t>Good candidate for challenge and comparison</a:t>
                      </a:r>
                    </a:p>
                  </a:txBody>
                  <a:tcPr>
                    <a:solidFill>
                      <a:schemeClr val="accent4">
                        <a:lumMod val="8000"/>
                        <a:lumOff val="92000"/>
                      </a:schemeClr>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3450" b="0" i="0" u="none"/>
              <a:t>Why This Matters in the Foundation Phase</a:t>
            </a:r>
          </a:p>
        </p:txBody>
      </p:sp>
      <p:sp>
        <p:nvSpPr>
          <p:cNvPr id="3" name="Content Placeholder 2"/>
          <p:cNvSpPr>
            <a:spLocks noGrp="1"/>
          </p:cNvSpPr>
          <p:nvPr>
            <p:ph idx="1"/>
          </p:nvPr>
        </p:nvSpPr>
        <p:spPr/>
        <p:txBody>
          <a:bodyPr wrap="square">
            <a:noAutofit/>
          </a:bodyPr>
          <a:lstStyle/>
          <a:p>
            <a:pPr>
              <a:buNone/>
            </a:pPr>
            <a:r>
              <a:rPr sz="2550" b="0" i="0" u="none"/>
              <a:t>1. Establish technology standards early</a:t>
            </a:r>
            <a:endParaRPr sz="2550" b="0" i="0">
              <a:latin typeface="Arial"/>
            </a:endParaRPr>
          </a:p>
          <a:p>
            <a:pPr>
              <a:buNone/>
            </a:pPr>
            <a:r>
              <a:rPr sz="2550" b="0" i="0" u="none"/>
              <a:t>2. Reduce inconsistency before implementation begins</a:t>
            </a:r>
            <a:endParaRPr sz="2550" b="0" i="0">
              <a:latin typeface="Arial"/>
            </a:endParaRPr>
          </a:p>
          <a:p>
            <a:pPr>
              <a:buNone/>
            </a:pPr>
            <a:r>
              <a:rPr sz="2550" b="0" i="0" u="none"/>
              <a:t>3. Give AI assistants reusable, repo-specific guidance</a:t>
            </a:r>
            <a:endParaRPr sz="2550" b="0" i="0">
              <a:latin typeface="Arial"/>
            </a:endParaRPr>
          </a:p>
          <a:p>
            <a:pPr>
              <a:buNone/>
            </a:pPr>
            <a:r>
              <a:rPr sz="2550" b="0" i="0" u="none"/>
              <a:t>4. Create artifacts the team can iterate on and version-control</a:t>
            </a:r>
            <a:endParaRPr sz="2550" b="0" i="0">
              <a:latin typeface="Arial"/>
            </a:endParaRPr>
          </a:p>
          <a:p>
            <a:pPr>
              <a:buNone/>
            </a:pPr>
            <a:r>
              <a:rPr sz="2550" b="0" i="0" u="none"/>
              <a:t>5. Build a stronger base for later slice planning and implementation prompts</a:t>
            </a:r>
            <a:endParaRPr sz="2550" b="0" i="0">
              <a:latin typeface="Arial"/>
            </a:endParaRPr>
          </a:p>
          <a:p>
            <a:pPr>
              <a:buNone/>
            </a:pPr>
            <a:endParaRPr sz="2550" b="0" i="0">
              <a:latin typeface="Arial"/>
            </a:endParaRPr>
          </a:p>
          <a:p>
            <a:pPr>
              <a:buNone/>
            </a:pPr>
            <a:r>
              <a:rPr sz="2550" b="1" i="0" u="none"/>
              <a:t>Bottom line</a:t>
            </a:r>
            <a:r>
              <a:rPr sz="2550" b="0" i="0" u="none"/>
              <a:t>: better instruction files lead to more reliable implementation output.</a:t>
            </a:r>
            <a:endParaRPr sz="2550" b="0" i="0">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Autofit/>
          </a:bodyPr>
          <a:lstStyle/>
          <a:p>
            <a:r>
              <a:rPr sz="2350" b="0" i="0" u="none" dirty="0"/>
              <a:t>Intro</a:t>
            </a:r>
          </a:p>
          <a:p>
            <a:r>
              <a:rPr sz="2350" b="0" i="0" u="none" dirty="0"/>
              <a:t>Specification Driven Software Development</a:t>
            </a:r>
          </a:p>
          <a:p>
            <a:r>
              <a:rPr sz="2350" b="0" i="0" u="none" dirty="0"/>
              <a:t>Architecture Specification</a:t>
            </a:r>
          </a:p>
          <a:p>
            <a:r>
              <a:rPr sz="2350" b="0" i="0" u="none" dirty="0"/>
              <a:t>Technology Specification</a:t>
            </a:r>
          </a:p>
          <a:p>
            <a:r>
              <a:rPr sz="2350" b="1" i="0" u="none" dirty="0"/>
              <a:t>▶ Implementation Specification</a:t>
            </a:r>
          </a:p>
          <a:p>
            <a:r>
              <a:rPr sz="2350" b="0" i="0" u="none" dirty="0"/>
              <a:t>Implementation Planning</a:t>
            </a:r>
          </a:p>
          <a:p>
            <a:r>
              <a:rPr sz="2350" b="0" i="0" u="none" dirty="0"/>
              <a:t>Implementation Prompts</a:t>
            </a:r>
          </a:p>
          <a:p>
            <a:r>
              <a:rPr sz="2350" b="0" i="0" u="none" dirty="0"/>
              <a:t>Vertical Slice Implementation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r>
              <a:rPr lang="en-US" sz="4000" dirty="0"/>
              <a:t>Vertical Slicing Architecture Introduction</a:t>
            </a:r>
            <a:endParaRPr sz="3800" b="0" i="0" u="none" dirty="0"/>
          </a:p>
        </p:txBody>
      </p:sp>
      <p:sp>
        <p:nvSpPr>
          <p:cNvPr id="3" name="Content Placeholder 2"/>
          <p:cNvSpPr>
            <a:spLocks noGrp="1"/>
          </p:cNvSpPr>
          <p:nvPr>
            <p:ph idx="1"/>
          </p:nvPr>
        </p:nvSpPr>
        <p:spPr/>
        <p:txBody>
          <a:bodyPr wrap="square">
            <a:normAutofit/>
          </a:bodyPr>
          <a:lstStyle/>
          <a:p>
            <a:r>
              <a:rPr sz="2800" b="1" i="0" u="none" dirty="0"/>
              <a:t>Organizing software around features instead of layers</a:t>
            </a:r>
            <a:endParaRPr sz="2800" b="0" i="0" dirty="0">
              <a:latin typeface="Arial"/>
            </a:endParaRPr>
          </a:p>
          <a:p>
            <a:pPr>
              <a:buNone/>
            </a:pPr>
            <a:endParaRPr lang="en-US" i="1" dirty="0">
              <a:latin typeface="Arial"/>
            </a:endParaRPr>
          </a:p>
          <a:p>
            <a:pPr>
              <a:buNone/>
            </a:pPr>
            <a:r>
              <a:rPr lang="en-US" dirty="0"/>
              <a:t>Features Go Vertical. Layers Go Home.</a:t>
            </a:r>
            <a:endParaRPr sz="2800" b="0" i="0" dirty="0">
              <a:latin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What is a vertical slice?</a:t>
            </a:r>
          </a:p>
        </p:txBody>
      </p:sp>
      <p:sp>
        <p:nvSpPr>
          <p:cNvPr id="3" name="Content Placeholder 2"/>
          <p:cNvSpPr>
            <a:spLocks noGrp="1"/>
          </p:cNvSpPr>
          <p:nvPr>
            <p:ph idx="1"/>
          </p:nvPr>
        </p:nvSpPr>
        <p:spPr/>
        <p:txBody>
          <a:bodyPr wrap="square">
            <a:noAutofit/>
          </a:bodyPr>
          <a:lstStyle/>
          <a:p>
            <a:pPr>
              <a:buNone/>
            </a:pPr>
            <a:r>
              <a:rPr sz="2200" b="1" i="0" u="none"/>
              <a:t>A vertical slice organizes code by business feature, not by technical layer.</a:t>
            </a:r>
            <a:endParaRPr sz="2200" b="0" i="0">
              <a:latin typeface="Arial"/>
            </a:endParaRPr>
          </a:p>
          <a:p>
            <a:pPr>
              <a:buNone/>
            </a:pPr>
            <a:endParaRPr sz="2200" b="0" i="0">
              <a:latin typeface="Arial"/>
            </a:endParaRPr>
          </a:p>
          <a:p>
            <a:r>
              <a:rPr sz="2200" b="0" i="0" u="none"/>
              <a:t>Each feature spans UI, validation, logic, and data access</a:t>
            </a:r>
            <a:endParaRPr sz="2200" b="0" i="0">
              <a:latin typeface="Arial"/>
            </a:endParaRPr>
          </a:p>
          <a:p>
            <a:r>
              <a:rPr sz="2200" b="0" i="0" u="none"/>
              <a:t>Everything needed for the feature lives together</a:t>
            </a:r>
            <a:endParaRPr sz="2200" b="0" i="0">
              <a:latin typeface="Arial"/>
            </a:endParaRPr>
          </a:p>
          <a:p>
            <a:r>
              <a:rPr sz="2200" b="0" i="0" u="none"/>
              <a:t>Slices are self-contained and intentionally independent</a:t>
            </a:r>
            <a:endParaRPr sz="2200" b="0" i="0">
              <a:latin typeface="Arial"/>
            </a:endParaRPr>
          </a:p>
          <a:p>
            <a:r>
              <a:rPr sz="2200" b="0" i="0" u="none"/>
              <a:t>Features avoid direct references to other features</a:t>
            </a:r>
            <a:endParaRPr sz="2200" b="0" i="0">
              <a:latin typeface="Arial"/>
            </a:endParaRPr>
          </a:p>
          <a:p>
            <a:r>
              <a:rPr sz="2200" b="0" i="0" u="none"/>
              <a:t>Changes stay localized, which improves maintainability</a:t>
            </a:r>
            <a:endParaRPr sz="2200" b="0" i="0">
              <a:latin typeface="Arial"/>
            </a:endParaRPr>
          </a:p>
          <a:p>
            <a:pPr>
              <a:buNone/>
            </a:pPr>
            <a:endParaRPr sz="2200" b="0" i="0">
              <a:latin typeface="Arial"/>
            </a:endParaRPr>
          </a:p>
          <a:p>
            <a:pPr>
              <a:buNone/>
            </a:pPr>
            <a:r>
              <a:rPr sz="2200" b="0" i="1" u="none"/>
              <a:t>Think in complete user capabilities, not shared technical buckets.</a:t>
            </a:r>
            <a:endParaRPr sz="2200" b="0" i="0">
              <a:latin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928887" cy="703024"/>
          </a:xfrm>
        </p:spPr>
        <p:txBody>
          <a:bodyPr anchor="ctr">
            <a:normAutofit/>
          </a:bodyPr>
          <a:lstStyle/>
          <a:p>
            <a:pPr>
              <a:buNone/>
            </a:pPr>
            <a:r>
              <a:rPr lang="en-US" sz="4100" b="0" i="0" u="none"/>
              <a:t>Layered folders vs. feature folders</a:t>
            </a:r>
          </a:p>
        </p:txBody>
      </p:sp>
      <p:sp>
        <p:nvSpPr>
          <p:cNvPr id="3" name="Content Placeholder 2"/>
          <p:cNvSpPr>
            <a:spLocks noGrp="1"/>
          </p:cNvSpPr>
          <p:nvPr>
            <p:ph sz="half" idx="1"/>
          </p:nvPr>
        </p:nvSpPr>
        <p:spPr>
          <a:xfrm>
            <a:off x="838200" y="1463752"/>
            <a:ext cx="4205377" cy="4351338"/>
          </a:xfrm>
        </p:spPr>
        <p:txBody>
          <a:bodyPr>
            <a:normAutofit/>
          </a:bodyPr>
          <a:lstStyle/>
          <a:p>
            <a:pPr>
              <a:buNone/>
            </a:pPr>
            <a:r>
              <a:rPr lang="en-US" b="1" i="0" u="none" dirty="0"/>
              <a:t>Layered:</a:t>
            </a:r>
            <a:r>
              <a:rPr lang="en-US" b="0" i="0" u="none" dirty="0"/>
              <a:t> related code is separated by technical type.</a:t>
            </a:r>
            <a:endParaRPr lang="en-US" b="0" i="0" dirty="0"/>
          </a:p>
          <a:p>
            <a:pPr>
              <a:buNone/>
            </a:pPr>
            <a:endParaRPr lang="en-US" b="0" i="0" dirty="0"/>
          </a:p>
          <a:p>
            <a:pPr>
              <a:buNone/>
            </a:pPr>
            <a:r>
              <a:rPr lang="en-US" b="1" i="0" u="none" dirty="0"/>
              <a:t>Vertical slices:</a:t>
            </a:r>
            <a:r>
              <a:rPr lang="en-US" b="0" i="0" u="none" dirty="0"/>
              <a:t> all code for a feature is kept in one place.</a:t>
            </a:r>
            <a:endParaRPr lang="en-US" b="0" i="0" dirty="0"/>
          </a:p>
        </p:txBody>
      </p:sp>
      <p:pic>
        <p:nvPicPr>
          <p:cNvPr id="4" name="Picture 3" descr="561abd507ce3d347fb9ee474029941865e204bcf.png"/>
          <p:cNvPicPr>
            <a:picLocks noChangeAspect="1"/>
          </p:cNvPicPr>
          <p:nvPr/>
        </p:nvPicPr>
        <p:blipFill>
          <a:blip r:embed="rId3"/>
          <a:stretch>
            <a:fillRect/>
          </a:stretch>
        </p:blipFill>
        <p:spPr>
          <a:xfrm>
            <a:off x="5118339" y="1557470"/>
            <a:ext cx="6684034" cy="3743059"/>
          </a:xfrm>
          <a:prstGeom prst="rect">
            <a:avLst/>
          </a:prstGeom>
          <a:noFill/>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4250" b="0" i="0" u="none"/>
              <a:t>Why developers like this approach</a:t>
            </a:r>
          </a:p>
        </p:txBody>
      </p:sp>
      <p:sp>
        <p:nvSpPr>
          <p:cNvPr id="3" name="Content Placeholder 2"/>
          <p:cNvSpPr>
            <a:spLocks noGrp="1"/>
          </p:cNvSpPr>
          <p:nvPr>
            <p:ph idx="1"/>
          </p:nvPr>
        </p:nvSpPr>
        <p:spPr/>
        <p:txBody>
          <a:bodyPr wrap="square">
            <a:normAutofit/>
          </a:bodyPr>
          <a:lstStyle/>
          <a:p>
            <a:pPr>
              <a:buNone/>
            </a:pPr>
            <a:r>
              <a:rPr sz="2400" b="1" i="0" u="none" dirty="0"/>
              <a:t>Developer experience</a:t>
            </a:r>
            <a:endParaRPr sz="2400" b="0" i="0" dirty="0">
              <a:latin typeface="Arial"/>
            </a:endParaRPr>
          </a:p>
          <a:p>
            <a:pPr lvl="1"/>
            <a:r>
              <a:rPr sz="1800" b="0" i="0" u="none" dirty="0"/>
              <a:t>Faster feature development</a:t>
            </a:r>
            <a:endParaRPr sz="1800" b="0" i="0" dirty="0">
              <a:latin typeface="Arial"/>
            </a:endParaRPr>
          </a:p>
          <a:p>
            <a:pPr lvl="1"/>
            <a:r>
              <a:rPr sz="1800" b="0" i="0" u="none" dirty="0"/>
              <a:t>All related code in one location</a:t>
            </a:r>
            <a:endParaRPr sz="1800" b="0" i="0" dirty="0">
              <a:latin typeface="Arial"/>
            </a:endParaRPr>
          </a:p>
          <a:p>
            <a:pPr lvl="1"/>
            <a:r>
              <a:rPr sz="1800" b="0" i="0" u="none" dirty="0"/>
              <a:t>Less folder jumping during implementation</a:t>
            </a:r>
            <a:endParaRPr sz="1800" b="0" i="0" dirty="0">
              <a:latin typeface="Arial"/>
            </a:endParaRPr>
          </a:p>
          <a:p>
            <a:pPr lvl="1"/>
            <a:r>
              <a:rPr sz="1800" b="0" i="0" u="none" dirty="0"/>
              <a:t>New features are less likely to disturb existing ones</a:t>
            </a:r>
            <a:endParaRPr sz="1800" b="0" i="0" dirty="0">
              <a:latin typeface="Arial"/>
            </a:endParaRPr>
          </a:p>
          <a:p>
            <a:pPr>
              <a:buNone/>
            </a:pPr>
            <a:endParaRPr sz="2400" b="0" i="0" dirty="0">
              <a:latin typeface="Arial"/>
            </a:endParaRPr>
          </a:p>
          <a:p>
            <a:pPr>
              <a:buNone/>
            </a:pPr>
            <a:r>
              <a:rPr sz="2400" b="1" i="0" u="none" dirty="0"/>
              <a:t>Maintainability</a:t>
            </a:r>
            <a:endParaRPr sz="2400" b="0" i="0" dirty="0">
              <a:latin typeface="Arial"/>
            </a:endParaRPr>
          </a:p>
          <a:p>
            <a:pPr lvl="1"/>
            <a:r>
              <a:rPr sz="1800" b="0" i="0" u="none" dirty="0"/>
              <a:t>Localized changes</a:t>
            </a:r>
            <a:endParaRPr sz="1800" b="0" i="0" dirty="0">
              <a:latin typeface="Arial"/>
            </a:endParaRPr>
          </a:p>
          <a:p>
            <a:pPr lvl="1"/>
            <a:r>
              <a:rPr sz="1800" b="0" i="0" u="none" dirty="0"/>
              <a:t>Clear boundaries reduce accidental bugs</a:t>
            </a:r>
            <a:endParaRPr sz="1800" b="0" i="0" dirty="0">
              <a:latin typeface="Arial"/>
            </a:endParaRPr>
          </a:p>
          <a:p>
            <a:pPr lvl="1"/>
            <a:r>
              <a:rPr sz="1800" b="0" i="0" u="none" dirty="0"/>
              <a:t>Refactoring happens inside the feature more often than across the whole app</a:t>
            </a:r>
            <a:endParaRPr sz="1800" b="0" i="0" dirty="0">
              <a:latin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4300" b="0" i="0" u="none"/>
              <a:t>Collaboration and testing benefits</a:t>
            </a:r>
          </a:p>
        </p:txBody>
      </p:sp>
      <p:sp>
        <p:nvSpPr>
          <p:cNvPr id="3" name="Content Placeholder 2"/>
          <p:cNvSpPr>
            <a:spLocks noGrp="1"/>
          </p:cNvSpPr>
          <p:nvPr>
            <p:ph idx="1"/>
          </p:nvPr>
        </p:nvSpPr>
        <p:spPr/>
        <p:txBody>
          <a:bodyPr wrap="square">
            <a:noAutofit/>
          </a:bodyPr>
          <a:lstStyle/>
          <a:p>
            <a:pPr>
              <a:buNone/>
            </a:pPr>
            <a:r>
              <a:rPr sz="2000" b="1" i="0" u="none" dirty="0"/>
              <a:t>Team collaboration</a:t>
            </a:r>
            <a:endParaRPr sz="2000" b="0" i="0" dirty="0">
              <a:latin typeface="Arial"/>
            </a:endParaRPr>
          </a:p>
          <a:p>
            <a:pPr lvl="1"/>
            <a:r>
              <a:rPr sz="1600" b="0" i="0" u="none" dirty="0"/>
              <a:t>Teams can build features in parallel</a:t>
            </a:r>
            <a:endParaRPr sz="1600" b="0" i="0" dirty="0">
              <a:latin typeface="Arial"/>
            </a:endParaRPr>
          </a:p>
          <a:p>
            <a:pPr lvl="1"/>
            <a:r>
              <a:rPr sz="1600" b="0" i="0" u="none" dirty="0"/>
              <a:t>Clear boundaries mean fewer merge conflicts</a:t>
            </a:r>
            <a:endParaRPr sz="1600" b="0" i="0" dirty="0">
              <a:latin typeface="Arial"/>
            </a:endParaRPr>
          </a:p>
          <a:p>
            <a:pPr lvl="1"/>
            <a:r>
              <a:rPr sz="1600" b="0" i="0" u="none" dirty="0"/>
              <a:t>Ownership and responsibility are easier to assign</a:t>
            </a:r>
            <a:endParaRPr sz="1600" b="0" i="0" dirty="0">
              <a:latin typeface="Arial"/>
            </a:endParaRPr>
          </a:p>
          <a:p>
            <a:pPr>
              <a:buNone/>
            </a:pPr>
            <a:endParaRPr sz="2000" b="0" i="0" dirty="0">
              <a:latin typeface="Arial"/>
            </a:endParaRPr>
          </a:p>
          <a:p>
            <a:pPr>
              <a:buNone/>
            </a:pPr>
            <a:r>
              <a:rPr sz="2000" b="1" i="0" u="none" dirty="0"/>
              <a:t>Testing approach</a:t>
            </a:r>
            <a:endParaRPr sz="2000" b="0" i="0" dirty="0">
              <a:latin typeface="Arial"/>
            </a:endParaRPr>
          </a:p>
          <a:p>
            <a:pPr lvl="1"/>
            <a:r>
              <a:rPr sz="1600" b="0" i="0" u="none" dirty="0"/>
              <a:t>Test complete features, not isolated layers</a:t>
            </a:r>
            <a:endParaRPr sz="1600" b="0" i="0" dirty="0">
              <a:latin typeface="Arial"/>
            </a:endParaRPr>
          </a:p>
          <a:p>
            <a:pPr lvl="1"/>
            <a:r>
              <a:rPr sz="1600" b="0" i="0" u="none" dirty="0"/>
              <a:t>Mock at feature boundaries</a:t>
            </a:r>
            <a:endParaRPr sz="1600" b="0" i="0" dirty="0">
              <a:latin typeface="Arial"/>
            </a:endParaRPr>
          </a:p>
          <a:p>
            <a:pPr lvl="1"/>
            <a:r>
              <a:rPr sz="1600" b="0" i="0" u="none" dirty="0"/>
              <a:t>Integration becomes more straightforward</a:t>
            </a:r>
            <a:endParaRPr sz="1600" b="0" i="0" dirty="0">
              <a:latin typeface="Arial"/>
            </a:endParaRPr>
          </a:p>
          <a:p>
            <a:pPr lvl="1"/>
            <a:r>
              <a:rPr sz="1600" b="0" i="0" u="none" dirty="0"/>
              <a:t>Independent development is easier with mocked dependencies</a:t>
            </a:r>
            <a:endParaRPr sz="1600" b="0" i="0" dirty="0">
              <a:latin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928887" cy="703024"/>
          </a:xfrm>
        </p:spPr>
        <p:txBody>
          <a:bodyPr anchor="ctr">
            <a:normAutofit/>
          </a:bodyPr>
          <a:lstStyle/>
          <a:p>
            <a:pPr>
              <a:buNone/>
            </a:pPr>
            <a:r>
              <a:rPr lang="en-US" sz="3700" b="0" i="0" u="none"/>
              <a:t>Why CQRS fits well with vertical slices</a:t>
            </a:r>
          </a:p>
        </p:txBody>
      </p:sp>
      <p:sp>
        <p:nvSpPr>
          <p:cNvPr id="3" name="Content Placeholder 2"/>
          <p:cNvSpPr>
            <a:spLocks noGrp="1"/>
          </p:cNvSpPr>
          <p:nvPr>
            <p:ph sz="half" idx="1"/>
          </p:nvPr>
        </p:nvSpPr>
        <p:spPr>
          <a:xfrm>
            <a:off x="838199" y="1463752"/>
            <a:ext cx="10496909" cy="3367040"/>
          </a:xfrm>
        </p:spPr>
        <p:txBody>
          <a:bodyPr>
            <a:normAutofit/>
          </a:bodyPr>
          <a:lstStyle/>
          <a:p>
            <a:pPr>
              <a:lnSpc>
                <a:spcPct val="90000"/>
              </a:lnSpc>
            </a:pPr>
            <a:r>
              <a:rPr lang="en-US" sz="2400" b="0" i="0" u="none" dirty="0"/>
              <a:t>CQRS separates reads from writes</a:t>
            </a:r>
            <a:endParaRPr lang="en-US" sz="2400" b="0" i="0" dirty="0"/>
          </a:p>
          <a:p>
            <a:pPr>
              <a:lnSpc>
                <a:spcPct val="90000"/>
              </a:lnSpc>
            </a:pPr>
            <a:r>
              <a:rPr lang="en-US" sz="2400" b="0" i="0" u="none" dirty="0"/>
              <a:t>Read side can be optimized for display and performance</a:t>
            </a:r>
            <a:endParaRPr lang="en-US" sz="2400" b="0" i="0" dirty="0"/>
          </a:p>
          <a:p>
            <a:pPr>
              <a:lnSpc>
                <a:spcPct val="90000"/>
              </a:lnSpc>
            </a:pPr>
            <a:r>
              <a:rPr lang="en-US" sz="2400" b="0" i="0" u="none" dirty="0"/>
              <a:t>Write side can be optimized for business rules and updates</a:t>
            </a:r>
            <a:endParaRPr lang="en-US" sz="2400" b="0" i="0" dirty="0"/>
          </a:p>
          <a:p>
            <a:pPr>
              <a:lnSpc>
                <a:spcPct val="90000"/>
              </a:lnSpc>
            </a:pPr>
            <a:r>
              <a:rPr lang="en-US" sz="2400" b="0" i="0" u="none" dirty="0"/>
              <a:t>Messaging keeps the two stacks coordinated</a:t>
            </a:r>
            <a:endParaRPr lang="en-US" sz="2400" b="0" i="0" dirty="0"/>
          </a:p>
          <a:p>
            <a:pPr>
              <a:lnSpc>
                <a:spcPct val="90000"/>
              </a:lnSpc>
            </a:pPr>
            <a:r>
              <a:rPr lang="en-US" sz="2400" b="0" i="0" u="none" dirty="0"/>
              <a:t>A feature slice can implement both read and write concerns together</a:t>
            </a:r>
            <a:endParaRPr lang="en-US" sz="2400" b="0" i="0" dirty="0"/>
          </a:p>
        </p:txBody>
      </p:sp>
      <p:pic>
        <p:nvPicPr>
          <p:cNvPr id="4" name="Picture 3" descr="936a3883cd7dfa461651ac5660984e26a6758c13.png"/>
          <p:cNvPicPr>
            <a:picLocks noChangeAspect="1"/>
          </p:cNvPicPr>
          <p:nvPr/>
        </p:nvPicPr>
        <p:blipFill>
          <a:blip r:embed="rId3"/>
          <a:stretch>
            <a:fillRect/>
          </a:stretch>
        </p:blipFill>
        <p:spPr>
          <a:xfrm>
            <a:off x="901887" y="4126660"/>
            <a:ext cx="10521840" cy="1578276"/>
          </a:xfrm>
          <a:prstGeom prst="rect">
            <a:avLst/>
          </a:prstGeom>
          <a:noFill/>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Key takeaways</a:t>
            </a:r>
          </a:p>
        </p:txBody>
      </p:sp>
      <p:sp>
        <p:nvSpPr>
          <p:cNvPr id="3" name="Content Placeholder 2"/>
          <p:cNvSpPr>
            <a:spLocks noGrp="1"/>
          </p:cNvSpPr>
          <p:nvPr>
            <p:ph idx="1"/>
          </p:nvPr>
        </p:nvSpPr>
        <p:spPr/>
        <p:txBody>
          <a:bodyPr wrap="square">
            <a:noAutofit/>
          </a:bodyPr>
          <a:lstStyle/>
          <a:p>
            <a:r>
              <a:rPr sz="2550" b="0" i="0" u="none"/>
              <a:t>Organize by feature when you want stronger business boundaries</a:t>
            </a:r>
            <a:endParaRPr sz="2550" b="0" i="0">
              <a:latin typeface="Arial"/>
            </a:endParaRPr>
          </a:p>
          <a:p>
            <a:r>
              <a:rPr sz="2550" b="0" i="0" u="none"/>
              <a:t>Keep everything needed for a feature in one place</a:t>
            </a:r>
            <a:endParaRPr sz="2550" b="0" i="0">
              <a:latin typeface="Arial"/>
            </a:endParaRPr>
          </a:p>
          <a:p>
            <a:r>
              <a:rPr sz="2550" b="0" i="0" u="none"/>
              <a:t>Prefer independent slices over tightly coupled features</a:t>
            </a:r>
            <a:endParaRPr sz="2550" b="0" i="0">
              <a:latin typeface="Arial"/>
            </a:endParaRPr>
          </a:p>
          <a:p>
            <a:r>
              <a:rPr sz="2550" b="0" i="0" u="none"/>
              <a:t>Use localized changes to improve maintainability</a:t>
            </a:r>
            <a:endParaRPr sz="2550" b="0" i="0">
              <a:latin typeface="Arial"/>
            </a:endParaRPr>
          </a:p>
          <a:p>
            <a:r>
              <a:rPr sz="2550" b="0" i="0" u="none"/>
              <a:t>Consider CQRS when read and write paths have different needs</a:t>
            </a:r>
            <a:endParaRPr sz="2550" b="0" i="0">
              <a:latin typeface="Arial"/>
            </a:endParaRPr>
          </a:p>
          <a:p>
            <a:pPr>
              <a:buNone/>
            </a:pPr>
            <a:endParaRPr sz="2550" b="0" i="0">
              <a:latin typeface="Arial"/>
            </a:endParaRPr>
          </a:p>
          <a:p>
            <a:pPr>
              <a:buNone/>
            </a:pPr>
            <a:r>
              <a:rPr sz="2550" b="1" i="0" u="none"/>
              <a:t>Bottom line:</a:t>
            </a:r>
            <a:r>
              <a:rPr sz="2550" b="0" i="0" u="none"/>
              <a:t> vertical slicing improves focus, flow, and long-term maintainability.</a:t>
            </a:r>
            <a:endParaRPr sz="2550" b="0" i="0">
              <a:latin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Autofit/>
          </a:bodyPr>
          <a:lstStyle/>
          <a:p>
            <a:r>
              <a:rPr sz="2350" b="0" i="0" u="none" dirty="0"/>
              <a:t>Intro</a:t>
            </a:r>
          </a:p>
          <a:p>
            <a:r>
              <a:rPr sz="2350" b="0" i="0" u="none" dirty="0"/>
              <a:t>Specification Driven Software Development</a:t>
            </a:r>
          </a:p>
          <a:p>
            <a:r>
              <a:rPr sz="2350" b="0" i="0" u="none" dirty="0"/>
              <a:t>Architecture Specification</a:t>
            </a:r>
          </a:p>
          <a:p>
            <a:r>
              <a:rPr sz="2350" b="0" i="0" u="none" dirty="0"/>
              <a:t>Technology Specification</a:t>
            </a:r>
          </a:p>
          <a:p>
            <a:r>
              <a:rPr sz="2350" b="0" i="0" u="none" dirty="0"/>
              <a:t>Implementation Specification</a:t>
            </a:r>
          </a:p>
          <a:p>
            <a:r>
              <a:rPr sz="2350" b="1" i="0" u="none" dirty="0"/>
              <a:t>▶ Implementation Planning</a:t>
            </a:r>
          </a:p>
          <a:p>
            <a:r>
              <a:rPr sz="2350" b="0" i="0" u="none" dirty="0"/>
              <a:t>Implementation Prompts</a:t>
            </a:r>
          </a:p>
          <a:p>
            <a:r>
              <a:rPr sz="2350" b="0" i="0" u="none" dirty="0"/>
              <a:t>Vertical Slice Implementation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395E6F-834D-AB05-F94F-903D6705AF06}"/>
              </a:ext>
            </a:extLst>
          </p:cNvPr>
          <p:cNvSpPr>
            <a:spLocks noGrp="1"/>
          </p:cNvSpPr>
          <p:nvPr>
            <p:ph type="title"/>
          </p:nvPr>
        </p:nvSpPr>
        <p:spPr/>
        <p:txBody>
          <a:bodyPr>
            <a:normAutofit fontScale="90000"/>
          </a:bodyPr>
          <a:lstStyle/>
          <a:p>
            <a:r>
              <a:rPr lang="en-US" dirty="0"/>
              <a:t>Vertical Slice Implementation Plans</a:t>
            </a:r>
          </a:p>
        </p:txBody>
      </p:sp>
      <p:sp>
        <p:nvSpPr>
          <p:cNvPr id="5" name="Subtitle 4">
            <a:extLst>
              <a:ext uri="{FF2B5EF4-FFF2-40B4-BE49-F238E27FC236}">
                <a16:creationId xmlns:a16="http://schemas.microsoft.com/office/drawing/2014/main" id="{4552946E-4CD8-D1A9-2A7A-054C7AD3D275}"/>
              </a:ext>
            </a:extLst>
          </p:cNvPr>
          <p:cNvSpPr>
            <a:spLocks noGrp="1"/>
          </p:cNvSpPr>
          <p:nvPr>
            <p:ph type="subTitle" idx="1"/>
          </p:nvPr>
        </p:nvSpPr>
        <p:spPr/>
        <p:txBody>
          <a:bodyPr/>
          <a:lstStyle/>
          <a:p>
            <a:pPr marL="0" indent="0">
              <a:buNone/>
            </a:pPr>
            <a:r>
              <a:rPr lang="en-US" b="1" dirty="0"/>
              <a:t>The Blueprint Before the Blueprint</a:t>
            </a:r>
            <a:endParaRPr lang="en-US" dirty="0"/>
          </a:p>
        </p:txBody>
      </p:sp>
    </p:spTree>
    <p:extLst>
      <p:ext uri="{BB962C8B-B14F-4D97-AF65-F5344CB8AC3E}">
        <p14:creationId xmlns:p14="http://schemas.microsoft.com/office/powerpoint/2010/main" val="93510990"/>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r>
              <a:rPr lang="en-US" dirty="0"/>
              <a:t>Creating Vertical Slice Implementation Plans</a:t>
            </a:r>
            <a:endParaRPr lang="en-US" b="0" dirty="0"/>
          </a:p>
        </p:txBody>
      </p:sp>
      <p:sp>
        <p:nvSpPr>
          <p:cNvPr id="3" name="Content Placeholder 2"/>
          <p:cNvSpPr>
            <a:spLocks noGrp="1"/>
          </p:cNvSpPr>
          <p:nvPr>
            <p:ph idx="1"/>
          </p:nvPr>
        </p:nvSpPr>
        <p:spPr/>
        <p:txBody>
          <a:bodyPr wrap="square">
            <a:normAutofit/>
          </a:bodyPr>
          <a:lstStyle/>
          <a:p>
            <a:endParaRPr lang="en-US" dirty="0"/>
          </a:p>
          <a:p>
            <a:r>
              <a:rPr sz="2800" b="0" i="0" u="none" dirty="0"/>
              <a:t>Focus: how to plan before implementation</a:t>
            </a:r>
            <a:endParaRPr sz="2800" b="0" i="0" dirty="0">
              <a:latin typeface="Arial"/>
            </a:endParaRPr>
          </a:p>
          <a:p>
            <a:r>
              <a:rPr sz="2800" b="0" i="0" u="none" dirty="0"/>
              <a:t>Goal: turn requirements into executable slices</a:t>
            </a:r>
            <a:endParaRPr sz="2800" b="0" i="0" dirty="0">
              <a:latin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What this section covers</a:t>
            </a:r>
          </a:p>
        </p:txBody>
      </p:sp>
      <p:sp>
        <p:nvSpPr>
          <p:cNvPr id="3" name="Content Placeholder 2"/>
          <p:cNvSpPr>
            <a:spLocks noGrp="1"/>
          </p:cNvSpPr>
          <p:nvPr>
            <p:ph idx="1"/>
          </p:nvPr>
        </p:nvSpPr>
        <p:spPr/>
        <p:txBody>
          <a:bodyPr wrap="square">
            <a:normAutofit/>
          </a:bodyPr>
          <a:lstStyle/>
          <a:p>
            <a:r>
              <a:rPr sz="2800" b="0" i="0" u="none"/>
              <a:t>Vertical slice planning instruction file</a:t>
            </a:r>
            <a:endParaRPr sz="2800" b="0" i="0">
              <a:latin typeface="Arial"/>
            </a:endParaRPr>
          </a:p>
          <a:p>
            <a:r>
              <a:rPr sz="2800" b="0" i="0" u="none"/>
              <a:t>Slice identification strategies</a:t>
            </a:r>
            <a:endParaRPr sz="2800" b="0" i="0">
              <a:latin typeface="Arial"/>
            </a:endParaRPr>
          </a:p>
          <a:p>
            <a:r>
              <a:rPr sz="2800" b="0" i="0" u="none"/>
              <a:t>Decomposition principles</a:t>
            </a:r>
            <a:endParaRPr sz="2800" b="0" i="0">
              <a:latin typeface="Arial"/>
            </a:endParaRPr>
          </a:p>
          <a:p>
            <a:r>
              <a:rPr sz="2800" b="0" i="0" u="none"/>
              <a:t>AI-assisted implementation planning</a:t>
            </a:r>
            <a:endParaRPr sz="2800" b="0" i="0">
              <a:latin typeface="Arial"/>
            </a:endParaRPr>
          </a:p>
          <a:p>
            <a:r>
              <a:rPr sz="2800" b="0" i="0" u="none"/>
              <a:t>Slice specifications and roadmaps</a:t>
            </a:r>
            <a:endParaRPr sz="2800" b="0" i="0">
              <a:latin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4050" b="0" i="0" u="none" dirty="0"/>
              <a:t>Review the planning instructions</a:t>
            </a:r>
          </a:p>
        </p:txBody>
      </p:sp>
      <p:sp>
        <p:nvSpPr>
          <p:cNvPr id="3" name="Content Placeholder 2"/>
          <p:cNvSpPr>
            <a:spLocks noGrp="1"/>
          </p:cNvSpPr>
          <p:nvPr>
            <p:ph idx="1"/>
          </p:nvPr>
        </p:nvSpPr>
        <p:spPr/>
        <p:txBody>
          <a:bodyPr wrap="square">
            <a:normAutofit/>
          </a:bodyPr>
          <a:lstStyle/>
          <a:p>
            <a:pPr>
              <a:buNone/>
            </a:pPr>
            <a:r>
              <a:rPr sz="1800" b="0" i="0" u="none" dirty="0"/>
              <a:t>Reference point:</a:t>
            </a:r>
            <a:endParaRPr sz="1800" b="0" i="0" dirty="0">
              <a:latin typeface="Consolas"/>
            </a:endParaRPr>
          </a:p>
          <a:p>
            <a:pPr>
              <a:buNone/>
            </a:pPr>
            <a:endParaRPr sz="1800" b="0" i="0" dirty="0">
              <a:latin typeface="Consolas"/>
            </a:endParaRPr>
          </a:p>
          <a:p>
            <a:pPr>
              <a:buNone/>
            </a:pPr>
            <a:r>
              <a:rPr sz="1800" b="0" i="0" u="none" dirty="0">
                <a:latin typeface="Consolas"/>
              </a:rPr>
              <a:t>.</a:t>
            </a:r>
            <a:r>
              <a:rPr sz="1800" b="0" i="0" u="none" dirty="0" err="1">
                <a:latin typeface="Consolas"/>
              </a:rPr>
              <a:t>github</a:t>
            </a:r>
            <a:r>
              <a:rPr sz="1800" b="0" i="0" u="none" dirty="0">
                <a:latin typeface="Consolas"/>
              </a:rPr>
              <a:t>/instructions/vertical-slice-planning.instructions.md</a:t>
            </a:r>
            <a:endParaRPr sz="1800" b="0" i="0" dirty="0">
              <a:latin typeface="Consolas"/>
            </a:endParaRPr>
          </a:p>
          <a:p>
            <a:pPr>
              <a:buNone/>
            </a:pPr>
            <a:endParaRPr sz="1800" b="0" i="0" dirty="0">
              <a:latin typeface="Consolas"/>
            </a:endParaRPr>
          </a:p>
          <a:p>
            <a:pPr>
              <a:buNone/>
            </a:pPr>
            <a:r>
              <a:rPr sz="1800" b="0" i="0" u="none" dirty="0"/>
              <a:t>What it provides:</a:t>
            </a:r>
            <a:endParaRPr sz="1800" b="0" i="0" dirty="0">
              <a:latin typeface="Consolas"/>
            </a:endParaRPr>
          </a:p>
          <a:p>
            <a:pPr lvl="1"/>
            <a:r>
              <a:rPr sz="1400" b="0" i="0" u="none" dirty="0"/>
              <a:t>Strategy selection guidance</a:t>
            </a:r>
            <a:endParaRPr sz="1400" b="0" i="0" dirty="0">
              <a:latin typeface="Consolas"/>
            </a:endParaRPr>
          </a:p>
          <a:p>
            <a:pPr lvl="1"/>
            <a:r>
              <a:rPr sz="1400" b="0" i="0" u="none" dirty="0"/>
              <a:t>Decomposition rules</a:t>
            </a:r>
            <a:endParaRPr sz="1400" b="0" i="0" dirty="0">
              <a:latin typeface="Consolas"/>
            </a:endParaRPr>
          </a:p>
          <a:p>
            <a:pPr lvl="1"/>
            <a:r>
              <a:rPr sz="1400" b="0" i="0" u="none" dirty="0"/>
              <a:t>Dependency analysis prompts</a:t>
            </a:r>
            <a:endParaRPr sz="1400" b="0" i="0" dirty="0">
              <a:latin typeface="Consolas"/>
            </a:endParaRPr>
          </a:p>
          <a:p>
            <a:pPr lvl="1"/>
            <a:r>
              <a:rPr sz="1400" b="0" i="0" u="none" dirty="0"/>
              <a:t>Slice definition templates</a:t>
            </a:r>
            <a:endParaRPr sz="1400" b="0" i="0" dirty="0">
              <a:latin typeface="Consola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Slice identification strategies</a:t>
            </a:r>
          </a:p>
        </p:txBody>
      </p:sp>
      <p:graphicFrame>
        <p:nvGraphicFramePr>
          <p:cNvPr id="3" name="Table 2"/>
          <p:cNvGraphicFramePr>
            <a:graphicFrameLocks noGrp="1"/>
          </p:cNvGraphicFramePr>
          <p:nvPr>
            <p:extLst>
              <p:ext uri="{D42A27DB-BD31-4B8C-83A1-F6EECF244321}">
                <p14:modId xmlns:p14="http://schemas.microsoft.com/office/powerpoint/2010/main" val="2607767528"/>
              </p:ext>
            </p:extLst>
          </p:nvPr>
        </p:nvGraphicFramePr>
        <p:xfrm>
          <a:off x="1219200" y="1828800"/>
          <a:ext cx="9753600" cy="2743200"/>
        </p:xfrm>
        <a:graphic>
          <a:graphicData uri="http://schemas.openxmlformats.org/drawingml/2006/table">
            <a:tbl>
              <a:tblPr firstRow="1" bandRow="1">
                <a:tableStyleId>{5C22544A-7EE6-4342-B048-85BDC9FD1C3A}</a:tableStyleId>
              </a:tblPr>
              <a:tblGrid>
                <a:gridCol w="4876800">
                  <a:extLst>
                    <a:ext uri="{9D8B030D-6E8A-4147-A177-3AD203B41FA5}">
                      <a16:colId xmlns:a16="http://schemas.microsoft.com/office/drawing/2014/main" val="20000"/>
                    </a:ext>
                  </a:extLst>
                </a:gridCol>
                <a:gridCol w="4876800">
                  <a:extLst>
                    <a:ext uri="{9D8B030D-6E8A-4147-A177-3AD203B41FA5}">
                      <a16:colId xmlns:a16="http://schemas.microsoft.com/office/drawing/2014/main" val="20001"/>
                    </a:ext>
                  </a:extLst>
                </a:gridCol>
              </a:tblGrid>
              <a:tr h="457200">
                <a:tc>
                  <a:txBody>
                    <a:bodyPr/>
                    <a:lstStyle/>
                    <a:p>
                      <a:pPr>
                        <a:buNone/>
                        <a:defRPr sz="1600" b="1">
                          <a:solidFill>
                            <a:schemeClr val="bg1"/>
                          </a:solidFill>
                        </a:defRPr>
                      </a:pPr>
                      <a:r>
                        <a:rPr sz="2400" b="0" i="0" u="none"/>
                        <a:t>Strategy</a:t>
                      </a:r>
                    </a:p>
                  </a:txBody>
                  <a:tcPr>
                    <a:solidFill>
                      <a:schemeClr val="accent4"/>
                    </a:solidFill>
                  </a:tcPr>
                </a:tc>
                <a:tc>
                  <a:txBody>
                    <a:bodyPr/>
                    <a:lstStyle/>
                    <a:p>
                      <a:pPr>
                        <a:buNone/>
                        <a:defRPr sz="1600" b="1">
                          <a:solidFill>
                            <a:schemeClr val="bg1"/>
                          </a:solidFill>
                        </a:defRPr>
                      </a:pPr>
                      <a:r>
                        <a:rPr sz="2400" b="0" i="0" u="none"/>
                        <a:t>Best fit</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2400" b="0" i="0" u="none"/>
                        <a:t>User action decomposition</a:t>
                      </a:r>
                    </a:p>
                  </a:txBody>
                  <a:tcPr>
                    <a:solidFill>
                      <a:schemeClr val="accent4">
                        <a:lumMod val="20000"/>
                        <a:lumOff val="80000"/>
                      </a:schemeClr>
                    </a:solidFill>
                  </a:tcPr>
                </a:tc>
                <a:tc>
                  <a:txBody>
                    <a:bodyPr/>
                    <a:lstStyle/>
                    <a:p>
                      <a:pPr>
                        <a:buNone/>
                        <a:defRPr sz="1600" b="0">
                          <a:solidFill>
                            <a:schemeClr val="tx1"/>
                          </a:solidFill>
                        </a:defRPr>
                      </a:pPr>
                      <a:r>
                        <a:rPr sz="2400" b="0" i="0" u="none"/>
                        <a:t>End-to-end user flows</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2400" b="0" i="0" u="none"/>
                        <a:t>Entity CRUD operations</a:t>
                      </a:r>
                    </a:p>
                  </a:txBody>
                  <a:tcPr>
                    <a:solidFill>
                      <a:schemeClr val="accent4">
                        <a:lumMod val="8000"/>
                        <a:lumOff val="92000"/>
                      </a:schemeClr>
                    </a:solidFill>
                  </a:tcPr>
                </a:tc>
                <a:tc>
                  <a:txBody>
                    <a:bodyPr/>
                    <a:lstStyle/>
                    <a:p>
                      <a:pPr>
                        <a:buNone/>
                        <a:defRPr sz="1600" b="0">
                          <a:solidFill>
                            <a:schemeClr val="tx1"/>
                          </a:solidFill>
                        </a:defRPr>
                      </a:pPr>
                      <a:r>
                        <a:rPr sz="2400" b="0" i="0" u="none"/>
                        <a:t>Simple data management</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2400" b="0" i="0" u="none"/>
                        <a:t>Workflow stage decomposition</a:t>
                      </a:r>
                    </a:p>
                  </a:txBody>
                  <a:tcPr>
                    <a:solidFill>
                      <a:schemeClr val="accent4">
                        <a:lumMod val="20000"/>
                        <a:lumOff val="80000"/>
                      </a:schemeClr>
                    </a:solidFill>
                  </a:tcPr>
                </a:tc>
                <a:tc>
                  <a:txBody>
                    <a:bodyPr/>
                    <a:lstStyle/>
                    <a:p>
                      <a:pPr>
                        <a:buNone/>
                        <a:defRPr sz="1600" b="0">
                          <a:solidFill>
                            <a:schemeClr val="tx1"/>
                          </a:solidFill>
                        </a:defRPr>
                      </a:pPr>
                      <a:r>
                        <a:rPr sz="2400" b="0" i="0" u="none"/>
                        <a:t>Multi-step processes</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2400" b="0" i="0" u="none"/>
                        <a:t>Business event decomposition</a:t>
                      </a:r>
                    </a:p>
                  </a:txBody>
                  <a:tcPr>
                    <a:solidFill>
                      <a:schemeClr val="accent4">
                        <a:lumMod val="8000"/>
                        <a:lumOff val="92000"/>
                      </a:schemeClr>
                    </a:solidFill>
                  </a:tcPr>
                </a:tc>
                <a:tc>
                  <a:txBody>
                    <a:bodyPr/>
                    <a:lstStyle/>
                    <a:p>
                      <a:pPr>
                        <a:buNone/>
                        <a:defRPr sz="1600" b="0">
                          <a:solidFill>
                            <a:schemeClr val="tx1"/>
                          </a:solidFill>
                        </a:defRPr>
                      </a:pPr>
                      <a:r>
                        <a:rPr sz="2400" b="0" i="0" u="none"/>
                        <a:t>Event-driven behavior</a:t>
                      </a:r>
                    </a:p>
                  </a:txBody>
                  <a:tcPr>
                    <a:solidFill>
                      <a:schemeClr val="accent4">
                        <a:lumMod val="8000"/>
                        <a:lumOff val="92000"/>
                      </a:schemeClr>
                    </a:solidFill>
                  </a:tcPr>
                </a:tc>
                <a:extLst>
                  <a:ext uri="{0D108BD9-81ED-4DB2-BD59-A6C34878D82A}">
                    <a16:rowId xmlns:a16="http://schemas.microsoft.com/office/drawing/2014/main" val="10004"/>
                  </a:ext>
                </a:extLst>
              </a:tr>
              <a:tr h="457200">
                <a:tc>
                  <a:txBody>
                    <a:bodyPr/>
                    <a:lstStyle/>
                    <a:p>
                      <a:pPr>
                        <a:buNone/>
                        <a:defRPr sz="1600" b="0">
                          <a:solidFill>
                            <a:schemeClr val="tx1"/>
                          </a:solidFill>
                        </a:defRPr>
                      </a:pPr>
                      <a:r>
                        <a:rPr sz="2400" b="0" i="0" u="none"/>
                        <a:t>CQRS-optimized slicing</a:t>
                      </a:r>
                    </a:p>
                  </a:txBody>
                  <a:tcPr>
                    <a:solidFill>
                      <a:schemeClr val="accent4">
                        <a:lumMod val="20000"/>
                        <a:lumOff val="80000"/>
                      </a:schemeClr>
                    </a:solidFill>
                  </a:tcPr>
                </a:tc>
                <a:tc>
                  <a:txBody>
                    <a:bodyPr/>
                    <a:lstStyle/>
                    <a:p>
                      <a:pPr>
                        <a:buNone/>
                        <a:defRPr sz="1600" b="0">
                          <a:solidFill>
                            <a:schemeClr val="tx1"/>
                          </a:solidFill>
                        </a:defRPr>
                      </a:pPr>
                      <a:r>
                        <a:rPr sz="2400" b="0" i="0" u="none" dirty="0"/>
                        <a:t>Distinct read/write paths</a:t>
                      </a:r>
                    </a:p>
                  </a:txBody>
                  <a:tcPr>
                    <a:solidFill>
                      <a:schemeClr val="accent4">
                        <a:lumMod val="20000"/>
                        <a:lumOff val="80000"/>
                      </a:schemeClr>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Decomposition principles</a:t>
            </a:r>
          </a:p>
        </p:txBody>
      </p:sp>
      <p:sp>
        <p:nvSpPr>
          <p:cNvPr id="3" name="Content Placeholder 2"/>
          <p:cNvSpPr>
            <a:spLocks noGrp="1"/>
          </p:cNvSpPr>
          <p:nvPr>
            <p:ph idx="1"/>
          </p:nvPr>
        </p:nvSpPr>
        <p:spPr/>
        <p:txBody>
          <a:bodyPr wrap="square">
            <a:noAutofit/>
          </a:bodyPr>
          <a:lstStyle/>
          <a:p>
            <a:r>
              <a:rPr sz="2350" b="1" i="0" u="none" dirty="0"/>
              <a:t>Single responsibility</a:t>
            </a:r>
            <a:r>
              <a:rPr sz="2350" b="0" i="0" u="none" dirty="0"/>
              <a:t> per slice</a:t>
            </a:r>
            <a:endParaRPr sz="2350" b="0" i="0" dirty="0">
              <a:latin typeface="Arial"/>
            </a:endParaRPr>
          </a:p>
          <a:p>
            <a:r>
              <a:rPr sz="2350" b="1" i="0" u="none" dirty="0"/>
              <a:t>Complete vertical stack</a:t>
            </a:r>
            <a:r>
              <a:rPr sz="2350" b="0" i="0" u="none" dirty="0"/>
              <a:t> from UI/API to data</a:t>
            </a:r>
            <a:endParaRPr sz="2350" b="0" i="0" dirty="0">
              <a:latin typeface="Arial"/>
            </a:endParaRPr>
          </a:p>
          <a:p>
            <a:r>
              <a:rPr sz="2350" b="1" i="0" u="none" dirty="0"/>
              <a:t>No horizontal sharing</a:t>
            </a:r>
            <a:r>
              <a:rPr sz="2350" b="0" i="0" u="none" dirty="0"/>
              <a:t> as the unit of delivery</a:t>
            </a:r>
            <a:endParaRPr sz="2350" b="0" i="0" dirty="0">
              <a:latin typeface="Arial"/>
            </a:endParaRPr>
          </a:p>
          <a:p>
            <a:r>
              <a:rPr sz="2350" b="1" i="0" u="none" dirty="0"/>
              <a:t>Minimize external dependencies</a:t>
            </a:r>
            <a:endParaRPr sz="2350" b="0" i="0" dirty="0">
              <a:latin typeface="Arial"/>
            </a:endParaRPr>
          </a:p>
          <a:p>
            <a:r>
              <a:rPr sz="2350" b="0" i="0" u="none" dirty="0"/>
              <a:t>Size slices to be </a:t>
            </a:r>
            <a:r>
              <a:rPr sz="2350" b="1" i="0" u="none" dirty="0"/>
              <a:t>valuable and manageable</a:t>
            </a:r>
            <a:endParaRPr sz="2350" b="0" i="0" dirty="0">
              <a:latin typeface="Arial"/>
            </a:endParaRPr>
          </a:p>
          <a:p>
            <a:pPr>
              <a:buNone/>
            </a:pPr>
            <a:endParaRPr sz="2350" b="0" i="0" dirty="0">
              <a:latin typeface="Arial"/>
            </a:endParaRPr>
          </a:p>
          <a:p>
            <a:pPr>
              <a:buNone/>
            </a:pPr>
            <a:r>
              <a:rPr sz="2350" b="1" i="0" u="none" dirty="0"/>
              <a:t>Rule of thumb</a:t>
            </a:r>
            <a:r>
              <a:rPr lang="en-US" sz="2350" dirty="0">
                <a:latin typeface="Arial"/>
              </a:rPr>
              <a:t>: </a:t>
            </a:r>
            <a:r>
              <a:rPr sz="2350" b="0" i="0" u="none" dirty="0"/>
              <a:t>Avoid slices that are too big to finish or too small to matter.</a:t>
            </a:r>
            <a:endParaRPr sz="2350" b="0" i="0" dirty="0">
              <a:latin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Analyze before you slice</a:t>
            </a:r>
          </a:p>
        </p:txBody>
      </p:sp>
      <p:sp>
        <p:nvSpPr>
          <p:cNvPr id="3" name="Content Placeholder 2"/>
          <p:cNvSpPr>
            <a:spLocks noGrp="1"/>
          </p:cNvSpPr>
          <p:nvPr>
            <p:ph idx="1"/>
          </p:nvPr>
        </p:nvSpPr>
        <p:spPr/>
        <p:txBody>
          <a:bodyPr wrap="square">
            <a:normAutofit/>
          </a:bodyPr>
          <a:lstStyle/>
          <a:p>
            <a:pPr>
              <a:buNone/>
            </a:pPr>
            <a:r>
              <a:rPr sz="1800" b="0" i="0" u="none" dirty="0"/>
              <a:t>Ask these questions first:</a:t>
            </a:r>
            <a:endParaRPr sz="1800" b="0" i="0" dirty="0">
              <a:latin typeface="Consolas"/>
            </a:endParaRPr>
          </a:p>
          <a:p>
            <a:pPr lvl="1"/>
            <a:r>
              <a:rPr sz="1400" b="0" i="0" u="none" dirty="0"/>
              <a:t>What data does this slice read or change?</a:t>
            </a:r>
            <a:endParaRPr sz="1400" b="0" i="0" dirty="0">
              <a:latin typeface="Consolas"/>
            </a:endParaRPr>
          </a:p>
          <a:p>
            <a:pPr lvl="1"/>
            <a:r>
              <a:rPr sz="1400" b="0" i="0" u="none" dirty="0"/>
              <a:t>What services or APIs does it depend on?</a:t>
            </a:r>
            <a:endParaRPr sz="1400" b="0" i="0" dirty="0">
              <a:latin typeface="Consolas"/>
            </a:endParaRPr>
          </a:p>
          <a:p>
            <a:pPr lvl="1"/>
            <a:r>
              <a:rPr sz="1400" b="0" i="0" u="none" dirty="0"/>
              <a:t>Can it be deployed independently?</a:t>
            </a:r>
            <a:endParaRPr sz="1400" b="0" i="0" dirty="0">
              <a:latin typeface="Consolas"/>
            </a:endParaRPr>
          </a:p>
          <a:p>
            <a:pPr lvl="1"/>
            <a:r>
              <a:rPr sz="1400" b="0" i="0" u="none" dirty="0"/>
              <a:t>Does a different strategy fit better?</a:t>
            </a:r>
            <a:endParaRPr sz="1400" b="0" i="0" dirty="0">
              <a:latin typeface="Consolas"/>
            </a:endParaRPr>
          </a:p>
          <a:p>
            <a:pPr>
              <a:buNone/>
            </a:pPr>
            <a:endParaRPr sz="1800" b="0" i="0" dirty="0">
              <a:latin typeface="Consolas"/>
            </a:endParaRPr>
          </a:p>
          <a:p>
            <a:pPr>
              <a:buNone/>
            </a:pPr>
            <a:r>
              <a:rPr sz="1800" b="0" i="0" u="none" dirty="0"/>
              <a:t>Decision aid:</a:t>
            </a:r>
            <a:r>
              <a:rPr lang="en-US" sz="1800" dirty="0">
                <a:latin typeface="Consolas"/>
              </a:rPr>
              <a:t> </a:t>
            </a:r>
            <a:r>
              <a:rPr sz="1800" b="0" i="0" u="none" dirty="0">
                <a:latin typeface="Consolas"/>
              </a:rPr>
              <a:t>flow -&gt; dependencies -&gt; size check -&gt; sequence</a:t>
            </a:r>
            <a:endParaRPr sz="1800" b="0" i="0" dirty="0">
              <a:latin typeface="Consola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dirty="0"/>
              <a:t>Generate plans with AI</a:t>
            </a:r>
          </a:p>
        </p:txBody>
      </p:sp>
      <p:sp>
        <p:nvSpPr>
          <p:cNvPr id="3" name="Content Placeholder 2"/>
          <p:cNvSpPr>
            <a:spLocks noGrp="1"/>
          </p:cNvSpPr>
          <p:nvPr>
            <p:ph idx="1"/>
          </p:nvPr>
        </p:nvSpPr>
        <p:spPr/>
        <p:txBody>
          <a:bodyPr wrap="square">
            <a:normAutofit lnSpcReduction="10000"/>
          </a:bodyPr>
          <a:lstStyle/>
          <a:p>
            <a:pPr>
              <a:buNone/>
            </a:pPr>
            <a:r>
              <a:rPr sz="2400" b="0" i="0" u="none" dirty="0"/>
              <a:t>Example prompt:</a:t>
            </a:r>
            <a:endParaRPr sz="2400" b="0" i="0" dirty="0">
              <a:latin typeface="Arial"/>
            </a:endParaRPr>
          </a:p>
          <a:p>
            <a:pPr>
              <a:buNone/>
            </a:pPr>
            <a:endParaRPr sz="2400" b="0" i="0" dirty="0">
              <a:latin typeface="Arial"/>
            </a:endParaRPr>
          </a:p>
          <a:p>
            <a:pPr>
              <a:buNone/>
            </a:pPr>
            <a:r>
              <a:rPr sz="2400" b="0" i="1" u="none" dirty="0"/>
              <a:t>Using vertical slice planning instructions and web calculator requirements, create implementation plan using vertical slices.</a:t>
            </a:r>
            <a:endParaRPr sz="2400" b="0" i="0" dirty="0">
              <a:latin typeface="Arial"/>
            </a:endParaRPr>
          </a:p>
          <a:p>
            <a:pPr>
              <a:buNone/>
            </a:pPr>
            <a:endParaRPr sz="2400" b="0" i="0" dirty="0">
              <a:latin typeface="Arial"/>
            </a:endParaRPr>
          </a:p>
          <a:p>
            <a:pPr>
              <a:buNone/>
            </a:pPr>
            <a:r>
              <a:rPr sz="2400" b="0" i="0" u="none" dirty="0"/>
              <a:t>AI can generate:</a:t>
            </a:r>
            <a:endParaRPr sz="2400" b="0" i="0" dirty="0">
              <a:latin typeface="Arial"/>
            </a:endParaRPr>
          </a:p>
          <a:p>
            <a:pPr lvl="1"/>
            <a:r>
              <a:rPr sz="1800" b="0" i="0" u="none" dirty="0"/>
              <a:t>Requirements summary</a:t>
            </a:r>
            <a:endParaRPr sz="1800" b="0" i="0" dirty="0">
              <a:latin typeface="Arial"/>
            </a:endParaRPr>
          </a:p>
          <a:p>
            <a:pPr lvl="1"/>
            <a:r>
              <a:rPr sz="1800" b="0" i="0" u="none" dirty="0"/>
              <a:t>Slice decomposition</a:t>
            </a:r>
            <a:endParaRPr sz="1800" b="0" i="0" dirty="0">
              <a:latin typeface="Arial"/>
            </a:endParaRPr>
          </a:p>
          <a:p>
            <a:pPr lvl="1"/>
            <a:r>
              <a:rPr sz="1800" b="0" i="0" u="none" dirty="0"/>
              <a:t>Dependency diagram</a:t>
            </a:r>
            <a:endParaRPr sz="1800" b="0" i="0" dirty="0">
              <a:latin typeface="Arial"/>
            </a:endParaRPr>
          </a:p>
          <a:p>
            <a:pPr lvl="1"/>
            <a:r>
              <a:rPr sz="1800" b="0" i="0" u="none" dirty="0"/>
              <a:t>Implementation order</a:t>
            </a:r>
            <a:endParaRPr sz="1800" b="0" i="0" dirty="0">
              <a:latin typeface="Arial"/>
            </a:endParaRPr>
          </a:p>
          <a:p>
            <a:pPr lvl="1"/>
            <a:r>
              <a:rPr sz="1800" b="0" i="0" u="none" dirty="0"/>
              <a:t>Sprint organization</a:t>
            </a:r>
            <a:endParaRPr sz="1800" b="0" i="0" dirty="0">
              <a:latin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4100" b="0" i="0" u="none"/>
              <a:t>What a good AI plan should include</a:t>
            </a:r>
          </a:p>
        </p:txBody>
      </p:sp>
      <p:sp>
        <p:nvSpPr>
          <p:cNvPr id="3" name="Content Placeholder 2"/>
          <p:cNvSpPr>
            <a:spLocks noGrp="1"/>
          </p:cNvSpPr>
          <p:nvPr>
            <p:ph idx="1"/>
          </p:nvPr>
        </p:nvSpPr>
        <p:spPr/>
        <p:txBody>
          <a:bodyPr wrap="square">
            <a:noAutofit/>
          </a:bodyPr>
          <a:lstStyle/>
          <a:p>
            <a:pPr>
              <a:buNone/>
            </a:pPr>
            <a:r>
              <a:rPr sz="1750" b="0" i="0" u="none" dirty="0"/>
              <a:t>1. Clear summary of requirements</a:t>
            </a:r>
            <a:endParaRPr sz="1750" b="0" i="0" dirty="0">
              <a:latin typeface="Arial"/>
            </a:endParaRPr>
          </a:p>
          <a:p>
            <a:pPr>
              <a:buNone/>
            </a:pPr>
            <a:r>
              <a:rPr sz="1750" b="0" i="0" u="none" dirty="0"/>
              <a:t>2. Identified slices with rationale</a:t>
            </a:r>
            <a:endParaRPr sz="1750" b="0" i="0" dirty="0">
              <a:latin typeface="Arial"/>
            </a:endParaRPr>
          </a:p>
          <a:p>
            <a:pPr>
              <a:buNone/>
            </a:pPr>
            <a:r>
              <a:rPr sz="1750" b="0" i="0" u="none" dirty="0"/>
              <a:t>3. Dependency relationships</a:t>
            </a:r>
            <a:endParaRPr sz="1750" b="0" i="0" dirty="0">
              <a:latin typeface="Arial"/>
            </a:endParaRPr>
          </a:p>
          <a:p>
            <a:pPr>
              <a:buNone/>
            </a:pPr>
            <a:r>
              <a:rPr sz="1750" b="0" i="0" u="none" dirty="0"/>
              <a:t>4. Proposed implementation sequence</a:t>
            </a:r>
            <a:endParaRPr sz="1750" b="0" i="0" dirty="0">
              <a:latin typeface="Arial"/>
            </a:endParaRPr>
          </a:p>
          <a:p>
            <a:pPr>
              <a:buNone/>
            </a:pPr>
            <a:r>
              <a:rPr sz="1750" b="0" i="0" u="none" dirty="0"/>
              <a:t>5. Sprint or milestone grouping</a:t>
            </a:r>
            <a:endParaRPr sz="1750" b="0" i="0" dirty="0">
              <a:latin typeface="Arial"/>
            </a:endParaRPr>
          </a:p>
          <a:p>
            <a:pPr>
              <a:buNone/>
            </a:pPr>
            <a:endParaRPr sz="1750" b="0" i="0" dirty="0">
              <a:latin typeface="Arial"/>
            </a:endParaRPr>
          </a:p>
          <a:p>
            <a:pPr>
              <a:buNone/>
            </a:pPr>
            <a:r>
              <a:rPr sz="1750" b="1" i="0" u="none" dirty="0"/>
              <a:t>Watch for model differences</a:t>
            </a:r>
            <a:endParaRPr sz="1750" b="0" i="0" dirty="0">
              <a:latin typeface="Arial"/>
            </a:endParaRPr>
          </a:p>
          <a:p>
            <a:pPr lvl="1"/>
            <a:r>
              <a:rPr sz="1350" b="0" i="0" u="none" dirty="0"/>
              <a:t>More detail vs. more concise output</a:t>
            </a:r>
            <a:endParaRPr sz="1350" b="0" i="0" dirty="0">
              <a:latin typeface="Arial"/>
            </a:endParaRPr>
          </a:p>
          <a:p>
            <a:pPr lvl="1"/>
            <a:r>
              <a:rPr sz="1350" b="0" i="0" u="none" dirty="0"/>
              <a:t>Different naming and grouping choices</a:t>
            </a:r>
            <a:endParaRPr sz="1350" b="0" i="0" dirty="0">
              <a:latin typeface="Arial"/>
            </a:endParaRPr>
          </a:p>
          <a:p>
            <a:pPr lvl="1"/>
            <a:r>
              <a:rPr sz="1350" b="0" i="0" u="none" dirty="0"/>
              <a:t>Different sequencing assumptions</a:t>
            </a:r>
            <a:endParaRPr sz="1350" b="0" i="0" dirty="0">
              <a:latin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Example planning flow</a:t>
            </a:r>
          </a:p>
        </p:txBody>
      </p:sp>
      <p:sp>
        <p:nvSpPr>
          <p:cNvPr id="3" name="Content Placeholder 2"/>
          <p:cNvSpPr>
            <a:spLocks noGrp="1"/>
          </p:cNvSpPr>
          <p:nvPr>
            <p:ph idx="1"/>
          </p:nvPr>
        </p:nvSpPr>
        <p:spPr/>
        <p:txBody>
          <a:bodyPr wrap="square">
            <a:normAutofit/>
          </a:bodyPr>
          <a:lstStyle/>
          <a:p>
            <a:pPr>
              <a:buNone/>
            </a:pPr>
            <a:r>
              <a:rPr sz="2800" b="1" i="0" u="none" dirty="0"/>
              <a:t>Web calculator example</a:t>
            </a:r>
            <a:endParaRPr sz="2800" b="0" i="0" dirty="0">
              <a:latin typeface="Arial"/>
            </a:endParaRPr>
          </a:p>
          <a:p>
            <a:pPr lvl="1">
              <a:buNone/>
            </a:pPr>
            <a:r>
              <a:rPr b="0" i="0" u="none" dirty="0"/>
              <a:t>1. Summarize calculator requirements</a:t>
            </a:r>
            <a:endParaRPr b="0" i="0" dirty="0">
              <a:latin typeface="Arial"/>
            </a:endParaRPr>
          </a:p>
          <a:p>
            <a:pPr lvl="1">
              <a:buNone/>
            </a:pPr>
            <a:r>
              <a:rPr b="0" i="0" u="none" dirty="0"/>
              <a:t>2. Identify slices such as input, operations, history, validation</a:t>
            </a:r>
            <a:endParaRPr b="0" i="0" dirty="0">
              <a:latin typeface="Arial"/>
            </a:endParaRPr>
          </a:p>
          <a:p>
            <a:pPr lvl="1">
              <a:buNone/>
            </a:pPr>
            <a:r>
              <a:rPr b="0" i="0" u="none" dirty="0"/>
              <a:t>3. Map data and service dependencies</a:t>
            </a:r>
            <a:endParaRPr b="0" i="0" dirty="0">
              <a:latin typeface="Arial"/>
            </a:endParaRPr>
          </a:p>
          <a:p>
            <a:pPr lvl="1">
              <a:buNone/>
            </a:pPr>
            <a:r>
              <a:rPr b="0" i="0" u="none" dirty="0"/>
              <a:t>4. Sequence foundational slices before enhancements</a:t>
            </a:r>
            <a:endParaRPr b="0" i="0" dirty="0">
              <a:latin typeface="Arial"/>
            </a:endParaRPr>
          </a:p>
          <a:p>
            <a:pPr lvl="1">
              <a:buNone/>
            </a:pPr>
            <a:r>
              <a:rPr b="0" i="0" u="none" dirty="0"/>
              <a:t>5. Group slices into sprints</a:t>
            </a:r>
            <a:endParaRPr b="0" i="0" dirty="0">
              <a:latin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dirty="0"/>
              <a:t>Multi-model evaluation</a:t>
            </a:r>
          </a:p>
        </p:txBody>
      </p:sp>
      <p:sp>
        <p:nvSpPr>
          <p:cNvPr id="3" name="Content Placeholder 2"/>
          <p:cNvSpPr>
            <a:spLocks noGrp="1"/>
          </p:cNvSpPr>
          <p:nvPr>
            <p:ph idx="1"/>
          </p:nvPr>
        </p:nvSpPr>
        <p:spPr/>
        <p:txBody>
          <a:bodyPr wrap="square">
            <a:noAutofit/>
          </a:bodyPr>
          <a:lstStyle/>
          <a:p>
            <a:pPr>
              <a:buNone/>
            </a:pPr>
            <a:r>
              <a:rPr lang="en-US" sz="2450" b="0" i="0" u="none" dirty="0"/>
              <a:t>R</a:t>
            </a:r>
            <a:r>
              <a:rPr sz="2450" b="0" i="0" u="none" dirty="0"/>
              <a:t>eview planning file </a:t>
            </a:r>
            <a:r>
              <a:rPr lang="en-US" sz="2450" b="0" i="0" u="none" dirty="0"/>
              <a:t>for </a:t>
            </a:r>
            <a:r>
              <a:rPr sz="2450" b="0" i="0" u="none" dirty="0"/>
              <a:t>gaps:</a:t>
            </a:r>
            <a:endParaRPr sz="2450" b="0" i="0" dirty="0">
              <a:latin typeface="Arial"/>
            </a:endParaRPr>
          </a:p>
          <a:p>
            <a:pPr lvl="1"/>
            <a:r>
              <a:rPr sz="2050" b="0" i="0" u="none" dirty="0"/>
              <a:t>Missing task duration metadata</a:t>
            </a:r>
            <a:endParaRPr sz="2050" b="0" i="0" dirty="0">
              <a:latin typeface="Arial"/>
            </a:endParaRPr>
          </a:p>
          <a:p>
            <a:pPr lvl="1"/>
            <a:r>
              <a:rPr sz="2050" b="0" i="0" u="none" dirty="0"/>
              <a:t>Incomplete decomposition examples</a:t>
            </a:r>
            <a:endParaRPr sz="2050" b="0" i="0" dirty="0">
              <a:latin typeface="Arial"/>
            </a:endParaRPr>
          </a:p>
          <a:p>
            <a:pPr lvl="1"/>
            <a:r>
              <a:rPr sz="2050" b="0" i="0" u="none" dirty="0"/>
              <a:t>Incomplete dependency strategy examples</a:t>
            </a:r>
            <a:endParaRPr sz="2050" b="0" i="0" dirty="0">
              <a:latin typeface="Arial"/>
            </a:endParaRPr>
          </a:p>
          <a:p>
            <a:pPr lvl="1"/>
            <a:r>
              <a:rPr sz="2050" b="0" i="0" u="none" dirty="0"/>
              <a:t>Unfinished implementation sequencing examples</a:t>
            </a:r>
            <a:endParaRPr sz="2050" b="0" i="0" dirty="0">
              <a:latin typeface="Arial"/>
            </a:endParaRPr>
          </a:p>
          <a:p>
            <a:pPr lvl="1"/>
            <a:r>
              <a:rPr sz="2050" b="0" i="0" u="none" dirty="0"/>
              <a:t>Incomplete roadmap template</a:t>
            </a:r>
            <a:endParaRPr sz="2050" b="0" i="0" dirty="0">
              <a:latin typeface="Arial"/>
            </a:endParaRPr>
          </a:p>
          <a:p>
            <a:pPr lvl="1"/>
            <a:r>
              <a:rPr sz="2050" b="0" i="0" u="none" dirty="0"/>
              <a:t>Incomplete slice specification template</a:t>
            </a:r>
            <a:endParaRPr sz="2050" b="0" i="0" dirty="0">
              <a:latin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Key takeaway</a:t>
            </a:r>
          </a:p>
        </p:txBody>
      </p:sp>
      <p:sp>
        <p:nvSpPr>
          <p:cNvPr id="3" name="Content Placeholder 2"/>
          <p:cNvSpPr>
            <a:spLocks noGrp="1"/>
          </p:cNvSpPr>
          <p:nvPr>
            <p:ph idx="1"/>
          </p:nvPr>
        </p:nvSpPr>
        <p:spPr/>
        <p:txBody>
          <a:bodyPr wrap="square">
            <a:normAutofit/>
          </a:bodyPr>
          <a:lstStyle/>
          <a:p>
            <a:pPr>
              <a:buNone/>
            </a:pPr>
            <a:r>
              <a:rPr sz="1800" b="1" i="0" u="none"/>
              <a:t>Recommended workflow</a:t>
            </a:r>
            <a:endParaRPr sz="1800" b="0" i="0">
              <a:latin typeface="Consolas"/>
            </a:endParaRPr>
          </a:p>
          <a:p>
            <a:pPr>
              <a:buNone/>
            </a:pPr>
            <a:endParaRPr sz="1800" b="0" i="0">
              <a:latin typeface="Consolas"/>
            </a:endParaRPr>
          </a:p>
          <a:p>
            <a:pPr>
              <a:buNone/>
            </a:pPr>
            <a:r>
              <a:rPr sz="1800" b="0" i="0" u="none">
                <a:latin typeface="Consolas"/>
              </a:rPr>
              <a:t>instructions -&gt; AI draft -&gt; review -&gt; refine -&gt; implement</a:t>
            </a:r>
            <a:endParaRPr sz="1800" b="0" i="0">
              <a:latin typeface="Consolas"/>
            </a:endParaRPr>
          </a:p>
          <a:p>
            <a:pPr>
              <a:buNone/>
            </a:pPr>
            <a:endParaRPr sz="1800" b="0" i="0">
              <a:latin typeface="Consolas"/>
            </a:endParaRPr>
          </a:p>
          <a:p>
            <a:r>
              <a:rPr sz="1800" b="0" i="0" u="none"/>
              <a:t>Start with a strong planning instruction file</a:t>
            </a:r>
            <a:endParaRPr sz="1800" b="0" i="0">
              <a:latin typeface="Consolas"/>
            </a:endParaRPr>
          </a:p>
          <a:p>
            <a:r>
              <a:rPr sz="1800" b="0" i="0" u="none"/>
              <a:t>Generate an initial vertical slice plan</a:t>
            </a:r>
            <a:endParaRPr sz="1800" b="0" i="0">
              <a:latin typeface="Consolas"/>
            </a:endParaRPr>
          </a:p>
          <a:p>
            <a:r>
              <a:rPr sz="1800" b="0" i="0" u="none"/>
              <a:t>Compare outputs across models when useful</a:t>
            </a:r>
            <a:endParaRPr sz="1800" b="0" i="0">
              <a:latin typeface="Consolas"/>
            </a:endParaRPr>
          </a:p>
          <a:p>
            <a:r>
              <a:rPr sz="1800" b="0" i="0" u="none"/>
              <a:t>Improve templates and examples over time</a:t>
            </a:r>
            <a:endParaRPr sz="1800" b="0" i="0">
              <a:latin typeface="Consola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D5DFB2-BB58-CE6D-C034-7052C870E7F2}"/>
              </a:ext>
            </a:extLst>
          </p:cNvPr>
          <p:cNvSpPr>
            <a:spLocks noGrp="1"/>
          </p:cNvSpPr>
          <p:nvPr>
            <p:ph type="title"/>
          </p:nvPr>
        </p:nvSpPr>
        <p:spPr/>
        <p:txBody>
          <a:bodyPr>
            <a:normAutofit fontScale="90000"/>
          </a:bodyPr>
          <a:lstStyle/>
          <a:p>
            <a:r>
              <a:rPr lang="en-US" dirty="0"/>
              <a:t>Dependency Analysis and Planning</a:t>
            </a:r>
          </a:p>
        </p:txBody>
      </p:sp>
      <p:sp>
        <p:nvSpPr>
          <p:cNvPr id="5" name="Subtitle 4">
            <a:extLst>
              <a:ext uri="{FF2B5EF4-FFF2-40B4-BE49-F238E27FC236}">
                <a16:creationId xmlns:a16="http://schemas.microsoft.com/office/drawing/2014/main" id="{FDDB5FF9-4445-9144-510E-650ADB6C0394}"/>
              </a:ext>
            </a:extLst>
          </p:cNvPr>
          <p:cNvSpPr>
            <a:spLocks noGrp="1"/>
          </p:cNvSpPr>
          <p:nvPr>
            <p:ph type="subTitle" idx="1"/>
          </p:nvPr>
        </p:nvSpPr>
        <p:spPr/>
        <p:txBody>
          <a:bodyPr/>
          <a:lstStyle/>
          <a:p>
            <a:pPr marL="0" indent="0">
              <a:buNone/>
            </a:pPr>
            <a:r>
              <a:rPr lang="en-US" b="1" dirty="0"/>
              <a:t>Everything Depends on This Slide (Literally)</a:t>
            </a:r>
            <a:endParaRPr lang="en-US" dirty="0"/>
          </a:p>
        </p:txBody>
      </p:sp>
    </p:spTree>
    <p:extLst>
      <p:ext uri="{BB962C8B-B14F-4D97-AF65-F5344CB8AC3E}">
        <p14:creationId xmlns:p14="http://schemas.microsoft.com/office/powerpoint/2010/main" val="3590845999"/>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r>
              <a:rPr lang="en-US" dirty="0"/>
              <a:t>Dependency Analysis and Planning</a:t>
            </a:r>
            <a:endParaRPr lang="en-US" b="0" dirty="0"/>
          </a:p>
        </p:txBody>
      </p:sp>
      <p:sp>
        <p:nvSpPr>
          <p:cNvPr id="3" name="Content Placeholder 2"/>
          <p:cNvSpPr>
            <a:spLocks noGrp="1"/>
          </p:cNvSpPr>
          <p:nvPr>
            <p:ph idx="1"/>
          </p:nvPr>
        </p:nvSpPr>
        <p:spPr/>
        <p:txBody>
          <a:bodyPr wrap="square">
            <a:normAutofit/>
          </a:bodyPr>
          <a:lstStyle/>
          <a:p>
            <a:r>
              <a:rPr sz="2800" b="0" i="0" u="none"/>
              <a:t>Section focus: using dependency graphs to sequence vertical slice implementation</a:t>
            </a:r>
            <a:endParaRPr sz="2800" b="0" i="0">
              <a:latin typeface="Arial"/>
            </a:endParaRPr>
          </a:p>
          <a:p>
            <a:r>
              <a:rPr sz="2800" b="0" i="0" u="none"/>
              <a:t>Outcome: show how teams identify prerequisites, parallel work, and the critical path</a:t>
            </a:r>
            <a:endParaRPr sz="2800" b="0" i="0">
              <a:latin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Read the Dependency Diagram</a:t>
            </a:r>
          </a:p>
        </p:txBody>
      </p:sp>
      <p:sp>
        <p:nvSpPr>
          <p:cNvPr id="3" name="Content Placeholder 2"/>
          <p:cNvSpPr>
            <a:spLocks noGrp="1"/>
          </p:cNvSpPr>
          <p:nvPr>
            <p:ph idx="1"/>
          </p:nvPr>
        </p:nvSpPr>
        <p:spPr/>
        <p:txBody>
          <a:bodyPr wrap="square">
            <a:normAutofit/>
          </a:bodyPr>
          <a:lstStyle/>
          <a:p>
            <a:r>
              <a:rPr sz="2800" b="0" i="0" u="none"/>
              <a:t>Nodes represent slices, features, or enabling work</a:t>
            </a:r>
            <a:endParaRPr sz="2800" b="0" i="0">
              <a:latin typeface="Arial"/>
            </a:endParaRPr>
          </a:p>
          <a:p>
            <a:r>
              <a:rPr sz="2800" b="0" i="0" u="none"/>
              <a:t>Arrows show that one item depends on another being complete first</a:t>
            </a:r>
            <a:endParaRPr sz="2800" b="0" i="0">
              <a:latin typeface="Arial"/>
            </a:endParaRPr>
          </a:p>
          <a:p>
            <a:r>
              <a:rPr sz="2800" b="0" i="0" u="none"/>
              <a:t>Read from left to right or top to bottom to understand sequencing</a:t>
            </a:r>
            <a:endParaRPr sz="2800" b="0" i="0">
              <a:latin typeface="Arial"/>
            </a:endParaRPr>
          </a:p>
          <a:p>
            <a:r>
              <a:rPr sz="2800" b="0" i="0" u="none"/>
              <a:t>Look for root nodes with no prerequisites</a:t>
            </a:r>
            <a:endParaRPr sz="2800" b="0" i="0">
              <a:latin typeface="Arial"/>
            </a:endParaRPr>
          </a:p>
        </p:txBody>
      </p:sp>
      <p:pic>
        <p:nvPicPr>
          <p:cNvPr id="4" name="Picture 3" descr="82b42cedbe4bd99a7a25d777407a664361b67127.png"/>
          <p:cNvPicPr>
            <a:picLocks noChangeAspect="1"/>
          </p:cNvPicPr>
          <p:nvPr/>
        </p:nvPicPr>
        <p:blipFill>
          <a:blip r:embed="rId3"/>
          <a:stretch>
            <a:fillRect/>
          </a:stretch>
        </p:blipFill>
        <p:spPr>
          <a:xfrm>
            <a:off x="2183059" y="4634305"/>
            <a:ext cx="6621636" cy="1571849"/>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928887" cy="703024"/>
          </a:xfrm>
        </p:spPr>
        <p:txBody>
          <a:bodyPr anchor="ctr">
            <a:normAutofit/>
          </a:bodyPr>
          <a:lstStyle/>
          <a:p>
            <a:pPr>
              <a:buNone/>
            </a:pPr>
            <a:r>
              <a:rPr b="0" i="0" u="none"/>
              <a:t>Find the Critical Path</a:t>
            </a:r>
          </a:p>
        </p:txBody>
      </p:sp>
      <p:sp>
        <p:nvSpPr>
          <p:cNvPr id="3" name="Content Placeholder 2"/>
          <p:cNvSpPr>
            <a:spLocks noGrp="1"/>
          </p:cNvSpPr>
          <p:nvPr>
            <p:ph sz="half" idx="1"/>
          </p:nvPr>
        </p:nvSpPr>
        <p:spPr>
          <a:xfrm>
            <a:off x="838200" y="1463752"/>
            <a:ext cx="5181600" cy="4351338"/>
          </a:xfrm>
        </p:spPr>
        <p:txBody>
          <a:bodyPr>
            <a:normAutofit/>
          </a:bodyPr>
          <a:lstStyle/>
          <a:p>
            <a:pPr>
              <a:lnSpc>
                <a:spcPct val="90000"/>
              </a:lnSpc>
            </a:pPr>
            <a:r>
              <a:rPr lang="en-US" sz="2400" b="0" i="0" u="none"/>
              <a:t>The </a:t>
            </a:r>
            <a:r>
              <a:rPr lang="en-US" sz="2400" b="1" i="0" u="none"/>
              <a:t>critical path</a:t>
            </a:r>
            <a:r>
              <a:rPr lang="en-US" sz="2400" b="0" i="0" u="none"/>
              <a:t> is the longest chain of dependent work</a:t>
            </a:r>
            <a:endParaRPr lang="en-US" sz="2400" b="0" i="0"/>
          </a:p>
          <a:p>
            <a:pPr>
              <a:lnSpc>
                <a:spcPct val="90000"/>
              </a:lnSpc>
            </a:pPr>
            <a:r>
              <a:rPr lang="en-US" sz="2400" b="0" i="0" u="none"/>
              <a:t>Delays on that path delay the overall implementation plan</a:t>
            </a:r>
            <a:endParaRPr lang="en-US" sz="2400" b="0" i="0"/>
          </a:p>
          <a:p>
            <a:pPr>
              <a:lnSpc>
                <a:spcPct val="90000"/>
              </a:lnSpc>
            </a:pPr>
            <a:r>
              <a:rPr lang="en-US" sz="2400" b="0" i="0" u="none"/>
              <a:t>Independent branches matter, but they do not all block delivery equally</a:t>
            </a:r>
            <a:endParaRPr lang="en-US" sz="2400" b="0" i="0"/>
          </a:p>
          <a:p>
            <a:pPr>
              <a:lnSpc>
                <a:spcPct val="90000"/>
              </a:lnSpc>
            </a:pPr>
            <a:r>
              <a:rPr lang="en-US" sz="2400" b="0" i="0" u="none"/>
              <a:t>Focus coordination and risk management on the path that controls completion</a:t>
            </a:r>
            <a:endParaRPr lang="en-US" sz="2400" b="0" i="0"/>
          </a:p>
        </p:txBody>
      </p:sp>
      <p:pic>
        <p:nvPicPr>
          <p:cNvPr id="4" name="Picture 3" descr="c654404491e7d18214290def7b4b64c44bdcec91.png"/>
          <p:cNvPicPr>
            <a:picLocks noChangeAspect="1"/>
          </p:cNvPicPr>
          <p:nvPr/>
        </p:nvPicPr>
        <p:blipFill>
          <a:blip r:embed="rId3"/>
          <a:stretch>
            <a:fillRect/>
          </a:stretch>
        </p:blipFill>
        <p:spPr>
          <a:xfrm>
            <a:off x="6172200" y="1511065"/>
            <a:ext cx="5181600" cy="4256712"/>
          </a:xfrm>
          <a:prstGeom prst="rect">
            <a:avLst/>
          </a:prstGeom>
          <a:noFill/>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928887" cy="703024"/>
          </a:xfrm>
        </p:spPr>
        <p:txBody>
          <a:bodyPr anchor="ctr">
            <a:normAutofit/>
          </a:bodyPr>
          <a:lstStyle/>
          <a:p>
            <a:pPr>
              <a:buNone/>
            </a:pPr>
            <a:r>
              <a:rPr lang="en-US" sz="4100" b="0" i="0" u="none"/>
              <a:t>Sequence First, Parallelize Second</a:t>
            </a:r>
          </a:p>
        </p:txBody>
      </p:sp>
      <p:sp>
        <p:nvSpPr>
          <p:cNvPr id="3" name="Content Placeholder 2"/>
          <p:cNvSpPr>
            <a:spLocks noGrp="1"/>
          </p:cNvSpPr>
          <p:nvPr>
            <p:ph sz="half" idx="1"/>
          </p:nvPr>
        </p:nvSpPr>
        <p:spPr>
          <a:xfrm>
            <a:off x="838200" y="1463752"/>
            <a:ext cx="5181600" cy="4351338"/>
          </a:xfrm>
        </p:spPr>
        <p:txBody>
          <a:bodyPr>
            <a:normAutofit/>
          </a:bodyPr>
          <a:lstStyle/>
          <a:p>
            <a:pPr>
              <a:lnSpc>
                <a:spcPct val="90000"/>
              </a:lnSpc>
            </a:pPr>
            <a:r>
              <a:rPr lang="en-US" sz="2200" b="0" i="0" u="none"/>
              <a:t>Some slices are strictly sequential because they share prerequisites</a:t>
            </a:r>
            <a:endParaRPr lang="en-US" sz="2200" b="0" i="0"/>
          </a:p>
          <a:p>
            <a:pPr>
              <a:lnSpc>
                <a:spcPct val="90000"/>
              </a:lnSpc>
            </a:pPr>
            <a:r>
              <a:rPr lang="en-US" sz="2200" b="0" i="0" u="none"/>
              <a:t>Other slices can run in parallel after the same foundation is done</a:t>
            </a:r>
            <a:endParaRPr lang="en-US" sz="2200" b="0" i="0"/>
          </a:p>
          <a:p>
            <a:pPr>
              <a:lnSpc>
                <a:spcPct val="90000"/>
              </a:lnSpc>
            </a:pPr>
            <a:r>
              <a:rPr lang="en-US" sz="2200" b="0" i="0" u="none"/>
              <a:t>Parallel work increases speed only when dependencies are already satisfied</a:t>
            </a:r>
            <a:endParaRPr lang="en-US" sz="2200" b="0" i="0"/>
          </a:p>
          <a:p>
            <a:pPr>
              <a:lnSpc>
                <a:spcPct val="90000"/>
              </a:lnSpc>
            </a:pPr>
            <a:r>
              <a:rPr lang="en-US" sz="2200" b="0" i="0" u="none"/>
              <a:t>Planning should prevent teams from starting blocked work too early</a:t>
            </a:r>
            <a:endParaRPr lang="en-US" sz="2200" b="0" i="0"/>
          </a:p>
        </p:txBody>
      </p:sp>
      <p:pic>
        <p:nvPicPr>
          <p:cNvPr id="4" name="Picture 3" descr="74ffa58220e5299f380d734a2ce9956b00d60ed6.png"/>
          <p:cNvPicPr>
            <a:picLocks noChangeAspect="1"/>
          </p:cNvPicPr>
          <p:nvPr/>
        </p:nvPicPr>
        <p:blipFill>
          <a:blip r:embed="rId3"/>
          <a:stretch>
            <a:fillRect/>
          </a:stretch>
        </p:blipFill>
        <p:spPr>
          <a:xfrm>
            <a:off x="6745823" y="1463752"/>
            <a:ext cx="4034353" cy="4351338"/>
          </a:xfrm>
          <a:prstGeom prst="rect">
            <a:avLst/>
          </a:prstGeom>
          <a:noFill/>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2900" b="0" i="0" u="none"/>
              <a:t>Distinguish Foundational and Dependent Features</a:t>
            </a:r>
          </a:p>
        </p:txBody>
      </p:sp>
      <p:sp>
        <p:nvSpPr>
          <p:cNvPr id="3" name="Content Placeholder 2"/>
          <p:cNvSpPr>
            <a:spLocks noGrp="1"/>
          </p:cNvSpPr>
          <p:nvPr>
            <p:ph idx="1"/>
          </p:nvPr>
        </p:nvSpPr>
        <p:spPr/>
        <p:txBody>
          <a:bodyPr wrap="square">
            <a:noAutofit/>
          </a:bodyPr>
          <a:lstStyle/>
          <a:p>
            <a:pPr>
              <a:buNone/>
            </a:pPr>
            <a:r>
              <a:rPr sz="2400" b="1" i="0" u="none" dirty="0"/>
              <a:t>Foundational work</a:t>
            </a:r>
            <a:endParaRPr sz="2400" b="0" i="0" dirty="0">
              <a:latin typeface="Arial"/>
            </a:endParaRPr>
          </a:p>
          <a:p>
            <a:pPr lvl="1"/>
            <a:r>
              <a:rPr lang="en-US" sz="1800" b="0" i="0" u="none" dirty="0"/>
              <a:t>E</a:t>
            </a:r>
            <a:r>
              <a:rPr sz="1800" b="0" i="0" u="none" dirty="0"/>
              <a:t>nvironments, shared components, core models, base services</a:t>
            </a:r>
            <a:endParaRPr sz="1800" b="0" i="0" dirty="0">
              <a:latin typeface="Arial"/>
            </a:endParaRPr>
          </a:p>
          <a:p>
            <a:pPr>
              <a:buNone/>
            </a:pPr>
            <a:endParaRPr sz="2400" b="0" i="0" dirty="0">
              <a:latin typeface="Arial"/>
            </a:endParaRPr>
          </a:p>
          <a:p>
            <a:pPr>
              <a:buNone/>
            </a:pPr>
            <a:r>
              <a:rPr sz="2400" b="1" i="0" u="none" dirty="0"/>
              <a:t>Dependent features</a:t>
            </a:r>
            <a:endParaRPr sz="2400" b="0" i="0" dirty="0">
              <a:latin typeface="Arial"/>
            </a:endParaRPr>
          </a:p>
          <a:p>
            <a:pPr lvl="1"/>
            <a:r>
              <a:rPr lang="en-US" sz="1800" b="0" i="0" u="none" dirty="0"/>
              <a:t>U</a:t>
            </a:r>
            <a:r>
              <a:rPr sz="1800" b="0" i="0" u="none" dirty="0"/>
              <a:t>ser-facing slices that rely on those shared capabilities</a:t>
            </a:r>
            <a:endParaRPr sz="1800" b="0" i="0" dirty="0">
              <a:latin typeface="Arial"/>
            </a:endParaRPr>
          </a:p>
          <a:p>
            <a:pPr>
              <a:buNone/>
            </a:pPr>
            <a:endParaRPr sz="2400" b="0" i="0" dirty="0">
              <a:latin typeface="Arial"/>
            </a:endParaRPr>
          </a:p>
          <a:p>
            <a:pPr>
              <a:buNone/>
            </a:pPr>
            <a:r>
              <a:rPr sz="2400" b="1" i="0" u="none" dirty="0"/>
              <a:t>Planning rule</a:t>
            </a:r>
            <a:endParaRPr sz="2400" b="0" i="0" dirty="0">
              <a:latin typeface="Arial"/>
            </a:endParaRPr>
          </a:p>
          <a:p>
            <a:r>
              <a:rPr lang="en-US" sz="2400" b="0" i="0" u="none" dirty="0"/>
              <a:t>F</a:t>
            </a:r>
            <a:r>
              <a:rPr sz="2400" b="0" i="0" u="none" dirty="0"/>
              <a:t>inish enabling work first when many later slices depend on it</a:t>
            </a:r>
            <a:endParaRPr sz="2400" b="0" i="0" dirty="0">
              <a:latin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3100" b="0" i="0" u="none"/>
              <a:t>Use Dependency Analysis to Plan the Roadmap</a:t>
            </a:r>
          </a:p>
        </p:txBody>
      </p:sp>
      <p:sp>
        <p:nvSpPr>
          <p:cNvPr id="3" name="Content Placeholder 2"/>
          <p:cNvSpPr>
            <a:spLocks noGrp="1"/>
          </p:cNvSpPr>
          <p:nvPr>
            <p:ph idx="1"/>
          </p:nvPr>
        </p:nvSpPr>
        <p:spPr/>
        <p:txBody>
          <a:bodyPr wrap="square">
            <a:normAutofit/>
          </a:bodyPr>
          <a:lstStyle/>
          <a:p>
            <a:pPr>
              <a:buNone/>
            </a:pPr>
            <a:r>
              <a:rPr sz="2800" b="0" i="0" u="none"/>
              <a:t>1. List slices and enabling work</a:t>
            </a:r>
            <a:endParaRPr sz="2800" b="0" i="0">
              <a:latin typeface="Arial"/>
            </a:endParaRPr>
          </a:p>
          <a:p>
            <a:pPr>
              <a:buNone/>
            </a:pPr>
            <a:r>
              <a:rPr sz="2800" b="0" i="0" u="none"/>
              <a:t>2. Draw the dependency relationships</a:t>
            </a:r>
            <a:endParaRPr sz="2800" b="0" i="0">
              <a:latin typeface="Arial"/>
            </a:endParaRPr>
          </a:p>
          <a:p>
            <a:pPr>
              <a:buNone/>
            </a:pPr>
            <a:r>
              <a:rPr sz="2800" b="0" i="0" u="none"/>
              <a:t>3. Identify the critical path</a:t>
            </a:r>
            <a:endParaRPr sz="2800" b="0" i="0">
              <a:latin typeface="Arial"/>
            </a:endParaRPr>
          </a:p>
          <a:p>
            <a:pPr>
              <a:buNone/>
            </a:pPr>
            <a:r>
              <a:rPr sz="2800" b="0" i="0" u="none"/>
              <a:t>4. Mark which branches can run in parallel</a:t>
            </a:r>
            <a:endParaRPr sz="2800" b="0" i="0">
              <a:latin typeface="Arial"/>
            </a:endParaRPr>
          </a:p>
          <a:p>
            <a:pPr>
              <a:buNone/>
            </a:pPr>
            <a:r>
              <a:rPr sz="2800" b="0" i="0" u="none"/>
              <a:t>5. Schedule foundational work before dependent features</a:t>
            </a:r>
            <a:endParaRPr sz="2800" b="0" i="0">
              <a:latin typeface="Arial"/>
            </a:endParaRPr>
          </a:p>
          <a:p>
            <a:pPr>
              <a:buNone/>
            </a:pPr>
            <a:endParaRPr sz="2800" b="0" i="0">
              <a:latin typeface="Arial"/>
            </a:endParaRPr>
          </a:p>
          <a:p>
            <a:pPr>
              <a:buNone/>
            </a:pPr>
            <a:r>
              <a:rPr sz="2800" b="1" i="0" u="none"/>
              <a:t>Bottom line</a:t>
            </a:r>
            <a:r>
              <a:rPr sz="2800" b="0" i="0" u="none"/>
              <a:t>: dependency graphs turn a feature list into a realistic implementation sequence.</a:t>
            </a:r>
            <a:endParaRPr sz="2800" b="0" i="0">
              <a:latin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Autofit/>
          </a:bodyPr>
          <a:lstStyle/>
          <a:p>
            <a:r>
              <a:rPr sz="2350" b="0" i="0" u="none" dirty="0"/>
              <a:t>Intro</a:t>
            </a:r>
          </a:p>
          <a:p>
            <a:r>
              <a:rPr sz="2350" b="0" i="0" u="none" dirty="0"/>
              <a:t>Specification Driven Software Development</a:t>
            </a:r>
          </a:p>
          <a:p>
            <a:r>
              <a:rPr sz="2350" b="0" i="0" u="none" dirty="0"/>
              <a:t>Architecture Specification</a:t>
            </a:r>
          </a:p>
          <a:p>
            <a:r>
              <a:rPr sz="2350" b="0" i="0" u="none" dirty="0"/>
              <a:t>Technology Specification</a:t>
            </a:r>
          </a:p>
          <a:p>
            <a:r>
              <a:rPr sz="2350" b="0" i="0" u="none" dirty="0"/>
              <a:t>Implementation Specification</a:t>
            </a:r>
          </a:p>
          <a:p>
            <a:r>
              <a:rPr sz="2350" b="0" i="0" u="none" dirty="0"/>
              <a:t>Implementation Planning</a:t>
            </a:r>
          </a:p>
          <a:p>
            <a:r>
              <a:rPr sz="2350" b="1" i="0" u="none" dirty="0"/>
              <a:t>▶ Implementation Prompts</a:t>
            </a:r>
          </a:p>
          <a:p>
            <a:r>
              <a:rPr sz="2350" b="0" i="0" u="none" dirty="0"/>
              <a:t>Vertical Slice Implementation</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76F35B-A7C6-A247-E1E4-70CE87668BB3}"/>
              </a:ext>
            </a:extLst>
          </p:cNvPr>
          <p:cNvSpPr>
            <a:spLocks noGrp="1"/>
          </p:cNvSpPr>
          <p:nvPr>
            <p:ph type="title"/>
          </p:nvPr>
        </p:nvSpPr>
        <p:spPr/>
        <p:txBody>
          <a:bodyPr>
            <a:normAutofit fontScale="90000"/>
          </a:bodyPr>
          <a:lstStyle/>
          <a:p>
            <a:r>
              <a:rPr lang="en-US" dirty="0"/>
              <a:t>Implementation Prompts and Verification</a:t>
            </a:r>
          </a:p>
        </p:txBody>
      </p:sp>
      <p:sp>
        <p:nvSpPr>
          <p:cNvPr id="5" name="Subtitle 4">
            <a:extLst>
              <a:ext uri="{FF2B5EF4-FFF2-40B4-BE49-F238E27FC236}">
                <a16:creationId xmlns:a16="http://schemas.microsoft.com/office/drawing/2014/main" id="{1E9EEA91-407C-2A9F-22C4-332FD227DA50}"/>
              </a:ext>
            </a:extLst>
          </p:cNvPr>
          <p:cNvSpPr>
            <a:spLocks noGrp="1"/>
          </p:cNvSpPr>
          <p:nvPr>
            <p:ph type="subTitle" idx="1"/>
          </p:nvPr>
        </p:nvSpPr>
        <p:spPr/>
        <p:txBody>
          <a:bodyPr>
            <a:normAutofit fontScale="85000" lnSpcReduction="10000"/>
          </a:bodyPr>
          <a:lstStyle/>
          <a:p>
            <a:pPr marL="0" indent="0">
              <a:buNone/>
            </a:pPr>
            <a:r>
              <a:rPr lang="en-US" dirty="0"/>
              <a:t>The Prompt That Does the Implementation (With a Checklist)</a:t>
            </a:r>
          </a:p>
        </p:txBody>
      </p:sp>
    </p:spTree>
    <p:extLst>
      <p:ext uri="{BB962C8B-B14F-4D97-AF65-F5344CB8AC3E}">
        <p14:creationId xmlns:p14="http://schemas.microsoft.com/office/powerpoint/2010/main" val="2580001666"/>
      </p:ext>
    </p:extLst>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r>
              <a:rPr lang="en-US" dirty="0"/>
              <a:t>Implementation Prompts and Verification</a:t>
            </a:r>
            <a:endParaRPr lang="en-US" b="0" dirty="0"/>
          </a:p>
        </p:txBody>
      </p:sp>
      <p:sp>
        <p:nvSpPr>
          <p:cNvPr id="3" name="Content Placeholder 2"/>
          <p:cNvSpPr>
            <a:spLocks noGrp="1"/>
          </p:cNvSpPr>
          <p:nvPr>
            <p:ph idx="1"/>
          </p:nvPr>
        </p:nvSpPr>
        <p:spPr/>
        <p:txBody>
          <a:bodyPr wrap="square">
            <a:normAutofit/>
          </a:bodyPr>
          <a:lstStyle/>
          <a:p>
            <a:r>
              <a:rPr sz="2800" b="0" i="0" u="none"/>
              <a:t>Section focus: turning slice plans into actionable build prompts</a:t>
            </a:r>
            <a:endParaRPr sz="2800" b="0" i="0">
              <a:latin typeface="Arial"/>
            </a:endParaRPr>
          </a:p>
          <a:p>
            <a:r>
              <a:rPr sz="2800" b="0" i="0" u="none"/>
              <a:t>Outcome: show how to generate slice-specific prompts, verify behavior, and prepare stakeholder demos</a:t>
            </a:r>
            <a:endParaRPr sz="2800" b="0" i="0">
              <a:latin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Start from a Single Slice</a:t>
            </a:r>
          </a:p>
        </p:txBody>
      </p:sp>
      <p:sp>
        <p:nvSpPr>
          <p:cNvPr id="3" name="Content Placeholder 2"/>
          <p:cNvSpPr>
            <a:spLocks noGrp="1"/>
          </p:cNvSpPr>
          <p:nvPr>
            <p:ph idx="1"/>
          </p:nvPr>
        </p:nvSpPr>
        <p:spPr/>
        <p:txBody>
          <a:bodyPr wrap="square">
            <a:normAutofit/>
          </a:bodyPr>
          <a:lstStyle/>
          <a:p>
            <a:r>
              <a:rPr sz="2800" b="0" i="0" u="none"/>
              <a:t>Choose one slice from the implementation plan</a:t>
            </a:r>
            <a:endParaRPr sz="2800" b="0" i="0">
              <a:latin typeface="Arial"/>
            </a:endParaRPr>
          </a:p>
          <a:p>
            <a:r>
              <a:rPr sz="2800" b="0" i="0" u="none"/>
              <a:t>Example: </a:t>
            </a:r>
            <a:r>
              <a:rPr sz="2800" b="1" i="0" u="none"/>
              <a:t>Slice 1 - Display Current Value</a:t>
            </a:r>
            <a:endParaRPr sz="2800" b="0" i="0">
              <a:latin typeface="Arial"/>
            </a:endParaRPr>
          </a:p>
          <a:p>
            <a:r>
              <a:rPr sz="2800" b="0" i="0" u="none"/>
              <a:t>Use the slice instructions plus the implementation plan as source context</a:t>
            </a:r>
            <a:endParaRPr sz="2800" b="0" i="0">
              <a:latin typeface="Arial"/>
            </a:endParaRPr>
          </a:p>
          <a:p>
            <a:r>
              <a:rPr sz="2800" b="0" i="0" u="none"/>
              <a:t>Write one prompt file per slice so scope stays narrow and testable</a:t>
            </a:r>
            <a:endParaRPr sz="2800" b="0" i="0">
              <a:latin typeface="Arial"/>
            </a:endParaRPr>
          </a:p>
        </p:txBody>
      </p:sp>
      <p:pic>
        <p:nvPicPr>
          <p:cNvPr id="4" name="Picture 3" descr="ee96ea18e759478f6083a511aa29058e2bca4750.png"/>
          <p:cNvPicPr>
            <a:picLocks noChangeAspect="1"/>
          </p:cNvPicPr>
          <p:nvPr/>
        </p:nvPicPr>
        <p:blipFill>
          <a:blip r:embed="rId3"/>
          <a:stretch>
            <a:fillRect/>
          </a:stretch>
        </p:blipFill>
        <p:spPr>
          <a:xfrm>
            <a:off x="797080" y="4833093"/>
            <a:ext cx="10646824" cy="768326"/>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3200" b="0" i="0" u="none"/>
              <a:t>What the Implementation Prompt Should Say</a:t>
            </a:r>
          </a:p>
        </p:txBody>
      </p:sp>
      <p:sp>
        <p:nvSpPr>
          <p:cNvPr id="3" name="Content Placeholder 2"/>
          <p:cNvSpPr>
            <a:spLocks noGrp="1"/>
          </p:cNvSpPr>
          <p:nvPr>
            <p:ph idx="1"/>
          </p:nvPr>
        </p:nvSpPr>
        <p:spPr/>
        <p:txBody>
          <a:bodyPr wrap="square">
            <a:noAutofit/>
          </a:bodyPr>
          <a:lstStyle/>
          <a:p>
            <a:r>
              <a:rPr sz="2200" b="0" i="0" u="none" dirty="0"/>
              <a:t>Reference the slice instructions and the implementation plan directly</a:t>
            </a:r>
            <a:endParaRPr sz="2200" b="0" i="0" dirty="0">
              <a:latin typeface="Arial"/>
            </a:endParaRPr>
          </a:p>
          <a:p>
            <a:r>
              <a:rPr sz="2200" b="0" i="0" u="none" dirty="0"/>
              <a:t>Ask the model to implement the selected slice</a:t>
            </a:r>
            <a:endParaRPr sz="2200" b="0" i="0" dirty="0">
              <a:latin typeface="Arial"/>
            </a:endParaRPr>
          </a:p>
          <a:p>
            <a:r>
              <a:rPr sz="2200" b="0" i="0" u="none" dirty="0"/>
              <a:t>Require </a:t>
            </a:r>
            <a:r>
              <a:rPr sz="2200" b="1" i="0" u="none" dirty="0"/>
              <a:t>verification steps</a:t>
            </a:r>
            <a:r>
              <a:rPr sz="2200" b="0" i="0" u="none" dirty="0"/>
              <a:t> in the output</a:t>
            </a:r>
            <a:endParaRPr sz="2200" b="0" i="0" dirty="0">
              <a:latin typeface="Arial"/>
            </a:endParaRPr>
          </a:p>
          <a:p>
            <a:r>
              <a:rPr sz="2200" b="0" i="0" u="none" dirty="0"/>
              <a:t>Require </a:t>
            </a:r>
            <a:r>
              <a:rPr sz="2200" b="1" i="0" u="none" dirty="0"/>
              <a:t>showcase instructions</a:t>
            </a:r>
            <a:r>
              <a:rPr sz="2200" b="0" i="0" u="none" dirty="0"/>
              <a:t> for stakeholder demonstration</a:t>
            </a:r>
            <a:endParaRPr sz="2200" b="0" i="0" dirty="0">
              <a:latin typeface="Arial"/>
            </a:endParaRPr>
          </a:p>
          <a:p>
            <a:pPr>
              <a:buNone/>
            </a:pPr>
            <a:endParaRPr sz="2200" b="0" i="0" dirty="0">
              <a:latin typeface="Arial"/>
            </a:endParaRPr>
          </a:p>
          <a:p>
            <a:pPr>
              <a:buNone/>
            </a:pPr>
            <a:r>
              <a:rPr sz="2200" b="1" i="0" u="none" dirty="0"/>
              <a:t>Prompt pattern</a:t>
            </a:r>
            <a:endParaRPr sz="2200" b="0" i="0" dirty="0">
              <a:latin typeface="Arial"/>
            </a:endParaRPr>
          </a:p>
          <a:p>
            <a:pPr>
              <a:buNone/>
            </a:pPr>
            <a:r>
              <a:rPr sz="2200" b="0" i="1" u="none" dirty="0"/>
              <a:t>Using slice X instructions and implementation plan, create a prompt file that implements slice 1. Include verification steps and showcase instructions that demonstrate the functionality to stakeholders.</a:t>
            </a:r>
            <a:endParaRPr sz="2200" b="0" i="0" dirty="0">
              <a:latin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3250" b="0" i="0" u="none"/>
              <a:t>Expected Deliverables Inside the Prompt File</a:t>
            </a:r>
          </a:p>
        </p:txBody>
      </p:sp>
      <p:sp>
        <p:nvSpPr>
          <p:cNvPr id="3" name="Content Placeholder 2"/>
          <p:cNvSpPr>
            <a:spLocks noGrp="1"/>
          </p:cNvSpPr>
          <p:nvPr>
            <p:ph idx="1"/>
          </p:nvPr>
        </p:nvSpPr>
        <p:spPr/>
        <p:txBody>
          <a:bodyPr wrap="square">
            <a:normAutofit fontScale="92500" lnSpcReduction="10000"/>
          </a:bodyPr>
          <a:lstStyle/>
          <a:p>
            <a:pPr>
              <a:buNone/>
            </a:pPr>
            <a:r>
              <a:rPr sz="3200" b="1" i="0" u="none" dirty="0"/>
              <a:t>Files to create</a:t>
            </a:r>
            <a:endParaRPr sz="3200" b="0" i="0" dirty="0">
              <a:latin typeface="Consolas"/>
            </a:endParaRPr>
          </a:p>
          <a:p>
            <a:pPr lvl="1"/>
            <a:r>
              <a:rPr b="0" i="0" u="none" dirty="0">
                <a:latin typeface="Consolas"/>
              </a:rPr>
              <a:t>index.html</a:t>
            </a:r>
            <a:endParaRPr b="0" i="0" dirty="0">
              <a:latin typeface="Consolas"/>
            </a:endParaRPr>
          </a:p>
          <a:p>
            <a:pPr lvl="1"/>
            <a:r>
              <a:rPr b="0" i="0" u="none" dirty="0">
                <a:latin typeface="Consolas"/>
              </a:rPr>
              <a:t>styles.css</a:t>
            </a:r>
            <a:endParaRPr b="0" i="0" dirty="0">
              <a:latin typeface="Consolas"/>
            </a:endParaRPr>
          </a:p>
          <a:p>
            <a:pPr lvl="1"/>
            <a:r>
              <a:rPr b="0" i="0" u="none" dirty="0">
                <a:latin typeface="Consolas"/>
              </a:rPr>
              <a:t>main.js</a:t>
            </a:r>
            <a:endParaRPr b="0" i="0" dirty="0">
              <a:latin typeface="Consolas"/>
            </a:endParaRPr>
          </a:p>
          <a:p>
            <a:pPr>
              <a:buNone/>
            </a:pPr>
            <a:endParaRPr sz="3200" b="0" i="0" dirty="0">
              <a:latin typeface="Consolas"/>
            </a:endParaRPr>
          </a:p>
          <a:p>
            <a:pPr>
              <a:buNone/>
            </a:pPr>
            <a:r>
              <a:rPr sz="3200" b="1" i="0" u="none" dirty="0"/>
              <a:t>Specifications to include</a:t>
            </a:r>
            <a:endParaRPr sz="3200" b="0" i="0" dirty="0">
              <a:latin typeface="Consolas"/>
            </a:endParaRPr>
          </a:p>
          <a:p>
            <a:pPr lvl="1"/>
            <a:r>
              <a:rPr b="0" i="0" u="none" dirty="0"/>
              <a:t>HTML structure requirements</a:t>
            </a:r>
            <a:endParaRPr b="0" i="0" dirty="0">
              <a:latin typeface="Consolas"/>
            </a:endParaRPr>
          </a:p>
          <a:p>
            <a:pPr lvl="1"/>
            <a:r>
              <a:rPr b="0" i="0" u="none" dirty="0"/>
              <a:t>CSS colors, fonts, spacing, and layout</a:t>
            </a:r>
            <a:endParaRPr b="0" i="0" dirty="0">
              <a:latin typeface="Consolas"/>
            </a:endParaRPr>
          </a:p>
          <a:p>
            <a:pPr lvl="1"/>
            <a:r>
              <a:rPr b="0" i="0" u="none" dirty="0"/>
              <a:t>JavaScript behavior for current value, display object, and update function</a:t>
            </a:r>
            <a:endParaRPr b="0" i="0" dirty="0">
              <a:latin typeface="Consolas"/>
            </a:endParaRPr>
          </a:p>
          <a:p>
            <a:pPr lvl="1"/>
            <a:r>
              <a:rPr b="0" i="0" u="none" dirty="0"/>
              <a:t>File structure and component organization</a:t>
            </a:r>
            <a:endParaRPr b="0" i="0" dirty="0">
              <a:latin typeface="Consolas"/>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928887" cy="703024"/>
          </a:xfrm>
        </p:spPr>
        <p:txBody>
          <a:bodyPr anchor="ctr">
            <a:normAutofit/>
          </a:bodyPr>
          <a:lstStyle/>
          <a:p>
            <a:pPr>
              <a:buNone/>
            </a:pPr>
            <a:r>
              <a:rPr lang="en-US" sz="4100" b="0" i="0" u="none"/>
              <a:t>Build Verification into the Prompt</a:t>
            </a:r>
          </a:p>
        </p:txBody>
      </p:sp>
      <p:sp>
        <p:nvSpPr>
          <p:cNvPr id="3" name="Content Placeholder 2"/>
          <p:cNvSpPr>
            <a:spLocks noGrp="1"/>
          </p:cNvSpPr>
          <p:nvPr>
            <p:ph sz="half" idx="1"/>
          </p:nvPr>
        </p:nvSpPr>
        <p:spPr>
          <a:xfrm>
            <a:off x="838200" y="1463752"/>
            <a:ext cx="5181600" cy="4351338"/>
          </a:xfrm>
        </p:spPr>
        <p:txBody>
          <a:bodyPr>
            <a:normAutofit/>
          </a:bodyPr>
          <a:lstStyle/>
          <a:p>
            <a:pPr>
              <a:lnSpc>
                <a:spcPct val="90000"/>
              </a:lnSpc>
            </a:pPr>
            <a:r>
              <a:rPr lang="en-US" sz="2600" b="1" i="0" u="none"/>
              <a:t>Initial state</a:t>
            </a:r>
            <a:r>
              <a:rPr lang="en-US" sz="2600" b="0" i="0" u="none"/>
              <a:t>: calculator displays 0 on page load</a:t>
            </a:r>
            <a:endParaRPr lang="en-US" sz="2600" b="0" i="0"/>
          </a:p>
          <a:p>
            <a:pPr>
              <a:lnSpc>
                <a:spcPct val="90000"/>
              </a:lnSpc>
            </a:pPr>
            <a:r>
              <a:rPr lang="en-US" sz="2600" b="1" i="0" u="none"/>
              <a:t>State update</a:t>
            </a:r>
            <a:r>
              <a:rPr lang="en-US" sz="2600" b="0" i="0" u="none"/>
              <a:t>: changing the value in the console updates the display</a:t>
            </a:r>
            <a:endParaRPr lang="en-US" sz="2600" b="0" i="0"/>
          </a:p>
          <a:p>
            <a:pPr>
              <a:lnSpc>
                <a:spcPct val="90000"/>
              </a:lnSpc>
            </a:pPr>
            <a:r>
              <a:rPr lang="en-US" sz="2600" b="1" i="0" u="none"/>
              <a:t>Accessibility</a:t>
            </a:r>
            <a:r>
              <a:rPr lang="en-US" sz="2600" b="0" i="0" u="none"/>
              <a:t>: contrast ratio &gt;= 4.5:1 and font size &gt;= 2rem</a:t>
            </a:r>
            <a:endParaRPr lang="en-US" sz="2600" b="0" i="0"/>
          </a:p>
          <a:p>
            <a:pPr>
              <a:lnSpc>
                <a:spcPct val="90000"/>
              </a:lnSpc>
            </a:pPr>
            <a:r>
              <a:rPr lang="en-US" sz="2600" b="0" i="0" u="none"/>
              <a:t>Include both automated testing guidance and manual verification steps</a:t>
            </a:r>
            <a:endParaRPr lang="en-US" sz="2600" b="0" i="0"/>
          </a:p>
        </p:txBody>
      </p:sp>
      <p:pic>
        <p:nvPicPr>
          <p:cNvPr id="4" name="Picture 3" descr="70e2c7938aba606ee17c9cf58f12193420bc62a7.png"/>
          <p:cNvPicPr>
            <a:picLocks noChangeAspect="1"/>
          </p:cNvPicPr>
          <p:nvPr/>
        </p:nvPicPr>
        <p:blipFill>
          <a:blip r:embed="rId3"/>
          <a:stretch>
            <a:fillRect/>
          </a:stretch>
        </p:blipFill>
        <p:spPr>
          <a:xfrm>
            <a:off x="6172200" y="2641963"/>
            <a:ext cx="5181600" cy="1994916"/>
          </a:xfrm>
          <a:prstGeom prst="rect">
            <a:avLst/>
          </a:prstGeom>
          <a:noFill/>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3150" b="0" i="0" u="none"/>
              <a:t>Showcase Instructions Should Target Humans</a:t>
            </a:r>
          </a:p>
        </p:txBody>
      </p:sp>
      <p:sp>
        <p:nvSpPr>
          <p:cNvPr id="3" name="Content Placeholder 2"/>
          <p:cNvSpPr>
            <a:spLocks noGrp="1"/>
          </p:cNvSpPr>
          <p:nvPr>
            <p:ph idx="1"/>
          </p:nvPr>
        </p:nvSpPr>
        <p:spPr/>
        <p:txBody>
          <a:bodyPr wrap="square">
            <a:noAutofit/>
          </a:bodyPr>
          <a:lstStyle/>
          <a:p>
            <a:r>
              <a:rPr sz="2400" b="0" i="0" u="none" dirty="0"/>
              <a:t>Do more than paste a code snippet</a:t>
            </a:r>
            <a:endParaRPr sz="2400" b="0" i="0" dirty="0">
              <a:latin typeface="Arial"/>
            </a:endParaRPr>
          </a:p>
          <a:p>
            <a:r>
              <a:rPr sz="2400" b="0" i="0" u="none" dirty="0"/>
              <a:t>Describe what users </a:t>
            </a:r>
            <a:r>
              <a:rPr sz="2400" b="1" i="0" u="none" dirty="0"/>
              <a:t>see</a:t>
            </a:r>
            <a:r>
              <a:rPr sz="2400" b="0" i="0" u="none" dirty="0"/>
              <a:t> and what they can </a:t>
            </a:r>
            <a:r>
              <a:rPr sz="2400" b="1" i="0" u="none" dirty="0"/>
              <a:t>do</a:t>
            </a:r>
            <a:endParaRPr sz="2400" b="0" i="0" dirty="0">
              <a:latin typeface="Arial"/>
            </a:endParaRPr>
          </a:p>
          <a:p>
            <a:r>
              <a:rPr sz="2400" b="0" i="0" u="none" dirty="0"/>
              <a:t>Call out the behavior the demonstrator should point to</a:t>
            </a:r>
            <a:endParaRPr sz="2400" b="0" i="0" dirty="0">
              <a:latin typeface="Arial"/>
            </a:endParaRPr>
          </a:p>
          <a:p>
            <a:r>
              <a:rPr sz="2400" b="0" i="0" u="none" dirty="0"/>
              <a:t>Provide an interactive demo path for stakeholders</a:t>
            </a:r>
            <a:endParaRPr sz="2400" b="0" i="0" dirty="0">
              <a:latin typeface="Arial"/>
            </a:endParaRPr>
          </a:p>
          <a:p>
            <a:pPr>
              <a:buNone/>
            </a:pPr>
            <a:endParaRPr sz="2400" b="0" i="0" dirty="0">
              <a:latin typeface="Arial"/>
            </a:endParaRPr>
          </a:p>
          <a:p>
            <a:pPr>
              <a:buNone/>
            </a:pPr>
            <a:r>
              <a:rPr sz="2400" b="1" i="0" u="none" dirty="0"/>
              <a:t>Good showcase guidance includes</a:t>
            </a:r>
            <a:endParaRPr sz="2400" b="0" i="0" dirty="0">
              <a:latin typeface="Arial"/>
            </a:endParaRPr>
          </a:p>
          <a:p>
            <a:pPr lvl="1">
              <a:buNone/>
            </a:pPr>
            <a:r>
              <a:rPr sz="1800" b="0" i="0" u="none" dirty="0"/>
              <a:t>1. starting state on screen</a:t>
            </a:r>
            <a:endParaRPr sz="1800" b="0" i="0" dirty="0">
              <a:latin typeface="Arial"/>
            </a:endParaRPr>
          </a:p>
          <a:p>
            <a:pPr lvl="1">
              <a:buNone/>
            </a:pPr>
            <a:r>
              <a:rPr sz="1800" b="0" i="0" u="none" dirty="0"/>
              <a:t>2. action to take</a:t>
            </a:r>
            <a:endParaRPr sz="1800" b="0" i="0" dirty="0">
              <a:latin typeface="Arial"/>
            </a:endParaRPr>
          </a:p>
          <a:p>
            <a:pPr lvl="1">
              <a:buNone/>
            </a:pPr>
            <a:r>
              <a:rPr sz="1800" b="0" i="0" u="none" dirty="0"/>
              <a:t>3. visible result</a:t>
            </a:r>
            <a:endParaRPr sz="1800" b="0" i="0" dirty="0">
              <a:latin typeface="Arial"/>
            </a:endParaRPr>
          </a:p>
          <a:p>
            <a:pPr lvl="1">
              <a:buNone/>
            </a:pPr>
            <a:r>
              <a:rPr sz="1800" b="0" i="0" u="none" dirty="0"/>
              <a:t>4. why it matters to the audience</a:t>
            </a:r>
            <a:endParaRPr sz="1800" b="0" i="0" dirty="0">
              <a:latin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4150" b="0" i="0" u="none"/>
              <a:t>Repeat the Pattern Across All Slices</a:t>
            </a:r>
          </a:p>
        </p:txBody>
      </p:sp>
      <p:sp>
        <p:nvSpPr>
          <p:cNvPr id="3" name="Content Placeholder 2"/>
          <p:cNvSpPr>
            <a:spLocks noGrp="1"/>
          </p:cNvSpPr>
          <p:nvPr>
            <p:ph idx="1"/>
          </p:nvPr>
        </p:nvSpPr>
        <p:spPr/>
        <p:txBody>
          <a:bodyPr wrap="square">
            <a:noAutofit/>
          </a:bodyPr>
          <a:lstStyle/>
          <a:p>
            <a:r>
              <a:rPr sz="2450" b="0" i="0" u="none"/>
              <a:t>Create additional prompt files for Slice 2, Slice 3, and so on</a:t>
            </a:r>
            <a:endParaRPr sz="2450" b="0" i="0">
              <a:latin typeface="Arial"/>
            </a:endParaRPr>
          </a:p>
          <a:p>
            <a:r>
              <a:rPr sz="2450" b="0" i="0" u="none"/>
              <a:t>Version-control each prompt so changes stay traceable</a:t>
            </a:r>
            <a:endParaRPr sz="2450" b="0" i="0">
              <a:latin typeface="Arial"/>
            </a:endParaRPr>
          </a:p>
          <a:p>
            <a:r>
              <a:rPr sz="2450" b="0" i="0" u="none"/>
              <a:t>Reuse prompts later for revisions or follow-on work</a:t>
            </a:r>
            <a:endParaRPr sz="2450" b="0" i="0">
              <a:latin typeface="Arial"/>
            </a:endParaRPr>
          </a:p>
          <a:p>
            <a:r>
              <a:rPr sz="2450" b="0" i="0" u="none"/>
              <a:t>Execute slices sequentially and review each result before moving on</a:t>
            </a:r>
            <a:endParaRPr sz="2450" b="0" i="0">
              <a:latin typeface="Arial"/>
            </a:endParaRPr>
          </a:p>
          <a:p>
            <a:r>
              <a:rPr sz="2450" b="0" i="0" u="none"/>
              <a:t>Build a complete implementation roadmap with systematic verification</a:t>
            </a:r>
            <a:endParaRPr sz="2450" b="0" i="0">
              <a:latin typeface="Arial"/>
            </a:endParaRPr>
          </a:p>
          <a:p>
            <a:pPr>
              <a:buNone/>
            </a:pPr>
            <a:endParaRPr sz="2450" b="0" i="0">
              <a:latin typeface="Arial"/>
            </a:endParaRPr>
          </a:p>
          <a:p>
            <a:pPr>
              <a:buNone/>
            </a:pPr>
            <a:r>
              <a:rPr sz="2450" b="1" i="0" u="none"/>
              <a:t>Bottom line</a:t>
            </a:r>
            <a:r>
              <a:rPr sz="2450" b="0" i="0" u="none"/>
              <a:t>: slice-specific prompts create a repeatable path from plan to implementation to review.</a:t>
            </a:r>
            <a:endParaRPr sz="2450" b="0" i="0">
              <a:latin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Autofit/>
          </a:bodyPr>
          <a:lstStyle/>
          <a:p>
            <a:r>
              <a:rPr sz="2350" b="0" i="0" u="none" dirty="0"/>
              <a:t>Intro</a:t>
            </a:r>
          </a:p>
          <a:p>
            <a:r>
              <a:rPr sz="2350" b="0" i="0" u="none" dirty="0"/>
              <a:t>Specification Driven Software Development</a:t>
            </a:r>
          </a:p>
          <a:p>
            <a:r>
              <a:rPr sz="2350" b="0" i="0" u="none" dirty="0"/>
              <a:t>Architecture Specification</a:t>
            </a:r>
          </a:p>
          <a:p>
            <a:r>
              <a:rPr sz="2350" b="0" i="0" u="none" dirty="0"/>
              <a:t>Technology Specification</a:t>
            </a:r>
          </a:p>
          <a:p>
            <a:r>
              <a:rPr sz="2350" b="0" i="0" u="none" dirty="0"/>
              <a:t>Implementation Specification</a:t>
            </a:r>
          </a:p>
          <a:p>
            <a:r>
              <a:rPr sz="2350" b="0" i="0" u="none" dirty="0"/>
              <a:t>Implementation Planning</a:t>
            </a:r>
          </a:p>
          <a:p>
            <a:r>
              <a:rPr sz="2350" b="0" i="0" u="none" dirty="0"/>
              <a:t>Implementation Prompts</a:t>
            </a:r>
          </a:p>
          <a:p>
            <a:r>
              <a:rPr sz="2350" b="1" i="0" u="none" dirty="0"/>
              <a:t>▶ Vertical Slice Implementation</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C4D4219-13DA-8836-07CB-D9832EF3189E}"/>
              </a:ext>
            </a:extLst>
          </p:cNvPr>
          <p:cNvSpPr>
            <a:spLocks noGrp="1"/>
          </p:cNvSpPr>
          <p:nvPr>
            <p:ph type="title"/>
          </p:nvPr>
        </p:nvSpPr>
        <p:spPr/>
        <p:txBody>
          <a:bodyPr>
            <a:normAutofit/>
          </a:bodyPr>
          <a:lstStyle/>
          <a:p>
            <a:r>
              <a:rPr lang="en-US" dirty="0"/>
              <a:t>Basic Vertical Slice Workflow</a:t>
            </a:r>
          </a:p>
        </p:txBody>
      </p:sp>
      <p:sp>
        <p:nvSpPr>
          <p:cNvPr id="5" name="Subtitle 4">
            <a:extLst>
              <a:ext uri="{FF2B5EF4-FFF2-40B4-BE49-F238E27FC236}">
                <a16:creationId xmlns:a16="http://schemas.microsoft.com/office/drawing/2014/main" id="{8C250C31-D696-2537-BDAA-426C55253886}"/>
              </a:ext>
            </a:extLst>
          </p:cNvPr>
          <p:cNvSpPr>
            <a:spLocks noGrp="1"/>
          </p:cNvSpPr>
          <p:nvPr>
            <p:ph type="subTitle" idx="1"/>
          </p:nvPr>
        </p:nvSpPr>
        <p:spPr/>
        <p:txBody>
          <a:bodyPr/>
          <a:lstStyle/>
          <a:p>
            <a:pPr marL="0" indent="0">
              <a:buNone/>
            </a:pPr>
            <a:r>
              <a:rPr lang="en-US" dirty="0"/>
              <a:t>Thin Slices, Big Results</a:t>
            </a:r>
          </a:p>
        </p:txBody>
      </p:sp>
    </p:spTree>
    <p:extLst>
      <p:ext uri="{BB962C8B-B14F-4D97-AF65-F5344CB8AC3E}">
        <p14:creationId xmlns:p14="http://schemas.microsoft.com/office/powerpoint/2010/main" val="2912363826"/>
      </p:ext>
    </p:extLst>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fontScale="90000"/>
          </a:bodyPr>
          <a:lstStyle/>
          <a:p>
            <a:r>
              <a:rPr lang="en-US" dirty="0"/>
              <a:t>Basic Vertical Slice Implementation Workflow</a:t>
            </a:r>
            <a:endParaRPr lang="en-US" b="0" dirty="0"/>
          </a:p>
        </p:txBody>
      </p:sp>
      <p:sp>
        <p:nvSpPr>
          <p:cNvPr id="3" name="Content Placeholder 2"/>
          <p:cNvSpPr>
            <a:spLocks noGrp="1"/>
          </p:cNvSpPr>
          <p:nvPr>
            <p:ph idx="1"/>
          </p:nvPr>
        </p:nvSpPr>
        <p:spPr/>
        <p:txBody>
          <a:bodyPr wrap="square">
            <a:normAutofit/>
          </a:bodyPr>
          <a:lstStyle/>
          <a:p>
            <a:r>
              <a:rPr sz="2800" b="0" i="0" u="none"/>
              <a:t>Goal: deliver working software in thin, end-to-end slices</a:t>
            </a:r>
            <a:endParaRPr sz="2800" b="0" i="0">
              <a:latin typeface="Arial"/>
            </a:endParaRPr>
          </a:p>
          <a:p>
            <a:r>
              <a:rPr sz="2800" b="0" i="0" u="none"/>
              <a:t>Pattern: plan dependencies first, then parallelize safe slices</a:t>
            </a:r>
            <a:endParaRPr sz="2800" b="0" i="0">
              <a:latin typeface="Arial"/>
            </a:endParaRPr>
          </a:p>
          <a:p>
            <a:r>
              <a:rPr sz="2800" b="0" i="0" u="none"/>
              <a:t>Outcome: faster feedback and lower integration risk</a:t>
            </a:r>
            <a:endParaRPr sz="2800" b="0" i="0">
              <a:latin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Step 1: Define Slice Boundaries</a:t>
            </a:r>
          </a:p>
        </p:txBody>
      </p:sp>
      <p:sp>
        <p:nvSpPr>
          <p:cNvPr id="3" name="Content Placeholder 2"/>
          <p:cNvSpPr>
            <a:spLocks noGrp="1"/>
          </p:cNvSpPr>
          <p:nvPr>
            <p:ph idx="1"/>
          </p:nvPr>
        </p:nvSpPr>
        <p:spPr/>
        <p:txBody>
          <a:bodyPr wrap="square">
            <a:normAutofit/>
          </a:bodyPr>
          <a:lstStyle/>
          <a:p>
            <a:r>
              <a:rPr sz="2800" b="0" i="0" u="none"/>
              <a:t>Start from user-visible use cases</a:t>
            </a:r>
            <a:endParaRPr sz="2800" b="0" i="0">
              <a:latin typeface="Arial"/>
            </a:endParaRPr>
          </a:p>
          <a:p>
            <a:r>
              <a:rPr sz="2800" b="0" i="0" u="none"/>
              <a:t>Split by business capability, not technical layer</a:t>
            </a:r>
            <a:endParaRPr sz="2800" b="0" i="0">
              <a:latin typeface="Arial"/>
            </a:endParaRPr>
          </a:p>
          <a:p>
            <a:r>
              <a:rPr sz="2800" b="0" i="0" u="none"/>
              <a:t>Keep each slice independently testable</a:t>
            </a:r>
            <a:endParaRPr sz="2800" b="0" i="0">
              <a:latin typeface="Arial"/>
            </a:endParaRPr>
          </a:p>
          <a:p>
            <a:r>
              <a:rPr sz="2800" b="0" i="0" u="none"/>
              <a:t>Write a short definition for every slice:</a:t>
            </a:r>
            <a:endParaRPr sz="2800" b="0" i="0">
              <a:latin typeface="Arial"/>
            </a:endParaRPr>
          </a:p>
          <a:p>
            <a:pPr lvl="1"/>
            <a:r>
              <a:rPr sz="2800" b="0" i="0" u="none"/>
              <a:t>Scope</a:t>
            </a:r>
            <a:endParaRPr sz="2800" b="0" i="0">
              <a:latin typeface="Arial"/>
            </a:endParaRPr>
          </a:p>
          <a:p>
            <a:pPr lvl="1"/>
            <a:r>
              <a:rPr sz="2800" b="0" i="0" u="none"/>
              <a:t>Inputs/outputs</a:t>
            </a:r>
            <a:endParaRPr sz="2800" b="0" i="0">
              <a:latin typeface="Arial"/>
            </a:endParaRPr>
          </a:p>
          <a:p>
            <a:pPr lvl="1"/>
            <a:r>
              <a:rPr sz="2800" b="0" i="0" u="none"/>
              <a:t>Done criteria</a:t>
            </a:r>
            <a:endParaRPr sz="2800" b="0" i="0">
              <a:latin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3850" b="0" i="0" u="none"/>
              <a:t>Step 2: Build the Implementation Plan</a:t>
            </a:r>
          </a:p>
        </p:txBody>
      </p:sp>
      <p:sp>
        <p:nvSpPr>
          <p:cNvPr id="3" name="Content Placeholder 2"/>
          <p:cNvSpPr>
            <a:spLocks noGrp="1"/>
          </p:cNvSpPr>
          <p:nvPr>
            <p:ph idx="1"/>
          </p:nvPr>
        </p:nvSpPr>
        <p:spPr/>
        <p:txBody>
          <a:bodyPr wrap="square">
            <a:normAutofit/>
          </a:bodyPr>
          <a:lstStyle/>
          <a:p>
            <a:r>
              <a:rPr sz="2800" b="0" i="0" u="none"/>
              <a:t>Identify dependency chain first</a:t>
            </a:r>
            <a:endParaRPr sz="2800" b="0" i="0">
              <a:latin typeface="Arial"/>
            </a:endParaRPr>
          </a:p>
          <a:p>
            <a:r>
              <a:rPr sz="2800" b="0" i="0" u="none"/>
              <a:t>Mark slices as:</a:t>
            </a:r>
            <a:endParaRPr sz="2800" b="0" i="0">
              <a:latin typeface="Arial"/>
            </a:endParaRPr>
          </a:p>
          <a:p>
            <a:pPr lvl="1"/>
            <a:r>
              <a:rPr sz="2800" b="0" i="0" u="none"/>
              <a:t>Foundation (must go first)</a:t>
            </a:r>
            <a:endParaRPr sz="2800" b="0" i="0">
              <a:latin typeface="Arial"/>
            </a:endParaRPr>
          </a:p>
          <a:p>
            <a:pPr lvl="1"/>
            <a:r>
              <a:rPr sz="2800" b="0" i="0" u="none"/>
              <a:t>Parallel-ready (can run together)</a:t>
            </a:r>
            <a:endParaRPr sz="2800" b="0" i="0">
              <a:latin typeface="Arial"/>
            </a:endParaRPr>
          </a:p>
          <a:p>
            <a:pPr lvl="1"/>
            <a:r>
              <a:rPr sz="2800" b="0" i="0" u="none"/>
              <a:t>Integration/cleanup (must go last)</a:t>
            </a:r>
            <a:endParaRPr sz="2800" b="0" i="0">
              <a:latin typeface="Arial"/>
            </a:endParaRPr>
          </a:p>
          <a:p>
            <a:r>
              <a:rPr sz="2800" b="0" i="0" u="none"/>
              <a:t>Sequence by risk and coupling</a:t>
            </a:r>
            <a:endParaRPr sz="2800" b="0" i="0">
              <a:latin typeface="Arial"/>
            </a:endParaRPr>
          </a:p>
        </p:txBody>
      </p:sp>
      <p:pic>
        <p:nvPicPr>
          <p:cNvPr id="4" name="Picture 3" descr="35e4444ede21a7b17bd6ce1b9c4cf20965cddfb6.png"/>
          <p:cNvPicPr>
            <a:picLocks noChangeAspect="1"/>
          </p:cNvPicPr>
          <p:nvPr/>
        </p:nvPicPr>
        <p:blipFill>
          <a:blip r:embed="rId3"/>
          <a:stretch>
            <a:fillRect/>
          </a:stretch>
        </p:blipFill>
        <p:spPr>
          <a:xfrm>
            <a:off x="1217762" y="4660564"/>
            <a:ext cx="9421483" cy="1948790"/>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Step 3: Execute Slices in Parallel</a:t>
            </a:r>
          </a:p>
        </p:txBody>
      </p:sp>
      <p:sp>
        <p:nvSpPr>
          <p:cNvPr id="3" name="Content Placeholder 2"/>
          <p:cNvSpPr>
            <a:spLocks noGrp="1"/>
          </p:cNvSpPr>
          <p:nvPr>
            <p:ph idx="1"/>
          </p:nvPr>
        </p:nvSpPr>
        <p:spPr/>
        <p:txBody>
          <a:bodyPr wrap="square">
            <a:noAutofit/>
          </a:bodyPr>
          <a:lstStyle/>
          <a:p>
            <a:r>
              <a:rPr sz="2000" b="0" i="0" u="none" dirty="0"/>
              <a:t>Assign owners per slice lane</a:t>
            </a:r>
            <a:endParaRPr sz="2000" b="0" i="0" dirty="0">
              <a:latin typeface="Arial"/>
            </a:endParaRPr>
          </a:p>
          <a:p>
            <a:r>
              <a:rPr sz="2000" b="0" i="0" u="none" dirty="0"/>
              <a:t>Use trunk-based integration with short-lived branches</a:t>
            </a:r>
            <a:endParaRPr sz="2000" b="0" i="0" dirty="0">
              <a:latin typeface="Arial"/>
            </a:endParaRPr>
          </a:p>
          <a:p>
            <a:r>
              <a:rPr sz="2000" b="0" i="0" u="none" dirty="0"/>
              <a:t>Keep contracts stable and versioned</a:t>
            </a:r>
            <a:endParaRPr sz="2000" b="0" i="0" dirty="0">
              <a:latin typeface="Arial"/>
            </a:endParaRPr>
          </a:p>
          <a:p>
            <a:r>
              <a:rPr sz="2000" b="0" i="0" u="none" dirty="0"/>
              <a:t>Demo each slice as soon as done</a:t>
            </a:r>
            <a:endParaRPr sz="2000" b="0" i="0" dirty="0">
              <a:latin typeface="Arial"/>
            </a:endParaRPr>
          </a:p>
          <a:p>
            <a:pPr>
              <a:buNone/>
            </a:pPr>
            <a:endParaRPr sz="2000" b="0" i="0" dirty="0">
              <a:latin typeface="Arial"/>
            </a:endParaRPr>
          </a:p>
          <a:p>
            <a:pPr>
              <a:buNone/>
            </a:pPr>
            <a:r>
              <a:rPr sz="2000" b="0" i="0" u="none" dirty="0"/>
              <a:t>Parallel execution guardrails:</a:t>
            </a:r>
            <a:endParaRPr sz="2000" b="0" i="0" dirty="0">
              <a:latin typeface="Arial"/>
            </a:endParaRPr>
          </a:p>
          <a:p>
            <a:pPr lvl="1"/>
            <a:r>
              <a:rPr sz="1600" b="0" i="0" u="none" dirty="0"/>
              <a:t>No hidden cross-slice dependencies</a:t>
            </a:r>
            <a:endParaRPr sz="1600" b="0" i="0" dirty="0">
              <a:latin typeface="Arial"/>
            </a:endParaRPr>
          </a:p>
          <a:p>
            <a:pPr lvl="1"/>
            <a:r>
              <a:rPr sz="1600" b="0" i="0" u="none" dirty="0"/>
              <a:t>Shared schema changes reviewed early</a:t>
            </a:r>
            <a:endParaRPr sz="1600" b="0" i="0" dirty="0">
              <a:latin typeface="Arial"/>
            </a:endParaRPr>
          </a:p>
          <a:p>
            <a:pPr lvl="1"/>
            <a:r>
              <a:rPr sz="1600" b="0" i="0" u="none" dirty="0"/>
              <a:t>Contract tests required before merge</a:t>
            </a:r>
            <a:endParaRPr sz="1600" b="0" i="0" dirty="0">
              <a:latin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pPr>
              <a:buNone/>
            </a:pPr>
            <a:r>
              <a:rPr sz="3700" b="0" i="0" u="none"/>
              <a:t>Step 4: Integrate, Validate, and Stabilize</a:t>
            </a:r>
          </a:p>
        </p:txBody>
      </p:sp>
      <p:sp>
        <p:nvSpPr>
          <p:cNvPr id="3" name="Content Placeholder 2"/>
          <p:cNvSpPr>
            <a:spLocks noGrp="1"/>
          </p:cNvSpPr>
          <p:nvPr>
            <p:ph idx="1"/>
          </p:nvPr>
        </p:nvSpPr>
        <p:spPr/>
        <p:txBody>
          <a:bodyPr wrap="square">
            <a:normAutofit/>
          </a:bodyPr>
          <a:lstStyle/>
          <a:p>
            <a:r>
              <a:rPr sz="2800" b="0" i="0" u="none"/>
              <a:t>Run full end-to-end and regression tests</a:t>
            </a:r>
            <a:endParaRPr sz="2800" b="0" i="0">
              <a:latin typeface="Arial"/>
            </a:endParaRPr>
          </a:p>
          <a:p>
            <a:r>
              <a:rPr sz="2800" b="0" i="0" u="none"/>
              <a:t>Validate non-functional requirements:</a:t>
            </a:r>
            <a:endParaRPr sz="2800" b="0" i="0">
              <a:latin typeface="Arial"/>
            </a:endParaRPr>
          </a:p>
          <a:p>
            <a:pPr lvl="1"/>
            <a:r>
              <a:rPr sz="2800" b="0" i="0" u="none"/>
              <a:t>Performance</a:t>
            </a:r>
            <a:endParaRPr sz="2800" b="0" i="0">
              <a:latin typeface="Arial"/>
            </a:endParaRPr>
          </a:p>
          <a:p>
            <a:pPr lvl="1"/>
            <a:r>
              <a:rPr sz="2800" b="0" i="0" u="none"/>
              <a:t>Security</a:t>
            </a:r>
            <a:endParaRPr sz="2800" b="0" i="0">
              <a:latin typeface="Arial"/>
            </a:endParaRPr>
          </a:p>
          <a:p>
            <a:pPr lvl="1"/>
            <a:r>
              <a:rPr sz="2800" b="0" i="0" u="none"/>
              <a:t>Observability</a:t>
            </a:r>
            <a:endParaRPr sz="2800" b="0" i="0">
              <a:latin typeface="Arial"/>
            </a:endParaRPr>
          </a:p>
          <a:p>
            <a:r>
              <a:rPr sz="2800" b="0" i="0" u="none"/>
              <a:t>Close documentation and operational runbooks</a:t>
            </a:r>
            <a:endParaRPr sz="2800" b="0" i="0">
              <a:latin typeface="Arial"/>
            </a:endParaRPr>
          </a:p>
          <a:p>
            <a:r>
              <a:rPr sz="2800" b="0" i="0" u="none"/>
              <a:t>Freeze only when release criteria are met</a:t>
            </a:r>
            <a:endParaRPr sz="2800" b="0" i="0">
              <a:latin typeface="Arial"/>
            </a:endParaRPr>
          </a:p>
        </p:txBody>
      </p:sp>
    </p:spTree>
  </p:cSld>
  <p:clrMapOvr>
    <a:masterClrMapping/>
  </p:clrMapOvr>
</p:sld>
</file>

<file path=ppt/theme/theme1.xml><?xml version="1.0" encoding="utf-8"?>
<a:theme xmlns:a="http://schemas.openxmlformats.org/drawingml/2006/main" name="CODE Training">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MM CODE Training Slide Template.potx" id="{C235AF94-6470-4DC8-ADA1-D5CA24C263BE}" vid="{E23727E8-263B-4C98-B166-009CDF69EE3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84</TotalTime>
  <Words>8706</Words>
  <Application>Microsoft Office PowerPoint</Application>
  <PresentationFormat>Widescreen</PresentationFormat>
  <Paragraphs>1119</Paragraphs>
  <Slides>74</Slides>
  <Notes>71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74</vt:i4>
      </vt:variant>
    </vt:vector>
  </HeadingPairs>
  <TitlesOfParts>
    <vt:vector size="80" baseType="lpstr">
      <vt:lpstr>Arial</vt:lpstr>
      <vt:lpstr>Calibri</vt:lpstr>
      <vt:lpstr>Consolas</vt:lpstr>
      <vt:lpstr>Noto Sans</vt:lpstr>
      <vt:lpstr>Victor Mono</vt:lpstr>
      <vt:lpstr>CODE Training</vt:lpstr>
      <vt:lpstr>The Return of the Prompter</vt:lpstr>
      <vt:lpstr>Course Modules</vt:lpstr>
      <vt:lpstr>High Level AI Assisted Workflow</vt:lpstr>
      <vt:lpstr>Starting with Requirements</vt:lpstr>
      <vt:lpstr>Business Rules as Requirements</vt:lpstr>
      <vt:lpstr>Conceptual Models</vt:lpstr>
      <vt:lpstr>Object Role Models</vt:lpstr>
      <vt:lpstr>Zeus.Academia.3b</vt:lpstr>
      <vt:lpstr>Use Cases</vt:lpstr>
      <vt:lpstr>Exercise: Generate Business Requirements</vt:lpstr>
      <vt:lpstr>Exercise: Generate Business Requirements</vt:lpstr>
      <vt:lpstr>Exercise: Business Requirements Generation</vt:lpstr>
      <vt:lpstr>Exercise: Business Requirements Generation</vt:lpstr>
      <vt:lpstr>Course Modules</vt:lpstr>
      <vt:lpstr>CQRS Architecture</vt:lpstr>
      <vt:lpstr>CQRS Benefits</vt:lpstr>
      <vt:lpstr>When to Use CQRS</vt:lpstr>
      <vt:lpstr>Core Principles</vt:lpstr>
      <vt:lpstr>CQRS Architecture Components</vt:lpstr>
      <vt:lpstr>Consistency Strategy</vt:lpstr>
      <vt:lpstr>Example: Order Approval Flow</vt:lpstr>
      <vt:lpstr>Key Takeaways</vt:lpstr>
      <vt:lpstr>Course Modules</vt:lpstr>
      <vt:lpstr>Technology Stack Instruction Files</vt:lpstr>
      <vt:lpstr>Technology Stack Instruction Files</vt:lpstr>
      <vt:lpstr>Start with the Requirements</vt:lpstr>
      <vt:lpstr>Generate the First Draft Quickly</vt:lpstr>
      <vt:lpstr>Review the Generated File Critically</vt:lpstr>
      <vt:lpstr>Use Multiple Models to Improve Quality</vt:lpstr>
      <vt:lpstr>Why This Matters in the Foundation Phase</vt:lpstr>
      <vt:lpstr>Course Modules</vt:lpstr>
      <vt:lpstr>Vertical Slicing Architecture Introduction</vt:lpstr>
      <vt:lpstr>What is a vertical slice?</vt:lpstr>
      <vt:lpstr>Layered folders vs. feature folders</vt:lpstr>
      <vt:lpstr>Why developers like this approach</vt:lpstr>
      <vt:lpstr>Collaboration and testing benefits</vt:lpstr>
      <vt:lpstr>Why CQRS fits well with vertical slices</vt:lpstr>
      <vt:lpstr>Key takeaways</vt:lpstr>
      <vt:lpstr>Course Modules</vt:lpstr>
      <vt:lpstr>Vertical Slice Implementation Plans</vt:lpstr>
      <vt:lpstr>Creating Vertical Slice Implementation Plans</vt:lpstr>
      <vt:lpstr>What this section covers</vt:lpstr>
      <vt:lpstr>Review the planning instructions</vt:lpstr>
      <vt:lpstr>Slice identification strategies</vt:lpstr>
      <vt:lpstr>Decomposition principles</vt:lpstr>
      <vt:lpstr>Analyze before you slice</vt:lpstr>
      <vt:lpstr>Generate plans with AI</vt:lpstr>
      <vt:lpstr>What a good AI plan should include</vt:lpstr>
      <vt:lpstr>Example planning flow</vt:lpstr>
      <vt:lpstr>Multi-model evaluation</vt:lpstr>
      <vt:lpstr>Key takeaway</vt:lpstr>
      <vt:lpstr>Dependency Analysis and Planning</vt:lpstr>
      <vt:lpstr>Dependency Analysis and Planning</vt:lpstr>
      <vt:lpstr>Read the Dependency Diagram</vt:lpstr>
      <vt:lpstr>Find the Critical Path</vt:lpstr>
      <vt:lpstr>Sequence First, Parallelize Second</vt:lpstr>
      <vt:lpstr>Distinguish Foundational and Dependent Features</vt:lpstr>
      <vt:lpstr>Use Dependency Analysis to Plan the Roadmap</vt:lpstr>
      <vt:lpstr>Course Modules</vt:lpstr>
      <vt:lpstr>Implementation Prompts and Verification</vt:lpstr>
      <vt:lpstr>Implementation Prompts and Verification</vt:lpstr>
      <vt:lpstr>Start from a Single Slice</vt:lpstr>
      <vt:lpstr>What the Implementation Prompt Should Say</vt:lpstr>
      <vt:lpstr>Expected Deliverables Inside the Prompt File</vt:lpstr>
      <vt:lpstr>Build Verification into the Prompt</vt:lpstr>
      <vt:lpstr>Showcase Instructions Should Target Humans</vt:lpstr>
      <vt:lpstr>Repeat the Pattern Across All Slices</vt:lpstr>
      <vt:lpstr>Course Modules</vt:lpstr>
      <vt:lpstr>Basic Vertical Slice Workflow</vt:lpstr>
      <vt:lpstr>Basic Vertical Slice Implementation Workflow</vt:lpstr>
      <vt:lpstr>Step 1: Define Slice Boundaries</vt:lpstr>
      <vt:lpstr>Step 2: Build the Implementation Plan</vt:lpstr>
      <vt:lpstr>Step 3: Execute Slices in Parallel</vt:lpstr>
      <vt:lpstr>Step 4: Integrate, Validate, and Stabilize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Miller</dc:creator>
  <cp:lastModifiedBy>John Miller</cp:lastModifiedBy>
  <cp:revision>7</cp:revision>
  <dcterms:created xsi:type="dcterms:W3CDTF">2025-10-19T18:09:53Z</dcterms:created>
  <dcterms:modified xsi:type="dcterms:W3CDTF">2026-04-10T15:34:09Z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0x010100587004330F6D8B418A43481AAFC77453</vt:lpwstr>
  </property>
</Properties>
</file>