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3" r:id="rId1"/>
  </p:sldMasterIdLst>
  <p:notesMasterIdLst>
    <p:notesMasterId r:id="rId1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8B12"/>
    <a:srgbClr val="8E1416"/>
    <a:srgbClr val="922123"/>
    <a:srgbClr val="AA8200"/>
    <a:srgbClr val="DEAA00"/>
    <a:srgbClr val="007FB1"/>
    <a:srgbClr val="38955A"/>
    <a:srgbClr val="920000"/>
    <a:srgbClr val="212121"/>
    <a:srgbClr val="2C4D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7" autoAdjust="0"/>
    <p:restoredTop sz="63597" autoAdjust="0"/>
  </p:normalViewPr>
  <p:slideViewPr>
    <p:cSldViewPr snapToGrid="0" showGuides="1">
      <p:cViewPr varScale="1">
        <p:scale>
          <a:sx n="55" d="100"/>
          <a:sy n="55" d="100"/>
        </p:scale>
        <p:origin x="72" y="1268"/>
      </p:cViewPr>
      <p:guideLst/>
    </p:cSldViewPr>
  </p:slideViewPr>
  <p:outlineViewPr>
    <p:cViewPr>
      <p:scale>
        <a:sx n="33" d="100"/>
        <a:sy n="33" d="100"/>
      </p:scale>
      <p:origin x="0" y="-16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Miller" userId="70e70d2d-fa72-4952-98cf-67858fa4ef7a" providerId="ADAL" clId="{3C0F8D48-B805-4732-975A-89F26263F015}"/>
    <pc:docChg chg="custSel modSld">
      <pc:chgData name="John Miller" userId="70e70d2d-fa72-4952-98cf-67858fa4ef7a" providerId="ADAL" clId="{3C0F8D48-B805-4732-975A-89F26263F015}" dt="2026-04-07T16:35:53.967" v="123" actId="14100"/>
      <pc:docMkLst>
        <pc:docMk/>
      </pc:docMkLst>
      <pc:sldChg chg="modSp mod">
        <pc:chgData name="John Miller" userId="70e70d2d-fa72-4952-98cf-67858fa4ef7a" providerId="ADAL" clId="{3C0F8D48-B805-4732-975A-89F26263F015}" dt="2026-04-07T16:00:14.966" v="1" actId="14100"/>
        <pc:sldMkLst>
          <pc:docMk/>
          <pc:sldMk cId="0" sldId="258"/>
        </pc:sldMkLst>
        <pc:graphicFrameChg chg="mod modGraphic">
          <ac:chgData name="John Miller" userId="70e70d2d-fa72-4952-98cf-67858fa4ef7a" providerId="ADAL" clId="{3C0F8D48-B805-4732-975A-89F26263F015}" dt="2026-04-07T16:00:14.966" v="1" actId="14100"/>
          <ac:graphicFrameMkLst>
            <pc:docMk/>
            <pc:sldMk cId="0" sldId="258"/>
            <ac:graphicFrameMk id="3" creationId="{00000000-0000-0000-0000-000000000000}"/>
          </ac:graphicFrameMkLst>
        </pc:graphicFrameChg>
      </pc:sldChg>
      <pc:sldChg chg="modSp mod">
        <pc:chgData name="John Miller" userId="70e70d2d-fa72-4952-98cf-67858fa4ef7a" providerId="ADAL" clId="{3C0F8D48-B805-4732-975A-89F26263F015}" dt="2026-04-07T16:00:36.976" v="2" actId="114"/>
        <pc:sldMkLst>
          <pc:docMk/>
          <pc:sldMk cId="0" sldId="263"/>
        </pc:sldMkLst>
        <pc:spChg chg="mod">
          <ac:chgData name="John Miller" userId="70e70d2d-fa72-4952-98cf-67858fa4ef7a" providerId="ADAL" clId="{3C0F8D48-B805-4732-975A-89F26263F015}" dt="2026-04-07T16:00:36.976" v="2" actId="114"/>
          <ac:spMkLst>
            <pc:docMk/>
            <pc:sldMk cId="0" sldId="263"/>
            <ac:spMk id="3" creationId="{00000000-0000-0000-0000-000000000000}"/>
          </ac:spMkLst>
        </pc:spChg>
      </pc:sldChg>
      <pc:sldChg chg="addSp delSp modSp mod modClrScheme chgLayout">
        <pc:chgData name="John Miller" userId="70e70d2d-fa72-4952-98cf-67858fa4ef7a" providerId="ADAL" clId="{3C0F8D48-B805-4732-975A-89F26263F015}" dt="2026-04-07T16:01:13.458" v="8" actId="6549"/>
        <pc:sldMkLst>
          <pc:docMk/>
          <pc:sldMk cId="0" sldId="265"/>
        </pc:sldMkLst>
        <pc:spChg chg="mod ord">
          <ac:chgData name="John Miller" userId="70e70d2d-fa72-4952-98cf-67858fa4ef7a" providerId="ADAL" clId="{3C0F8D48-B805-4732-975A-89F26263F015}" dt="2026-04-07T16:01:08.172" v="6" actId="26606"/>
          <ac:spMkLst>
            <pc:docMk/>
            <pc:sldMk cId="0" sldId="265"/>
            <ac:spMk id="2" creationId="{00000000-0000-0000-0000-000000000000}"/>
          </ac:spMkLst>
        </pc:spChg>
        <pc:spChg chg="mod ord">
          <ac:chgData name="John Miller" userId="70e70d2d-fa72-4952-98cf-67858fa4ef7a" providerId="ADAL" clId="{3C0F8D48-B805-4732-975A-89F26263F015}" dt="2026-04-07T16:01:13.458" v="8" actId="6549"/>
          <ac:spMkLst>
            <pc:docMk/>
            <pc:sldMk cId="0" sldId="265"/>
            <ac:spMk id="3" creationId="{00000000-0000-0000-0000-000000000000}"/>
          </ac:spMkLst>
        </pc:spChg>
        <pc:spChg chg="add del mod ord">
          <ac:chgData name="John Miller" userId="70e70d2d-fa72-4952-98cf-67858fa4ef7a" providerId="ADAL" clId="{3C0F8D48-B805-4732-975A-89F26263F015}" dt="2026-04-07T16:01:08.172" v="6" actId="26606"/>
          <ac:spMkLst>
            <pc:docMk/>
            <pc:sldMk cId="0" sldId="265"/>
            <ac:spMk id="5" creationId="{B0EE5BBE-7FEA-802D-9ADB-27F10FB59252}"/>
          </ac:spMkLst>
        </pc:spChg>
        <pc:picChg chg="mod">
          <ac:chgData name="John Miller" userId="70e70d2d-fa72-4952-98cf-67858fa4ef7a" providerId="ADAL" clId="{3C0F8D48-B805-4732-975A-89F26263F015}" dt="2026-04-07T16:01:08.172" v="6" actId="26606"/>
          <ac:picMkLst>
            <pc:docMk/>
            <pc:sldMk cId="0" sldId="265"/>
            <ac:picMk id="4" creationId="{00000000-0000-0000-0000-000000000000}"/>
          </ac:picMkLst>
        </pc:picChg>
      </pc:sldChg>
      <pc:sldChg chg="modSp mod">
        <pc:chgData name="John Miller" userId="70e70d2d-fa72-4952-98cf-67858fa4ef7a" providerId="ADAL" clId="{3C0F8D48-B805-4732-975A-89F26263F015}" dt="2026-04-07T16:01:26.458" v="9" actId="6549"/>
        <pc:sldMkLst>
          <pc:docMk/>
          <pc:sldMk cId="0" sldId="266"/>
        </pc:sldMkLst>
        <pc:spChg chg="mod">
          <ac:chgData name="John Miller" userId="70e70d2d-fa72-4952-98cf-67858fa4ef7a" providerId="ADAL" clId="{3C0F8D48-B805-4732-975A-89F26263F015}" dt="2026-04-07T16:01:26.458" v="9" actId="6549"/>
          <ac:spMkLst>
            <pc:docMk/>
            <pc:sldMk cId="0" sldId="266"/>
            <ac:spMk id="3" creationId="{00000000-0000-0000-0000-000000000000}"/>
          </ac:spMkLst>
        </pc:spChg>
      </pc:sldChg>
      <pc:sldChg chg="modSp mod modClrScheme chgLayout">
        <pc:chgData name="John Miller" userId="70e70d2d-fa72-4952-98cf-67858fa4ef7a" providerId="ADAL" clId="{3C0F8D48-B805-4732-975A-89F26263F015}" dt="2026-04-07T16:05:29.499" v="12" actId="6549"/>
        <pc:sldMkLst>
          <pc:docMk/>
          <pc:sldMk cId="0" sldId="267"/>
        </pc:sldMkLst>
        <pc:spChg chg="mod">
          <ac:chgData name="John Miller" userId="70e70d2d-fa72-4952-98cf-67858fa4ef7a" providerId="ADAL" clId="{3C0F8D48-B805-4732-975A-89F26263F015}" dt="2026-04-07T16:05:25.258" v="10" actId="26606"/>
          <ac:spMkLst>
            <pc:docMk/>
            <pc:sldMk cId="0" sldId="267"/>
            <ac:spMk id="2" creationId="{00000000-0000-0000-0000-000000000000}"/>
          </ac:spMkLst>
        </pc:spChg>
        <pc:spChg chg="mod">
          <ac:chgData name="John Miller" userId="70e70d2d-fa72-4952-98cf-67858fa4ef7a" providerId="ADAL" clId="{3C0F8D48-B805-4732-975A-89F26263F015}" dt="2026-04-07T16:05:29.499" v="12" actId="6549"/>
          <ac:spMkLst>
            <pc:docMk/>
            <pc:sldMk cId="0" sldId="267"/>
            <ac:spMk id="3" creationId="{00000000-0000-0000-0000-000000000000}"/>
          </ac:spMkLst>
        </pc:spChg>
        <pc:picChg chg="mod">
          <ac:chgData name="John Miller" userId="70e70d2d-fa72-4952-98cf-67858fa4ef7a" providerId="ADAL" clId="{3C0F8D48-B805-4732-975A-89F26263F015}" dt="2026-04-07T16:05:25.258" v="10" actId="26606"/>
          <ac:picMkLst>
            <pc:docMk/>
            <pc:sldMk cId="0" sldId="267"/>
            <ac:picMk id="4" creationId="{00000000-0000-0000-0000-000000000000}"/>
          </ac:picMkLst>
        </pc:picChg>
      </pc:sldChg>
      <pc:sldChg chg="modSp mod">
        <pc:chgData name="John Miller" userId="70e70d2d-fa72-4952-98cf-67858fa4ef7a" providerId="ADAL" clId="{3C0F8D48-B805-4732-975A-89F26263F015}" dt="2026-04-07T16:05:43.214" v="13" actId="27636"/>
        <pc:sldMkLst>
          <pc:docMk/>
          <pc:sldMk cId="0" sldId="268"/>
        </pc:sldMkLst>
        <pc:spChg chg="mod">
          <ac:chgData name="John Miller" userId="70e70d2d-fa72-4952-98cf-67858fa4ef7a" providerId="ADAL" clId="{3C0F8D48-B805-4732-975A-89F26263F015}" dt="2026-04-07T16:05:43.214" v="13" actId="27636"/>
          <ac:spMkLst>
            <pc:docMk/>
            <pc:sldMk cId="0" sldId="268"/>
            <ac:spMk id="3" creationId="{00000000-0000-0000-0000-000000000000}"/>
          </ac:spMkLst>
        </pc:spChg>
      </pc:sldChg>
      <pc:sldChg chg="modSp mod">
        <pc:chgData name="John Miller" userId="70e70d2d-fa72-4952-98cf-67858fa4ef7a" providerId="ADAL" clId="{3C0F8D48-B805-4732-975A-89F26263F015}" dt="2026-04-07T16:06:15.896" v="14" actId="14100"/>
        <pc:sldMkLst>
          <pc:docMk/>
          <pc:sldMk cId="0" sldId="270"/>
        </pc:sldMkLst>
        <pc:graphicFrameChg chg="modGraphic">
          <ac:chgData name="John Miller" userId="70e70d2d-fa72-4952-98cf-67858fa4ef7a" providerId="ADAL" clId="{3C0F8D48-B805-4732-975A-89F26263F015}" dt="2026-04-07T16:06:15.896" v="14" actId="14100"/>
          <ac:graphicFrameMkLst>
            <pc:docMk/>
            <pc:sldMk cId="0" sldId="270"/>
            <ac:graphicFrameMk id="3" creationId="{00000000-0000-0000-0000-000000000000}"/>
          </ac:graphicFrameMkLst>
        </pc:graphicFrameChg>
      </pc:sldChg>
      <pc:sldChg chg="modSp mod">
        <pc:chgData name="John Miller" userId="70e70d2d-fa72-4952-98cf-67858fa4ef7a" providerId="ADAL" clId="{3C0F8D48-B805-4732-975A-89F26263F015}" dt="2026-04-07T16:06:46.953" v="30" actId="6549"/>
        <pc:sldMkLst>
          <pc:docMk/>
          <pc:sldMk cId="0" sldId="271"/>
        </pc:sldMkLst>
        <pc:spChg chg="mod">
          <ac:chgData name="John Miller" userId="70e70d2d-fa72-4952-98cf-67858fa4ef7a" providerId="ADAL" clId="{3C0F8D48-B805-4732-975A-89F26263F015}" dt="2026-04-07T16:06:46.953" v="30" actId="6549"/>
          <ac:spMkLst>
            <pc:docMk/>
            <pc:sldMk cId="0" sldId="271"/>
            <ac:spMk id="3" creationId="{00000000-0000-0000-0000-000000000000}"/>
          </ac:spMkLst>
        </pc:spChg>
      </pc:sldChg>
      <pc:sldChg chg="mod modShow">
        <pc:chgData name="John Miller" userId="70e70d2d-fa72-4952-98cf-67858fa4ef7a" providerId="ADAL" clId="{3C0F8D48-B805-4732-975A-89F26263F015}" dt="2026-04-07T16:07:11.020" v="31" actId="729"/>
        <pc:sldMkLst>
          <pc:docMk/>
          <pc:sldMk cId="0" sldId="274"/>
        </pc:sldMkLst>
      </pc:sldChg>
      <pc:sldChg chg="modSp mod">
        <pc:chgData name="John Miller" userId="70e70d2d-fa72-4952-98cf-67858fa4ef7a" providerId="ADAL" clId="{3C0F8D48-B805-4732-975A-89F26263F015}" dt="2026-04-07T16:07:37.367" v="32" actId="14100"/>
        <pc:sldMkLst>
          <pc:docMk/>
          <pc:sldMk cId="0" sldId="279"/>
        </pc:sldMkLst>
        <pc:graphicFrameChg chg="mod modGraphic">
          <ac:chgData name="John Miller" userId="70e70d2d-fa72-4952-98cf-67858fa4ef7a" providerId="ADAL" clId="{3C0F8D48-B805-4732-975A-89F26263F015}" dt="2026-04-07T16:07:37.367" v="32" actId="14100"/>
          <ac:graphicFrameMkLst>
            <pc:docMk/>
            <pc:sldMk cId="0" sldId="279"/>
            <ac:graphicFrameMk id="3" creationId="{00000000-0000-0000-0000-000000000000}"/>
          </ac:graphicFrameMkLst>
        </pc:graphicFrameChg>
      </pc:sldChg>
      <pc:sldChg chg="modSp mod modClrScheme chgLayout">
        <pc:chgData name="John Miller" userId="70e70d2d-fa72-4952-98cf-67858fa4ef7a" providerId="ADAL" clId="{3C0F8D48-B805-4732-975A-89F26263F015}" dt="2026-04-07T16:08:31.644" v="33" actId="26606"/>
        <pc:sldMkLst>
          <pc:docMk/>
          <pc:sldMk cId="0" sldId="284"/>
        </pc:sldMkLst>
        <pc:spChg chg="mod">
          <ac:chgData name="John Miller" userId="70e70d2d-fa72-4952-98cf-67858fa4ef7a" providerId="ADAL" clId="{3C0F8D48-B805-4732-975A-89F26263F015}" dt="2026-04-07T16:08:31.644" v="33" actId="26606"/>
          <ac:spMkLst>
            <pc:docMk/>
            <pc:sldMk cId="0" sldId="284"/>
            <ac:spMk id="2" creationId="{00000000-0000-0000-0000-000000000000}"/>
          </ac:spMkLst>
        </pc:spChg>
        <pc:spChg chg="mod">
          <ac:chgData name="John Miller" userId="70e70d2d-fa72-4952-98cf-67858fa4ef7a" providerId="ADAL" clId="{3C0F8D48-B805-4732-975A-89F26263F015}" dt="2026-04-07T16:08:31.644" v="33" actId="26606"/>
          <ac:spMkLst>
            <pc:docMk/>
            <pc:sldMk cId="0" sldId="284"/>
            <ac:spMk id="3" creationId="{00000000-0000-0000-0000-000000000000}"/>
          </ac:spMkLst>
        </pc:spChg>
        <pc:picChg chg="mod">
          <ac:chgData name="John Miller" userId="70e70d2d-fa72-4952-98cf-67858fa4ef7a" providerId="ADAL" clId="{3C0F8D48-B805-4732-975A-89F26263F015}" dt="2026-04-07T16:08:31.644" v="33" actId="26606"/>
          <ac:picMkLst>
            <pc:docMk/>
            <pc:sldMk cId="0" sldId="284"/>
            <ac:picMk id="4" creationId="{00000000-0000-0000-0000-000000000000}"/>
          </ac:picMkLst>
        </pc:picChg>
      </pc:sldChg>
      <pc:sldChg chg="modSp mod">
        <pc:chgData name="John Miller" userId="70e70d2d-fa72-4952-98cf-67858fa4ef7a" providerId="ADAL" clId="{3C0F8D48-B805-4732-975A-89F26263F015}" dt="2026-04-07T16:17:25.283" v="34" actId="6549"/>
        <pc:sldMkLst>
          <pc:docMk/>
          <pc:sldMk cId="0" sldId="298"/>
        </pc:sldMkLst>
        <pc:spChg chg="mod">
          <ac:chgData name="John Miller" userId="70e70d2d-fa72-4952-98cf-67858fa4ef7a" providerId="ADAL" clId="{3C0F8D48-B805-4732-975A-89F26263F015}" dt="2026-04-07T16:17:25.283" v="34" actId="6549"/>
          <ac:spMkLst>
            <pc:docMk/>
            <pc:sldMk cId="0" sldId="298"/>
            <ac:spMk id="3" creationId="{00000000-0000-0000-0000-000000000000}"/>
          </ac:spMkLst>
        </pc:spChg>
      </pc:sldChg>
      <pc:sldChg chg="modSp mod">
        <pc:chgData name="John Miller" userId="70e70d2d-fa72-4952-98cf-67858fa4ef7a" providerId="ADAL" clId="{3C0F8D48-B805-4732-975A-89F26263F015}" dt="2026-04-07T16:17:38.062" v="35" actId="20577"/>
        <pc:sldMkLst>
          <pc:docMk/>
          <pc:sldMk cId="0" sldId="300"/>
        </pc:sldMkLst>
        <pc:spChg chg="mod">
          <ac:chgData name="John Miller" userId="70e70d2d-fa72-4952-98cf-67858fa4ef7a" providerId="ADAL" clId="{3C0F8D48-B805-4732-975A-89F26263F015}" dt="2026-04-07T16:17:38.062" v="35" actId="20577"/>
          <ac:spMkLst>
            <pc:docMk/>
            <pc:sldMk cId="0" sldId="300"/>
            <ac:spMk id="3" creationId="{00000000-0000-0000-0000-000000000000}"/>
          </ac:spMkLst>
        </pc:spChg>
      </pc:sldChg>
      <pc:sldChg chg="mod modShow">
        <pc:chgData name="John Miller" userId="70e70d2d-fa72-4952-98cf-67858fa4ef7a" providerId="ADAL" clId="{3C0F8D48-B805-4732-975A-89F26263F015}" dt="2026-04-07T16:18:43.975" v="37" actId="729"/>
        <pc:sldMkLst>
          <pc:docMk/>
          <pc:sldMk cId="0" sldId="310"/>
        </pc:sldMkLst>
      </pc:sldChg>
      <pc:sldChg chg="mod modShow">
        <pc:chgData name="John Miller" userId="70e70d2d-fa72-4952-98cf-67858fa4ef7a" providerId="ADAL" clId="{3C0F8D48-B805-4732-975A-89F26263F015}" dt="2026-04-07T16:18:28.277" v="36" actId="729"/>
        <pc:sldMkLst>
          <pc:docMk/>
          <pc:sldMk cId="0" sldId="311"/>
        </pc:sldMkLst>
      </pc:sldChg>
      <pc:sldChg chg="modSp mod">
        <pc:chgData name="John Miller" userId="70e70d2d-fa72-4952-98cf-67858fa4ef7a" providerId="ADAL" clId="{3C0F8D48-B805-4732-975A-89F26263F015}" dt="2026-04-07T16:19:01.060" v="38" actId="6549"/>
        <pc:sldMkLst>
          <pc:docMk/>
          <pc:sldMk cId="0" sldId="314"/>
        </pc:sldMkLst>
        <pc:spChg chg="mod">
          <ac:chgData name="John Miller" userId="70e70d2d-fa72-4952-98cf-67858fa4ef7a" providerId="ADAL" clId="{3C0F8D48-B805-4732-975A-89F26263F015}" dt="2026-04-07T16:19:01.060" v="38" actId="6549"/>
          <ac:spMkLst>
            <pc:docMk/>
            <pc:sldMk cId="0" sldId="314"/>
            <ac:spMk id="3" creationId="{00000000-0000-0000-0000-000000000000}"/>
          </ac:spMkLst>
        </pc:spChg>
      </pc:sldChg>
      <pc:sldChg chg="modSp mod">
        <pc:chgData name="John Miller" userId="70e70d2d-fa72-4952-98cf-67858fa4ef7a" providerId="ADAL" clId="{3C0F8D48-B805-4732-975A-89F26263F015}" dt="2026-04-07T16:19:39.700" v="46" actId="403"/>
        <pc:sldMkLst>
          <pc:docMk/>
          <pc:sldMk cId="0" sldId="315"/>
        </pc:sldMkLst>
        <pc:spChg chg="mod">
          <ac:chgData name="John Miller" userId="70e70d2d-fa72-4952-98cf-67858fa4ef7a" providerId="ADAL" clId="{3C0F8D48-B805-4732-975A-89F26263F015}" dt="2026-04-07T16:19:39.700" v="46" actId="403"/>
          <ac:spMkLst>
            <pc:docMk/>
            <pc:sldMk cId="0" sldId="315"/>
            <ac:spMk id="3" creationId="{00000000-0000-0000-0000-000000000000}"/>
          </ac:spMkLst>
        </pc:spChg>
      </pc:sldChg>
      <pc:sldChg chg="modSp mod">
        <pc:chgData name="John Miller" userId="70e70d2d-fa72-4952-98cf-67858fa4ef7a" providerId="ADAL" clId="{3C0F8D48-B805-4732-975A-89F26263F015}" dt="2026-04-07T16:19:59.473" v="56" actId="20577"/>
        <pc:sldMkLst>
          <pc:docMk/>
          <pc:sldMk cId="0" sldId="317"/>
        </pc:sldMkLst>
        <pc:spChg chg="mod">
          <ac:chgData name="John Miller" userId="70e70d2d-fa72-4952-98cf-67858fa4ef7a" providerId="ADAL" clId="{3C0F8D48-B805-4732-975A-89F26263F015}" dt="2026-04-07T16:19:59.473" v="56" actId="20577"/>
          <ac:spMkLst>
            <pc:docMk/>
            <pc:sldMk cId="0" sldId="317"/>
            <ac:spMk id="3" creationId="{00000000-0000-0000-0000-000000000000}"/>
          </ac:spMkLst>
        </pc:spChg>
      </pc:sldChg>
      <pc:sldChg chg="modSp mod">
        <pc:chgData name="John Miller" userId="70e70d2d-fa72-4952-98cf-67858fa4ef7a" providerId="ADAL" clId="{3C0F8D48-B805-4732-975A-89F26263F015}" dt="2026-04-07T16:21:12.154" v="76" actId="404"/>
        <pc:sldMkLst>
          <pc:docMk/>
          <pc:sldMk cId="0" sldId="318"/>
        </pc:sldMkLst>
        <pc:spChg chg="mod">
          <ac:chgData name="John Miller" userId="70e70d2d-fa72-4952-98cf-67858fa4ef7a" providerId="ADAL" clId="{3C0F8D48-B805-4732-975A-89F26263F015}" dt="2026-04-07T16:20:58.073" v="73" actId="27636"/>
          <ac:spMkLst>
            <pc:docMk/>
            <pc:sldMk cId="0" sldId="318"/>
            <ac:spMk id="3" creationId="{00000000-0000-0000-0000-000000000000}"/>
          </ac:spMkLst>
        </pc:spChg>
        <pc:spChg chg="mod">
          <ac:chgData name="John Miller" userId="70e70d2d-fa72-4952-98cf-67858fa4ef7a" providerId="ADAL" clId="{3C0F8D48-B805-4732-975A-89F26263F015}" dt="2026-04-07T16:21:12.154" v="76" actId="404"/>
          <ac:spMkLst>
            <pc:docMk/>
            <pc:sldMk cId="0" sldId="318"/>
            <ac:spMk id="4" creationId="{00000000-0000-0000-0000-000000000000}"/>
          </ac:spMkLst>
        </pc:spChg>
      </pc:sldChg>
      <pc:sldChg chg="delSp modSp mod">
        <pc:chgData name="John Miller" userId="70e70d2d-fa72-4952-98cf-67858fa4ef7a" providerId="ADAL" clId="{3C0F8D48-B805-4732-975A-89F26263F015}" dt="2026-04-07T16:21:44.082" v="78" actId="26606"/>
        <pc:sldMkLst>
          <pc:docMk/>
          <pc:sldMk cId="0" sldId="321"/>
        </pc:sldMkLst>
        <pc:spChg chg="mod">
          <ac:chgData name="John Miller" userId="70e70d2d-fa72-4952-98cf-67858fa4ef7a" providerId="ADAL" clId="{3C0F8D48-B805-4732-975A-89F26263F015}" dt="2026-04-07T16:21:44.082" v="78" actId="26606"/>
          <ac:spMkLst>
            <pc:docMk/>
            <pc:sldMk cId="0" sldId="321"/>
            <ac:spMk id="2" creationId="{00000000-0000-0000-0000-000000000000}"/>
          </ac:spMkLst>
        </pc:spChg>
        <pc:spChg chg="mod">
          <ac:chgData name="John Miller" userId="70e70d2d-fa72-4952-98cf-67858fa4ef7a" providerId="ADAL" clId="{3C0F8D48-B805-4732-975A-89F26263F015}" dt="2026-04-07T16:21:44.082" v="78" actId="26606"/>
          <ac:spMkLst>
            <pc:docMk/>
            <pc:sldMk cId="0" sldId="321"/>
            <ac:spMk id="3" creationId="{00000000-0000-0000-0000-000000000000}"/>
          </ac:spMkLst>
        </pc:spChg>
        <pc:spChg chg="del">
          <ac:chgData name="John Miller" userId="70e70d2d-fa72-4952-98cf-67858fa4ef7a" providerId="ADAL" clId="{3C0F8D48-B805-4732-975A-89F26263F015}" dt="2026-04-07T16:21:44.082" v="78" actId="26606"/>
          <ac:spMkLst>
            <pc:docMk/>
            <pc:sldMk cId="0" sldId="321"/>
            <ac:spMk id="4" creationId="{00000000-0000-0000-0000-000000000000}"/>
          </ac:spMkLst>
        </pc:spChg>
        <pc:picChg chg="mod">
          <ac:chgData name="John Miller" userId="70e70d2d-fa72-4952-98cf-67858fa4ef7a" providerId="ADAL" clId="{3C0F8D48-B805-4732-975A-89F26263F015}" dt="2026-04-07T16:21:44.082" v="78" actId="26606"/>
          <ac:picMkLst>
            <pc:docMk/>
            <pc:sldMk cId="0" sldId="321"/>
            <ac:picMk id="5" creationId="{00000000-0000-0000-0000-000000000000}"/>
          </ac:picMkLst>
        </pc:picChg>
      </pc:sldChg>
      <pc:sldChg chg="modSp mod">
        <pc:chgData name="John Miller" userId="70e70d2d-fa72-4952-98cf-67858fa4ef7a" providerId="ADAL" clId="{3C0F8D48-B805-4732-975A-89F26263F015}" dt="2026-04-07T16:22:38.687" v="83" actId="27636"/>
        <pc:sldMkLst>
          <pc:docMk/>
          <pc:sldMk cId="0" sldId="325"/>
        </pc:sldMkLst>
        <pc:spChg chg="mod">
          <ac:chgData name="John Miller" userId="70e70d2d-fa72-4952-98cf-67858fa4ef7a" providerId="ADAL" clId="{3C0F8D48-B805-4732-975A-89F26263F015}" dt="2026-04-07T16:22:38.687" v="83" actId="27636"/>
          <ac:spMkLst>
            <pc:docMk/>
            <pc:sldMk cId="0" sldId="325"/>
            <ac:spMk id="3" creationId="{00000000-0000-0000-0000-000000000000}"/>
          </ac:spMkLst>
        </pc:spChg>
      </pc:sldChg>
      <pc:sldChg chg="modSp mod">
        <pc:chgData name="John Miller" userId="70e70d2d-fa72-4952-98cf-67858fa4ef7a" providerId="ADAL" clId="{3C0F8D48-B805-4732-975A-89F26263F015}" dt="2026-04-07T16:23:38.993" v="96" actId="403"/>
        <pc:sldMkLst>
          <pc:docMk/>
          <pc:sldMk cId="0" sldId="326"/>
        </pc:sldMkLst>
        <pc:spChg chg="mod">
          <ac:chgData name="John Miller" userId="70e70d2d-fa72-4952-98cf-67858fa4ef7a" providerId="ADAL" clId="{3C0F8D48-B805-4732-975A-89F26263F015}" dt="2026-04-07T16:23:26.285" v="94" actId="27636"/>
          <ac:spMkLst>
            <pc:docMk/>
            <pc:sldMk cId="0" sldId="326"/>
            <ac:spMk id="3" creationId="{00000000-0000-0000-0000-000000000000}"/>
          </ac:spMkLst>
        </pc:spChg>
        <pc:spChg chg="mod">
          <ac:chgData name="John Miller" userId="70e70d2d-fa72-4952-98cf-67858fa4ef7a" providerId="ADAL" clId="{3C0F8D48-B805-4732-975A-89F26263F015}" dt="2026-04-07T16:23:38.993" v="96" actId="403"/>
          <ac:spMkLst>
            <pc:docMk/>
            <pc:sldMk cId="0" sldId="326"/>
            <ac:spMk id="4" creationId="{00000000-0000-0000-0000-000000000000}"/>
          </ac:spMkLst>
        </pc:spChg>
      </pc:sldChg>
      <pc:sldChg chg="modSp mod">
        <pc:chgData name="John Miller" userId="70e70d2d-fa72-4952-98cf-67858fa4ef7a" providerId="ADAL" clId="{3C0F8D48-B805-4732-975A-89F26263F015}" dt="2026-04-07T16:24:20.765" v="98" actId="15"/>
        <pc:sldMkLst>
          <pc:docMk/>
          <pc:sldMk cId="0" sldId="330"/>
        </pc:sldMkLst>
        <pc:spChg chg="mod">
          <ac:chgData name="John Miller" userId="70e70d2d-fa72-4952-98cf-67858fa4ef7a" providerId="ADAL" clId="{3C0F8D48-B805-4732-975A-89F26263F015}" dt="2026-04-07T16:24:20.765" v="98" actId="15"/>
          <ac:spMkLst>
            <pc:docMk/>
            <pc:sldMk cId="0" sldId="330"/>
            <ac:spMk id="3" creationId="{00000000-0000-0000-0000-000000000000}"/>
          </ac:spMkLst>
        </pc:spChg>
      </pc:sldChg>
      <pc:sldChg chg="modSp mod">
        <pc:chgData name="John Miller" userId="70e70d2d-fa72-4952-98cf-67858fa4ef7a" providerId="ADAL" clId="{3C0F8D48-B805-4732-975A-89F26263F015}" dt="2026-04-07T16:24:30.313" v="100" actId="15"/>
        <pc:sldMkLst>
          <pc:docMk/>
          <pc:sldMk cId="0" sldId="331"/>
        </pc:sldMkLst>
        <pc:spChg chg="mod">
          <ac:chgData name="John Miller" userId="70e70d2d-fa72-4952-98cf-67858fa4ef7a" providerId="ADAL" clId="{3C0F8D48-B805-4732-975A-89F26263F015}" dt="2026-04-07T16:24:30.313" v="100" actId="15"/>
          <ac:spMkLst>
            <pc:docMk/>
            <pc:sldMk cId="0" sldId="331"/>
            <ac:spMk id="3" creationId="{00000000-0000-0000-0000-000000000000}"/>
          </ac:spMkLst>
        </pc:spChg>
      </pc:sldChg>
      <pc:sldChg chg="modSp mod">
        <pc:chgData name="John Miller" userId="70e70d2d-fa72-4952-98cf-67858fa4ef7a" providerId="ADAL" clId="{3C0F8D48-B805-4732-975A-89F26263F015}" dt="2026-04-07T16:31:44.387" v="103" actId="6549"/>
        <pc:sldMkLst>
          <pc:docMk/>
          <pc:sldMk cId="0" sldId="338"/>
        </pc:sldMkLst>
        <pc:spChg chg="mod">
          <ac:chgData name="John Miller" userId="70e70d2d-fa72-4952-98cf-67858fa4ef7a" providerId="ADAL" clId="{3C0F8D48-B805-4732-975A-89F26263F015}" dt="2026-04-07T16:31:40.954" v="102" actId="6549"/>
          <ac:spMkLst>
            <pc:docMk/>
            <pc:sldMk cId="0" sldId="338"/>
            <ac:spMk id="3" creationId="{00000000-0000-0000-0000-000000000000}"/>
          </ac:spMkLst>
        </pc:spChg>
        <pc:spChg chg="mod">
          <ac:chgData name="John Miller" userId="70e70d2d-fa72-4952-98cf-67858fa4ef7a" providerId="ADAL" clId="{3C0F8D48-B805-4732-975A-89F26263F015}" dt="2026-04-07T16:31:44.387" v="103" actId="6549"/>
          <ac:spMkLst>
            <pc:docMk/>
            <pc:sldMk cId="0" sldId="338"/>
            <ac:spMk id="4" creationId="{00000000-0000-0000-0000-000000000000}"/>
          </ac:spMkLst>
        </pc:spChg>
      </pc:sldChg>
      <pc:sldChg chg="modSp mod">
        <pc:chgData name="John Miller" userId="70e70d2d-fa72-4952-98cf-67858fa4ef7a" providerId="ADAL" clId="{3C0F8D48-B805-4732-975A-89F26263F015}" dt="2026-04-07T16:33:07.476" v="110" actId="27636"/>
        <pc:sldMkLst>
          <pc:docMk/>
          <pc:sldMk cId="0" sldId="341"/>
        </pc:sldMkLst>
        <pc:spChg chg="mod">
          <ac:chgData name="John Miller" userId="70e70d2d-fa72-4952-98cf-67858fa4ef7a" providerId="ADAL" clId="{3C0F8D48-B805-4732-975A-89F26263F015}" dt="2026-04-07T16:32:59.316" v="109" actId="20577"/>
          <ac:spMkLst>
            <pc:docMk/>
            <pc:sldMk cId="0" sldId="341"/>
            <ac:spMk id="2" creationId="{00000000-0000-0000-0000-000000000000}"/>
          </ac:spMkLst>
        </pc:spChg>
        <pc:spChg chg="mod">
          <ac:chgData name="John Miller" userId="70e70d2d-fa72-4952-98cf-67858fa4ef7a" providerId="ADAL" clId="{3C0F8D48-B805-4732-975A-89F26263F015}" dt="2026-04-07T16:33:07.476" v="110" actId="27636"/>
          <ac:spMkLst>
            <pc:docMk/>
            <pc:sldMk cId="0" sldId="341"/>
            <ac:spMk id="3" creationId="{00000000-0000-0000-0000-000000000000}"/>
          </ac:spMkLst>
        </pc:spChg>
      </pc:sldChg>
      <pc:sldChg chg="modSp mod">
        <pc:chgData name="John Miller" userId="70e70d2d-fa72-4952-98cf-67858fa4ef7a" providerId="ADAL" clId="{3C0F8D48-B805-4732-975A-89F26263F015}" dt="2026-04-07T16:33:30.281" v="111" actId="14100"/>
        <pc:sldMkLst>
          <pc:docMk/>
          <pc:sldMk cId="0" sldId="345"/>
        </pc:sldMkLst>
        <pc:graphicFrameChg chg="modGraphic">
          <ac:chgData name="John Miller" userId="70e70d2d-fa72-4952-98cf-67858fa4ef7a" providerId="ADAL" clId="{3C0F8D48-B805-4732-975A-89F26263F015}" dt="2026-04-07T16:33:30.281" v="111" actId="14100"/>
          <ac:graphicFrameMkLst>
            <pc:docMk/>
            <pc:sldMk cId="0" sldId="345"/>
            <ac:graphicFrameMk id="3" creationId="{00000000-0000-0000-0000-000000000000}"/>
          </ac:graphicFrameMkLst>
        </pc:graphicFrameChg>
      </pc:sldChg>
      <pc:sldChg chg="modSp mod">
        <pc:chgData name="John Miller" userId="70e70d2d-fa72-4952-98cf-67858fa4ef7a" providerId="ADAL" clId="{3C0F8D48-B805-4732-975A-89F26263F015}" dt="2026-04-07T16:33:45.274" v="112" actId="27636"/>
        <pc:sldMkLst>
          <pc:docMk/>
          <pc:sldMk cId="0" sldId="347"/>
        </pc:sldMkLst>
        <pc:spChg chg="mod">
          <ac:chgData name="John Miller" userId="70e70d2d-fa72-4952-98cf-67858fa4ef7a" providerId="ADAL" clId="{3C0F8D48-B805-4732-975A-89F26263F015}" dt="2026-04-07T16:33:45.274" v="112" actId="27636"/>
          <ac:spMkLst>
            <pc:docMk/>
            <pc:sldMk cId="0" sldId="347"/>
            <ac:spMk id="3" creationId="{00000000-0000-0000-0000-000000000000}"/>
          </ac:spMkLst>
        </pc:spChg>
      </pc:sldChg>
      <pc:sldChg chg="modSp mod">
        <pc:chgData name="John Miller" userId="70e70d2d-fa72-4952-98cf-67858fa4ef7a" providerId="ADAL" clId="{3C0F8D48-B805-4732-975A-89F26263F015}" dt="2026-04-07T16:35:10.292" v="122" actId="6549"/>
        <pc:sldMkLst>
          <pc:docMk/>
          <pc:sldMk cId="0" sldId="355"/>
        </pc:sldMkLst>
        <pc:spChg chg="mod">
          <ac:chgData name="John Miller" userId="70e70d2d-fa72-4952-98cf-67858fa4ef7a" providerId="ADAL" clId="{3C0F8D48-B805-4732-975A-89F26263F015}" dt="2026-04-07T16:35:10.292" v="122" actId="6549"/>
          <ac:spMkLst>
            <pc:docMk/>
            <pc:sldMk cId="0" sldId="355"/>
            <ac:spMk id="3" creationId="{00000000-0000-0000-0000-000000000000}"/>
          </ac:spMkLst>
        </pc:spChg>
      </pc:sldChg>
      <pc:sldChg chg="modSp mod">
        <pc:chgData name="John Miller" userId="70e70d2d-fa72-4952-98cf-67858fa4ef7a" providerId="ADAL" clId="{3C0F8D48-B805-4732-975A-89F26263F015}" dt="2026-04-07T16:35:53.967" v="123" actId="14100"/>
        <pc:sldMkLst>
          <pc:docMk/>
          <pc:sldMk cId="0" sldId="367"/>
        </pc:sldMkLst>
        <pc:graphicFrameChg chg="modGraphic">
          <ac:chgData name="John Miller" userId="70e70d2d-fa72-4952-98cf-67858fa4ef7a" providerId="ADAL" clId="{3C0F8D48-B805-4732-975A-89F26263F015}" dt="2026-04-07T16:35:53.967" v="123" actId="14100"/>
          <ac:graphicFrameMkLst>
            <pc:docMk/>
            <pc:sldMk cId="0" sldId="367"/>
            <ac:graphicFrameMk id="3" creationId="{00000000-0000-0000-0000-00000000000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87355B-E5B2-6E48-8859-C40F7DC7FE0C}" type="datetimeFigureOut">
              <a:rPr lang="en-US" smtClean="0"/>
              <a:t>4/7/2026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1DA66-BB00-F84C-BB6F-3E6E140CFF70}" type="slidenum">
              <a:rPr lang="en-US" smtClean="0"/>
              <a:t>‹#›</a:t>
            </a:fld>
            <a:endParaRPr lang="en-US"/>
          </a:p>
        </p:txBody>
      </p:sp>
    </p:spTree>
    <p:extLst>
      <p:ext uri="{BB962C8B-B14F-4D97-AF65-F5344CB8AC3E}">
        <p14:creationId xmlns:p14="http://schemas.microsoft.com/office/powerpoint/2010/main" val="62274501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Welcome everyone back to the session. Take a moment to let people settle in before diving into content. Acknowledge that it's great to see everyone back and express enthusiasm for the session ahead.</a:t>
            </a:r>
          </a:p>
          <a:p>
            <a:endParaRPr/>
          </a:p>
          <a:p>
            <a:r>
              <a:t>Key talking points:</a:t>
            </a:r>
          </a:p>
          <a:p>
            <a:endParaRPr/>
          </a:p>
          <a:p>
            <a:r>
              <a:t>- Remind attendees of the previous session's topics briefly</a:t>
            </a:r>
          </a:p>
          <a:p>
            <a:r>
              <a:t>- Emphasize that questions are encouraged at any point — not just at the end</a:t>
            </a:r>
          </a:p>
          <a:p>
            <a:r>
              <a:t>- Set a positive, inclusive tone for the session</a:t>
            </a:r>
          </a:p>
          <a:p>
            <a:r>
              <a:t>- If this is after a break, give people 30 seconds to get re-focused</a:t>
            </a:r>
          </a:p>
          <a:p>
            <a:endParaRPr/>
          </a:p>
          <a:p>
            <a:r>
              <a:t>Transition: "Let's pick up right where we left off..."</a:t>
            </a:r>
          </a:p>
          <a:p>
            <a:endParaRPr/>
          </a:p>
          <a:p>
            <a:r>
              <a:t>---</a:t>
            </a:r>
          </a:p>
          <a:p>
            <a:endParaRPr/>
          </a:p>
          <a:p>
            <a:r>
              <a:t>Source: slides\marp\welcome-back.deck.md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Introduce the topic by framing it as a decision teams need to make. Most developers have heard of Copilot, but licensing details are often misunderstood. This session clarifies the tiers and what each unlocks.</a:t>
            </a:r>
          </a:p>
          <a:p>
            <a:endParaRPr/>
          </a:p>
          <a:p>
            <a:r>
              <a:t>Transition: "Let's start with an overview of what's available."</a:t>
            </a:r>
          </a:p>
          <a:p>
            <a:endParaRPr/>
          </a:p>
          <a:p>
            <a:r>
              <a:t>---</a:t>
            </a:r>
          </a:p>
          <a:p>
            <a:endParaRPr/>
          </a:p>
          <a:p>
            <a:r>
              <a:t>Source: slides\marp\copilot-pricing-licensing.deck.md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Walk through the table column by column, not row by row — it helps the audience track each tier's value proposition.</a:t>
            </a:r>
          </a:p>
          <a:p>
            <a:endParaRPr/>
          </a:p>
          <a:p>
            <a:r>
              <a:t>Key talking points:</a:t>
            </a:r>
          </a:p>
          <a:p>
            <a:endParaRPr/>
          </a:p>
          <a:p>
            <a:r>
              <a:t>- Individual is for solo developers; no organizational control</a:t>
            </a:r>
          </a:p>
          <a:p>
            <a:r>
              <a:t>- Business at $19/user/month is the sweet spot for most teams</a:t>
            </a:r>
          </a:p>
          <a:p>
            <a:r>
              <a:t>- Enterprise adds Copilot Knowledge Bases, fine-tuning, and advanced audit logs</a:t>
            </a:r>
          </a:p>
          <a:p>
            <a:r>
              <a:t>- All paid plans include unlimited completions and chat</a:t>
            </a:r>
          </a:p>
          <a:p>
            <a:endParaRPr/>
          </a:p>
          <a:p>
            <a:r>
              <a:t>Emphasize: Business tier is where most organizations should start. Enterprise is for large orgs with compliance or custom knowledge needs.</a:t>
            </a:r>
          </a:p>
          <a:p>
            <a:endParaRPr/>
          </a:p>
          <a:p>
            <a:r>
              <a:t>---</a:t>
            </a:r>
          </a:p>
          <a:p>
            <a:endParaRPr/>
          </a:p>
          <a:p>
            <a:r>
              <a:t>Source: slides\marp\copilot-pricing-licensing.deck.md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Frame this as "Business is the foundation; Enterprise is the multiplier."</a:t>
            </a:r>
          </a:p>
          <a:p>
            <a:endParaRPr/>
          </a:p>
          <a:p>
            <a:r>
              <a:t>Key talking points:</a:t>
            </a:r>
          </a:p>
          <a:p>
            <a:endParaRPr/>
          </a:p>
          <a:p>
            <a:r>
              <a:t>- Most teams won't need Knowledge Bases until they have significant internal documentation</a:t>
            </a:r>
          </a:p>
          <a:p>
            <a:r>
              <a:t>- Fine-tuned models are a game-changer for teams with large proprietary codebases</a:t>
            </a:r>
          </a:p>
          <a:p>
            <a:r>
              <a:t>- PR summaries (Enterprise) save meaningful time in code review workflows</a:t>
            </a:r>
          </a:p>
          <a:p>
            <a:r>
              <a:t>- Data residency matters for EU/regulated industries</a:t>
            </a:r>
          </a:p>
          <a:p>
            <a:endParaRPr/>
          </a:p>
          <a:p>
            <a:r>
              <a:t>Help the audience self-select: "If you have a team under 500 and no compliance requirements, Business is probably right for you today."</a:t>
            </a:r>
          </a:p>
          <a:p>
            <a:endParaRPr/>
          </a:p>
          <a:p>
            <a:r>
              <a:t>---</a:t>
            </a:r>
          </a:p>
          <a:p>
            <a:endParaRPr/>
          </a:p>
          <a:p>
            <a:r>
              <a:t>Source: slides\marp\copilot-pricing-licensing.deck.md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This feature is one of the biggest unlocks of the Business tier and often underappreciated.</a:t>
            </a:r>
          </a:p>
          <a:p>
            <a:endParaRPr/>
          </a:p>
          <a:p>
            <a:r>
              <a:t>Key talking points:</a:t>
            </a:r>
          </a:p>
          <a:p>
            <a:endParaRPr/>
          </a:p>
          <a:p>
            <a:r>
              <a:t>- Org-level instructions are like a style guide that Copilot reads before every suggestion</a:t>
            </a:r>
          </a:p>
          <a:p>
            <a:r>
              <a:t>- Examples: "Always use our internal logger, never console.log", "Follow OWASP guidelines", "Use our DTO pattern"</a:t>
            </a:r>
          </a:p>
          <a:p>
            <a:r>
              <a:t>- Repo-level instructions inherit from org-level; they don't replace them</a:t>
            </a:r>
          </a:p>
          <a:p>
            <a:r>
              <a:t>- This is how you scale coding standards without code reviews catching every deviation</a:t>
            </a:r>
          </a:p>
          <a:p>
            <a:endParaRPr/>
          </a:p>
          <a:p>
            <a:r>
              <a:t>Demo opportunity: Show a `.github/instructions/` file with a coding standard rule, then show Copilot following it in the IDE.</a:t>
            </a:r>
          </a:p>
          <a:p>
            <a:endParaRPr/>
          </a:p>
          <a:p>
            <a:r>
              <a:t>Transition: "Let's talk about how to get started..."</a:t>
            </a:r>
          </a:p>
          <a:p>
            <a:endParaRPr/>
          </a:p>
          <a:p>
            <a:r>
              <a:t>---</a:t>
            </a:r>
          </a:p>
          <a:p>
            <a:endParaRPr/>
          </a:p>
          <a:p>
            <a:r>
              <a:t>Source: slides\marp\copilot-pricing-licensing.deck.md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slides\marp\large-language-models.deck.md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This is the most important conceptual slide. Many developers expect LLMs to behave like search engines or databases — they don't.</a:t>
            </a:r>
          </a:p>
          <a:p>
            <a:endParaRPr/>
          </a:p>
          <a:p>
            <a:r>
              <a:t>Key talking points:</a:t>
            </a:r>
          </a:p>
          <a:p>
            <a:endParaRPr/>
          </a:p>
          <a:p>
            <a:r>
              <a:t>- "Next token prediction" sounds simple but at scale it forces the model to learn grammar, logic, context, and even reasoning</a:t>
            </a:r>
          </a:p>
          <a:p>
            <a:r>
              <a:t>- "Weights" are just numbers — billions of floating point values that encode everything the model learned</a:t>
            </a:r>
          </a:p>
          <a:p>
            <a:r>
              <a:t>- Probabilistic output means the same prompt can produce different answers — this is by design, controlled by "temperature"</a:t>
            </a:r>
          </a:p>
          <a:p>
            <a:r>
              <a:t>- Analogy: autocomplete on your phone, but trained on all of human writing</a:t>
            </a:r>
          </a:p>
          <a:p>
            <a:endParaRPr/>
          </a:p>
          <a:p>
            <a:r>
              <a:t>Common misconception to address: "Does Copilot look up my code in a database?" — No. It generates completions based on learned patterns.</a:t>
            </a:r>
          </a:p>
          <a:p>
            <a:endParaRPr/>
          </a:p>
          <a:p>
            <a:r>
              <a:t>---</a:t>
            </a:r>
          </a:p>
          <a:p>
            <a:endParaRPr/>
          </a:p>
          <a:p>
            <a:r>
              <a:t>Source: slides\marp\large-language-models.deck.md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Tokenization is often overlooked but explains many "weird" LLM behaviors.</a:t>
            </a:r>
          </a:p>
          <a:p>
            <a:endParaRPr/>
          </a:p>
          <a:p>
            <a:r>
              <a:t>Key talking points:</a:t>
            </a:r>
          </a:p>
          <a:p>
            <a:endParaRPr/>
          </a:p>
          <a:p>
            <a:r>
              <a:t>- GPT-4 uses ~100,000 tokens in its vocabulary (tiktoken)</a:t>
            </a:r>
          </a:p>
          <a:p>
            <a:r>
              <a:t>- Context window limits (e.g., "128k tokens") are token limits, not character limits</a:t>
            </a:r>
          </a:p>
          <a:p>
            <a:r>
              <a:t>- Why does Copilot sometimes mishandle unusual variable names? Tokenization — rare strings get split awkwardly</a:t>
            </a:r>
          </a:p>
          <a:p>
            <a:r>
              <a:t>- Code tokenization differs from prose — identifiers often split at underscores, camelCase boundaries</a:t>
            </a:r>
          </a:p>
          <a:p>
            <a:endParaRPr/>
          </a:p>
          <a:p>
            <a:r>
              <a:t>Practical implication for developers:</a:t>
            </a:r>
          </a:p>
          <a:p>
            <a:endParaRPr/>
          </a:p>
          <a:p>
            <a:r>
              <a:t>- Long variable names consume more tokens than short ones</a:t>
            </a:r>
          </a:p>
          <a:p>
            <a:r>
              <a:t>- Copy-pasting large files into chat uses tokens fast</a:t>
            </a:r>
          </a:p>
          <a:p>
            <a:r>
              <a:t>- Understanding tokens helps estimate cost when using API</a:t>
            </a:r>
          </a:p>
          <a:p>
            <a:endParaRPr/>
          </a:p>
          <a:p>
            <a:r>
              <a:t>Interactive moment: Ask "How many tokens do you think this slide is?" — good engagement exercise.</a:t>
            </a:r>
          </a:p>
          <a:p>
            <a:endParaRPr/>
          </a:p>
          <a:p>
            <a:r>
              <a:t>---</a:t>
            </a:r>
          </a:p>
          <a:p>
            <a:endParaRPr/>
          </a:p>
          <a:p>
            <a:r>
              <a:t>Source: slides\marp\large-language-models.deck.md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You don't need to explain the math — focus on the intuition of attention.</a:t>
            </a:r>
          </a:p>
          <a:p>
            <a:endParaRPr/>
          </a:p>
          <a:p>
            <a:r>
              <a:t>Key talking points:</a:t>
            </a:r>
          </a:p>
          <a:p>
            <a:endParaRPr/>
          </a:p>
          <a:p>
            <a:r>
              <a:t>- Before Transformers: RNNs processed text sequentially (slow, forgot early context)</a:t>
            </a:r>
          </a:p>
          <a:p>
            <a:r>
              <a:t>- Transformers process everything in parallel — that's why they scale so well on GPUs</a:t>
            </a:r>
          </a:p>
          <a:p>
            <a:r>
              <a:t>- Self-attention intuition: "When I see the word 'it' in a sentence, which earlier word does 'it' refer to?" Attention figures this out</a:t>
            </a:r>
          </a:p>
          <a:p>
            <a:r>
              <a:t>- Layers build up from syntax → semantics → reasoning as you go deeper</a:t>
            </a:r>
          </a:p>
          <a:p>
            <a:endParaRPr/>
          </a:p>
          <a:p>
            <a:r>
              <a:t>Analogy for attention: Imagine reading a legal contract. When you hit a pronoun like "the aforementioned party," your brain jumps back to find who that is. That's attention.</a:t>
            </a:r>
          </a:p>
          <a:p>
            <a:endParaRPr/>
          </a:p>
          <a:p>
            <a:r>
              <a:t>Why this matters for developers: Larger context windows (more tokens processed at once) = Copilot can see more of your codebase at once = better suggestions.</a:t>
            </a:r>
          </a:p>
          <a:p>
            <a:endParaRPr/>
          </a:p>
          <a:p>
            <a:r>
              <a:t>---</a:t>
            </a:r>
          </a:p>
          <a:p>
            <a:endParaRPr/>
          </a:p>
          <a:p>
            <a:r>
              <a:t>Source: slides\marp\large-language-models.deck.md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Use the trophy/suitcase example — it's a classic from the research literature and immediately intuitive.</a:t>
            </a:r>
          </a:p>
          <a:p>
            <a:endParaRPr/>
          </a:p>
          <a:p>
            <a:r>
              <a:t>Key talking points:</a:t>
            </a:r>
          </a:p>
          <a:p>
            <a:endParaRPr/>
          </a:p>
          <a:p>
            <a:r>
              <a:t>- Q/K/V is just a learned lookup mechanism — don't get lost in the math</a:t>
            </a:r>
          </a:p>
          <a:p>
            <a:r>
              <a:t>- Multiple heads: one head might learn syntax relationships, another semantic, another positional</a:t>
            </a:r>
          </a:p>
          <a:p>
            <a:r>
              <a:t>- This is why LLMs understand that a closing brace `}` should match an opening one several lines earlier</a:t>
            </a:r>
          </a:p>
          <a:p>
            <a:r>
              <a:t>- Attention is also why very long prompts can "distract" the model — it has finite attention capacity</a:t>
            </a:r>
          </a:p>
          <a:p>
            <a:endParaRPr/>
          </a:p>
          <a:p>
            <a:r>
              <a:t>Practical tip: When using Copilot, relevant context near your cursor gets higher attention weight. Keep related code nearby when you want better completions.</a:t>
            </a:r>
          </a:p>
          <a:p>
            <a:endParaRPr/>
          </a:p>
          <a:p>
            <a:r>
              <a:t>---</a:t>
            </a:r>
          </a:p>
          <a:p>
            <a:endParaRPr/>
          </a:p>
          <a:p>
            <a:r>
              <a:t>Source: slides\marp\large-language-models.deck.md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Pre-training is where the model learns language, code, and world knowledge.</a:t>
            </a:r>
          </a:p>
          <a:p>
            <a:endParaRPr/>
          </a:p>
          <a:p>
            <a:r>
              <a:t>Key talking points:</a:t>
            </a:r>
          </a:p>
          <a:p>
            <a:endParaRPr/>
          </a:p>
          <a:p>
            <a:r>
              <a:t>- The objective is deceptively simple: predict the next token. But at scale it forces the model to learn everything</a:t>
            </a:r>
          </a:p>
          <a:p>
            <a:r>
              <a:t>- Training data quality matters enormously — garbage in, garbage out</a:t>
            </a:r>
          </a:p>
          <a:p>
            <a:r>
              <a:t>- GitHub Copilot's base model was trained on public GitHub repos (billions of lines of code)</a:t>
            </a:r>
          </a:p>
          <a:p>
            <a:r>
              <a:t>- A "base model" after pre-training will complete text but may write offensive content, refuse nothing, and ramble — it needs the next phase</a:t>
            </a:r>
          </a:p>
          <a:p>
            <a:endParaRPr/>
          </a:p>
          <a:p>
            <a:r>
              <a:t>Scale reference: GPT-3 used 45TB of text data. Training ran on ~10,000 A100 GPUs.</a:t>
            </a:r>
          </a:p>
          <a:p>
            <a:endParaRPr/>
          </a:p>
          <a:p>
            <a:r>
              <a:t>Why developers care: The pre-training corpus determines what languages, frameworks, and patterns the model knows well. Copilot knows React better than a niche internal framework.</a:t>
            </a:r>
          </a:p>
          <a:p>
            <a:endParaRPr/>
          </a:p>
          <a:p>
            <a:r>
              <a:t>---</a:t>
            </a:r>
          </a:p>
          <a:p>
            <a:endParaRPr/>
          </a:p>
          <a:p>
            <a:r>
              <a:t>Source: slides\marp\large-language-models.deck.md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This phase is what separates "a model that generates text" from "an assistant you can actually use."</a:t>
            </a:r>
          </a:p>
          <a:p>
            <a:endParaRPr/>
          </a:p>
          <a:p>
            <a:r>
              <a:t>Key talking points:</a:t>
            </a:r>
          </a:p>
          <a:p>
            <a:endParaRPr/>
          </a:p>
          <a:p>
            <a:r>
              <a:t>- SFT teaches format and helpfulness; RLHF teaches judgment</a:t>
            </a:r>
          </a:p>
          <a:p>
            <a:r>
              <a:t>- "Hallucinations" happen when the model optimizes for sounding helpful over being accurate</a:t>
            </a:r>
          </a:p>
          <a:p>
            <a:r>
              <a:t>- Safety guardrails (content filters) are also applied at this stage</a:t>
            </a:r>
          </a:p>
          <a:p>
            <a:r>
              <a:t>- GitHub Copilot has additional fine-tuning on high-quality code and developer feedback</a:t>
            </a:r>
          </a:p>
          <a:p>
            <a:endParaRPr/>
          </a:p>
          <a:p>
            <a:r>
              <a:t>Why alignment matters for developers: It's why Copilot suggests reasonable code instead of technically-valid-but-insane solutions. It's also why it refuses to help with malicious code.</a:t>
            </a:r>
          </a:p>
          <a:p>
            <a:endParaRPr/>
          </a:p>
          <a:p>
            <a:r>
              <a:t>Common question: "Can I fine-tune Copilot on my codebase?" — GitHub Enterprise Copilot offers custom fine-tuning on private repos.</a:t>
            </a:r>
          </a:p>
          <a:p>
            <a:endParaRPr/>
          </a:p>
          <a:p>
            <a:r>
              <a:t>---</a:t>
            </a:r>
          </a:p>
          <a:p>
            <a:endParaRPr/>
          </a:p>
          <a:p>
            <a:r>
              <a:t>Source: slides\marp\large-language-models.deck.md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Context window is one of the most practically important LLM concepts for developers using Copilot.</a:t>
            </a:r>
          </a:p>
          <a:p>
            <a:endParaRPr/>
          </a:p>
          <a:p>
            <a:r>
              <a:t>Key talking points:</a:t>
            </a:r>
          </a:p>
          <a:p>
            <a:endParaRPr/>
          </a:p>
          <a:p>
            <a:r>
              <a:t>- The context window is not persistent memory — every new conversation starts fresh</a:t>
            </a:r>
          </a:p>
          <a:p>
            <a:r>
              <a:t>- Copilot automatically fills the context window with relevant code from open tabs and recent edits</a:t>
            </a:r>
          </a:p>
          <a:p>
            <a:r>
              <a:t>- This is why opening related files improves Copilot suggestions — they get included in context</a:t>
            </a:r>
          </a:p>
          <a:p>
            <a:r>
              <a:t>- Instruction files (`.github/instructions/`) consume some of the context window — keep them concise</a:t>
            </a:r>
          </a:p>
          <a:p>
            <a:endParaRPr/>
          </a:p>
          <a:p>
            <a:r>
              <a:t>Practical tip: If Copilot seems to "forget" something you told it, it likely scrolled out of the context window. Repeat the key constraints.</a:t>
            </a:r>
          </a:p>
          <a:p>
            <a:endParaRPr/>
          </a:p>
          <a:p>
            <a:r>
              <a:t>---</a:t>
            </a:r>
          </a:p>
          <a:p>
            <a:endParaRPr/>
          </a:p>
          <a:p>
            <a:r>
              <a:t>Source: slides\marp\large-language-models.deck.md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Temperature demystifies why LLMs give different answers to the same question.</a:t>
            </a:r>
          </a:p>
          <a:p>
            <a:endParaRPr/>
          </a:p>
          <a:p>
            <a:r>
              <a:t>Key talking points:</a:t>
            </a:r>
          </a:p>
          <a:p>
            <a:endParaRPr/>
          </a:p>
          <a:p>
            <a:r>
              <a:t>- Temperature = how "flat" or "peaked" the probability distribution is before sampling</a:t>
            </a:r>
          </a:p>
          <a:p>
            <a:r>
              <a:t>- Copilot uses a low temperature (~0.2-0.4) for code — you want predictable, correct completions</a:t>
            </a:r>
          </a:p>
          <a:p>
            <a:r>
              <a:t>- ChatGPT uses higher temperature for conversational responses — feels more natural</a:t>
            </a:r>
          </a:p>
          <a:p>
            <a:r>
              <a:t>- When Copilot gives you alternates (Alt+] to cycle), it's sampling different tokens</a:t>
            </a:r>
          </a:p>
          <a:p>
            <a:endParaRPr/>
          </a:p>
          <a:p>
            <a:r>
              <a:t>Developer implication: If you're using the Copilot API or OpenAI API directly, lower temperature for code generation tasks, higher for creative tasks like writing test descriptions.</a:t>
            </a:r>
          </a:p>
          <a:p>
            <a:endParaRPr/>
          </a:p>
          <a:p>
            <a:r>
              <a:t>---</a:t>
            </a:r>
          </a:p>
          <a:p>
            <a:endParaRPr/>
          </a:p>
          <a:p>
            <a:r>
              <a:t>Source: slides\marp\large-language-models.deck.md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Wrap up by connecting the technical concepts back to practical developer behavior.</a:t>
            </a:r>
          </a:p>
          <a:p>
            <a:endParaRPr/>
          </a:p>
          <a:p>
            <a:r>
              <a:t>Key points to reinforce:</a:t>
            </a:r>
          </a:p>
          <a:p>
            <a:endParaRPr/>
          </a:p>
          <a:p>
            <a:r>
              <a:t>- You don't need to understand the math to use LLMs effectively</a:t>
            </a:r>
          </a:p>
          <a:p>
            <a:r>
              <a:t>- Understanding tokens helps you write better prompts and manage costs</a:t>
            </a:r>
          </a:p>
          <a:p>
            <a:r>
              <a:t>- Understanding context helps you structure your workspace for better Copilot suggestions</a:t>
            </a:r>
          </a:p>
          <a:p>
            <a:r>
              <a:t>- Understanding temperature explains why results vary</a:t>
            </a:r>
          </a:p>
          <a:p>
            <a:endParaRPr/>
          </a:p>
          <a:p>
            <a:r>
              <a:t>For Q&amp;A, be prepared for:</a:t>
            </a:r>
          </a:p>
          <a:p>
            <a:endParaRPr/>
          </a:p>
          <a:p>
            <a:r>
              <a:t>- "How does Copilot know about my private code?" — It doesn't unless you're using Enterprise Knowledge Bases</a:t>
            </a:r>
          </a:p>
          <a:p>
            <a:r>
              <a:t>- "Why does it make things up?" — Hallucination: the model is optimized to produce plausible-sounding text, not verified facts</a:t>
            </a:r>
          </a:p>
          <a:p>
            <a:r>
              <a:t>- "What's the difference between Copilot and ChatGPT?" — Same underlying technology; different fine-tuning, context, and integration</a:t>
            </a:r>
          </a:p>
          <a:p>
            <a:endParaRPr/>
          </a:p>
          <a:p>
            <a:r>
              <a:t>Use the remaining session time for Q&amp;A.</a:t>
            </a:r>
          </a:p>
          <a:p>
            <a:endParaRPr/>
          </a:p>
          <a:p>
            <a:r>
              <a:t>---</a:t>
            </a:r>
          </a:p>
          <a:p>
            <a:endParaRPr/>
          </a:p>
          <a:p>
            <a:r>
              <a:t>Source: slides\marp\large-language-models.deck.md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slides\marp\github-copilot-for-teams.deck.md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Outline governance, admin controls, and adoption factors (training, policy, developer onboarding).</a:t>
            </a:r>
          </a:p>
          <a:p>
            <a:endParaRPr/>
          </a:p>
          <a:p>
            <a:r>
              <a:t>---</a:t>
            </a:r>
          </a:p>
          <a:p>
            <a:endParaRPr/>
          </a:p>
          <a:p>
            <a:r>
              <a:t>Source: slides\marp\github-copilot-for-teams.deck.md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Cover IP leakage, code quality risks, and developer overreliance; suggest mitigations for each.</a:t>
            </a:r>
          </a:p>
          <a:p>
            <a:endParaRPr/>
          </a:p>
          <a:p>
            <a:r>
              <a:t>---</a:t>
            </a:r>
          </a:p>
          <a:p>
            <a:endParaRPr/>
          </a:p>
          <a:p>
            <a:r>
              <a:t>Source: slides\marp\github-copilot-for-teams.deck.md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Discuss regulatory impacts, auditability, and how to enforce coding policies with automated checks.</a:t>
            </a:r>
          </a:p>
          <a:p>
            <a:endParaRPr/>
          </a:p>
          <a:p>
            <a:r>
              <a:t>---</a:t>
            </a:r>
          </a:p>
          <a:p>
            <a:endParaRPr/>
          </a:p>
          <a:p>
            <a:r>
              <a:t>Source: slides\marp\github-copilot-for-teams.deck.md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Clarify data flows, model retraining policy for enterprise plans, and recommended org controls to protect IP.</a:t>
            </a:r>
          </a:p>
          <a:p>
            <a:endParaRPr/>
          </a:p>
          <a:p>
            <a:r>
              <a:t>---</a:t>
            </a:r>
          </a:p>
          <a:p>
            <a:endParaRPr/>
          </a:p>
          <a:p>
            <a:r>
              <a:t>Source: slides\marp\github-copilot-for-teams.deck.md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risks of suggested code resembling public repos and recommend legal review and filter settings.</a:t>
            </a:r>
          </a:p>
          <a:p>
            <a:endParaRPr/>
          </a:p>
          <a:p>
            <a:r>
              <a:t>---</a:t>
            </a:r>
          </a:p>
          <a:p>
            <a:endParaRPr/>
          </a:p>
          <a:p>
            <a:r>
              <a:t>Source: slides\marp\github-copilot-for-teams.deck.md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Summarize plan differences and pick considerations (control, audit, scale) for each offering.</a:t>
            </a:r>
          </a:p>
          <a:p>
            <a:endParaRPr/>
          </a:p>
          <a:p>
            <a:r>
              <a:t>---</a:t>
            </a:r>
          </a:p>
          <a:p>
            <a:endParaRPr/>
          </a:p>
          <a:p>
            <a:r>
              <a:t>Source: slides\marp\github-copilot-for-teams.deck.md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attendees to official docs and FAQs; recommend follow-up reading links on the slide.</a:t>
            </a:r>
          </a:p>
          <a:p>
            <a:endParaRPr/>
          </a:p>
          <a:p>
            <a:r>
              <a:t>---</a:t>
            </a:r>
          </a:p>
          <a:p>
            <a:endParaRPr/>
          </a:p>
          <a:p>
            <a:r>
              <a:t>Source: slides\marp\github-copilot-for-teams.deck.md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slides\marp\safety-measures-best-practices.deck.md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Open this module by framing safety as the price of speed in AI-assisted development. The point is not to slow teams down, but to make sure faster code generation does not also mean faster mistakes reaching production. Transition by introducing the mindset shift: AI is helpful, but it is never self-approving.</a:t>
            </a:r>
          </a:p>
          <a:p>
            <a:endParaRPr/>
          </a:p>
          <a:p>
            <a:r>
              <a:t>---</a:t>
            </a:r>
          </a:p>
          <a:p>
            <a:endParaRPr/>
          </a:p>
          <a:p>
            <a:r>
              <a:t>Source: slides\marp\safety-measures-best-practices.deck.md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Use the "eager knowledgeable junior developer" analogy because it is memorable and accurate. AI often produces plausible work at high speed, but plausibility is not the same thing as correctness, so every change still needs human review for domain fit, architectural consistency, and unintended side effects. Transition by explaining that tests are one of the main ways we convert suspicion into confidence.</a:t>
            </a:r>
          </a:p>
          <a:p>
            <a:endParaRPr/>
          </a:p>
          <a:p>
            <a:r>
              <a:t>---</a:t>
            </a:r>
          </a:p>
          <a:p>
            <a:endParaRPr/>
          </a:p>
          <a:p>
            <a:r>
              <a:t>Source: slides\marp\safety-measures-best-practices.deck.md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~00:04</a:t>
            </a:r>
          </a:p>
          <a:p>
            <a:endParaRPr/>
          </a:p>
          <a:p>
            <a:r>
              <a:t>Make it clear that code coverage is useful, but incomplete. A suite can report high coverage while still missing the exact regression that users will experience, especially if tests only exercise happy paths or assert implementation details instead of behavior. Transition by showing that one concrete place where high-signal validation matters is feature-flag retirement.</a:t>
            </a:r>
          </a:p>
          <a:p>
            <a:endParaRPr/>
          </a:p>
          <a:p>
            <a:r>
              <a:t>---</a:t>
            </a:r>
          </a:p>
          <a:p>
            <a:endParaRPr/>
          </a:p>
          <a:p>
            <a:r>
              <a:t>Source: slides\marp\safety-measures-best-practices.deck.md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Position small change sets as a safety mechanism, not just a style preference. When AI can generate large amounts of code quickly, the danger is not only bad code but unreviewable code, because reviewers cannot build enough understanding to catch mistakes hidden inside a massive diff. Transition by showing how automation can support review without replacing human judgment.</a:t>
            </a:r>
          </a:p>
          <a:p>
            <a:endParaRPr/>
          </a:p>
          <a:p>
            <a:r>
              <a:t>---</a:t>
            </a:r>
          </a:p>
          <a:p>
            <a:endParaRPr/>
          </a:p>
          <a:p>
            <a:r>
              <a:t>Source: slides\marp\safety-measures-best-practices.deck.md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~00:04</a:t>
            </a:r>
          </a:p>
          <a:p>
            <a:endParaRPr/>
          </a:p>
          <a:p>
            <a:r>
              <a:t>Explain that automation is most valuable when it reduces reviewer fatigue and helps humans spend attention where judgment matters most. Mention Azure DevOps MCP here as an example of tooling that can support pull-request workflows by pulling context, surfacing work-item links, and assisting review automation around the PR, while still leaving final approval to accountable humans. Transition to a closing checklist that teams can apply immediately.</a:t>
            </a:r>
          </a:p>
          <a:p>
            <a:endParaRPr/>
          </a:p>
          <a:p>
            <a:r>
              <a:t>---</a:t>
            </a:r>
          </a:p>
          <a:p>
            <a:endParaRPr/>
          </a:p>
          <a:p>
            <a:r>
              <a:t>Source: slides\marp\safety-measures-best-practices.deck.md</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Close with an operational checklist the audience can adopt the same day. Reiterate that the most important habits are review discipline, meaningful tests, small diffs, and intentional use of automation to make humans more effective rather than less necessary. End by connecting this section back to the larger course theme: safe acceleration beats reckless acceleration every time.</a:t>
            </a:r>
          </a:p>
          <a:p>
            <a:endParaRPr/>
          </a:p>
          <a:p>
            <a:r>
              <a:t>---</a:t>
            </a:r>
          </a:p>
          <a:p>
            <a:endParaRPr/>
          </a:p>
          <a:p>
            <a:r>
              <a:t>Source: slides\marp\safety-measures-best-practices.deck.md</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slides\marp\model-selection-and-comparison.deck.md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slides\marp\model-selection-and-comparison.deck.md</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slides\marp\model-selection-and-comparison.deck.md</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slides\marp\model-selection-and-comparison.deck.md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slides\marp\model-selection-and-comparison.deck.md</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Contamination-Free Benchmarks</a:t>
            </a:r>
          </a:p>
          <a:p>
            <a:r>
              <a:t>Why They Matter — and How They Work</a:t>
            </a:r>
          </a:p>
          <a:p>
            <a:r>
              <a:t>Contamination-free benchmarks exist because modern LLMs are trained on massive, scraped corpora that often include the very benchmarks used to evaluate them. If a model has already seen the test set during training, its score is inflated — sometimes dramatically — and no longer reflects real reasoning or coding ability</a:t>
            </a:r>
          </a:p>
          <a:p>
            <a:r>
              <a:t>A contamination-free benchmark is designed to eliminate that inflation and give you a score you can actually trust.</a:t>
            </a:r>
          </a:p>
          <a:p>
            <a:endParaRPr/>
          </a:p>
          <a:p>
            <a:r>
              <a:t>---</a:t>
            </a:r>
          </a:p>
          <a:p>
            <a:endParaRPr/>
          </a:p>
          <a:p>
            <a:r>
              <a:t>Source: slides\marp\model-selection-and-comparison.deck.md</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slides\marp\advanced-context-techniques.deck.md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the idea that AI quality is directly tied to context quality.</a:t>
            </a:r>
          </a:p>
          <a:p>
            <a:endParaRPr/>
          </a:p>
          <a:p>
            <a:r>
              <a:t>Models don't “understand” your repo – they interpret whatever you give them.</a:t>
            </a:r>
          </a:p>
          <a:p>
            <a:endParaRPr/>
          </a:p>
          <a:p>
            <a:r>
              <a:t>Advanced context techniques let you control what the model sees and how reliably it stays aligned with your architecture.</a:t>
            </a:r>
          </a:p>
          <a:p>
            <a:endParaRPr/>
          </a:p>
          <a:p>
            <a:r>
              <a:t>---</a:t>
            </a:r>
          </a:p>
          <a:p>
            <a:endParaRPr/>
          </a:p>
          <a:p>
            <a:r>
              <a:t>Source: slides\marp\advanced-context-techniques.deck.md</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 syntax is one of the most powerful ways to anchor Copilot.</a:t>
            </a:r>
          </a:p>
          <a:p>
            <a:endParaRPr/>
          </a:p>
          <a:p>
            <a:r>
              <a:t>It forces the model to load specific files or directories into its working memory.</a:t>
            </a:r>
          </a:p>
          <a:p>
            <a:endParaRPr/>
          </a:p>
          <a:p>
            <a:r>
              <a:t>This is essential when you want the model to follow existing patterns or avoid hallucinating APIs.</a:t>
            </a:r>
          </a:p>
          <a:p>
            <a:endParaRPr/>
          </a:p>
          <a:p>
            <a:r>
              <a:t>---</a:t>
            </a:r>
          </a:p>
          <a:p>
            <a:endParaRPr/>
          </a:p>
          <a:p>
            <a:r>
              <a:t>Source: slides\marp\advanced-context-techniques.deck.md</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Spaces and knowledge bases give you a stable context layer that doesn't depend on prompt length.</a:t>
            </a:r>
          </a:p>
          <a:p>
            <a:endParaRPr/>
          </a:p>
          <a:p>
            <a:r>
              <a:t>Instead of repeating instructions every session, you store them once and let Copilot reference them automatically.</a:t>
            </a:r>
          </a:p>
          <a:p>
            <a:endParaRPr/>
          </a:p>
          <a:p>
            <a:r>
              <a:t>This is especially valuable for brownfield systems with scattered tribal knowledge.</a:t>
            </a:r>
          </a:p>
          <a:p>
            <a:endParaRPr/>
          </a:p>
          <a:p>
            <a:r>
              <a:t>---</a:t>
            </a:r>
          </a:p>
          <a:p>
            <a:endParaRPr/>
          </a:p>
          <a:p>
            <a:r>
              <a:t>Source: slides\marp\advanced-context-techniques.deck.md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Premium models are incredible, but they're not free.</a:t>
            </a:r>
          </a:p>
          <a:p>
            <a:endParaRPr/>
          </a:p>
          <a:p>
            <a:r>
              <a:t>Monitoring usage helps teams understand where they're over-relying on heavyweight models.</a:t>
            </a:r>
          </a:p>
          <a:p>
            <a:endParaRPr/>
          </a:p>
          <a:p>
            <a:r>
              <a:t>A tiered strategy ensures the right model is used for the right task, keeping costs predictable and output quality high.</a:t>
            </a:r>
          </a:p>
          <a:p>
            <a:endParaRPr/>
          </a:p>
          <a:p>
            <a:r>
              <a:t>---</a:t>
            </a:r>
          </a:p>
          <a:p>
            <a:endParaRPr/>
          </a:p>
          <a:p>
            <a:r>
              <a:t>Source: slides\marp\advanced-context-techniques.deck.md</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explaining that token limits are one of the most important but least visible constraints in AI-assisted development.</a:t>
            </a:r>
          </a:p>
          <a:p>
            <a:endParaRPr/>
          </a:p>
          <a:p>
            <a:r>
              <a:t>When a model exceeds its context window, it silently drops earlier content.</a:t>
            </a:r>
          </a:p>
          <a:p>
            <a:endParaRPr/>
          </a:p>
          <a:p>
            <a:r>
              <a:t>This leads to missing requirements, contradictions, or forgotten rules.</a:t>
            </a:r>
          </a:p>
          <a:p>
            <a:endParaRPr/>
          </a:p>
          <a:p>
            <a:r>
              <a:t>The goal of this section is to help developers recognize overflow symptoms and apply techniques to prevent them.</a:t>
            </a:r>
          </a:p>
          <a:p>
            <a:endParaRPr/>
          </a:p>
          <a:p>
            <a:r>
              <a:t>---</a:t>
            </a:r>
          </a:p>
          <a:p>
            <a:endParaRPr/>
          </a:p>
          <a:p>
            <a:r>
              <a:t>Source: slides\marp\advanced-context-techniques.deck.md</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Token limits are a hard boundary.</a:t>
            </a:r>
          </a:p>
          <a:p>
            <a:endParaRPr/>
          </a:p>
          <a:p>
            <a:r>
              <a:t>Everything the model reads – your prompt, code snippets, examples, and even its own reasoning – counts toward the limit.</a:t>
            </a:r>
          </a:p>
          <a:p>
            <a:endParaRPr/>
          </a:p>
          <a:p>
            <a:r>
              <a:t>When the limit is exceeded, the model truncates the earliest content, which often contains critical instructions or architectural rules.</a:t>
            </a:r>
          </a:p>
          <a:p>
            <a:endParaRPr/>
          </a:p>
          <a:p>
            <a:r>
              <a:t>---</a:t>
            </a:r>
          </a:p>
          <a:p>
            <a:endParaRPr/>
          </a:p>
          <a:p>
            <a:r>
              <a:t>Source: slides\marp\advanced-context-techniques.deck.md</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Summaries are your first line of defense.</a:t>
            </a:r>
          </a:p>
          <a:p>
            <a:endParaRPr/>
          </a:p>
          <a:p>
            <a:r>
              <a:t>Instead of pasting entire files, summarize their purpose, interfaces, and constraints.</a:t>
            </a:r>
          </a:p>
          <a:p>
            <a:endParaRPr/>
          </a:p>
          <a:p>
            <a:r>
              <a:t>Summaries dramatically reduce token usage while keeping the model aligned with the system's intent.</a:t>
            </a:r>
          </a:p>
          <a:p>
            <a:endParaRPr/>
          </a:p>
          <a:p>
            <a:r>
              <a:t>They also become reusable context anchors for future prompts.</a:t>
            </a:r>
          </a:p>
          <a:p>
            <a:endParaRPr/>
          </a:p>
          <a:p>
            <a:r>
              <a:t>---</a:t>
            </a:r>
          </a:p>
          <a:p>
            <a:endParaRPr/>
          </a:p>
          <a:p>
            <a:r>
              <a:t>Source: slides\marp\advanced-context-techniques.deck.md</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Chunking keeps prompts small and manageable.</a:t>
            </a:r>
          </a:p>
          <a:p>
            <a:endParaRPr/>
          </a:p>
          <a:p>
            <a:r>
              <a:t>Instead of asking the model to refactor a huge file, break the task into sections.</a:t>
            </a:r>
          </a:p>
          <a:p>
            <a:endParaRPr/>
          </a:p>
          <a:p>
            <a:r>
              <a:t>This keeps each prompt within safe token limits and makes the output easier to review, test, and roll back if needed.</a:t>
            </a:r>
          </a:p>
          <a:p>
            <a:endParaRPr/>
          </a:p>
          <a:p>
            <a:r>
              <a:t>---</a:t>
            </a:r>
          </a:p>
          <a:p>
            <a:endParaRPr/>
          </a:p>
          <a:p>
            <a:r>
              <a:t>Source: slides\marp\advanced-context-techniques.deck.md</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Scoped prompts are about intentionality.</a:t>
            </a:r>
          </a:p>
          <a:p>
            <a:endParaRPr/>
          </a:p>
          <a:p>
            <a:r>
              <a:t>Tell the model exactly what part of the system to focus on.</a:t>
            </a:r>
          </a:p>
          <a:p>
            <a:endParaRPr/>
          </a:p>
          <a:p>
            <a:r>
              <a:t>This reduces token usage and improves reliability because the model isn't trying to reason about the entire codebase at once.</a:t>
            </a:r>
          </a:p>
          <a:p>
            <a:endParaRPr/>
          </a:p>
          <a:p>
            <a:r>
              <a:t>It also reduces hallucinations by narrowing the reasoning space.</a:t>
            </a:r>
          </a:p>
          <a:p>
            <a:endParaRPr/>
          </a:p>
          <a:p>
            <a:r>
              <a:t>---</a:t>
            </a:r>
          </a:p>
          <a:p>
            <a:endParaRPr/>
          </a:p>
          <a:p>
            <a:r>
              <a:t>Source: slides\marp\advanced-context-techniques.deck.md</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Instruction files are a powerful way to reduce token load.</a:t>
            </a:r>
          </a:p>
          <a:p>
            <a:endParaRPr/>
          </a:p>
          <a:p>
            <a:r>
              <a:t>Instead of repeating architectural rules or coding standards in every prompt, store them in a persistent instruction file.</a:t>
            </a:r>
          </a:p>
          <a:p>
            <a:endParaRPr/>
          </a:p>
          <a:p>
            <a:r>
              <a:t>This frees up space for task-specific context and keeps the model aligned with your evergreen architecture.</a:t>
            </a:r>
          </a:p>
          <a:p>
            <a:endParaRPr/>
          </a:p>
          <a:p>
            <a:r>
              <a:t>---</a:t>
            </a:r>
          </a:p>
          <a:p>
            <a:endParaRPr/>
          </a:p>
          <a:p>
            <a:r>
              <a:t>Source: slides\marp\advanced-context-techniques.deck.md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slides\marp\scoped-nonscoped-instructions.deck.md</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slides\marp\scoped-nonscoped-instructions.deck.md</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slides\marp\scoped-nonscoped-instructions.deck.md</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summarizes the functional difference between the two instruction file types GitHub Copilot supports inside `.github/instructions/`.</a:t>
            </a:r>
          </a:p>
          <a:p>
            <a:r>
              <a:t>Repo‑level `.md` files are unconditional and always included.</a:t>
            </a:r>
          </a:p>
          <a:p>
            <a:r>
              <a:t>Scoped `.instructions.md` files are conditional, support `applyTo` and `exclude`, and only activate when relevant.</a:t>
            </a:r>
          </a:p>
          <a:p>
            <a:r>
              <a:t>The decision rule gives teams a simple, auditable way to choose the correct mechanism.</a:t>
            </a:r>
          </a:p>
          <a:p>
            <a:endParaRPr/>
          </a:p>
          <a:p>
            <a:r>
              <a:t>---</a:t>
            </a:r>
          </a:p>
          <a:p>
            <a:endParaRPr/>
          </a:p>
          <a:p>
            <a:r>
              <a:t>Source: slides\marp\scoped-nonscoped-instructions.deck.md</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slides\marp\scoped-nonscoped-instructions.deck.md</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Introduce prompt files as a key guardrail mechanism for AI-assisted development. This slide sets the stage for understanding how prompt files differ from instruction files and chat modes.</a:t>
            </a:r>
          </a:p>
          <a:p>
            <a:endParaRPr/>
          </a:p>
          <a:p>
            <a:r>
              <a:t>Key points:</a:t>
            </a:r>
          </a:p>
          <a:p>
            <a:endParaRPr/>
          </a:p>
          <a:p>
            <a:r>
              <a:t>- Prompt files are task-specific templates</a:t>
            </a:r>
          </a:p>
          <a:p>
            <a:r>
              <a:t>- They're executable and reusable</a:t>
            </a:r>
          </a:p>
          <a:p>
            <a:r>
              <a:t>- Different from instruction files (which provide continuous guidance)</a:t>
            </a:r>
          </a:p>
          <a:p>
            <a:r>
              <a:t>- Part of the "prompt-first" development approach</a:t>
            </a:r>
          </a:p>
          <a:p>
            <a:endParaRPr/>
          </a:p>
          <a:p>
            <a:r>
              <a:t>Define prompt files as "executable task templates." This framing helps participants understand their purpose and usage.</a:t>
            </a:r>
          </a:p>
          <a:p>
            <a:endParaRPr/>
          </a:p>
          <a:p>
            <a:r>
              <a:t>Key concept: Prompt files are like functions—they take inputs (context, requirements) and produce outputs (code, docs, artifacts).</a:t>
            </a:r>
          </a:p>
          <a:p>
            <a:endParaRPr/>
          </a:p>
          <a:p>
            <a:r>
              <a:t>Draw parallels to:</a:t>
            </a:r>
          </a:p>
          <a:p>
            <a:endParaRPr/>
          </a:p>
          <a:p>
            <a:r>
              <a:t>- Shell scripts (automation)</a:t>
            </a:r>
          </a:p>
          <a:p>
            <a:r>
              <a:t>- GitHub Actions workflows (CI/CD)</a:t>
            </a:r>
          </a:p>
          <a:p>
            <a:r>
              <a:t>- Makefiles (build automation)</a:t>
            </a:r>
          </a:p>
          <a:p>
            <a:endParaRPr/>
          </a:p>
          <a:p>
            <a:r>
              <a:t>Prompt files bring the same benefits: repeatability, standardization, knowledge capture.</a:t>
            </a:r>
          </a:p>
          <a:p>
            <a:endParaRPr/>
          </a:p>
          <a:p>
            <a:r>
              <a:t>Transition: "So what exactly makes a prompt file?"</a:t>
            </a:r>
          </a:p>
          <a:p>
            <a:endParaRPr/>
          </a:p>
          <a:p>
            <a:r>
              <a:t>---</a:t>
            </a:r>
          </a:p>
          <a:p>
            <a:endParaRPr/>
          </a:p>
          <a:p>
            <a:r>
              <a:t>Source: slides\marp\prompt-files.deck.md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Provide a formal definition and key characteristics of prompt files.</a:t>
            </a:r>
          </a:p>
          <a:p>
            <a:endParaRPr/>
          </a:p>
          <a:p>
            <a:r>
              <a:t>Definition breakdown:</a:t>
            </a:r>
          </a:p>
          <a:p>
            <a:endParaRPr/>
          </a:p>
          <a:p>
            <a:r>
              <a:t>- Structured templates: Follow a consistent format with metadata</a:t>
            </a:r>
          </a:p>
          <a:p>
            <a:r>
              <a:t>- Specific, repeatable tasks: Not general guidance—concrete objectives</a:t>
            </a:r>
          </a:p>
          <a:p>
            <a:r>
              <a:t>- Designed for execution: Meant to be run, not just read</a:t>
            </a:r>
          </a:p>
          <a:p>
            <a:endParaRPr/>
          </a:p>
          <a:p>
            <a:r>
              <a:t>Key characteristics:</a:t>
            </a:r>
          </a:p>
          <a:p>
            <a:endParaRPr/>
          </a:p>
          <a:p>
            <a:r>
              <a:t>1. Scope: Single task focus (generate tests, create docs, refactor module)</a:t>
            </a:r>
          </a:p>
          <a:p>
            <a:r>
              <a:t>2. Execution: On-demand—you invoke them when needed</a:t>
            </a:r>
          </a:p>
          <a:p>
            <a:r>
              <a:t>3. Purpose: Define deliverables clearly</a:t>
            </a:r>
          </a:p>
          <a:p>
            <a:endParaRPr/>
          </a:p>
          <a:p>
            <a:r>
              <a:t>Contrast with instruction files:</a:t>
            </a:r>
          </a:p>
          <a:p>
            <a:endParaRPr/>
          </a:p>
          <a:p>
            <a:r>
              <a:t>- Instruction files: Continuous guidance (always active)</a:t>
            </a:r>
          </a:p>
          <a:p>
            <a:r>
              <a:t>- Prompt files: One-time execution (run and done)</a:t>
            </a:r>
          </a:p>
          <a:p>
            <a:endParaRPr/>
          </a:p>
          <a:p>
            <a:r>
              <a:t>Transition: "Let's look at the structure..."</a:t>
            </a:r>
          </a:p>
          <a:p>
            <a:endParaRPr/>
          </a:p>
          <a:p>
            <a:r>
              <a:t>---</a:t>
            </a:r>
          </a:p>
          <a:p>
            <a:endParaRPr/>
          </a:p>
          <a:p>
            <a:r>
              <a:t>Source: slides\marp\prompt-files.deck.md</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slides\marp\prompt-files.deck.md</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slides\marp\prompt-files.deck.md</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slides\marp\exercise\exercise-creating-prompt-files.deck.md</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~00:22</a:t>
            </a:r>
          </a:p>
          <a:p>
            <a:endParaRPr/>
          </a:p>
          <a:p>
            <a:r>
              <a:t>**Prerequisites:** Git access to repository, GitHub Copilot enabled, ability to open multiple chat windows</a:t>
            </a:r>
          </a:p>
          <a:p>
            <a:endParaRPr/>
          </a:p>
          <a:p>
            <a:r>
              <a:t>**Goal**: Experience the difference instruction files make in AI output quality through a three-phase controlled experiment measuring consistency, completeness, and reproducibility.</a:t>
            </a:r>
          </a:p>
          <a:p>
            <a:endParaRPr/>
          </a:p>
          <a:p>
            <a:r>
              <a:t>### Objectives</a:t>
            </a:r>
          </a:p>
          <a:p>
            <a:endParaRPr/>
          </a:p>
          <a:p>
            <a:r>
              <a:t>1. **Understand prompt structure**: Learn to recognize components of effective prompts, identify required vs. optional elements, and apply best practices for clarity and specificity when generating instruction files.</a:t>
            </a:r>
          </a:p>
          <a:p>
            <a:endParaRPr/>
          </a:p>
          <a:p>
            <a:r>
              <a:t>2. **Practice prompt engineering**: Write a prompt that generates a complete instruction file for Evergreen software development, iterate on quality based on output, and refine prompts to achieve desired results.</a:t>
            </a:r>
          </a:p>
          <a:p>
            <a:endParaRPr/>
          </a:p>
          <a:p>
            <a:r>
              <a:t>3. **Observe instruction file impact**: Compare outputs generated with and without instruction files, quantify measurable quality improvements in structure and metadata, and understand how instruction files enable reproducibility across team members and time.</a:t>
            </a:r>
          </a:p>
          <a:p>
            <a:endParaRPr/>
          </a:p>
          <a:p>
            <a:r>
              <a:t>---</a:t>
            </a:r>
          </a:p>
          <a:p>
            <a:endParaRPr/>
          </a:p>
          <a:p>
            <a:r>
              <a:t>Source: slides\marp\exercise\exercise-creating-prompt-files.deck.md</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slides\marp\creating-instruction-files-from-prompts.deck.md</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Frame this as the payoff to the earlier prompt-authoring exercise. The class is no longer discussing prompts in the abstract; they are now executing them and examining the generated instruction files as real artifacts. Emphasize that the goal is not just to get output, but to understand why the output is surprisingly rich and how to improve it without losing reproducibility.</a:t>
            </a:r>
          </a:p>
          <a:p>
            <a:endParaRPr/>
          </a:p>
          <a:p>
            <a:r>
              <a:t>---</a:t>
            </a:r>
          </a:p>
          <a:p>
            <a:endParaRPr/>
          </a:p>
          <a:p>
            <a:r>
              <a:t>Source: slides\marp\creating-instruction-files-from-prompts.deck.md</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Walk through the workflow from left to right and make the source-versus-artifact distinction explicit. The prompt file captures intent, structure, and constraints in a reusable form, while the generated instruction file is the output that gets inspected and possibly refined. Highlight that review still matters because inference is powerful but not infallible. Use about one minute here and transition by asking what exactly the model is contributing beyond the literal text of the prompt.</a:t>
            </a:r>
          </a:p>
          <a:p>
            <a:endParaRPr/>
          </a:p>
          <a:p>
            <a:r>
              <a:t>---</a:t>
            </a:r>
          </a:p>
          <a:p>
            <a:endParaRPr/>
          </a:p>
          <a:p>
            <a:r>
              <a:t>Source: slides\marp\creating-instruction-files-from-prompts.deck.md</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This slide is about using the model's built-in knowledge deliberately instead of fighting it. Explain that a strong prompt does not need to spell out every sentence if the model already knows common structures like metadata blocks, validation sections, architecture guidance, and examples. The opportunity is speed: the model drafts broadly, and the human constrains the result to the team's true requirements.</a:t>
            </a:r>
          </a:p>
          <a:p>
            <a:endParaRPr/>
          </a:p>
          <a:p>
            <a:r>
              <a:t>---</a:t>
            </a:r>
          </a:p>
          <a:p>
            <a:endParaRPr/>
          </a:p>
          <a:p>
            <a:r>
              <a:t>Source: slides\marp\creating-instruction-files-from-prompts.deck.md</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This slide balances the prior enthusiasm with healthy skepticism. Inference is powerful but not infallible. The model may confidently suggest structures, patterns, or details that sound plausible but do not match your actual requirements or constraints. Emphasize that comprehensive AI-generated content is a starting point, not a finished product. Teams must review, validate, and test to ensure the inferred details align with their standards and domain knowledge.</a:t>
            </a:r>
          </a:p>
          <a:p>
            <a:endParaRPr/>
          </a:p>
          <a:p>
            <a:r>
              <a:t>---</a:t>
            </a:r>
          </a:p>
          <a:p>
            <a:endParaRPr/>
          </a:p>
          <a:p>
            <a:r>
              <a:t>Source: slides\marp\creating-instruction-files-from-prompts.deck.md</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Explain why this approach feels faster in practice. Many teams stall at the beginning because writing a complete instruction file from zero requires structure, terminology, examples, and compliance details all at once. The prompt-first approach shifts the hard part from creation to refinement, which is usually easier and faster.</a:t>
            </a:r>
          </a:p>
          <a:p>
            <a:endParaRPr/>
          </a:p>
          <a:p>
            <a:r>
              <a:t>---</a:t>
            </a:r>
          </a:p>
          <a:p>
            <a:endParaRPr/>
          </a:p>
          <a:p>
            <a:r>
              <a:t>Source: slides\marp\creating-instruction-files-from-prompts.deck.md</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Make the tradeoff concrete. Direct edits are sometimes fine for quick cleanup, but they create drift between the reusable source and the artifact. Updating the prompt file keeps the real logic of the artifact in version control, which matters for auditability, reuse, and future regeneration. Use about one minute here and emphasize that this is the operational discipline behind reproducible AI-assisted work.</a:t>
            </a:r>
          </a:p>
          <a:p>
            <a:endParaRPr/>
          </a:p>
          <a:p>
            <a:r>
              <a:t>---</a:t>
            </a:r>
          </a:p>
          <a:p>
            <a:endParaRPr/>
          </a:p>
          <a:p>
            <a:r>
              <a:t>Source: slides\marp\creating-instruction-files-from-prompts.deck.md</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Contrast a one-line directive with a prompt file that captures the real contract for the work. A simple request may work once, but it does not explain what sections are required, what metadata must exist, or which constraints the model must honor. A detailed prompt becomes documentation of intent as well as an execution mechanism.</a:t>
            </a:r>
          </a:p>
          <a:p>
            <a:endParaRPr/>
          </a:p>
          <a:p>
            <a:r>
              <a:t>---</a:t>
            </a:r>
          </a:p>
          <a:p>
            <a:endParaRPr/>
          </a:p>
          <a:p>
            <a:r>
              <a:t>Source: slides\marp\creating-instruction-files-from-prompts.deck.md</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slides\marp\documentation-generation-code-analysis.deck.md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a practical demonstration of how AI can accelerate documentation, analysis, and modernization in brownfield systems. Emphasize that documentation is not a side activity — it is a core guardrail for safe AI-assisted development.</a:t>
            </a:r>
          </a:p>
          <a:p>
            <a:endParaRPr/>
          </a:p>
          <a:p>
            <a:r>
              <a:t>---</a:t>
            </a:r>
          </a:p>
          <a:p>
            <a:endParaRPr/>
          </a:p>
          <a:p>
            <a:r>
              <a:t>Source: slides\marp\documentation-generation-code-analysis.deck.md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AI can maintain documentation continuously, reducing drift between code and docs.</a:t>
            </a:r>
          </a:p>
          <a:p>
            <a:endParaRPr/>
          </a:p>
          <a:p>
            <a:r>
              <a:t>This is especially valuable in brownfield systems where documentation is often outdated or missing.</a:t>
            </a:r>
          </a:p>
          <a:p>
            <a:endParaRPr/>
          </a:p>
          <a:p>
            <a:r>
              <a:t>Prompts:</a:t>
            </a:r>
          </a:p>
          <a:p>
            <a:endParaRPr/>
          </a:p>
          <a:p>
            <a:r>
              <a:t>Update the README file with the current state of the project</a:t>
            </a:r>
          </a:p>
          <a:p>
            <a:endParaRPr/>
          </a:p>
          <a:p>
            <a:r>
              <a:t>Update the documentation for CalculatorService.cs</a:t>
            </a:r>
          </a:p>
          <a:p>
            <a:endParaRPr/>
          </a:p>
          <a:p>
            <a:r>
              <a:t>Create a README for the Services component web-calculator\Services</a:t>
            </a:r>
          </a:p>
          <a:p>
            <a:endParaRPr/>
          </a:p>
          <a:p>
            <a:r>
              <a:t>Create a prompt file that creates an instruction file for documenting the project</a:t>
            </a:r>
          </a:p>
          <a:p>
            <a:endParaRPr/>
          </a:p>
          <a:p>
            <a:r>
              <a:t>---</a:t>
            </a:r>
          </a:p>
          <a:p>
            <a:endParaRPr/>
          </a:p>
          <a:p>
            <a:r>
              <a:t>Source: slides\marp\documentation-generation-code-analysis.deck.md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Encourage participants to treat diagrams as drafts – AI can generate the structure, but humans refine accuracy.</a:t>
            </a:r>
          </a:p>
          <a:p>
            <a:endParaRPr/>
          </a:p>
          <a:p>
            <a:r>
              <a:t>---</a:t>
            </a:r>
          </a:p>
          <a:p>
            <a:endParaRPr/>
          </a:p>
          <a:p>
            <a:r>
              <a:t>Source: slides\marp\documentation-generation-code-analysis.deck.md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can infer architecture from code structure, configuration files, and naming conventions.</a:t>
            </a:r>
          </a:p>
          <a:p>
            <a:endParaRPr/>
          </a:p>
          <a:p>
            <a:r>
              <a:t>These diagrams help teams understand legacy systems quickly and safely.</a:t>
            </a:r>
          </a:p>
          <a:p>
            <a:endParaRPr/>
          </a:p>
          <a:p>
            <a:r>
              <a:t>Prompts:</a:t>
            </a:r>
          </a:p>
          <a:p>
            <a:endParaRPr/>
          </a:p>
          <a:p>
            <a:r>
              <a:t>Create mermaid C4 diagrams for the project</a:t>
            </a:r>
          </a:p>
          <a:p>
            <a:endParaRPr/>
          </a:p>
          <a:p>
            <a:r>
              <a:t>---</a:t>
            </a:r>
          </a:p>
          <a:p>
            <a:endParaRPr/>
          </a:p>
          <a:p>
            <a:r>
              <a:t>Source: slides\marp\documentation-generation-code-analysis.deck.md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one of the most powerful uses of AI in brownfield modernization.</a:t>
            </a:r>
          </a:p>
          <a:p>
            <a:endParaRPr/>
          </a:p>
          <a:p>
            <a:r>
              <a:t>It reduces onboarding time and helps engineers understand risky areas before making changes.</a:t>
            </a:r>
          </a:p>
          <a:p>
            <a:endParaRPr/>
          </a:p>
          <a:p>
            <a:r>
              <a:t>---</a:t>
            </a:r>
          </a:p>
          <a:p>
            <a:endParaRPr/>
          </a:p>
          <a:p>
            <a:r>
              <a:t>Source: slides\marp\documentation-generation-code-analysis.deck.md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can scan large codebases and surface hotspots that deserve attention.</a:t>
            </a:r>
          </a:p>
          <a:p>
            <a:endParaRPr/>
          </a:p>
          <a:p>
            <a:r>
              <a:t>This helps teams prioritize modernization work and avoid guesswork.</a:t>
            </a:r>
          </a:p>
          <a:p>
            <a:endParaRPr/>
          </a:p>
          <a:p>
            <a:r>
              <a:t>---</a:t>
            </a:r>
          </a:p>
          <a:p>
            <a:endParaRPr/>
          </a:p>
          <a:p>
            <a:r>
              <a:t>Source: slides\marp\documentation-generation-code-analysis.deck.md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guides reduce onboarding time and ensure consistent workflows across teams.</a:t>
            </a:r>
          </a:p>
          <a:p>
            <a:endParaRPr/>
          </a:p>
          <a:p>
            <a:r>
              <a:t>They also help prevent tribal knowledge loss.</a:t>
            </a:r>
          </a:p>
          <a:p>
            <a:endParaRPr/>
          </a:p>
          <a:p>
            <a:r>
              <a:t>---</a:t>
            </a:r>
          </a:p>
          <a:p>
            <a:endParaRPr/>
          </a:p>
          <a:p>
            <a:r>
              <a:t>Source: slides\marp\documentation-generation-code-analysis.deck.md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helps keep documentation evergreen by updating it alongside code changes.</a:t>
            </a:r>
          </a:p>
          <a:p>
            <a:endParaRPr/>
          </a:p>
          <a:p>
            <a:r>
              <a:t>This reduces drift and improves maintainability.</a:t>
            </a:r>
          </a:p>
          <a:p>
            <a:endParaRPr/>
          </a:p>
          <a:p>
            <a:r>
              <a:t>---</a:t>
            </a:r>
          </a:p>
          <a:p>
            <a:endParaRPr/>
          </a:p>
          <a:p>
            <a:r>
              <a:t>Source: slides\marp\documentation-generation-code-analysis.deck.md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Different models have different strengths.</a:t>
            </a:r>
          </a:p>
          <a:p>
            <a:endParaRPr/>
          </a:p>
          <a:p>
            <a:r>
              <a:t>Cross-validation is a powerful guardrail for correctness, especially in brownfield systems.</a:t>
            </a:r>
          </a:p>
          <a:p>
            <a:endParaRPr/>
          </a:p>
          <a:p>
            <a:r>
              <a:t>---</a:t>
            </a:r>
          </a:p>
          <a:p>
            <a:endParaRPr/>
          </a:p>
          <a:p>
            <a:r>
              <a:t>Source: slides\marp\documentation-generation-code-analysis.deck.md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~00:15</a:t>
            </a:r>
          </a:p>
          <a:p>
            <a:endParaRPr/>
          </a:p>
          <a:p>
            <a:r>
              <a:t>This exercise helps participants build confidence in using AI to document unfamiliar code safely and quickly.</a:t>
            </a:r>
          </a:p>
          <a:p>
            <a:endParaRPr/>
          </a:p>
          <a:p>
            <a:r>
              <a:t>---</a:t>
            </a:r>
          </a:p>
          <a:p>
            <a:endParaRPr/>
          </a:p>
          <a:p>
            <a:r>
              <a:t>Source: slides\marp\exercise\exercise-brownfield-code-documentation.deck.md</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~00:10</a:t>
            </a:r>
          </a:p>
          <a:p>
            <a:endParaRPr/>
          </a:p>
          <a:p>
            <a:r>
              <a:t>This exercise builds foundational prompt-writing skills. Encourage participants to choose a real task to make the exercise concrete.</a:t>
            </a:r>
          </a:p>
          <a:p>
            <a:endParaRPr/>
          </a:p>
          <a:p>
            <a:r>
              <a:t>Prompt: Create a prompt file that creates an instruction file for evergreen software development</a:t>
            </a:r>
          </a:p>
          <a:p>
            <a:endParaRPr/>
          </a:p>
          <a:p>
            <a:r>
              <a:t>---</a:t>
            </a:r>
          </a:p>
          <a:p>
            <a:endParaRPr/>
          </a:p>
          <a:p>
            <a:r>
              <a:t>Source: slides\marp\exercise\exercise-create-a-prompt-file.deck.md</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~00:01</a:t>
            </a:r>
          </a:p>
          <a:p>
            <a:endParaRPr/>
          </a:p>
          <a:p>
            <a:r>
              <a:t>Welcome to Section 10: Code Explanation and Analysis. This section covers approximately 9 minutes of content from the AI-Assisted Software Development course.</a:t>
            </a:r>
          </a:p>
          <a:p>
            <a:endParaRPr/>
          </a:p>
          <a:p>
            <a:r>
              <a:t>**Key Points**:</a:t>
            </a:r>
          </a:p>
          <a:p>
            <a:endParaRPr/>
          </a:p>
          <a:p>
            <a:r>
              <a:t>- This section focuses on two practical workflows: explaining unfamiliar code and analyzing test coverage gaps</a:t>
            </a:r>
          </a:p>
          <a:p>
            <a:r>
              <a:t>- GitHub Copilot acts as an on-demand code reviewer and documentation expert</a:t>
            </a:r>
          </a:p>
          <a:p>
            <a:r>
              <a:t>- These techniques are especially valuable when onboarding to an existing codebase</a:t>
            </a:r>
          </a:p>
          <a:p>
            <a:endParaRPr/>
          </a:p>
          <a:p>
            <a:r>
              <a:t>**Delivery**: Open with a relatable scenario — "Have you ever inherited a codebase with no documentation and had to figure out what it does?" This frames the value of AI-assisted code explanation.</a:t>
            </a:r>
          </a:p>
          <a:p>
            <a:endParaRPr/>
          </a:p>
          <a:p>
            <a:r>
              <a:t>**Transition**: "Let's look at what we'll cover in this section."</a:t>
            </a:r>
          </a:p>
          <a:p>
            <a:endParaRPr/>
          </a:p>
          <a:p>
            <a:r>
              <a:t>---</a:t>
            </a:r>
          </a:p>
          <a:p>
            <a:endParaRPr/>
          </a:p>
          <a:p>
            <a:r>
              <a:t>Source: slides\marp\code-explanation-and-analysis.deck.md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~00:04</a:t>
            </a:r>
          </a:p>
          <a:p>
            <a:endParaRPr/>
          </a:p>
          <a:p>
            <a:r>
              <a:t>**Demo Instructions**:</a:t>
            </a:r>
          </a:p>
          <a:p>
            <a:endParaRPr/>
          </a:p>
          <a:p>
            <a:r>
              <a:t>- Open a moderately complex function (e.g., one with multiple conditionals or loops)</a:t>
            </a:r>
          </a:p>
          <a:p>
            <a:r>
              <a:t>- Demonstrate both methods — keyboard shortcut first, then right-click</a:t>
            </a:r>
          </a:p>
          <a:p>
            <a:r>
              <a:t>- Show how the explanation appears in different panels for each method</a:t>
            </a:r>
          </a:p>
          <a:p>
            <a:endParaRPr/>
          </a:p>
          <a:p>
            <a:r>
              <a:t>**Key Teaching Points**:</a:t>
            </a:r>
          </a:p>
          <a:p>
            <a:endParaRPr/>
          </a:p>
          <a:p>
            <a:r>
              <a:t>1. **Inline Chat (Ctrl+I)**: Results appear inline, great for quick questions. Can ask follow-up questions immediately.</a:t>
            </a:r>
          </a:p>
          <a:p>
            <a:r>
              <a:t>2. **Right-Click Explain**: Opens the Chat panel with a full explanation. Better for complex code that needs a longer response.</a:t>
            </a:r>
          </a:p>
          <a:p>
            <a:endParaRPr/>
          </a:p>
          <a:p>
            <a:r>
              <a:t>**When to Use Each**:</a:t>
            </a:r>
          </a:p>
          <a:p>
            <a:endParaRPr/>
          </a:p>
          <a:p>
            <a:r>
              <a:t>- Use Ctrl+I for quick, targeted questions ("What does this regex do?")</a:t>
            </a:r>
          </a:p>
          <a:p>
            <a:r>
              <a:t>- Use Right-click Explain for comprehensive understanding ("What is this entire function doing?")</a:t>
            </a:r>
          </a:p>
          <a:p>
            <a:endParaRPr/>
          </a:p>
          <a:p>
            <a:r>
              <a:t>**Common Student Question**: "Does it explain external library calls?"</a:t>
            </a:r>
          </a:p>
          <a:p>
            <a:r>
              <a:t>**Answer**: Yes! Copilot knows common libraries and can explain what third-party methods do.</a:t>
            </a:r>
          </a:p>
          <a:p>
            <a:endParaRPr/>
          </a:p>
          <a:p>
            <a:r>
              <a:t>**Transition**: "Now let's look at a specific use case where code explanation is extremely valuable — understanding test code."</a:t>
            </a:r>
          </a:p>
          <a:p>
            <a:endParaRPr/>
          </a:p>
          <a:p>
            <a:r>
              <a:t>---</a:t>
            </a:r>
          </a:p>
          <a:p>
            <a:endParaRPr/>
          </a:p>
          <a:p>
            <a:r>
              <a:t>Source: slides\marp\code-explanation-and-analysis.deck.md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**Core Insight to Deliver**: Test code is often more complex than production code. Developers new to a codebase frequently skip reading tests because they're hard to understand — but tests are the best documentation of intended behavior.</a:t>
            </a:r>
          </a:p>
          <a:p>
            <a:endParaRPr/>
          </a:p>
          <a:p>
            <a:r>
              <a:t>**Real-World Scenario**: "Imagine you're asked to add a feature. The first thing you should do is read the existing tests to understand what behavior is expected. Copilot can explain those tests in plain English."</a:t>
            </a:r>
          </a:p>
          <a:p>
            <a:endParaRPr/>
          </a:p>
          <a:p>
            <a:r>
              <a:t>**Live Demo Suggestion**:</a:t>
            </a:r>
          </a:p>
          <a:p>
            <a:endParaRPr/>
          </a:p>
          <a:p>
            <a:r>
              <a:t>- Open a test file with mocking/stubbing</a:t>
            </a:r>
          </a:p>
          <a:p>
            <a:r>
              <a:t>- Select a complex test setup and use Ctrl+I</a:t>
            </a:r>
          </a:p>
          <a:p>
            <a:r>
              <a:t>- Ask: "What is this test verifying? What would cause it to fail?"</a:t>
            </a:r>
          </a:p>
          <a:p>
            <a:r>
              <a:t>- Show how the explanation reveals the implicit contract of the code</a:t>
            </a:r>
          </a:p>
          <a:p>
            <a:endParaRPr/>
          </a:p>
          <a:p>
            <a:r>
              <a:t>**Key Benefit**: "Understanding test code helps you identify coverage gaps before you write a single line of code."</a:t>
            </a:r>
          </a:p>
          <a:p>
            <a:endParaRPr/>
          </a:p>
          <a:p>
            <a:r>
              <a:t>**Audience Interaction**: "Has anyone ever broken a test they didn't understand? This is how you prevent that."</a:t>
            </a:r>
          </a:p>
          <a:p>
            <a:endParaRPr/>
          </a:p>
          <a:p>
            <a:r>
              <a:t>**Transition**: "Understanding what IS tested naturally leads us to finding what ISN'T tested — which brings us to coverage gap analysis."</a:t>
            </a:r>
          </a:p>
          <a:p>
            <a:endParaRPr/>
          </a:p>
          <a:p>
            <a:r>
              <a:t>---</a:t>
            </a:r>
          </a:p>
          <a:p>
            <a:endParaRPr/>
          </a:p>
          <a:p>
            <a:r>
              <a:t>Source: slides\marp\code-explanation-and-analysis.deck.md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**Why This Matters**: Code coverage tools tell you _what percentage_ is covered, but they don't tell you _whether the right things_ are covered. A line can be executed by a test without that test actually verifying the behavior.</a:t>
            </a:r>
          </a:p>
          <a:p>
            <a:endParaRPr/>
          </a:p>
          <a:p>
            <a:r>
              <a:t>**Two Types of Coverage Gaps**:</a:t>
            </a:r>
          </a:p>
          <a:p>
            <a:endParaRPr/>
          </a:p>
          <a:p>
            <a:r>
              <a:t>1. **Quantity gaps**: Code paths not reached by any test</a:t>
            </a:r>
          </a:p>
          <a:p>
            <a:r>
              <a:t>2. **Quality gaps**: Code paths reached but not meaningfully verified</a:t>
            </a:r>
          </a:p>
          <a:p>
            <a:endParaRPr/>
          </a:p>
          <a:p>
            <a:r>
              <a:t>**Copilot's Advantage**: It understands the _intent_ of the code and can identify gaps that line-coverage metrics would miss.</a:t>
            </a:r>
          </a:p>
          <a:p>
            <a:endParaRPr/>
          </a:p>
          <a:p>
            <a:r>
              <a:t>**Example**: "You might have 95% line coverage but still be missing all error-path tests, all boundary conditions, and all integration scenarios."</a:t>
            </a:r>
          </a:p>
          <a:p>
            <a:endParaRPr/>
          </a:p>
          <a:p>
            <a:r>
              <a:t>**Transition**: "Let's see this in action with a real example — a calculator service."</a:t>
            </a:r>
          </a:p>
          <a:p>
            <a:endParaRPr/>
          </a:p>
          <a:p>
            <a:r>
              <a:t>---</a:t>
            </a:r>
          </a:p>
          <a:p>
            <a:endParaRPr/>
          </a:p>
          <a:p>
            <a:r>
              <a:t>Source: slides\marp\code-explanation-and-analysis.deck.md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**Live Demo Instructions**:</a:t>
            </a:r>
          </a:p>
          <a:p>
            <a:endParaRPr/>
          </a:p>
          <a:p>
            <a:r>
              <a:t>1. Open a calculator service with its test file</a:t>
            </a:r>
          </a:p>
          <a:p>
            <a:r>
              <a:t>2. Select the entire test file</a:t>
            </a:r>
          </a:p>
          <a:p>
            <a:r>
              <a:t>3. Run the prompt shown on slide</a:t>
            </a:r>
          </a:p>
          <a:p>
            <a:r>
              <a:t>4. Walk through the generated report</a:t>
            </a:r>
          </a:p>
          <a:p>
            <a:endParaRPr/>
          </a:p>
          <a:p>
            <a:r>
              <a:t>**Expected Output to Highlight**:</a:t>
            </a:r>
          </a:p>
          <a:p>
            <a:endParaRPr/>
          </a:p>
          <a:p>
            <a:r>
              <a:t>- Copilot will categorize tests by operation/feature</a:t>
            </a:r>
          </a:p>
          <a:p>
            <a:r>
              <a:t>- Will note if error conditions are tested (e.g., division by zero)</a:t>
            </a:r>
          </a:p>
          <a:p>
            <a:r>
              <a:t>- Will identify if edge cases like floating point, negative numbers, or overflow are tested</a:t>
            </a:r>
          </a:p>
          <a:p>
            <a:r>
              <a:t>- Will give a qualitative coverage assessment</a:t>
            </a:r>
          </a:p>
          <a:p>
            <a:endParaRPr/>
          </a:p>
          <a:p>
            <a:r>
              <a:t>**The 95% Example**: This is a realistic scenario — a service appears well-tested but is missing critical edge cases. The remaining 5% often contains the most important behavior (error handling, boundary conditions).</a:t>
            </a:r>
          </a:p>
          <a:p>
            <a:endParaRPr/>
          </a:p>
          <a:p>
            <a:r>
              <a:t>**Key Teaching Point**: "Copilot doesn't just count lines — it understands the domain. It knows that a calculator should handle division by zero, and it will flag that as a gap even if the coverage tools show 95%."</a:t>
            </a:r>
          </a:p>
          <a:p>
            <a:endParaRPr/>
          </a:p>
          <a:p>
            <a:r>
              <a:t>**Transition**: "Let's look at what those missing coverage areas typically look like."</a:t>
            </a:r>
          </a:p>
          <a:p>
            <a:endParaRPr/>
          </a:p>
          <a:p>
            <a:r>
              <a:t>---</a:t>
            </a:r>
          </a:p>
          <a:p>
            <a:endParaRPr/>
          </a:p>
          <a:p>
            <a:r>
              <a:t>Source: slides\marp\code-explanation-and-analysis.deck.md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~00:02</a:t>
            </a:r>
          </a:p>
          <a:p>
            <a:endParaRPr/>
          </a:p>
          <a:p>
            <a:r>
              <a:t>**Why These Categories Matter**:</a:t>
            </a:r>
          </a:p>
          <a:p>
            <a:endParaRPr/>
          </a:p>
          <a:p>
            <a:r>
              <a:t>1. **Error conditions**: Most production bugs occur on the error path, not the happy path</a:t>
            </a:r>
          </a:p>
          <a:p>
            <a:r>
              <a:t>2. **Boundary values**: Classic source of off-by-one errors and overflow bugs</a:t>
            </a:r>
          </a:p>
          <a:p>
            <a:r>
              <a:t>3. **Integration paths**: Individual unit tests pass but composition fails</a:t>
            </a:r>
          </a:p>
          <a:p>
            <a:r>
              <a:t>4. **Edge cases**: Domain-specific scenarios that business logic must handle</a:t>
            </a:r>
          </a:p>
          <a:p>
            <a:endParaRPr/>
          </a:p>
          <a:p>
            <a:r>
              <a:t>**Delivery Tip**: Ask "Which of these categories do you think is most commonly skipped in your codebase?" — this sparks discussion and makes the content personally relevant.</a:t>
            </a:r>
          </a:p>
          <a:p>
            <a:endParaRPr/>
          </a:p>
          <a:p>
            <a:r>
              <a:t>**Common Excuse**: "We have 90%+ coverage!" Counter: "Code coverage measures whether code was executed, not whether it was verified. Copilot goes deeper."</a:t>
            </a:r>
          </a:p>
          <a:p>
            <a:endParaRPr/>
          </a:p>
          <a:p>
            <a:r>
              <a:t>**Important Nuance**: Copilot identifies _semantic_ gaps, not just syntactic ones. It knows that a `divide` function without a zero-divisor test is semantically incomplete.</a:t>
            </a:r>
          </a:p>
          <a:p>
            <a:endParaRPr/>
          </a:p>
          <a:p>
            <a:r>
              <a:t>**Transition**: "Identifying gaps is only half the job. Copilot can also help you close them."</a:t>
            </a:r>
          </a:p>
          <a:p>
            <a:endParaRPr/>
          </a:p>
          <a:p>
            <a:r>
              <a:t>---</a:t>
            </a:r>
          </a:p>
          <a:p>
            <a:endParaRPr/>
          </a:p>
          <a:p>
            <a:r>
              <a:t>Source: slides\marp\code-explanation-and-analysis.deck.md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**Why Prioritization Matters**: Teams can't add all missing tests at once. Copilot helps prioritize by:</a:t>
            </a:r>
          </a:p>
          <a:p>
            <a:endParaRPr/>
          </a:p>
          <a:p>
            <a:r>
              <a:t>- Risk: What's most likely to cause a production incident?</a:t>
            </a:r>
          </a:p>
          <a:p>
            <a:r>
              <a:t>- Value: What behavior is most critical to the business?</a:t>
            </a:r>
          </a:p>
          <a:p>
            <a:r>
              <a:t>- Effort: What tests are quickest to write and maintain?</a:t>
            </a:r>
          </a:p>
          <a:p>
            <a:endParaRPr/>
          </a:p>
          <a:p>
            <a:r>
              <a:t>**How to Read the Priority Levels**:</a:t>
            </a:r>
          </a:p>
          <a:p>
            <a:endParaRPr/>
          </a:p>
          <a:p>
            <a:r>
              <a:t>- 🔴 Red: Production risk — these should be done in the current sprint</a:t>
            </a:r>
          </a:p>
          <a:p>
            <a:r>
              <a:t>- 🟡 Yellow: Technical debt — schedule for next sprint</a:t>
            </a:r>
          </a:p>
          <a:p>
            <a:r>
              <a:t>- 🟢 Green: Nice to have — add when time permits</a:t>
            </a:r>
          </a:p>
          <a:p>
            <a:endParaRPr/>
          </a:p>
          <a:p>
            <a:r>
              <a:t>**Audience Engagement**: "How does your team currently prioritize which tests to write? Do you have a systematic approach?" — This positions Copilot as an improvement over gut-feeling prioritization.</a:t>
            </a:r>
          </a:p>
          <a:p>
            <a:endParaRPr/>
          </a:p>
          <a:p>
            <a:r>
              <a:t>**Key Differentiator**: "This isn't just a list of things to do. Copilot explains _why_ each test is important, giving you the context to defend the work to stakeholders."</a:t>
            </a:r>
          </a:p>
          <a:p>
            <a:endParaRPr/>
          </a:p>
          <a:p>
            <a:r>
              <a:t>**Transition**: "And here's where it gets really powerful — Copilot doesn't just plan, it can implement the tests for you."</a:t>
            </a:r>
          </a:p>
          <a:p>
            <a:endParaRPr/>
          </a:p>
          <a:p>
            <a:r>
              <a:t>---</a:t>
            </a:r>
          </a:p>
          <a:p>
            <a:endParaRPr/>
          </a:p>
          <a:p>
            <a:r>
              <a:t>Source: slides\marp\code-explanation-and-analysis.deck.md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~00:03</a:t>
            </a:r>
          </a:p>
          <a:p>
            <a:endParaRPr/>
          </a:p>
          <a:p>
            <a:r>
              <a:t>**Live Demo Instructions**:</a:t>
            </a:r>
          </a:p>
          <a:p>
            <a:endParaRPr/>
          </a:p>
          <a:p>
            <a:r>
              <a:t>1. With the coverage plan from the previous step visible</a:t>
            </a:r>
          </a:p>
          <a:p>
            <a:r>
              <a:t>2. Ask Copilot to implement the top 2-3 high-priority tests</a:t>
            </a:r>
          </a:p>
          <a:p>
            <a:r>
              <a:t>3. Show how it picks up on the existing test style (naming, assertion patterns, setup/teardown)</a:t>
            </a:r>
          </a:p>
          <a:p>
            <a:r>
              <a:t>4. Run the tests to show they pass (or fail for the right reasons)</a:t>
            </a:r>
          </a:p>
          <a:p>
            <a:endParaRPr/>
          </a:p>
          <a:p>
            <a:r>
              <a:t>**Important Teaching Point**: "Copilot doesn't create tests in a vacuum — it learns from your existing test patterns. If you use `describe`/`it` blocks, it will too. If you use `[Test]` attributes, it matches that."</a:t>
            </a:r>
          </a:p>
          <a:p>
            <a:endParaRPr/>
          </a:p>
          <a:p>
            <a:r>
              <a:t>**Quality Review**: Emphasize that AI-generated tests should always be reviewed:</a:t>
            </a:r>
          </a:p>
          <a:p>
            <a:endParaRPr/>
          </a:p>
          <a:p>
            <a:r>
              <a:t>- Does the assertion actually verify the behavior?</a:t>
            </a:r>
          </a:p>
          <a:p>
            <a:r>
              <a:t>- Is the test isolated (no shared state)?</a:t>
            </a:r>
          </a:p>
          <a:p>
            <a:r>
              <a:t>- Will the test fail for the right reason if the code breaks?</a:t>
            </a:r>
          </a:p>
          <a:p>
            <a:endParaRPr/>
          </a:p>
          <a:p>
            <a:r>
              <a:t>**Common Issue**: Students sometimes accept generated tests without running them. Stress: "Always run the tests. A test that doesn't fail when it should is worse than no test."</a:t>
            </a:r>
          </a:p>
          <a:p>
            <a:endParaRPr/>
          </a:p>
          <a:p>
            <a:r>
              <a:t>**Time Savings**: "Writing these tests manually would take 30-60 minutes. With Copilot, 5 minutes. That time savings compounds across every feature in your codebase."</a:t>
            </a:r>
          </a:p>
          <a:p>
            <a:endParaRPr/>
          </a:p>
          <a:p>
            <a:r>
              <a:t>**Transition**: "Let's wrap up with a summary of what we've covered and the key takeaways."</a:t>
            </a:r>
          </a:p>
          <a:p>
            <a:endParaRPr/>
          </a:p>
          <a:p>
            <a:r>
              <a:t>---</a:t>
            </a:r>
          </a:p>
          <a:p>
            <a:endParaRPr/>
          </a:p>
          <a:p>
            <a:r>
              <a:t>Source: slides\marp\code-explanation-and-analysis.deck.md</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Auto-generated course navigation slide showing all modules with current section highlighted</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slides\marp\test-automation-and-code-quality.deck.md</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module as the foundation for safe, predictable modernization.</a:t>
            </a:r>
          </a:p>
          <a:p>
            <a:endParaRPr/>
          </a:p>
          <a:p>
            <a:r>
              <a:t>Test automation and quality gates are the mechanisms that allow teams to move quickly without breaking brownfield systems.</a:t>
            </a:r>
          </a:p>
          <a:p>
            <a:endParaRPr/>
          </a:p>
          <a:p>
            <a:r>
              <a:t>AI accelerates these workflows but must be guided by strong guardrails.</a:t>
            </a:r>
          </a:p>
          <a:p>
            <a:endParaRPr/>
          </a:p>
          <a:p>
            <a:r>
              <a:t>---</a:t>
            </a:r>
          </a:p>
          <a:p>
            <a:endParaRPr/>
          </a:p>
          <a:p>
            <a:r>
              <a:t>Source: slides\marp\test-automation-and-code-quality.deck.md</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AI dramatically accelerates test creation, but humans still validate correctness and intent.</a:t>
            </a:r>
          </a:p>
          <a:p>
            <a:endParaRPr/>
          </a:p>
          <a:p>
            <a:r>
              <a:t>Emphasize that tests are only valuable when they reflect real business behavior, not just code structure.</a:t>
            </a:r>
          </a:p>
          <a:p>
            <a:endParaRPr/>
          </a:p>
          <a:p>
            <a:r>
              <a:t>---</a:t>
            </a:r>
          </a:p>
          <a:p>
            <a:endParaRPr/>
          </a:p>
          <a:p>
            <a:r>
              <a:t>Source: slides\marp\test-automation-and-code-quality.deck.md</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Static analysis tools catch syntax and style issues, but AI can reason about architecture, intent, and domain rules.</a:t>
            </a:r>
          </a:p>
          <a:p>
            <a:endParaRPr/>
          </a:p>
          <a:p>
            <a:r>
              <a:t>This creates a deeper layer of quality enforcement.</a:t>
            </a:r>
          </a:p>
          <a:p>
            <a:endParaRPr/>
          </a:p>
          <a:p>
            <a:r>
              <a:t>---</a:t>
            </a:r>
          </a:p>
          <a:p>
            <a:endParaRPr/>
          </a:p>
          <a:p>
            <a:r>
              <a:t>Source: slides\marp\test-automation-and-code-quality.deck.md</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Coverage numbers alone are misleading.</a:t>
            </a:r>
          </a:p>
          <a:p>
            <a:endParaRPr/>
          </a:p>
          <a:p>
            <a:r>
              <a:t>AI helps teams understand whether tests are adequate, not just numerous. Adequacy is the real measure of safety.</a:t>
            </a:r>
          </a:p>
          <a:p>
            <a:endParaRPr/>
          </a:p>
          <a:p>
            <a:r>
              <a:t>---</a:t>
            </a:r>
          </a:p>
          <a:p>
            <a:endParaRPr/>
          </a:p>
          <a:p>
            <a:r>
              <a:t>Source: slides\marp\test-automation-and-code-quality.deck.md</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Quality gates turn best practices into automated enforcement.</a:t>
            </a:r>
          </a:p>
          <a:p>
            <a:endParaRPr/>
          </a:p>
          <a:p>
            <a:r>
              <a:t>They ensure that every change – human or AI-generated – meets the team's standards before merging.</a:t>
            </a:r>
          </a:p>
          <a:p>
            <a:endParaRPr/>
          </a:p>
          <a:p>
            <a:r>
              <a:t>---</a:t>
            </a:r>
          </a:p>
          <a:p>
            <a:endParaRPr/>
          </a:p>
          <a:p>
            <a:r>
              <a:t>Source: slides\marp\test-automation-and-code-quality.deck.md</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slides\marp\exercise\exercise-test-automation-quality.deck.md</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endParaRPr/>
          </a:p>
          <a:p>
            <a:r>
              <a:t>**Prerequisites:** Access to a brownfield codebase with existing tests</a:t>
            </a:r>
          </a:p>
          <a:p>
            <a:endParaRPr/>
          </a:p>
          <a:p>
            <a:r>
              <a:t>### Objectives</a:t>
            </a:r>
          </a:p>
          <a:p>
            <a:endParaRPr/>
          </a:p>
          <a:p>
            <a:r>
              <a:t>- Identify gaps in test automation</a:t>
            </a:r>
          </a:p>
          <a:p>
            <a:r>
              <a:t>- Use AI to generate missing tests</a:t>
            </a:r>
          </a:p>
          <a:p>
            <a:r>
              <a:t>- Apply intelligent linting and quality gates</a:t>
            </a:r>
          </a:p>
          <a:p>
            <a:r>
              <a:t>- Validate test adequacy and architectural alignment</a:t>
            </a:r>
          </a:p>
          <a:p>
            <a:endParaRPr/>
          </a:p>
          <a:p>
            <a:r>
              <a:t>### Activities</a:t>
            </a:r>
          </a:p>
          <a:p>
            <a:endParaRPr/>
          </a:p>
          <a:p>
            <a:r>
              <a:t>1. **Select a brownfield module or function** - Choose a component with existing but incomplete test coverage.</a:t>
            </a:r>
          </a:p>
          <a:p>
            <a:r>
              <a:t>2. **Review existing tests** - Analyze for coverage gaps, missing edge cases, and brittle or redundant tests.</a:t>
            </a:r>
          </a:p>
          <a:p>
            <a:r>
              <a:t>3. **Ask AI to generate missing tests** - Use targeted prompts to fill identified gaps.</a:t>
            </a:r>
          </a:p>
          <a:p>
            <a:r>
              <a:t>4. **Run linting and architectural checks** - Execute automated quality tools to identify issues.</a:t>
            </a:r>
          </a:p>
          <a:p>
            <a:r>
              <a:t>5. **Propose quality gates** - Define enforceable quality standards for continuous improvement.</a:t>
            </a:r>
          </a:p>
          <a:p>
            <a:r>
              <a:t>6. **Add provenance metadata** - Document all AI-assisted artifacts with proper metadata.</a:t>
            </a:r>
          </a:p>
          <a:p>
            <a:endParaRPr/>
          </a:p>
          <a:p>
            <a:r>
              <a:t>### Success Criteria</a:t>
            </a:r>
          </a:p>
          <a:p>
            <a:endParaRPr/>
          </a:p>
          <a:p>
            <a:r>
              <a:t>- Coverage gaps are identified and addressed</a:t>
            </a:r>
          </a:p>
          <a:p>
            <a:r>
              <a:t>- AI-generated tests are validated and correct</a:t>
            </a:r>
          </a:p>
          <a:p>
            <a:r>
              <a:t>- Linting and architectural issues are resolved</a:t>
            </a:r>
          </a:p>
          <a:p>
            <a:r>
              <a:t>- Proposed quality gates are actionable and safe</a:t>
            </a:r>
          </a:p>
          <a:p>
            <a:r>
              <a:t>- Provenance metadata is included</a:t>
            </a:r>
          </a:p>
          <a:p>
            <a:endParaRPr/>
          </a:p>
          <a:p>
            <a:r>
              <a:t>### Key Teaching Point</a:t>
            </a:r>
          </a:p>
          <a:p>
            <a:endParaRPr/>
          </a:p>
          <a:p>
            <a:r>
              <a:t>Encourage participants to treat this as a real modernization task.</a:t>
            </a:r>
          </a:p>
          <a:p>
            <a:endParaRPr/>
          </a:p>
          <a:p>
            <a:r>
              <a:t>The goal is not to generate as many tests as possible – it's to improve the safety, clarity, and maintainability of the testing framework in a targeted, evergreen-aligned way.</a:t>
            </a:r>
          </a:p>
          <a:p>
            <a:endParaRPr/>
          </a:p>
          <a:p>
            <a:r>
              <a:t>Focus on quality over quantity, and ensure that any proposed quality gates are achievable and won't block legitimate work.</a:t>
            </a:r>
          </a:p>
          <a:p>
            <a:endParaRPr/>
          </a:p>
          <a:p>
            <a:r>
              <a:t>---</a:t>
            </a:r>
          </a:p>
          <a:p>
            <a:endParaRPr/>
          </a:p>
          <a:p>
            <a:r>
              <a:t>Source: slides\marp\exercise\exercise-test-automation-quality.deck.md</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slides\marp\creating-robust-testing-frameworks.deck.md</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AI accelerates test creation dramatically, but humans still validate correctness and intent. Comprehensive test suites give teams the confidence to refactor and modernize safely.</a:t>
            </a:r>
          </a:p>
          <a:p>
            <a:endParaRPr/>
          </a:p>
          <a:p>
            <a:r>
              <a:t>---</a:t>
            </a:r>
          </a:p>
          <a:p>
            <a:endParaRPr/>
          </a:p>
          <a:p>
            <a:r>
              <a:t>Source: slides\marp\creating-robust-testing-frameworks.deck.md</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Test suites age just like code. Without maintenance, they become brittle, noisy, or misleading. Encourage teams to treat test suites as living artifacts that evolve with the system.</a:t>
            </a:r>
          </a:p>
          <a:p>
            <a:endParaRPr/>
          </a:p>
          <a:p>
            <a:r>
              <a:t>---</a:t>
            </a:r>
          </a:p>
          <a:p>
            <a:endParaRPr/>
          </a:p>
          <a:p>
            <a:r>
              <a:t>Source: slides\marp\creating-robust-testing-frameworks.deck.md</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is excellent at pattern detection and coverage suggestions, but humans validate whether tests reflect real business rules. Together, they create a multi-layered validation process.</a:t>
            </a:r>
          </a:p>
          <a:p>
            <a:endParaRPr/>
          </a:p>
          <a:p>
            <a:r>
              <a:t>---</a:t>
            </a:r>
          </a:p>
          <a:p>
            <a:endParaRPr/>
          </a:p>
          <a:p>
            <a:r>
              <a:t>Source: slides\marp\creating-robust-testing-frameworks.deck.md</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High coverage numbers can be deceptive. The goal is not 100% coverage — it's meaningful coverage that protects behavior without creating maintenance burdens. Encourage teams to focus on value, not vanity metrics.</a:t>
            </a:r>
          </a:p>
          <a:p>
            <a:endParaRPr/>
          </a:p>
          <a:p>
            <a:r>
              <a:t>---</a:t>
            </a:r>
          </a:p>
          <a:p>
            <a:endParaRPr/>
          </a:p>
          <a:p>
            <a:r>
              <a:t>Source: slides\marp\creating-robust-testing-frameworks.deck.md</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~00:20</a:t>
            </a:r>
          </a:p>
          <a:p>
            <a:endParaRPr/>
          </a:p>
          <a:p>
            <a:r>
              <a:t>Encourage participants to treat this as a real modernization task. The goal is not to generate as many tests as possible — it's to improve the safety and clarity of the testing framework in a targeted, maintainable way.</a:t>
            </a:r>
          </a:p>
          <a:p>
            <a:endParaRPr/>
          </a:p>
          <a:p>
            <a:r>
              <a:t>---</a:t>
            </a:r>
          </a:p>
          <a:p>
            <a:endParaRPr/>
          </a:p>
          <a:p>
            <a:r>
              <a:t>Source: slides\marp\exercise\exercise-strengthening-your-testing-framework.deck.md</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slides\marp\feature-flags-and-test-suites.deck.md</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this section as a practical framework for deploying changes safely in existing codebases. The three pillars — feature flags, As-Is tests, and To-Be tests — work together to give teams confidence and control. Spend a moment framing the problem: production systems can't afford regressions, yet they must evolve. This is the solution. (~1 minute)</a:t>
            </a:r>
          </a:p>
          <a:p>
            <a:endParaRPr/>
          </a:p>
          <a:p>
            <a:r>
              <a:t>---</a:t>
            </a:r>
          </a:p>
          <a:p>
            <a:endParaRPr/>
          </a:p>
          <a:p>
            <a:r>
              <a:t>Source: slides\marp\feature-flags-and-test-suites.deck.md</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As-Is tests are your safety net. Emphasize that their job is NOT to validate the ideal behavior — it's to describe what the system does today. If an As-Is test fails, something that used to work is now broken. That's a regression. The key insight: passing As-Is tests = safe to deploy. This reframes testing from "checking if new code is right" to "confirming nothing regressed." (~1.5 minutes)</a:t>
            </a:r>
          </a:p>
          <a:p>
            <a:endParaRPr/>
          </a:p>
          <a:p>
            <a:r>
              <a:t>---</a:t>
            </a:r>
          </a:p>
          <a:p>
            <a:endParaRPr/>
          </a:p>
          <a:p>
            <a:r>
              <a:t>Source: slides\marp\feature-flags-and-test-suites.deck.md</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growth strategy matters: don't try to get 100% coverage before you start. Instead, write As-Is tests for the specific areas you're about to change. This creates a targeted safety net exactly where it's needed. Highlight the confidence formula — compiled code plus passing As-Is tests is a strong signal that you haven't broken anything. (~1.5 minutes)</a:t>
            </a:r>
          </a:p>
          <a:p>
            <a:endParaRPr/>
          </a:p>
          <a:p>
            <a:r>
              <a:t>---</a:t>
            </a:r>
          </a:p>
          <a:p>
            <a:endParaRPr/>
          </a:p>
          <a:p>
            <a:r>
              <a:t>Source: slides\marp\feature-flags-and-test-suites.deck.md</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about risk. The most dangerous mistake is writing new code that runs unconditionally — it bypasses the entire protection strategy. Emphasize the "bleed" concept: any code outside a feature flag is live code. As-Is tests only protect you if the flag discipline is maintained. Make this memorable: "if it's not behind a flag, it's in production." (~1.5 minutes)</a:t>
            </a:r>
          </a:p>
          <a:p>
            <a:endParaRPr/>
          </a:p>
          <a:p>
            <a:r>
              <a:t>---</a:t>
            </a:r>
          </a:p>
          <a:p>
            <a:endParaRPr/>
          </a:p>
          <a:p>
            <a:r>
              <a:t>Source: slides\marp\feature-flags-and-test-suites.deck.md</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To-Be tests are forward-looking. They describe the system you're building, not the system you have. The critical difference from As-Is tests: To-Be tests are expected to fail until the feature is complete. They gate the feature flag, not production. Use the analogy of a construction blueprint — it shows what the building will look like, not what it looks like today. (~1.5 minutes)</a:t>
            </a:r>
          </a:p>
          <a:p>
            <a:endParaRPr/>
          </a:p>
          <a:p>
            <a:r>
              <a:t>---</a:t>
            </a:r>
          </a:p>
          <a:p>
            <a:endParaRPr/>
          </a:p>
          <a:p>
            <a:r>
              <a:t>Source: slides\marp\feature-flags-and-test-suites.deck.md</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this workflow step by step. The flag is the pivot point: it controls both what code runs AND which tests are relevant. The CI/CD pipeline runs both phases. Stress that To-Be tests must be isolated — they should never interfere with As-Is test results. Show the code snippet and explain that the flag creates a clean separation. (~2 minutes)</a:t>
            </a:r>
          </a:p>
          <a:p>
            <a:endParaRPr/>
          </a:p>
          <a:p>
            <a:r>
              <a:t>---</a:t>
            </a:r>
          </a:p>
          <a:p>
            <a:endParaRPr/>
          </a:p>
          <a:p>
            <a:r>
              <a:t>Source: slides\marp\feature-flags-and-test-suites.deck.md</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two-phase pipeline is the operational heart of this strategy. Phase 1 is the gate — it must pass for any merge. Phase 2 is informational during development but becomes a gate before the feature flag is turned on in production. Emphasize that phase 2 doesn't block today — it tracks progress. When all To-Be tests pass and the team is ready, they flip the flag in production. (~2 minutes)</a:t>
            </a:r>
          </a:p>
          <a:p>
            <a:endParaRPr/>
          </a:p>
          <a:p>
            <a:r>
              <a:t>---</a:t>
            </a:r>
          </a:p>
          <a:p>
            <a:endParaRPr/>
          </a:p>
          <a:p>
            <a:r>
              <a:t>Source: slides\marp\feature-flags-and-test-suites.deck.md</a:t>
            </a: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Summarize the business value. The dual-suite approach isn't just a testing pattern — it's a delivery strategy. Teams can keep shipping to production while a large refactor is in progress. Stakeholders can see progress via To-Be test pass rates. Engineers get fast feedback on regressions. And when the feature is done, the flag flip is low-risk because everything has been validated. (~1 minute)</a:t>
            </a:r>
          </a:p>
          <a:p>
            <a:endParaRPr/>
          </a:p>
          <a:p>
            <a:r>
              <a:t>---</a:t>
            </a:r>
          </a:p>
          <a:p>
            <a:endParaRPr/>
          </a:p>
          <a:p>
            <a:r>
              <a:t>Source: slides\marp\feature-flags-and-test-suites.deck.md</a:t>
            </a:r>
          </a:p>
        </p:txBody>
      </p:sp>
      <p:sp>
        <p:nvSpPr>
          <p:cNvPr id="4" name="Slide Number Placeholder 3"/>
          <p:cNvSpPr>
            <a:spLocks noGrp="1"/>
          </p:cNvSpPr>
          <p:nvPr>
            <p:ph type="sldNum" sz="quarter" idx="5"/>
          </p:nvPr>
        </p:nvSpPr>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often forgotten but critical. When a feature ships, its To-Be tests must graduate into the As-Is suite — they now describe production behavior. Failing to do this leaves the As-Is suite incomplete. And the feature flag must be retired to avoid dead code accumulation. The quote on the slide is a key takeaway — write it on a whiteboard if you can. (~1.5 minutes)</a:t>
            </a:r>
          </a:p>
          <a:p>
            <a:endParaRPr/>
          </a:p>
          <a:p>
            <a:r>
              <a:t>---</a:t>
            </a:r>
          </a:p>
          <a:p>
            <a:endParaRPr/>
          </a:p>
          <a:p>
            <a:r>
              <a:t>Source: slides\marp\feature-flags-and-test-suites.deck.md</a:t>
            </a:r>
          </a:p>
        </p:txBody>
      </p:sp>
      <p:sp>
        <p:nvSpPr>
          <p:cNvPr id="4" name="Slide Number Placeholder 3"/>
          <p:cNvSpPr>
            <a:spLocks noGrp="1"/>
          </p:cNvSpPr>
          <p:nvPr>
            <p:ph type="sldNum" sz="quarter" idx="5"/>
          </p:nvPr>
        </p:nvSpPr>
        <p:spPr/>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great demonstration of AI as a force multiplier for brownfield work. Flag retirement used to be postponed because it was tedious — tracing every conditional, every test, every config reference. AI makes it fast. Encourage the audience to try this: pick an old flag in their codebase and ask Copilot to identify everything that needs to change to remove it. The results are often surprising in their completeness. (~2 minutes)</a:t>
            </a:r>
          </a:p>
          <a:p>
            <a:endParaRPr/>
          </a:p>
          <a:p>
            <a:r>
              <a:t>---</a:t>
            </a:r>
          </a:p>
          <a:p>
            <a:endParaRPr/>
          </a:p>
          <a:p>
            <a:r>
              <a:t>Source: slides\marp\feature-flags-and-test-suites.deck.md</a:t>
            </a:r>
          </a:p>
        </p:txBody>
      </p:sp>
      <p:sp>
        <p:nvSpPr>
          <p:cNvPr id="4" name="Slide Number Placeholder 3"/>
          <p:cNvSpPr>
            <a:spLocks noGrp="1"/>
          </p:cNvSpPr>
          <p:nvPr>
            <p:ph type="sldNum" sz="quarter" idx="5"/>
          </p:nvPr>
        </p:nvSpPr>
        <p:spPr/>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slides\marp\testing-in-production.deck.md</a:t>
            </a:r>
          </a:p>
        </p:txBody>
      </p:sp>
      <p:sp>
        <p:nvSpPr>
          <p:cNvPr id="4" name="Slide Number Placeholder 3"/>
          <p:cNvSpPr>
            <a:spLocks noGrp="1"/>
          </p:cNvSpPr>
          <p:nvPr>
            <p:ph type="sldNum" sz="quarter" idx="5"/>
          </p:nvPr>
        </p:nvSpPr>
        <p:spPr/>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Testing in production is not reckless—it's engineered risk management. Traditional staging environments can never fully replicate production conditions, traffic patterns, or edge cases. This module teaches you how to validate changes safely in the real environment where they'll ultimately run. We'll cover feature flags, shadow traffic, canary releases, error budgets, and beta testing strategies.</a:t>
            </a:r>
          </a:p>
          <a:p>
            <a:endParaRPr/>
          </a:p>
          <a:p>
            <a:r>
              <a:t>---</a:t>
            </a:r>
          </a:p>
          <a:p>
            <a:endParaRPr/>
          </a:p>
          <a:p>
            <a:r>
              <a:t>Source: slides\marp\testing-in-production.deck.md</a:t>
            </a:r>
          </a:p>
        </p:txBody>
      </p:sp>
      <p:sp>
        <p:nvSpPr>
          <p:cNvPr id="4" name="Slide Number Placeholder 3"/>
          <p:cNvSpPr>
            <a:spLocks noGrp="1"/>
          </p:cNvSpPr>
          <p:nvPr>
            <p:ph type="sldNum" sz="quarter" idx="5"/>
          </p:nvPr>
        </p:nvSpPr>
        <p:spPr/>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gap between staging and production is inevitable. No matter how sophisticated your pre-production environments are, they lack real users, real data volumes, and real integration complexity. Testing in production bridges this gap—but only if you do it safely. Without production testing, your first exposure to production conditions is a full rollout, when the blast radius is maximum. Ask the class: How many have experienced a "worked fine in staging" failure? What was the cost?</a:t>
            </a:r>
          </a:p>
          <a:p>
            <a:endParaRPr/>
          </a:p>
          <a:p>
            <a:r>
              <a:t>---</a:t>
            </a:r>
          </a:p>
          <a:p>
            <a:endParaRPr/>
          </a:p>
          <a:p>
            <a:r>
              <a:t>Source: slides\marp\testing-in-production.deck.md</a:t>
            </a:r>
          </a:p>
        </p:txBody>
      </p:sp>
      <p:sp>
        <p:nvSpPr>
          <p:cNvPr id="4" name="Slide Number Placeholder 3"/>
          <p:cNvSpPr>
            <a:spLocks noGrp="1"/>
          </p:cNvSpPr>
          <p:nvPr>
            <p:ph type="sldNum" sz="quarter" idx="5"/>
          </p:nvPr>
        </p:nvSpPr>
        <p:spPr/>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Feature flags are the foundation of safe production testing. They allow you to deploy new code without exposing users to it. This means you can validate functionality in production infrastructure before risking customer impact. Emphasize that "real loads" includes not just volume, but also the complexity of production integrations—third-party APIs, legacy systems, database constraints, and network conditions that staging can't replicate.</a:t>
            </a:r>
          </a:p>
          <a:p>
            <a:endParaRPr/>
          </a:p>
          <a:p>
            <a:r>
              <a:t>---</a:t>
            </a:r>
          </a:p>
          <a:p>
            <a:endParaRPr/>
          </a:p>
          <a:p>
            <a:r>
              <a:t>Source: slides\marp\testing-in-production.deck.md</a:t>
            </a:r>
          </a:p>
        </p:txBody>
      </p:sp>
      <p:sp>
        <p:nvSpPr>
          <p:cNvPr id="4" name="Slide Number Placeholder 3"/>
          <p:cNvSpPr>
            <a:spLocks noGrp="1"/>
          </p:cNvSpPr>
          <p:nvPr>
            <p:ph type="sldNum" sz="quarter" idx="5"/>
          </p:nvPr>
        </p:nvSpPr>
        <p:spPr/>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Shadow traffic is the safest production testing technique. Every production request is duplicated: one copy goes to the existing code (which serves the user), and one copy goes to the new code (which is monitored but discarded). You get full production validation with zero customer risk. Shadow traffic is ideal for testing performance, correctness, and edge-case handling. It's especially valuable for AI-generated code because you can compare outputs between human-written and AI-generated implementations at production scale.</a:t>
            </a:r>
          </a:p>
          <a:p>
            <a:endParaRPr/>
          </a:p>
          <a:p>
            <a:r>
              <a:t>---</a:t>
            </a:r>
          </a:p>
          <a:p>
            <a:endParaRPr/>
          </a:p>
          <a:p>
            <a:r>
              <a:t>Source: slides\marp\testing-in-production.deck.md</a:t>
            </a:r>
          </a:p>
        </p:txBody>
      </p:sp>
      <p:sp>
        <p:nvSpPr>
          <p:cNvPr id="4" name="Slide Number Placeholder 3"/>
          <p:cNvSpPr>
            <a:spLocks noGrp="1"/>
          </p:cNvSpPr>
          <p:nvPr>
            <p:ph type="sldNum" sz="quarter" idx="5"/>
          </p:nvPr>
        </p:nvSpPr>
        <p:spPr/>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Canary releases incrementally expand feature exposure. Start with 1% of users—often your internal team or a beta cohort—and monitor error rates, latency, and user reports. If metrics remain healthy, expand to 5%, then 25%, and finally 100%. If any stage shows degradation, halt the rollout and investigate. The key: define "healthy" before you start. What error rate is acceptable? What latency threshold? What volume of support tickets? Canary releases turn deployment into a data-driven decision rather than a leap of faith.</a:t>
            </a:r>
          </a:p>
          <a:p>
            <a:endParaRPr/>
          </a:p>
          <a:p>
            <a:r>
              <a:t>---</a:t>
            </a:r>
          </a:p>
          <a:p>
            <a:endParaRPr/>
          </a:p>
          <a:p>
            <a:r>
              <a:t>Source: slides\marp\testing-in-production.deck.md</a:t>
            </a:r>
          </a:p>
        </p:txBody>
      </p:sp>
      <p:sp>
        <p:nvSpPr>
          <p:cNvPr id="4" name="Slide Number Placeholder 3"/>
          <p:cNvSpPr>
            <a:spLocks noGrp="1"/>
          </p:cNvSpPr>
          <p:nvPr>
            <p:ph type="sldNum" sz="quarter" idx="5"/>
          </p:nvPr>
        </p:nvSpPr>
        <p:spPr/>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Observability is your feedback loop. Without real-time dashboards, production testing is blind guessing. You need visibility into error rates, latency, resource consumption, and business metrics. Crucially, you need these metrics scoped to the feature under test—not just global application health. If your payment processing feature is in canary mode, you need a dashboard that shows error rates specifically for that feature across both the canary and control groups. Modern observability platforms support feature-flag-aware telemetry. This is non-negotiable for safe AI-assisted development.</a:t>
            </a:r>
          </a:p>
          <a:p>
            <a:endParaRPr/>
          </a:p>
          <a:p>
            <a:r>
              <a:t>---</a:t>
            </a:r>
          </a:p>
          <a:p>
            <a:endParaRPr/>
          </a:p>
          <a:p>
            <a:r>
              <a:t>Source: slides\marp\testing-in-production.deck.md</a:t>
            </a:r>
          </a:p>
        </p:txBody>
      </p:sp>
      <p:sp>
        <p:nvSpPr>
          <p:cNvPr id="4" name="Slide Number Placeholder 3"/>
          <p:cNvSpPr>
            <a:spLocks noGrp="1"/>
          </p:cNvSpPr>
          <p:nvPr>
            <p:ph type="sldNum" sz="quarter" idx="5"/>
          </p:nvPr>
        </p:nvSpPr>
        <p:spPr/>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Automated rollback is the safety net. If error rates or latency exceed predefined thresholds, the system disables the feature automatically—no human in the loop. This is critical because production incidents escalate rapidly. The time between "something's wrong" and "customers are affected" is measured in seconds. Automated rollback limits the blast radius and ensures a consistent response. Define your thresholds ahead of time based on historical baselines and capacity planning. The example shows a YAML config: if payment processing v2 exceeds 1% error rate in any 5-minute window, disable it and alert the team. Ask: What's the cost of a two-minute delay in rollback?</a:t>
            </a:r>
          </a:p>
          <a:p>
            <a:endParaRPr/>
          </a:p>
          <a:p>
            <a:r>
              <a:t>---</a:t>
            </a:r>
          </a:p>
          <a:p>
            <a:endParaRPr/>
          </a:p>
          <a:p>
            <a:r>
              <a:t>Source: slides\marp\testing-in-production.deck.md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524000" y="2759384"/>
            <a:ext cx="9144000" cy="1891556"/>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524000" y="4952326"/>
            <a:ext cx="9144000" cy="132507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4294437" y="1238105"/>
            <a:ext cx="3578217" cy="1288157"/>
          </a:xfrm>
          <a:prstGeom prst="rect">
            <a:avLst/>
          </a:prstGeom>
          <a:ln>
            <a:noFill/>
          </a:ln>
          <a:effectLst/>
        </p:spPr>
      </p:pic>
    </p:spTree>
    <p:extLst>
      <p:ext uri="{BB962C8B-B14F-4D97-AF65-F5344CB8AC3E}">
        <p14:creationId xmlns:p14="http://schemas.microsoft.com/office/powerpoint/2010/main" val="37427347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587407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282959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318506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2"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978330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644564"/>
            <a:ext cx="8928887" cy="1568871"/>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5202101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545636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900113" y="2433638"/>
            <a:ext cx="10391774" cy="3790950"/>
          </a:xfrm>
        </p:spPr>
        <p:txBody>
          <a:bodyPr/>
          <a:lstStyle/>
          <a:p>
            <a:endParaRPr lang="en-US"/>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900113" y="1444625"/>
            <a:ext cx="10391774" cy="649288"/>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182745761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13423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Tree>
    <p:extLst>
      <p:ext uri="{BB962C8B-B14F-4D97-AF65-F5344CB8AC3E}">
        <p14:creationId xmlns:p14="http://schemas.microsoft.com/office/powerpoint/2010/main" val="43538736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833480" y="1051965"/>
            <a:ext cx="9831823" cy="313932"/>
          </a:xfrm>
        </p:spPr>
        <p:txBody>
          <a:bodyPr>
            <a:spAutoFit/>
          </a:bodyPr>
          <a:lstStyle>
            <a:lvl1pPr marL="0" indent="0">
              <a:buFontTx/>
              <a:buNone/>
              <a:defRPr sz="1600">
                <a:latin typeface="Victor Mono" pitchFamily="49" charset="0"/>
              </a:defRPr>
            </a:lvl1pPr>
            <a:lvl2pPr marL="457200" indent="0">
              <a:buFontTx/>
              <a:buNone/>
              <a:defRPr>
                <a:latin typeface="Victor Mono" pitchFamily="49" charset="0"/>
              </a:defRPr>
            </a:lvl2pPr>
            <a:lvl3pPr marL="914400" indent="0">
              <a:buFontTx/>
              <a:buNone/>
              <a:defRPr>
                <a:latin typeface="Victor Mono" pitchFamily="49" charset="0"/>
              </a:defRPr>
            </a:lvl3pPr>
            <a:lvl4pPr marL="1371600" indent="0">
              <a:buFontTx/>
              <a:buNone/>
              <a:defRPr>
                <a:latin typeface="Victor Mono" pitchFamily="49" charset="0"/>
              </a:defRPr>
            </a:lvl4pPr>
            <a:lvl5pPr marL="18288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8760912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Centered Two 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429000"/>
            <a:ext cx="8928887" cy="1200000"/>
          </a:xfrm>
        </p:spPr>
        <p:txBody>
          <a:bodyPr/>
          <a:lstStyle>
            <a:lvl1pPr algn="ctr">
              <a:defRPr/>
            </a:lvl1pPr>
          </a:lstStyle>
          <a:p>
            <a:r>
              <a:rPr lang="en-US"/>
              <a:t>Click to edit Master title style</a:t>
            </a:r>
            <a:endParaRPr lang="en-US" dirty="0"/>
          </a:p>
        </p:txBody>
      </p:sp>
      <p:sp>
        <p:nvSpPr>
          <p:cNvPr id="3" name="Subtitle 2"/>
          <p:cNvSpPr>
            <a:spLocks noGrp="1"/>
          </p:cNvSpPr>
          <p:nvPr>
            <p:ph type="subTitle" idx="1"/>
          </p:nvPr>
        </p:nvSpPr>
        <p:spPr>
          <a:xfrm>
            <a:off x="1631556" y="3829000"/>
            <a:ext cx="8928887" cy="600000"/>
          </a:xfrm>
        </p:spPr>
        <p:txBody>
          <a:bodyPr/>
          <a:lstStyle>
            <a:lvl1pPr algn="ctr">
              <a:defRPr/>
            </a:lvl1pPr>
          </a:lstStyle>
          <a:p>
            <a:r>
              <a:rPr lang="en-US"/>
              <a:t>Click to edit Master subtitle style</a:t>
            </a:r>
          </a:p>
        </p:txBody>
      </p:sp>
    </p:spTree>
    <p:extLst>
      <p:ext uri="{BB962C8B-B14F-4D97-AF65-F5344CB8AC3E}">
        <p14:creationId xmlns:p14="http://schemas.microsoft.com/office/powerpoint/2010/main" val="52021016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4">
            <a:alphaModFix amt="20000"/>
          </a:blip>
          <a:srcRect l="301" t="5222" r="713" b="10945"/>
          <a:stretch/>
        </p:blipFill>
        <p:spPr>
          <a:xfrm>
            <a:off x="0" y="-1"/>
            <a:ext cx="12192000" cy="68580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838200" y="365126"/>
            <a:ext cx="8928887" cy="703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838200" y="1461483"/>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CD6163BC-C951-C17F-421A-4AD743EDDB29}"/>
              </a:ext>
            </a:extLst>
          </p:cNvPr>
          <p:cNvPicPr>
            <a:picLocks noChangeAspect="1"/>
          </p:cNvPicPr>
          <p:nvPr userDrawn="1"/>
        </p:nvPicPr>
        <p:blipFill>
          <a:blip r:embed="rId15"/>
          <a:srcRect/>
          <a:stretch/>
        </p:blipFill>
        <p:spPr>
          <a:xfrm>
            <a:off x="10016117" y="424540"/>
            <a:ext cx="1783676" cy="643610"/>
          </a:xfrm>
          <a:prstGeom prst="rect">
            <a:avLst/>
          </a:prstGeom>
          <a:ln>
            <a:noFill/>
          </a:ln>
          <a:effectLst/>
        </p:spPr>
      </p:pic>
    </p:spTree>
    <p:extLst>
      <p:ext uri="{BB962C8B-B14F-4D97-AF65-F5344CB8AC3E}">
        <p14:creationId xmlns:p14="http://schemas.microsoft.com/office/powerpoint/2010/main" val="2005844286"/>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97" r:id="rId3"/>
    <p:sldLayoutId id="2147483746" r:id="rId4"/>
    <p:sldLayoutId id="2147483784" r:id="rId5"/>
    <p:sldLayoutId id="2147483747" r:id="rId6"/>
    <p:sldLayoutId id="2147483748" r:id="rId7"/>
    <p:sldLayoutId id="2147483792" r:id="rId8"/>
    <p:sldLayoutId id="2147483749" r:id="rId9"/>
    <p:sldLayoutId id="2147483750" r:id="rId10"/>
    <p:sldLayoutId id="2147483751" r:id="rId11"/>
    <p:sldLayoutId id="2147483798" r:id="rId12"/>
  </p:sldLayoutIdLst>
  <p:transition>
    <p:fade/>
  </p:transition>
  <p:txStyles>
    <p:titleStyle>
      <a:lvl1pPr algn="l" defTabSz="914400" rtl="0" eaLnBrk="1" latinLnBrk="0" hangingPunct="1">
        <a:lnSpc>
          <a:spcPct val="90000"/>
        </a:lnSpc>
        <a:spcBef>
          <a:spcPct val="0"/>
        </a:spcBef>
        <a:buNone/>
        <a:defRPr sz="44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The Return of the Prompter</a:t>
            </a:r>
          </a:p>
        </p:txBody>
      </p:sp>
      <p:sp>
        <p:nvSpPr>
          <p:cNvPr id="3" name="Content Placeholder 2"/>
          <p:cNvSpPr>
            <a:spLocks noGrp="1"/>
          </p:cNvSpPr>
          <p:nvPr>
            <p:ph idx="1"/>
          </p:nvPr>
        </p:nvSpPr>
        <p:spPr/>
        <p:txBody>
          <a:bodyPr wrap="square">
            <a:normAutofit/>
          </a:bodyPr>
          <a:lstStyle/>
          <a:p>
            <a:r>
              <a:rPr sz="2800" b="0" i="0" u="none"/>
              <a:t>Ready to continue where we left off</a:t>
            </a:r>
            <a:endParaRPr sz="2800" b="0" i="0">
              <a:latin typeface="Arial"/>
            </a:endParaRPr>
          </a:p>
          <a:p>
            <a:r>
              <a:rPr sz="2800" b="0" i="0" u="none"/>
              <a:t>Today's session builds on what we've covered</a:t>
            </a:r>
            <a:endParaRPr sz="2800" b="0" i="0">
              <a:latin typeface="Arial"/>
            </a:endParaRPr>
          </a:p>
          <a:p>
            <a:r>
              <a:rPr sz="2800" b="0" i="0" u="none"/>
              <a:t>We're all in this together — participation welcome</a:t>
            </a:r>
            <a:endParaRPr sz="2800" b="0" i="0">
              <a:latin typeface="Arial"/>
            </a:endParaRPr>
          </a:p>
          <a:p>
            <a:r>
              <a:rPr sz="2800" b="0" i="0" u="none"/>
              <a:t>Questions are always welcome — ask anytime!</a:t>
            </a:r>
            <a:endParaRPr sz="2800" b="0" i="0">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00"/>
              <a:t>How Much Does an AI Pair Programmer Cost?</a:t>
            </a:r>
          </a:p>
        </p:txBody>
      </p:sp>
      <p:sp>
        <p:nvSpPr>
          <p:cNvPr id="3" name="Subtitle 2"/>
          <p:cNvSpPr>
            <a:spLocks noGrp="1"/>
          </p:cNvSpPr>
          <p:nvPr>
            <p:ph type="subTitle" idx="1"/>
          </p:nvPr>
        </p:nvSpPr>
        <p:spPr/>
        <p:txBody>
          <a:bodyPr wrap="square">
            <a:normAutofit/>
          </a:bodyPr>
          <a:lstStyle/>
          <a: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Copilot Plan Overview</a:t>
            </a:r>
          </a:p>
        </p:txBody>
      </p:sp>
      <p:graphicFrame>
        <p:nvGraphicFramePr>
          <p:cNvPr id="3" name="Table 2"/>
          <p:cNvGraphicFramePr>
            <a:graphicFrameLocks noGrp="1"/>
          </p:cNvGraphicFramePr>
          <p:nvPr>
            <p:extLst>
              <p:ext uri="{D42A27DB-BD31-4B8C-83A1-F6EECF244321}">
                <p14:modId xmlns:p14="http://schemas.microsoft.com/office/powerpoint/2010/main" val="1926298094"/>
              </p:ext>
            </p:extLst>
          </p:nvPr>
        </p:nvGraphicFramePr>
        <p:xfrm>
          <a:off x="457199" y="1828800"/>
          <a:ext cx="11330248" cy="4231176"/>
        </p:xfrm>
        <a:graphic>
          <a:graphicData uri="http://schemas.openxmlformats.org/drawingml/2006/table">
            <a:tbl>
              <a:tblPr firstRow="1" bandRow="1">
                <a:tableStyleId>{5C22544A-7EE6-4342-B048-85BDC9FD1C3A}</a:tableStyleId>
              </a:tblPr>
              <a:tblGrid>
                <a:gridCol w="2832562">
                  <a:extLst>
                    <a:ext uri="{9D8B030D-6E8A-4147-A177-3AD203B41FA5}">
                      <a16:colId xmlns:a16="http://schemas.microsoft.com/office/drawing/2014/main" val="20000"/>
                    </a:ext>
                  </a:extLst>
                </a:gridCol>
                <a:gridCol w="2832562">
                  <a:extLst>
                    <a:ext uri="{9D8B030D-6E8A-4147-A177-3AD203B41FA5}">
                      <a16:colId xmlns:a16="http://schemas.microsoft.com/office/drawing/2014/main" val="20001"/>
                    </a:ext>
                  </a:extLst>
                </a:gridCol>
                <a:gridCol w="2832562">
                  <a:extLst>
                    <a:ext uri="{9D8B030D-6E8A-4147-A177-3AD203B41FA5}">
                      <a16:colId xmlns:a16="http://schemas.microsoft.com/office/drawing/2014/main" val="20002"/>
                    </a:ext>
                  </a:extLst>
                </a:gridCol>
                <a:gridCol w="2832562">
                  <a:extLst>
                    <a:ext uri="{9D8B030D-6E8A-4147-A177-3AD203B41FA5}">
                      <a16:colId xmlns:a16="http://schemas.microsoft.com/office/drawing/2014/main" val="20003"/>
                    </a:ext>
                  </a:extLst>
                </a:gridCol>
              </a:tblGrid>
              <a:tr h="528897">
                <a:tc>
                  <a:txBody>
                    <a:bodyPr/>
                    <a:lstStyle/>
                    <a:p>
                      <a:pPr>
                        <a:buNone/>
                        <a:defRPr sz="1600" b="1">
                          <a:solidFill>
                            <a:schemeClr val="bg1"/>
                          </a:solidFill>
                        </a:defRPr>
                      </a:pPr>
                      <a:r>
                        <a:rPr sz="1600" b="0" i="0" u="none"/>
                        <a:t>Feature</a:t>
                      </a:r>
                    </a:p>
                  </a:txBody>
                  <a:tcPr>
                    <a:solidFill>
                      <a:schemeClr val="accent4"/>
                    </a:solidFill>
                  </a:tcPr>
                </a:tc>
                <a:tc>
                  <a:txBody>
                    <a:bodyPr/>
                    <a:lstStyle/>
                    <a:p>
                      <a:pPr>
                        <a:buNone/>
                        <a:defRPr sz="1600" b="1">
                          <a:solidFill>
                            <a:schemeClr val="bg1"/>
                          </a:solidFill>
                        </a:defRPr>
                      </a:pPr>
                      <a:r>
                        <a:rPr sz="1600" b="0" i="0" u="none"/>
                        <a:t>Individual</a:t>
                      </a:r>
                    </a:p>
                  </a:txBody>
                  <a:tcPr>
                    <a:solidFill>
                      <a:schemeClr val="accent4"/>
                    </a:solidFill>
                  </a:tcPr>
                </a:tc>
                <a:tc>
                  <a:txBody>
                    <a:bodyPr/>
                    <a:lstStyle/>
                    <a:p>
                      <a:pPr>
                        <a:buNone/>
                        <a:defRPr sz="1600" b="1">
                          <a:solidFill>
                            <a:schemeClr val="bg1"/>
                          </a:solidFill>
                        </a:defRPr>
                      </a:pPr>
                      <a:r>
                        <a:rPr sz="1600" b="0" i="0" u="none"/>
                        <a:t>Business</a:t>
                      </a:r>
                    </a:p>
                  </a:txBody>
                  <a:tcPr>
                    <a:solidFill>
                      <a:schemeClr val="accent4"/>
                    </a:solidFill>
                  </a:tcPr>
                </a:tc>
                <a:tc>
                  <a:txBody>
                    <a:bodyPr/>
                    <a:lstStyle/>
                    <a:p>
                      <a:pPr>
                        <a:buNone/>
                        <a:defRPr sz="1600" b="1">
                          <a:solidFill>
                            <a:schemeClr val="bg1"/>
                          </a:solidFill>
                        </a:defRPr>
                      </a:pPr>
                      <a:r>
                        <a:rPr sz="1600" b="0" i="0" u="none"/>
                        <a:t>Enterprise</a:t>
                      </a:r>
                    </a:p>
                  </a:txBody>
                  <a:tcPr>
                    <a:solidFill>
                      <a:schemeClr val="accent4"/>
                    </a:solidFill>
                  </a:tcPr>
                </a:tc>
                <a:extLst>
                  <a:ext uri="{0D108BD9-81ED-4DB2-BD59-A6C34878D82A}">
                    <a16:rowId xmlns:a16="http://schemas.microsoft.com/office/drawing/2014/main" val="10000"/>
                  </a:ext>
                </a:extLst>
              </a:tr>
              <a:tr h="528897">
                <a:tc>
                  <a:txBody>
                    <a:bodyPr/>
                    <a:lstStyle/>
                    <a:p>
                      <a:pPr>
                        <a:buNone/>
                        <a:defRPr sz="1600" b="0">
                          <a:solidFill>
                            <a:schemeClr val="tx1"/>
                          </a:solidFill>
                        </a:defRPr>
                      </a:pPr>
                      <a:r>
                        <a:rPr sz="1600" b="1" i="0" u="none"/>
                        <a:t>Price</a:t>
                      </a:r>
                    </a:p>
                  </a:txBody>
                  <a:tcPr>
                    <a:solidFill>
                      <a:schemeClr val="accent4">
                        <a:lumMod val="20000"/>
                        <a:lumOff val="80000"/>
                      </a:schemeClr>
                    </a:solidFill>
                  </a:tcPr>
                </a:tc>
                <a:tc>
                  <a:txBody>
                    <a:bodyPr/>
                    <a:lstStyle/>
                    <a:p>
                      <a:pPr>
                        <a:buNone/>
                        <a:defRPr sz="1600" b="0">
                          <a:solidFill>
                            <a:schemeClr val="tx1"/>
                          </a:solidFill>
                        </a:defRPr>
                      </a:pPr>
                      <a:r>
                        <a:rPr sz="1600" b="0" i="0" u="none">
                          <a:latin typeface="Consolas"/>
                        </a:rPr>
                        <a:t>$10/mo</a:t>
                      </a:r>
                    </a:p>
                  </a:txBody>
                  <a:tcPr>
                    <a:solidFill>
                      <a:schemeClr val="accent4">
                        <a:lumMod val="20000"/>
                        <a:lumOff val="80000"/>
                      </a:schemeClr>
                    </a:solidFill>
                  </a:tcPr>
                </a:tc>
                <a:tc>
                  <a:txBody>
                    <a:bodyPr/>
                    <a:lstStyle/>
                    <a:p>
                      <a:pPr>
                        <a:buNone/>
                        <a:defRPr sz="1600" b="0">
                          <a:solidFill>
                            <a:schemeClr val="tx1"/>
                          </a:solidFill>
                        </a:defRPr>
                      </a:pPr>
                      <a:r>
                        <a:rPr sz="1600" b="1" i="0" u="none"/>
                        <a:t>`$19/user/mo`</a:t>
                      </a:r>
                    </a:p>
                  </a:txBody>
                  <a:tcPr>
                    <a:solidFill>
                      <a:schemeClr val="accent4">
                        <a:lumMod val="20000"/>
                        <a:lumOff val="80000"/>
                      </a:schemeClr>
                    </a:solidFill>
                  </a:tcPr>
                </a:tc>
                <a:tc>
                  <a:txBody>
                    <a:bodyPr/>
                    <a:lstStyle/>
                    <a:p>
                      <a:pPr>
                        <a:buNone/>
                        <a:defRPr sz="1600" b="0">
                          <a:solidFill>
                            <a:schemeClr val="tx1"/>
                          </a:solidFill>
                        </a:defRPr>
                      </a:pPr>
                      <a:r>
                        <a:rPr sz="1600" b="0" i="0" u="none">
                          <a:latin typeface="Consolas"/>
                        </a:rPr>
                        <a:t>$39/user/mo</a:t>
                      </a:r>
                    </a:p>
                  </a:txBody>
                  <a:tcPr>
                    <a:solidFill>
                      <a:schemeClr val="accent4">
                        <a:lumMod val="20000"/>
                        <a:lumOff val="80000"/>
                      </a:schemeClr>
                    </a:solidFill>
                  </a:tcPr>
                </a:tc>
                <a:extLst>
                  <a:ext uri="{0D108BD9-81ED-4DB2-BD59-A6C34878D82A}">
                    <a16:rowId xmlns:a16="http://schemas.microsoft.com/office/drawing/2014/main" val="10001"/>
                  </a:ext>
                </a:extLst>
              </a:tr>
              <a:tr h="528897">
                <a:tc>
                  <a:txBody>
                    <a:bodyPr/>
                    <a:lstStyle/>
                    <a:p>
                      <a:pPr>
                        <a:buNone/>
                        <a:defRPr sz="1600" b="0">
                          <a:solidFill>
                            <a:schemeClr val="tx1"/>
                          </a:solidFill>
                        </a:defRPr>
                      </a:pPr>
                      <a:r>
                        <a:rPr sz="1600" b="0" i="0" u="none"/>
                        <a:t>Code completions</a:t>
                      </a:r>
                    </a:p>
                  </a:txBody>
                  <a:tcPr>
                    <a:solidFill>
                      <a:schemeClr val="accent4">
                        <a:lumMod val="8000"/>
                        <a:lumOff val="92000"/>
                      </a:schemeClr>
                    </a:solidFill>
                  </a:tcPr>
                </a:tc>
                <a:tc>
                  <a:txBody>
                    <a:bodyPr/>
                    <a:lstStyle/>
                    <a:p>
                      <a:pPr>
                        <a:buNone/>
                        <a:defRPr sz="1600" b="0">
                          <a:solidFill>
                            <a:schemeClr val="tx1"/>
                          </a:solidFill>
                        </a:defRPr>
                      </a:pPr>
                      <a:r>
                        <a:rPr sz="1600" b="0" i="0" u="none"/>
                        <a:t>✅</a:t>
                      </a:r>
                    </a:p>
                  </a:txBody>
                  <a:tcPr>
                    <a:solidFill>
                      <a:schemeClr val="accent4">
                        <a:lumMod val="8000"/>
                        <a:lumOff val="92000"/>
                      </a:schemeClr>
                    </a:solidFill>
                  </a:tcPr>
                </a:tc>
                <a:tc>
                  <a:txBody>
                    <a:bodyPr/>
                    <a:lstStyle/>
                    <a:p>
                      <a:pPr>
                        <a:buNone/>
                        <a:defRPr sz="1600" b="0">
                          <a:solidFill>
                            <a:schemeClr val="tx1"/>
                          </a:solidFill>
                        </a:defRPr>
                      </a:pPr>
                      <a:r>
                        <a:rPr sz="1600" b="0" i="0" u="none"/>
                        <a:t>✅</a:t>
                      </a:r>
                    </a:p>
                  </a:txBody>
                  <a:tcPr>
                    <a:solidFill>
                      <a:schemeClr val="accent4">
                        <a:lumMod val="8000"/>
                        <a:lumOff val="92000"/>
                      </a:schemeClr>
                    </a:solidFill>
                  </a:tcPr>
                </a:tc>
                <a:tc>
                  <a:txBody>
                    <a:bodyPr/>
                    <a:lstStyle/>
                    <a:p>
                      <a:pPr>
                        <a:buNone/>
                        <a:defRPr sz="1600" b="0">
                          <a:solidFill>
                            <a:schemeClr val="tx1"/>
                          </a:solidFill>
                        </a:defRPr>
                      </a:pPr>
                      <a:r>
                        <a:rPr sz="1600" b="0" i="0" u="none"/>
                        <a:t>✅</a:t>
                      </a:r>
                    </a:p>
                  </a:txBody>
                  <a:tcPr>
                    <a:solidFill>
                      <a:schemeClr val="accent4">
                        <a:lumMod val="8000"/>
                        <a:lumOff val="92000"/>
                      </a:schemeClr>
                    </a:solidFill>
                  </a:tcPr>
                </a:tc>
                <a:extLst>
                  <a:ext uri="{0D108BD9-81ED-4DB2-BD59-A6C34878D82A}">
                    <a16:rowId xmlns:a16="http://schemas.microsoft.com/office/drawing/2014/main" val="10002"/>
                  </a:ext>
                </a:extLst>
              </a:tr>
              <a:tr h="528897">
                <a:tc>
                  <a:txBody>
                    <a:bodyPr/>
                    <a:lstStyle/>
                    <a:p>
                      <a:pPr>
                        <a:buNone/>
                        <a:defRPr sz="1600" b="0">
                          <a:solidFill>
                            <a:schemeClr val="tx1"/>
                          </a:solidFill>
                        </a:defRPr>
                      </a:pPr>
                      <a:r>
                        <a:rPr sz="1600" b="0" i="0" u="none"/>
                        <a:t>Copilot Chat</a:t>
                      </a:r>
                    </a:p>
                  </a:txBody>
                  <a:tcPr>
                    <a:solidFill>
                      <a:schemeClr val="accent4">
                        <a:lumMod val="20000"/>
                        <a:lumOff val="80000"/>
                      </a:schemeClr>
                    </a:solidFill>
                  </a:tcPr>
                </a:tc>
                <a:tc>
                  <a:txBody>
                    <a:bodyPr/>
                    <a:lstStyle/>
                    <a:p>
                      <a:pPr>
                        <a:buNone/>
                        <a:defRPr sz="1600" b="0">
                          <a:solidFill>
                            <a:schemeClr val="tx1"/>
                          </a:solidFill>
                        </a:defRPr>
                      </a:pPr>
                      <a:r>
                        <a:rPr sz="1600" b="0" i="0" u="none"/>
                        <a:t>✅</a:t>
                      </a:r>
                    </a:p>
                  </a:txBody>
                  <a:tcPr>
                    <a:solidFill>
                      <a:schemeClr val="accent4">
                        <a:lumMod val="20000"/>
                        <a:lumOff val="80000"/>
                      </a:schemeClr>
                    </a:solidFill>
                  </a:tcPr>
                </a:tc>
                <a:tc>
                  <a:txBody>
                    <a:bodyPr/>
                    <a:lstStyle/>
                    <a:p>
                      <a:pPr>
                        <a:buNone/>
                        <a:defRPr sz="1600" b="0">
                          <a:solidFill>
                            <a:schemeClr val="tx1"/>
                          </a:solidFill>
                        </a:defRPr>
                      </a:pPr>
                      <a:r>
                        <a:rPr sz="1600" b="0" i="0" u="none"/>
                        <a:t>✅</a:t>
                      </a:r>
                    </a:p>
                  </a:txBody>
                  <a:tcPr>
                    <a:solidFill>
                      <a:schemeClr val="accent4">
                        <a:lumMod val="20000"/>
                        <a:lumOff val="80000"/>
                      </a:schemeClr>
                    </a:solidFill>
                  </a:tcPr>
                </a:tc>
                <a:tc>
                  <a:txBody>
                    <a:bodyPr/>
                    <a:lstStyle/>
                    <a:p>
                      <a:pPr>
                        <a:buNone/>
                        <a:defRPr sz="1600" b="0">
                          <a:solidFill>
                            <a:schemeClr val="tx1"/>
                          </a:solidFill>
                        </a:defRPr>
                      </a:pPr>
                      <a:r>
                        <a:rPr sz="1600" b="0" i="0" u="none"/>
                        <a:t>✅</a:t>
                      </a:r>
                    </a:p>
                  </a:txBody>
                  <a:tcPr>
                    <a:solidFill>
                      <a:schemeClr val="accent4">
                        <a:lumMod val="20000"/>
                        <a:lumOff val="80000"/>
                      </a:schemeClr>
                    </a:solidFill>
                  </a:tcPr>
                </a:tc>
                <a:extLst>
                  <a:ext uri="{0D108BD9-81ED-4DB2-BD59-A6C34878D82A}">
                    <a16:rowId xmlns:a16="http://schemas.microsoft.com/office/drawing/2014/main" val="10003"/>
                  </a:ext>
                </a:extLst>
              </a:tr>
              <a:tr h="528897">
                <a:tc>
                  <a:txBody>
                    <a:bodyPr/>
                    <a:lstStyle/>
                    <a:p>
                      <a:pPr>
                        <a:buNone/>
                        <a:defRPr sz="1600" b="0">
                          <a:solidFill>
                            <a:schemeClr val="tx1"/>
                          </a:solidFill>
                        </a:defRPr>
                      </a:pPr>
                      <a:r>
                        <a:rPr sz="1600" b="0" i="0" u="none"/>
                        <a:t>Policy management</a:t>
                      </a:r>
                    </a:p>
                  </a:txBody>
                  <a:tcPr>
                    <a:solidFill>
                      <a:schemeClr val="accent4">
                        <a:lumMod val="8000"/>
                        <a:lumOff val="92000"/>
                      </a:schemeClr>
                    </a:solidFill>
                  </a:tcPr>
                </a:tc>
                <a:tc>
                  <a:txBody>
                    <a:bodyPr/>
                    <a:lstStyle/>
                    <a:p>
                      <a:pPr>
                        <a:buNone/>
                        <a:defRPr sz="1600" b="0">
                          <a:solidFill>
                            <a:schemeClr val="tx1"/>
                          </a:solidFill>
                        </a:defRPr>
                      </a:pPr>
                      <a:r>
                        <a:rPr sz="1600" b="0" i="0" u="none"/>
                        <a:t>❌</a:t>
                      </a:r>
                    </a:p>
                  </a:txBody>
                  <a:tcPr>
                    <a:solidFill>
                      <a:schemeClr val="accent4">
                        <a:lumMod val="8000"/>
                        <a:lumOff val="92000"/>
                      </a:schemeClr>
                    </a:solidFill>
                  </a:tcPr>
                </a:tc>
                <a:tc>
                  <a:txBody>
                    <a:bodyPr/>
                    <a:lstStyle/>
                    <a:p>
                      <a:pPr>
                        <a:buNone/>
                        <a:defRPr sz="1600" b="0">
                          <a:solidFill>
                            <a:schemeClr val="tx1"/>
                          </a:solidFill>
                        </a:defRPr>
                      </a:pPr>
                      <a:r>
                        <a:rPr sz="1600" b="0" i="0" u="none"/>
                        <a:t>✅</a:t>
                      </a:r>
                    </a:p>
                  </a:txBody>
                  <a:tcPr>
                    <a:solidFill>
                      <a:schemeClr val="accent4">
                        <a:lumMod val="8000"/>
                        <a:lumOff val="92000"/>
                      </a:schemeClr>
                    </a:solidFill>
                  </a:tcPr>
                </a:tc>
                <a:tc>
                  <a:txBody>
                    <a:bodyPr/>
                    <a:lstStyle/>
                    <a:p>
                      <a:pPr>
                        <a:buNone/>
                        <a:defRPr sz="1600" b="0">
                          <a:solidFill>
                            <a:schemeClr val="tx1"/>
                          </a:solidFill>
                        </a:defRPr>
                      </a:pPr>
                      <a:r>
                        <a:rPr sz="1600" b="0" i="0" u="none"/>
                        <a:t>✅</a:t>
                      </a:r>
                    </a:p>
                  </a:txBody>
                  <a:tcPr>
                    <a:solidFill>
                      <a:schemeClr val="accent4">
                        <a:lumMod val="8000"/>
                        <a:lumOff val="92000"/>
                      </a:schemeClr>
                    </a:solidFill>
                  </a:tcPr>
                </a:tc>
                <a:extLst>
                  <a:ext uri="{0D108BD9-81ED-4DB2-BD59-A6C34878D82A}">
                    <a16:rowId xmlns:a16="http://schemas.microsoft.com/office/drawing/2014/main" val="10004"/>
                  </a:ext>
                </a:extLst>
              </a:tr>
              <a:tr h="528897">
                <a:tc>
                  <a:txBody>
                    <a:bodyPr/>
                    <a:lstStyle/>
                    <a:p>
                      <a:pPr>
                        <a:buNone/>
                        <a:defRPr sz="1600" b="0">
                          <a:solidFill>
                            <a:schemeClr val="tx1"/>
                          </a:solidFill>
                        </a:defRPr>
                      </a:pPr>
                      <a:r>
                        <a:rPr sz="1600" b="0" i="0" u="none"/>
                        <a:t>Org instruction files</a:t>
                      </a:r>
                    </a:p>
                  </a:txBody>
                  <a:tcPr>
                    <a:solidFill>
                      <a:schemeClr val="accent4">
                        <a:lumMod val="20000"/>
                        <a:lumOff val="80000"/>
                      </a:schemeClr>
                    </a:solidFill>
                  </a:tcPr>
                </a:tc>
                <a:tc>
                  <a:txBody>
                    <a:bodyPr/>
                    <a:lstStyle/>
                    <a:p>
                      <a:pPr>
                        <a:buNone/>
                        <a:defRPr sz="1600" b="0">
                          <a:solidFill>
                            <a:schemeClr val="tx1"/>
                          </a:solidFill>
                        </a:defRPr>
                      </a:pPr>
                      <a:r>
                        <a:rPr sz="1600" b="0" i="0" u="none"/>
                        <a:t>❌</a:t>
                      </a:r>
                    </a:p>
                  </a:txBody>
                  <a:tcPr>
                    <a:solidFill>
                      <a:schemeClr val="accent4">
                        <a:lumMod val="20000"/>
                        <a:lumOff val="80000"/>
                      </a:schemeClr>
                    </a:solidFill>
                  </a:tcPr>
                </a:tc>
                <a:tc>
                  <a:txBody>
                    <a:bodyPr/>
                    <a:lstStyle/>
                    <a:p>
                      <a:pPr>
                        <a:buNone/>
                        <a:defRPr sz="1600" b="0">
                          <a:solidFill>
                            <a:schemeClr val="tx1"/>
                          </a:solidFill>
                        </a:defRPr>
                      </a:pPr>
                      <a:r>
                        <a:rPr sz="1600" b="0" i="0" u="none"/>
                        <a:t>✅</a:t>
                      </a:r>
                    </a:p>
                  </a:txBody>
                  <a:tcPr>
                    <a:solidFill>
                      <a:schemeClr val="accent4">
                        <a:lumMod val="20000"/>
                        <a:lumOff val="80000"/>
                      </a:schemeClr>
                    </a:solidFill>
                  </a:tcPr>
                </a:tc>
                <a:tc>
                  <a:txBody>
                    <a:bodyPr/>
                    <a:lstStyle/>
                    <a:p>
                      <a:pPr>
                        <a:buNone/>
                        <a:defRPr sz="1600" b="0">
                          <a:solidFill>
                            <a:schemeClr val="tx1"/>
                          </a:solidFill>
                        </a:defRPr>
                      </a:pPr>
                      <a:r>
                        <a:rPr sz="1600" b="0" i="0" u="none"/>
                        <a:t>✅</a:t>
                      </a:r>
                    </a:p>
                  </a:txBody>
                  <a:tcPr>
                    <a:solidFill>
                      <a:schemeClr val="accent4">
                        <a:lumMod val="20000"/>
                        <a:lumOff val="80000"/>
                      </a:schemeClr>
                    </a:solidFill>
                  </a:tcPr>
                </a:tc>
                <a:extLst>
                  <a:ext uri="{0D108BD9-81ED-4DB2-BD59-A6C34878D82A}">
                    <a16:rowId xmlns:a16="http://schemas.microsoft.com/office/drawing/2014/main" val="10005"/>
                  </a:ext>
                </a:extLst>
              </a:tr>
              <a:tr h="528897">
                <a:tc>
                  <a:txBody>
                    <a:bodyPr/>
                    <a:lstStyle/>
                    <a:p>
                      <a:pPr>
                        <a:buNone/>
                        <a:defRPr sz="1600" b="0">
                          <a:solidFill>
                            <a:schemeClr val="tx1"/>
                          </a:solidFill>
                        </a:defRPr>
                      </a:pPr>
                      <a:r>
                        <a:rPr sz="1600" b="0" i="0" u="none"/>
                        <a:t>Includes Business capabilities</a:t>
                      </a:r>
                    </a:p>
                  </a:txBody>
                  <a:tcPr>
                    <a:solidFill>
                      <a:schemeClr val="accent4">
                        <a:lumMod val="8000"/>
                        <a:lumOff val="92000"/>
                      </a:schemeClr>
                    </a:solidFill>
                  </a:tcPr>
                </a:tc>
                <a:tc>
                  <a:txBody>
                    <a:bodyPr/>
                    <a:lstStyle/>
                    <a:p>
                      <a:pPr>
                        <a:buNone/>
                        <a:defRPr sz="1600" b="0">
                          <a:solidFill>
                            <a:schemeClr val="tx1"/>
                          </a:solidFill>
                        </a:defRPr>
                      </a:pPr>
                      <a:r>
                        <a:rPr sz="1600" b="0" i="0" u="none"/>
                        <a:t>—</a:t>
                      </a:r>
                    </a:p>
                  </a:txBody>
                  <a:tcPr>
                    <a:solidFill>
                      <a:schemeClr val="accent4">
                        <a:lumMod val="8000"/>
                        <a:lumOff val="92000"/>
                      </a:schemeClr>
                    </a:solidFill>
                  </a:tcPr>
                </a:tc>
                <a:tc>
                  <a:txBody>
                    <a:bodyPr/>
                    <a:lstStyle/>
                    <a:p>
                      <a:pPr>
                        <a:buNone/>
                        <a:defRPr sz="1600" b="0">
                          <a:solidFill>
                            <a:schemeClr val="tx1"/>
                          </a:solidFill>
                        </a:defRPr>
                      </a:pPr>
                      <a:r>
                        <a:rPr sz="1600" b="0" i="0" u="none"/>
                        <a:t>—</a:t>
                      </a:r>
                    </a:p>
                  </a:txBody>
                  <a:tcPr>
                    <a:solidFill>
                      <a:schemeClr val="accent4">
                        <a:lumMod val="8000"/>
                        <a:lumOff val="92000"/>
                      </a:schemeClr>
                    </a:solidFill>
                  </a:tcPr>
                </a:tc>
                <a:tc>
                  <a:txBody>
                    <a:bodyPr/>
                    <a:lstStyle/>
                    <a:p>
                      <a:pPr>
                        <a:buNone/>
                        <a:defRPr sz="1600" b="0">
                          <a:solidFill>
                            <a:schemeClr val="tx1"/>
                          </a:solidFill>
                        </a:defRPr>
                      </a:pPr>
                      <a:r>
                        <a:rPr sz="1600" b="0" i="0" u="none"/>
                        <a:t>✅</a:t>
                      </a:r>
                    </a:p>
                  </a:txBody>
                  <a:tcPr>
                    <a:solidFill>
                      <a:schemeClr val="accent4">
                        <a:lumMod val="8000"/>
                        <a:lumOff val="92000"/>
                      </a:schemeClr>
                    </a:solidFill>
                  </a:tcPr>
                </a:tc>
                <a:extLst>
                  <a:ext uri="{0D108BD9-81ED-4DB2-BD59-A6C34878D82A}">
                    <a16:rowId xmlns:a16="http://schemas.microsoft.com/office/drawing/2014/main" val="10006"/>
                  </a:ext>
                </a:extLst>
              </a:tr>
              <a:tr h="528897">
                <a:tc>
                  <a:txBody>
                    <a:bodyPr/>
                    <a:lstStyle/>
                    <a:p>
                      <a:pPr>
                        <a:buNone/>
                        <a:defRPr sz="1600" b="0">
                          <a:solidFill>
                            <a:schemeClr val="tx1"/>
                          </a:solidFill>
                        </a:defRPr>
                      </a:pPr>
                      <a:r>
                        <a:rPr sz="1600" b="0" i="0" u="none"/>
                        <a:t>Enterprise-only features</a:t>
                      </a:r>
                    </a:p>
                  </a:txBody>
                  <a:tcPr>
                    <a:solidFill>
                      <a:schemeClr val="accent4">
                        <a:lumMod val="20000"/>
                        <a:lumOff val="80000"/>
                      </a:schemeClr>
                    </a:solidFill>
                  </a:tcPr>
                </a:tc>
                <a:tc>
                  <a:txBody>
                    <a:bodyPr/>
                    <a:lstStyle/>
                    <a:p>
                      <a:pPr>
                        <a:buNone/>
                        <a:defRPr sz="1600" b="0">
                          <a:solidFill>
                            <a:schemeClr val="tx1"/>
                          </a:solidFill>
                        </a:defRPr>
                      </a:pPr>
                      <a:r>
                        <a:rPr sz="1600" b="0" i="0" u="none"/>
                        <a:t>—</a:t>
                      </a:r>
                    </a:p>
                  </a:txBody>
                  <a:tcPr>
                    <a:solidFill>
                      <a:schemeClr val="accent4">
                        <a:lumMod val="20000"/>
                        <a:lumOff val="80000"/>
                      </a:schemeClr>
                    </a:solidFill>
                  </a:tcPr>
                </a:tc>
                <a:tc>
                  <a:txBody>
                    <a:bodyPr/>
                    <a:lstStyle/>
                    <a:p>
                      <a:pPr>
                        <a:buNone/>
                        <a:defRPr sz="1600" b="0">
                          <a:solidFill>
                            <a:schemeClr val="tx1"/>
                          </a:solidFill>
                        </a:defRPr>
                      </a:pPr>
                      <a:r>
                        <a:rPr sz="1600" b="0" i="0" u="none"/>
                        <a:t>—</a:t>
                      </a:r>
                    </a:p>
                  </a:txBody>
                  <a:tcPr>
                    <a:solidFill>
                      <a:schemeClr val="accent4">
                        <a:lumMod val="20000"/>
                        <a:lumOff val="80000"/>
                      </a:schemeClr>
                    </a:solidFill>
                  </a:tcPr>
                </a:tc>
                <a:tc>
                  <a:txBody>
                    <a:bodyPr/>
                    <a:lstStyle/>
                    <a:p>
                      <a:pPr>
                        <a:buNone/>
                        <a:defRPr sz="1600" b="0">
                          <a:solidFill>
                            <a:schemeClr val="tx1"/>
                          </a:solidFill>
                        </a:defRPr>
                      </a:pPr>
                      <a:r>
                        <a:rPr sz="1600" b="0" i="0" u="none" dirty="0"/>
                        <a:t>✅</a:t>
                      </a:r>
                    </a:p>
                  </a:txBody>
                  <a:tcPr>
                    <a:solidFill>
                      <a:schemeClr val="accent4">
                        <a:lumMod val="20000"/>
                        <a:lumOff val="80000"/>
                      </a:schemeClr>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Business vs. Enterprise</a:t>
            </a:r>
          </a:p>
        </p:txBody>
      </p:sp>
      <p:sp>
        <p:nvSpPr>
          <p:cNvPr id="3" name="Content Placeholder 2"/>
          <p:cNvSpPr>
            <a:spLocks noGrp="1"/>
          </p:cNvSpPr>
          <p:nvPr>
            <p:ph sz="half" idx="1"/>
          </p:nvPr>
        </p:nvSpPr>
        <p:spPr/>
        <p:txBody>
          <a:bodyPr wrap="square">
            <a:normAutofit/>
          </a:bodyPr>
          <a:lstStyle/>
          <a:p>
            <a:pPr>
              <a:buNone/>
            </a:pPr>
            <a:r>
              <a:rPr sz="1800" b="0" i="0" u="none"/>
              <a:t>Business ($19/user/mo)</a:t>
            </a:r>
            <a:endParaRPr sz="1800" b="0" i="0">
              <a:latin typeface="Consolas"/>
            </a:endParaRPr>
          </a:p>
          <a:p>
            <a:r>
              <a:rPr sz="1800" b="0" i="0" u="none"/>
              <a:t>Organization-wide policy management</a:t>
            </a:r>
            <a:endParaRPr sz="1800" b="0" i="0">
              <a:latin typeface="Consolas"/>
            </a:endParaRPr>
          </a:p>
          <a:p>
            <a:r>
              <a:rPr sz="1800" b="0" i="0" u="none"/>
              <a:t>Org-level instruction files (</a:t>
            </a:r>
            <a:r>
              <a:rPr sz="1800" b="0" i="0" u="none">
                <a:latin typeface="Consolas"/>
              </a:rPr>
              <a:t>.github/instructions/</a:t>
            </a:r>
            <a:r>
              <a:rPr sz="1800" b="0" i="0" u="none"/>
              <a:t>)</a:t>
            </a:r>
            <a:endParaRPr sz="1800" b="0" i="0">
              <a:latin typeface="Consolas"/>
            </a:endParaRPr>
          </a:p>
          <a:p>
            <a:r>
              <a:rPr sz="1800" b="0" i="0" u="none"/>
              <a:t>Content exclusions &amp; audit logs</a:t>
            </a:r>
            <a:endParaRPr sz="1800" b="0" i="0">
              <a:latin typeface="Consolas"/>
            </a:endParaRPr>
          </a:p>
          <a:p>
            <a:r>
              <a:rPr sz="1800" b="0" i="0" u="none"/>
              <a:t>Standard model access</a:t>
            </a:r>
            <a:endParaRPr sz="1800" b="0" i="0">
              <a:latin typeface="Consolas"/>
            </a:endParaRPr>
          </a:p>
        </p:txBody>
      </p:sp>
      <p:sp>
        <p:nvSpPr>
          <p:cNvPr id="4" name="Content Placeholder 3"/>
          <p:cNvSpPr>
            <a:spLocks noGrp="1"/>
          </p:cNvSpPr>
          <p:nvPr>
            <p:ph sz="half" idx="2"/>
          </p:nvPr>
        </p:nvSpPr>
        <p:spPr/>
        <p:txBody>
          <a:bodyPr wrap="square">
            <a:noAutofit/>
          </a:bodyPr>
          <a:lstStyle/>
          <a:p>
            <a:pPr>
              <a:buNone/>
            </a:pPr>
            <a:r>
              <a:rPr sz="2050" b="0" i="0" u="none"/>
              <a:t>Enterprise ($39/user/mo) — adds:</a:t>
            </a:r>
            <a:endParaRPr sz="2050" b="0" i="0">
              <a:latin typeface="Arial"/>
            </a:endParaRPr>
          </a:p>
          <a:p>
            <a:pPr>
              <a:buNone/>
            </a:pPr>
            <a:endParaRPr sz="2050" b="0" i="0">
              <a:latin typeface="Arial"/>
            </a:endParaRPr>
          </a:p>
          <a:p>
            <a:r>
              <a:rPr sz="2050" b="0" i="0" u="none"/>
              <a:t>Copilot Knowledge Bases — index your internal docs &amp; repos</a:t>
            </a:r>
            <a:endParaRPr sz="2050" b="0" i="0">
              <a:latin typeface="Arial"/>
            </a:endParaRPr>
          </a:p>
          <a:p>
            <a:r>
              <a:rPr sz="2050" b="0" i="0" u="none"/>
              <a:t>Fine-tuned models on your private codebase</a:t>
            </a:r>
            <a:endParaRPr sz="2050" b="0" i="0">
              <a:latin typeface="Arial"/>
            </a:endParaRPr>
          </a:p>
          <a:p>
            <a:r>
              <a:rPr sz="2050" b="0" i="0" u="none"/>
              <a:t>Advanced audit &amp; usage analytics</a:t>
            </a:r>
            <a:endParaRPr sz="2050" b="0" i="0">
              <a:latin typeface="Arial"/>
            </a:endParaRPr>
          </a:p>
          <a:p>
            <a:r>
              <a:rPr sz="2050" b="0" i="0" u="none"/>
              <a:t>Copilot in GitHub.com (PR summaries, issue chat)</a:t>
            </a:r>
            <a:endParaRPr sz="2050" b="0" i="0">
              <a:latin typeface="Arial"/>
            </a:endParaRPr>
          </a:p>
          <a:p>
            <a:r>
              <a:rPr sz="2050" b="0" i="0" u="none"/>
              <a:t>Enhanced compliance &amp; data residency options</a:t>
            </a:r>
            <a:endParaRPr sz="2050" b="0" i="0">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00"/>
              <a:t>Organization-Level Instruction Files</a:t>
            </a:r>
          </a:p>
        </p:txBody>
      </p:sp>
      <p:sp>
        <p:nvSpPr>
          <p:cNvPr id="3" name="Content Placeholder 2"/>
          <p:cNvSpPr>
            <a:spLocks noGrp="1"/>
          </p:cNvSpPr>
          <p:nvPr>
            <p:ph idx="1"/>
          </p:nvPr>
        </p:nvSpPr>
        <p:spPr/>
        <p:txBody>
          <a:bodyPr wrap="square">
            <a:noAutofit/>
          </a:bodyPr>
          <a:lstStyle/>
          <a:p>
            <a:pPr>
              <a:buNone/>
            </a:pPr>
            <a:r>
              <a:rPr sz="1400" b="0" i="0" u="none"/>
              <a:t>Business &amp; Enterprise unlock </a:t>
            </a:r>
            <a:r>
              <a:rPr sz="1400" b="0" i="0" u="none">
                <a:latin typeface="Consolas"/>
              </a:rPr>
              <a:t>.github/instructions/</a:t>
            </a:r>
            <a:endParaRPr sz="1400" b="0" i="0">
              <a:latin typeface="Consolas"/>
            </a:endParaRPr>
          </a:p>
          <a:p>
            <a:pPr>
              <a:buNone/>
            </a:pPr>
            <a:endParaRPr sz="1400" b="0" i="0">
              <a:latin typeface="Consolas"/>
            </a:endParaRPr>
          </a:p>
          <a:p>
            <a:pPr>
              <a:buNone/>
            </a:pPr>
            <a:r>
              <a:rPr sz="1400" b="0" i="0">
                <a:latin typeface="Consolas"/>
              </a:rPr>
              <a:t>your-org/</a:t>
            </a:r>
          </a:p>
          <a:p>
            <a:pPr>
              <a:buNone/>
            </a:pPr>
            <a:r>
              <a:rPr sz="1400" b="0" i="0">
                <a:latin typeface="Consolas"/>
              </a:rPr>
              <a:t>└── .github/</a:t>
            </a:r>
          </a:p>
          <a:p>
            <a:pPr>
              <a:buNone/>
            </a:pPr>
            <a:r>
              <a:rPr sz="1400" b="0" i="0">
                <a:latin typeface="Consolas"/>
              </a:rPr>
              <a:t>  └── instructions/</a:t>
            </a:r>
          </a:p>
          <a:p>
            <a:pPr>
              <a:buNone/>
            </a:pPr>
            <a:r>
              <a:rPr sz="1400" b="0" i="0">
                <a:latin typeface="Consolas"/>
              </a:rPr>
              <a:t>    ├── coding-standards.instructions.md</a:t>
            </a:r>
          </a:p>
          <a:p>
            <a:pPr>
              <a:buNone/>
            </a:pPr>
            <a:r>
              <a:rPr sz="1400" b="0" i="0">
                <a:latin typeface="Consolas"/>
              </a:rPr>
              <a:t>    ├── security-policy.instructions.md</a:t>
            </a:r>
          </a:p>
          <a:p>
            <a:pPr>
              <a:buNone/>
            </a:pPr>
            <a:r>
              <a:rPr sz="1400" b="0" i="0">
                <a:latin typeface="Consolas"/>
              </a:rPr>
              <a:t>    └── api-guidelines.instructions.md</a:t>
            </a:r>
          </a:p>
          <a:p>
            <a:pPr>
              <a:buNone/>
            </a:pPr>
            <a:endParaRPr sz="1400" b="0" i="0">
              <a:latin typeface="Consolas"/>
            </a:endParaRPr>
          </a:p>
          <a:p>
            <a:pPr>
              <a:buNone/>
            </a:pPr>
            <a:r>
              <a:rPr sz="1400" b="0" i="0" u="none"/>
              <a:t>What this gives you</a:t>
            </a:r>
            <a:endParaRPr sz="1400" b="0" i="0">
              <a:latin typeface="Consolas"/>
            </a:endParaRPr>
          </a:p>
          <a:p>
            <a:pPr lvl="1"/>
            <a:r>
              <a:rPr sz="1400" b="0" i="0" u="none"/>
              <a:t>Instructions apply automatically across org repositories</a:t>
            </a:r>
            <a:endParaRPr sz="1400" b="0" i="0">
              <a:latin typeface="Consolas"/>
            </a:endParaRPr>
          </a:p>
          <a:p>
            <a:pPr lvl="1"/>
            <a:r>
              <a:rPr sz="1400" b="0" i="0" u="none"/>
              <a:t>Copilot follows them in chat and code suggestions</a:t>
            </a:r>
            <a:endParaRPr sz="1400" b="0" i="0">
              <a:latin typeface="Consolas"/>
            </a:endParaRPr>
          </a:p>
          <a:p>
            <a:pPr lvl="1"/>
            <a:r>
              <a:rPr sz="1400" b="0" i="0" u="none"/>
              <a:t>Repo-level instructions can extend the org defaults</a:t>
            </a:r>
            <a:endParaRPr sz="1400" b="0" i="0">
              <a:latin typeface="Consolas"/>
            </a:endParaRPr>
          </a:p>
          <a:p>
            <a:pPr lvl="1"/>
            <a:r>
              <a:rPr sz="1400" b="0" i="0" u="none"/>
              <a:t>Updates propagate without developer action</a:t>
            </a:r>
            <a:endParaRPr sz="1400" b="0" i="0">
              <a:latin typeface="Consola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Autofit/>
          </a:bodyPr>
          <a:lstStyle/>
          <a:p>
            <a:r>
              <a:rPr sz="2750" b="0" i="0" u="none"/>
              <a:t>Intro</a:t>
            </a:r>
          </a:p>
          <a:p>
            <a:r>
              <a:rPr sz="2750" b="1" i="0" u="none"/>
              <a:t>▶ LLM</a:t>
            </a:r>
          </a:p>
          <a:p>
            <a:r>
              <a:rPr sz="2750" b="0" i="0" u="none"/>
              <a:t>Copilot for Teams</a:t>
            </a:r>
          </a:p>
          <a:p>
            <a:r>
              <a:rPr sz="2750" b="0" i="0" u="none"/>
              <a:t>Safety Measures and Best Practices</a:t>
            </a:r>
          </a:p>
          <a:p>
            <a:r>
              <a:rPr sz="2750" b="0" i="0" u="none"/>
              <a:t>Models and Context</a:t>
            </a:r>
          </a:p>
          <a:p>
            <a:r>
              <a:rPr sz="2750" b="0" i="0" u="none"/>
              <a:t>Guardrails and Prompt Files</a:t>
            </a:r>
          </a:p>
          <a:p>
            <a:r>
              <a:rPr sz="2750" b="0" i="0" u="none"/>
              <a:t>AI Assisted Documentation</a:t>
            </a:r>
          </a:p>
          <a:p>
            <a:r>
              <a:rPr sz="2750" b="0" i="0" u="none"/>
              <a:t>Test Automation and Code 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Large Language Models</a:t>
            </a:r>
          </a:p>
        </p:txBody>
      </p:sp>
      <p:sp>
        <p:nvSpPr>
          <p:cNvPr id="3" name="Subtitle 2"/>
          <p:cNvSpPr>
            <a:spLocks noGrp="1"/>
          </p:cNvSpPr>
          <p:nvPr>
            <p:ph type="subTitle" idx="1"/>
          </p:nvPr>
        </p:nvSpPr>
        <p:spPr/>
        <p:txBody>
          <a:bodyPr wrap="square">
            <a:normAutofit/>
          </a:bodyPr>
          <a:lstStyle/>
          <a:p>
            <a:pPr>
              <a:buNone/>
            </a:pPr>
            <a:r>
              <a:rPr b="0" i="0" u="none"/>
              <a:t>It's Not Magic. It's Calculus.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50"/>
              <a:t>What Is a Large Language Model?</a:t>
            </a:r>
          </a:p>
        </p:txBody>
      </p:sp>
      <p:sp>
        <p:nvSpPr>
          <p:cNvPr id="3" name="Content Placeholder 2"/>
          <p:cNvSpPr>
            <a:spLocks noGrp="1"/>
          </p:cNvSpPr>
          <p:nvPr>
            <p:ph idx="1"/>
          </p:nvPr>
        </p:nvSpPr>
        <p:spPr/>
        <p:txBody>
          <a:bodyPr wrap="square">
            <a:noAutofit/>
          </a:bodyPr>
          <a:lstStyle/>
          <a:p>
            <a:pPr>
              <a:buNone/>
            </a:pPr>
            <a:r>
              <a:rPr sz="2200" b="0" i="0" u="none" dirty="0"/>
              <a:t>A statistical model trained to predict the next token given all preceding tokens.</a:t>
            </a:r>
            <a:endParaRPr sz="2200" b="0" i="0" dirty="0">
              <a:latin typeface="Arial"/>
            </a:endParaRPr>
          </a:p>
          <a:p>
            <a:pPr>
              <a:buNone/>
            </a:pPr>
            <a:endParaRPr sz="2200" b="0" i="0" dirty="0">
              <a:latin typeface="Arial"/>
            </a:endParaRPr>
          </a:p>
          <a:p>
            <a:r>
              <a:rPr sz="2200" b="0" i="0" u="none" dirty="0"/>
              <a:t>Trained on trillions of tokens of text (code, books, web pages)</a:t>
            </a:r>
            <a:endParaRPr sz="2200" b="0" i="0" dirty="0">
              <a:latin typeface="Arial"/>
            </a:endParaRPr>
          </a:p>
          <a:p>
            <a:r>
              <a:rPr sz="2200" b="0" i="0" u="none" dirty="0"/>
              <a:t>Learns patterns, relationships, and structure in language</a:t>
            </a:r>
            <a:endParaRPr sz="2200" b="0" i="0" dirty="0">
              <a:latin typeface="Arial"/>
            </a:endParaRPr>
          </a:p>
          <a:p>
            <a:r>
              <a:rPr sz="2200" b="0" i="0" u="none" dirty="0"/>
              <a:t>Not a database — it doesn't store facts, it learns weights</a:t>
            </a:r>
            <a:endParaRPr sz="2200" b="0" i="0" dirty="0">
              <a:latin typeface="Arial"/>
            </a:endParaRPr>
          </a:p>
          <a:p>
            <a:r>
              <a:rPr sz="2200" b="0" i="0" u="none" dirty="0"/>
              <a:t>Generates output one token at a time, probabilistically</a:t>
            </a:r>
            <a:endParaRPr sz="2200" b="0" i="0" dirty="0">
              <a:latin typeface="Arial"/>
            </a:endParaRPr>
          </a:p>
          <a:p>
            <a:pPr>
              <a:buNone/>
            </a:pPr>
            <a:endParaRPr sz="2200" b="0" i="0" dirty="0">
              <a:latin typeface="Arial"/>
            </a:endParaRPr>
          </a:p>
          <a:p>
            <a:pPr>
              <a:buNone/>
            </a:pPr>
            <a:r>
              <a:rPr sz="2200" b="0" i="0" u="none" dirty="0"/>
              <a:t>Key insight</a:t>
            </a:r>
            <a:endParaRPr sz="2200" b="0" i="0" dirty="0">
              <a:latin typeface="Arial"/>
            </a:endParaRPr>
          </a:p>
          <a:p>
            <a:pPr>
              <a:buNone/>
            </a:pPr>
            <a:r>
              <a:rPr sz="2200" b="0" i="1" u="none" dirty="0"/>
              <a:t>LLMs don't "know" things — they learn what text tends to follow other text.</a:t>
            </a:r>
            <a:endParaRPr sz="2200" b="0" i="1" dirty="0">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00"/>
              <a:t>Tokenization — Breaking Text Apart</a:t>
            </a:r>
          </a:p>
        </p:txBody>
      </p:sp>
      <p:sp>
        <p:nvSpPr>
          <p:cNvPr id="3" name="Content Placeholder 2"/>
          <p:cNvSpPr>
            <a:spLocks noGrp="1"/>
          </p:cNvSpPr>
          <p:nvPr>
            <p:ph idx="1"/>
          </p:nvPr>
        </p:nvSpPr>
        <p:spPr/>
        <p:txBody>
          <a:bodyPr wrap="square">
            <a:noAutofit/>
          </a:bodyPr>
          <a:lstStyle/>
          <a:p>
            <a:pPr>
              <a:buNone/>
            </a:pPr>
            <a:r>
              <a:rPr sz="1400" b="0" i="0" u="none"/>
              <a:t>Text → Numbers (before the model sees anything)</a:t>
            </a:r>
            <a:endParaRPr sz="1400" b="0" i="0">
              <a:latin typeface="Consolas"/>
            </a:endParaRPr>
          </a:p>
          <a:p>
            <a:pPr>
              <a:buNone/>
            </a:pPr>
            <a:endParaRPr sz="1400" b="0" i="0">
              <a:latin typeface="Consolas"/>
            </a:endParaRPr>
          </a:p>
          <a:p>
            <a:pPr>
              <a:buNone/>
            </a:pPr>
            <a:r>
              <a:rPr sz="1400" b="0" i="0">
                <a:latin typeface="Consolas"/>
              </a:rPr>
              <a:t>Input:  "Hello, world!"</a:t>
            </a:r>
          </a:p>
          <a:p>
            <a:pPr>
              <a:buNone/>
            </a:pPr>
            <a:r>
              <a:rPr sz="1400" b="0" i="0">
                <a:latin typeface="Consolas"/>
              </a:rPr>
              <a:t>Tokens: ["Hello", ",", " world", "!"]</a:t>
            </a:r>
          </a:p>
          <a:p>
            <a:pPr>
              <a:buNone/>
            </a:pPr>
            <a:r>
              <a:rPr sz="1400" b="0" i="0">
                <a:latin typeface="Consolas"/>
              </a:rPr>
              <a:t>IDs:    [15496, 11, 995, 0]</a:t>
            </a:r>
          </a:p>
          <a:p>
            <a:pPr>
              <a:buNone/>
            </a:pPr>
            <a:endParaRPr sz="1400" b="0" i="0">
              <a:latin typeface="Consolas"/>
            </a:endParaRPr>
          </a:p>
          <a:p>
            <a:pPr>
              <a:buNone/>
            </a:pPr>
            <a:r>
              <a:rPr sz="1400" b="0" i="0">
                <a:latin typeface="Consolas"/>
              </a:rPr>
              <a:t>Input:  "def calculate_tax(income):"</a:t>
            </a:r>
          </a:p>
          <a:p>
            <a:pPr>
              <a:buNone/>
            </a:pPr>
            <a:r>
              <a:rPr sz="1400" b="0" i="0">
                <a:latin typeface="Consolas"/>
              </a:rPr>
              <a:t>Tokens: ["def", " calculate", "_tax", "(", "income", "):"]</a:t>
            </a:r>
          </a:p>
          <a:p>
            <a:pPr>
              <a:buNone/>
            </a:pPr>
            <a:endParaRPr sz="1400" b="0" i="0">
              <a:latin typeface="Consolas"/>
            </a:endParaRPr>
          </a:p>
          <a:p>
            <a:r>
              <a:rPr sz="1400" b="0" i="0" u="none"/>
              <a:t>A token ≈ ~4 characters or ¾ of a word on average</a:t>
            </a:r>
            <a:endParaRPr sz="1400" b="0" i="0">
              <a:latin typeface="Consolas"/>
            </a:endParaRPr>
          </a:p>
          <a:p>
            <a:r>
              <a:rPr sz="1400" b="0" i="0" u="none"/>
              <a:t>The model only ever sees token IDs, never raw text</a:t>
            </a:r>
            <a:endParaRPr sz="1400" b="0" i="0">
              <a:latin typeface="Consolas"/>
            </a:endParaRPr>
          </a:p>
          <a:p>
            <a:r>
              <a:rPr sz="1400" b="0" i="0" u="none"/>
              <a:t>Tokenization affects cost, context limits, and model behavior</a:t>
            </a:r>
            <a:endParaRPr sz="1400" b="0" i="0">
              <a:latin typeface="Consolas"/>
            </a:endParaRPr>
          </a:p>
          <a:p>
            <a:r>
              <a:rPr sz="1400" b="0" i="0" u="none"/>
              <a:t>Rare words split into multiple tokens → less efficient</a:t>
            </a:r>
            <a:endParaRPr sz="1400" b="0" i="0">
              <a:latin typeface="Consola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8928887" cy="703024"/>
          </a:xfrm>
        </p:spPr>
        <p:txBody>
          <a:bodyPr anchor="ctr">
            <a:normAutofit/>
          </a:bodyPr>
          <a:lstStyle/>
          <a:p>
            <a:r>
              <a:t>The Transformer Architecture</a:t>
            </a:r>
          </a:p>
        </p:txBody>
      </p:sp>
      <p:sp>
        <p:nvSpPr>
          <p:cNvPr id="3" name="Content Placeholder 2"/>
          <p:cNvSpPr>
            <a:spLocks noGrp="1"/>
          </p:cNvSpPr>
          <p:nvPr>
            <p:ph sz="half" idx="1"/>
          </p:nvPr>
        </p:nvSpPr>
        <p:spPr>
          <a:xfrm>
            <a:off x="838200" y="1463752"/>
            <a:ext cx="5181600" cy="4351338"/>
          </a:xfrm>
        </p:spPr>
        <p:txBody>
          <a:bodyPr>
            <a:normAutofit/>
          </a:bodyPr>
          <a:lstStyle/>
          <a:p>
            <a:pPr>
              <a:lnSpc>
                <a:spcPct val="90000"/>
              </a:lnSpc>
              <a:buNone/>
            </a:pPr>
            <a:r>
              <a:rPr lang="en-US" sz="2200" b="0" i="0" u="none" dirty="0"/>
              <a:t>The breakthrough that made modern LLMs possible (2017)</a:t>
            </a:r>
            <a:endParaRPr lang="en-US" sz="2200" b="0" i="0" dirty="0"/>
          </a:p>
          <a:p>
            <a:pPr>
              <a:lnSpc>
                <a:spcPct val="90000"/>
              </a:lnSpc>
              <a:buNone/>
            </a:pPr>
            <a:endParaRPr lang="en-US" sz="2200" b="0" i="0" dirty="0"/>
          </a:p>
          <a:p>
            <a:pPr>
              <a:lnSpc>
                <a:spcPct val="90000"/>
              </a:lnSpc>
            </a:pPr>
            <a:r>
              <a:rPr lang="en-US" sz="2200" b="0" i="0" u="none" dirty="0"/>
              <a:t>Self-attention lets every token "look at" every other token</a:t>
            </a:r>
            <a:endParaRPr lang="en-US" sz="2200" b="0" i="0" dirty="0"/>
          </a:p>
          <a:p>
            <a:pPr>
              <a:lnSpc>
                <a:spcPct val="90000"/>
              </a:lnSpc>
            </a:pPr>
            <a:r>
              <a:rPr lang="en-US" sz="2200" b="0" i="0" u="none" dirty="0"/>
              <a:t>Processes the entire context window at once (not word-by-word)</a:t>
            </a:r>
            <a:endParaRPr lang="en-US" sz="2200" b="0" i="0" dirty="0"/>
          </a:p>
          <a:p>
            <a:pPr>
              <a:lnSpc>
                <a:spcPct val="90000"/>
              </a:lnSpc>
            </a:pPr>
            <a:r>
              <a:rPr lang="en-US" sz="2200" b="0" i="0" u="none" dirty="0"/>
              <a:t>Stacked in layers — deeper = richer understanding</a:t>
            </a:r>
            <a:endParaRPr lang="en-US" sz="2200" b="0" i="0" dirty="0"/>
          </a:p>
        </p:txBody>
      </p:sp>
      <p:pic>
        <p:nvPicPr>
          <p:cNvPr id="4" name="Picture 3" descr="667fde2c35ed4a2ae1af897758587bb4ea521cf7.png"/>
          <p:cNvPicPr>
            <a:picLocks noChangeAspect="1"/>
          </p:cNvPicPr>
          <p:nvPr/>
        </p:nvPicPr>
        <p:blipFill>
          <a:blip r:embed="rId3"/>
          <a:stretch>
            <a:fillRect/>
          </a:stretch>
        </p:blipFill>
        <p:spPr>
          <a:xfrm>
            <a:off x="7985198" y="1463752"/>
            <a:ext cx="1555603" cy="4351338"/>
          </a:xfrm>
          <a:prstGeom prst="rect">
            <a:avLst/>
          </a:prstGeom>
          <a:noFill/>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Self-Attention — The Core Idea</a:t>
            </a:r>
          </a:p>
        </p:txBody>
      </p:sp>
      <p:sp>
        <p:nvSpPr>
          <p:cNvPr id="3" name="Content Placeholder 2"/>
          <p:cNvSpPr>
            <a:spLocks noGrp="1"/>
          </p:cNvSpPr>
          <p:nvPr>
            <p:ph idx="1"/>
          </p:nvPr>
        </p:nvSpPr>
        <p:spPr/>
        <p:txBody>
          <a:bodyPr wrap="square">
            <a:noAutofit/>
          </a:bodyPr>
          <a:lstStyle/>
          <a:p>
            <a:pPr>
              <a:buNone/>
            </a:pPr>
            <a:r>
              <a:rPr sz="1400" b="0" i="0" u="none" dirty="0"/>
              <a:t>How the model decides what to focus on</a:t>
            </a:r>
            <a:endParaRPr sz="1400" b="0" i="0" dirty="0">
              <a:latin typeface="Consolas"/>
            </a:endParaRPr>
          </a:p>
          <a:p>
            <a:pPr>
              <a:buNone/>
            </a:pPr>
            <a:endParaRPr sz="1400" b="0" i="0" dirty="0">
              <a:latin typeface="Consolas"/>
            </a:endParaRPr>
          </a:p>
          <a:p>
            <a:pPr>
              <a:buNone/>
            </a:pPr>
            <a:r>
              <a:rPr sz="1400" b="0" i="0" u="none" dirty="0"/>
              <a:t>"The trophy didn't fit in the suitcase because it was too big."</a:t>
            </a:r>
            <a:endParaRPr sz="1400" b="0" i="0" dirty="0">
              <a:latin typeface="Consolas"/>
            </a:endParaRPr>
          </a:p>
          <a:p>
            <a:pPr>
              <a:buNone/>
            </a:pPr>
            <a:r>
              <a:rPr sz="1400" b="0" i="0" u="none" dirty="0"/>
              <a:t>What does "it" refer to?</a:t>
            </a:r>
            <a:endParaRPr sz="1400" b="0" i="0" dirty="0">
              <a:latin typeface="Consolas"/>
            </a:endParaRPr>
          </a:p>
          <a:p>
            <a:pPr>
              <a:buNone/>
            </a:pPr>
            <a:endParaRPr sz="1400" b="0" i="0" dirty="0">
              <a:latin typeface="Consolas"/>
            </a:endParaRPr>
          </a:p>
          <a:p>
            <a:r>
              <a:rPr sz="1400" b="0" i="0" u="none" dirty="0"/>
              <a:t>Each token computes Query, Key, and Value vectors</a:t>
            </a:r>
            <a:endParaRPr sz="1400" b="0" i="0" dirty="0">
              <a:latin typeface="Consolas"/>
            </a:endParaRPr>
          </a:p>
          <a:p>
            <a:r>
              <a:rPr sz="1400" b="0" i="0" u="none" dirty="0"/>
              <a:t>Attention score = how much each token should influence the current one</a:t>
            </a:r>
            <a:endParaRPr sz="1400" b="0" i="0" dirty="0">
              <a:latin typeface="Consolas"/>
            </a:endParaRPr>
          </a:p>
          <a:p>
            <a:r>
              <a:rPr sz="1400" b="0" i="0" u="none" dirty="0"/>
              <a:t>Model learns which relationships matter during training</a:t>
            </a:r>
            <a:endParaRPr sz="1400" b="0" i="0" dirty="0">
              <a:latin typeface="Consolas"/>
            </a:endParaRPr>
          </a:p>
          <a:p>
            <a:r>
              <a:rPr sz="1400" b="0" i="0" u="none" dirty="0"/>
              <a:t>Multiple attention heads capture different relationship types simultaneously</a:t>
            </a:r>
            <a:endParaRPr sz="1400" b="0" i="0" dirty="0">
              <a:latin typeface="Consolas"/>
            </a:endParaRPr>
          </a:p>
          <a:p>
            <a:pPr>
              <a:buNone/>
            </a:pPr>
            <a:endParaRPr sz="1400" b="0" i="0" dirty="0">
              <a:latin typeface="Consolas"/>
            </a:endParaRPr>
          </a:p>
          <a:p>
            <a:pPr>
              <a:buNone/>
            </a:pPr>
            <a:r>
              <a:rPr sz="1400" b="0" i="0" u="none" dirty="0"/>
              <a:t>In code:</a:t>
            </a:r>
            <a:endParaRPr sz="1400" b="0" i="0" dirty="0">
              <a:latin typeface="Consolas"/>
            </a:endParaRPr>
          </a:p>
          <a:p>
            <a:pPr>
              <a:buNone/>
            </a:pPr>
            <a:r>
              <a:rPr sz="1400" b="0" i="0" dirty="0">
                <a:latin typeface="Consolas"/>
              </a:rPr>
              <a:t>"def process(data):"  →  model attends to "def" when predicting</a:t>
            </a:r>
          </a:p>
          <a:p>
            <a:pPr>
              <a:buNone/>
            </a:pPr>
            <a:r>
              <a:rPr sz="1400" b="0" i="0" dirty="0">
                <a:latin typeface="Consolas"/>
              </a:rPr>
              <a:t>                          what comes after "(data):"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8928887" cy="703024"/>
          </a:xfrm>
        </p:spPr>
        <p:txBody>
          <a:bodyPr anchor="ctr">
            <a:normAutofit/>
          </a:bodyPr>
          <a:lstStyle/>
          <a:p>
            <a:r>
              <a:t>The Training Process</a:t>
            </a:r>
          </a:p>
        </p:txBody>
      </p:sp>
      <p:sp>
        <p:nvSpPr>
          <p:cNvPr id="3" name="Content Placeholder 2"/>
          <p:cNvSpPr>
            <a:spLocks noGrp="1"/>
          </p:cNvSpPr>
          <p:nvPr>
            <p:ph sz="half" idx="1"/>
          </p:nvPr>
        </p:nvSpPr>
        <p:spPr>
          <a:xfrm>
            <a:off x="838200" y="1463752"/>
            <a:ext cx="5181600" cy="4351338"/>
          </a:xfrm>
        </p:spPr>
        <p:txBody>
          <a:bodyPr>
            <a:normAutofit/>
          </a:bodyPr>
          <a:lstStyle/>
          <a:p>
            <a:pPr>
              <a:lnSpc>
                <a:spcPct val="90000"/>
              </a:lnSpc>
              <a:buNone/>
            </a:pPr>
            <a:r>
              <a:rPr lang="en-US" b="0" i="0" u="none" dirty="0"/>
              <a:t>Phase 1: Pre-training</a:t>
            </a:r>
            <a:endParaRPr lang="en-US" b="0" i="0" dirty="0"/>
          </a:p>
          <a:p>
            <a:pPr>
              <a:lnSpc>
                <a:spcPct val="90000"/>
              </a:lnSpc>
              <a:buNone/>
            </a:pPr>
            <a:endParaRPr lang="en-US" b="0" i="0" dirty="0"/>
          </a:p>
          <a:p>
            <a:pPr>
              <a:lnSpc>
                <a:spcPct val="90000"/>
              </a:lnSpc>
            </a:pPr>
            <a:r>
              <a:rPr lang="en-US" b="0" i="0" u="none" dirty="0"/>
              <a:t>Months of training, millions of dollars in compute</a:t>
            </a:r>
            <a:endParaRPr lang="en-US" b="0" i="0" dirty="0"/>
          </a:p>
          <a:p>
            <a:pPr>
              <a:lnSpc>
                <a:spcPct val="90000"/>
              </a:lnSpc>
            </a:pPr>
            <a:r>
              <a:rPr lang="en-US" b="0" i="0" u="none" dirty="0"/>
              <a:t>Produces a base model that completes text — but isn't yet "helpful"</a:t>
            </a:r>
            <a:endParaRPr lang="en-US" b="0" i="0" dirty="0"/>
          </a:p>
        </p:txBody>
      </p:sp>
      <p:pic>
        <p:nvPicPr>
          <p:cNvPr id="4" name="Picture 3" descr="99ce6fa559f947eb2b07bf992a2ba59cb98c4871.png"/>
          <p:cNvPicPr>
            <a:picLocks noChangeAspect="1"/>
          </p:cNvPicPr>
          <p:nvPr/>
        </p:nvPicPr>
        <p:blipFill>
          <a:blip r:embed="rId3"/>
          <a:stretch>
            <a:fillRect/>
          </a:stretch>
        </p:blipFill>
        <p:spPr>
          <a:xfrm>
            <a:off x="7996077" y="1463752"/>
            <a:ext cx="1533846" cy="4351338"/>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The Training Process</a:t>
            </a:r>
          </a:p>
        </p:txBody>
      </p:sp>
      <p:sp>
        <p:nvSpPr>
          <p:cNvPr id="3" name="Content Placeholder 2"/>
          <p:cNvSpPr>
            <a:spLocks noGrp="1"/>
          </p:cNvSpPr>
          <p:nvPr>
            <p:ph idx="1"/>
          </p:nvPr>
        </p:nvSpPr>
        <p:spPr/>
        <p:txBody>
          <a:bodyPr wrap="square">
            <a:normAutofit fontScale="92500" lnSpcReduction="20000"/>
          </a:bodyPr>
          <a:lstStyle/>
          <a:p>
            <a:pPr>
              <a:buNone/>
            </a:pPr>
            <a:r>
              <a:rPr sz="1400" b="0" i="0" u="none" dirty="0"/>
              <a:t>Phase 2: Fine-tuning &amp; Alignment</a:t>
            </a:r>
            <a:endParaRPr sz="1400" b="0" i="0" dirty="0">
              <a:latin typeface="Consolas"/>
            </a:endParaRPr>
          </a:p>
          <a:p>
            <a:pPr>
              <a:buNone/>
            </a:pPr>
            <a:endParaRPr sz="1400" b="0" i="0" dirty="0">
              <a:latin typeface="Consolas"/>
            </a:endParaRPr>
          </a:p>
          <a:p>
            <a:pPr>
              <a:buNone/>
            </a:pPr>
            <a:r>
              <a:rPr sz="1400" b="0" i="0" u="none" dirty="0"/>
              <a:t>Supervised Fine-Tuning (SFT)</a:t>
            </a:r>
            <a:endParaRPr sz="1400" b="0" i="0" dirty="0">
              <a:latin typeface="Consolas"/>
            </a:endParaRPr>
          </a:p>
          <a:p>
            <a:r>
              <a:rPr sz="1400" b="0" i="0" u="none" dirty="0"/>
              <a:t>Train on curated prompt → ideal response pairs</a:t>
            </a:r>
            <a:endParaRPr sz="1400" b="0" i="0" dirty="0">
              <a:latin typeface="Consolas"/>
            </a:endParaRPr>
          </a:p>
          <a:p>
            <a:r>
              <a:rPr sz="1400" b="0" i="0" u="none" dirty="0"/>
              <a:t>Teaches the model to be helpful and follow instructions</a:t>
            </a:r>
            <a:endParaRPr sz="1400" b="0" i="0" dirty="0">
              <a:latin typeface="Consolas"/>
            </a:endParaRPr>
          </a:p>
          <a:p>
            <a:pPr>
              <a:buNone/>
            </a:pPr>
            <a:endParaRPr sz="1400" b="0" i="0" dirty="0">
              <a:latin typeface="Consolas"/>
            </a:endParaRPr>
          </a:p>
          <a:p>
            <a:pPr>
              <a:buNone/>
            </a:pPr>
            <a:r>
              <a:rPr sz="1400" b="0" i="0" u="none" dirty="0"/>
              <a:t>Reinforcement Learning from Human Feedback (RLHF)</a:t>
            </a:r>
            <a:endParaRPr sz="1400" b="0" i="0" dirty="0">
              <a:latin typeface="Consolas"/>
            </a:endParaRPr>
          </a:p>
          <a:p>
            <a:r>
              <a:rPr sz="1400" b="0" i="0" u="none" dirty="0"/>
              <a:t>Human raters rank model outputs</a:t>
            </a:r>
            <a:endParaRPr sz="1400" b="0" i="0" dirty="0">
              <a:latin typeface="Consolas"/>
            </a:endParaRPr>
          </a:p>
          <a:p>
            <a:r>
              <a:rPr sz="1400" b="0" i="0" u="none" dirty="0"/>
              <a:t>A reward model learns human preferences</a:t>
            </a:r>
            <a:endParaRPr sz="1400" b="0" i="0" dirty="0">
              <a:latin typeface="Consolas"/>
            </a:endParaRPr>
          </a:p>
          <a:p>
            <a:r>
              <a:rPr sz="1400" b="0" i="0" u="none" dirty="0"/>
              <a:t>The LLM is optimized to maximize reward score</a:t>
            </a:r>
            <a:endParaRPr sz="1400" b="0" i="0" dirty="0">
              <a:latin typeface="Consolas"/>
            </a:endParaRPr>
          </a:p>
          <a:p>
            <a:pPr>
              <a:buNone/>
            </a:pPr>
            <a:endParaRPr sz="1400" b="0" i="0" dirty="0">
              <a:latin typeface="Consolas"/>
            </a:endParaRPr>
          </a:p>
          <a:p>
            <a:pPr>
              <a:buNone/>
            </a:pPr>
            <a:r>
              <a:rPr sz="1400" b="0" i="0" u="none" dirty="0"/>
              <a:t>Result: A model that is helpful, harmless, and honest</a:t>
            </a:r>
            <a:endParaRPr sz="1400" b="0" i="0" dirty="0">
              <a:latin typeface="Consolas"/>
            </a:endParaRPr>
          </a:p>
          <a:p>
            <a:pPr>
              <a:buNone/>
            </a:pPr>
            <a:endParaRPr sz="1400" b="0" i="0" dirty="0">
              <a:latin typeface="Consolas"/>
            </a:endParaRPr>
          </a:p>
          <a:p>
            <a:pPr>
              <a:buNone/>
            </a:pPr>
            <a:r>
              <a:rPr sz="1400" b="0" i="0" dirty="0">
                <a:latin typeface="Consolas"/>
              </a:rPr>
              <a:t>Base model: "The capital of France is Paris. The capital of Spain is..."</a:t>
            </a:r>
          </a:p>
          <a:p>
            <a:pPr>
              <a:buNone/>
            </a:pPr>
            <a:r>
              <a:rPr sz="1400" b="0" i="0" dirty="0">
                <a:latin typeface="Consolas"/>
              </a:rPr>
              <a:t>Aligned model: "The capital of France is Paris."  ← stops when done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750"/>
              <a:t>Context Window — The Model's Working Memory</a:t>
            </a:r>
          </a:p>
        </p:txBody>
      </p:sp>
      <p:sp>
        <p:nvSpPr>
          <p:cNvPr id="3" name="Content Placeholder 2"/>
          <p:cNvSpPr>
            <a:spLocks noGrp="1"/>
          </p:cNvSpPr>
          <p:nvPr>
            <p:ph idx="1"/>
          </p:nvPr>
        </p:nvSpPr>
        <p:spPr/>
        <p:txBody>
          <a:bodyPr wrap="square">
            <a:normAutofit/>
          </a:bodyPr>
          <a:lstStyle/>
          <a:p>
            <a:r>
              <a:rPr sz="2800" b="0" i="0" u="none"/>
              <a:t>Everything the model "knows" during a conversation fits here</a:t>
            </a:r>
            <a:endParaRPr sz="2800" b="0" i="0">
              <a:latin typeface="Arial"/>
            </a:endParaRPr>
          </a:p>
          <a:p>
            <a:r>
              <a:rPr sz="2800" b="0" i="0" u="none"/>
              <a:t>Once exceeded, earlier content is forgotten</a:t>
            </a:r>
            <a:endParaRPr sz="2800" b="0" i="0">
              <a:latin typeface="Arial"/>
            </a:endParaRPr>
          </a:p>
          <a:p>
            <a:r>
              <a:rPr sz="2800" b="0" i="0" u="none"/>
              <a:t>GitHub Copilot uses the context window for: open files, cursor position, recent edits, instruction files</a:t>
            </a:r>
            <a:endParaRPr sz="2800" b="0" i="0">
              <a:latin typeface="Arial"/>
            </a:endParaRPr>
          </a:p>
          <a:p>
            <a:r>
              <a:rPr sz="2800" b="0" i="0" u="none"/>
              <a:t>Larger context = can see more code, but also slower &amp; more expensive</a:t>
            </a:r>
            <a:endParaRPr sz="2800" b="0" i="0">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Temperature &amp; Sampling</a:t>
            </a:r>
          </a:p>
        </p:txBody>
      </p:sp>
      <p:graphicFrame>
        <p:nvGraphicFramePr>
          <p:cNvPr id="3" name="Table 2"/>
          <p:cNvGraphicFramePr>
            <a:graphicFrameLocks noGrp="1"/>
          </p:cNvGraphicFramePr>
          <p:nvPr>
            <p:extLst>
              <p:ext uri="{D42A27DB-BD31-4B8C-83A1-F6EECF244321}">
                <p14:modId xmlns:p14="http://schemas.microsoft.com/office/powerpoint/2010/main" val="4023729713"/>
              </p:ext>
            </p:extLst>
          </p:nvPr>
        </p:nvGraphicFramePr>
        <p:xfrm>
          <a:off x="457200" y="1828800"/>
          <a:ext cx="11129058" cy="2286000"/>
        </p:xfrm>
        <a:graphic>
          <a:graphicData uri="http://schemas.openxmlformats.org/drawingml/2006/table">
            <a:tbl>
              <a:tblPr firstRow="1" bandRow="1">
                <a:tableStyleId>{5C22544A-7EE6-4342-B048-85BDC9FD1C3A}</a:tableStyleId>
              </a:tblPr>
              <a:tblGrid>
                <a:gridCol w="3709686">
                  <a:extLst>
                    <a:ext uri="{9D8B030D-6E8A-4147-A177-3AD203B41FA5}">
                      <a16:colId xmlns:a16="http://schemas.microsoft.com/office/drawing/2014/main" val="20000"/>
                    </a:ext>
                  </a:extLst>
                </a:gridCol>
                <a:gridCol w="3709686">
                  <a:extLst>
                    <a:ext uri="{9D8B030D-6E8A-4147-A177-3AD203B41FA5}">
                      <a16:colId xmlns:a16="http://schemas.microsoft.com/office/drawing/2014/main" val="20001"/>
                    </a:ext>
                  </a:extLst>
                </a:gridCol>
                <a:gridCol w="3709686">
                  <a:extLst>
                    <a:ext uri="{9D8B030D-6E8A-4147-A177-3AD203B41FA5}">
                      <a16:colId xmlns:a16="http://schemas.microsoft.com/office/drawing/2014/main" val="20002"/>
                    </a:ext>
                  </a:extLst>
                </a:gridCol>
              </a:tblGrid>
              <a:tr h="457200">
                <a:tc>
                  <a:txBody>
                    <a:bodyPr/>
                    <a:lstStyle/>
                    <a:p>
                      <a:pPr>
                        <a:buNone/>
                        <a:defRPr sz="1600" b="1">
                          <a:solidFill>
                            <a:schemeClr val="bg1"/>
                          </a:solidFill>
                        </a:defRPr>
                      </a:pPr>
                      <a:r>
                        <a:rPr sz="1600" b="0" i="0" u="none"/>
                        <a:t>Temperature</a:t>
                      </a:r>
                    </a:p>
                  </a:txBody>
                  <a:tcPr>
                    <a:solidFill>
                      <a:schemeClr val="accent4"/>
                    </a:solidFill>
                  </a:tcPr>
                </a:tc>
                <a:tc>
                  <a:txBody>
                    <a:bodyPr/>
                    <a:lstStyle/>
                    <a:p>
                      <a:pPr>
                        <a:buNone/>
                        <a:defRPr sz="1600" b="1">
                          <a:solidFill>
                            <a:schemeClr val="bg1"/>
                          </a:solidFill>
                        </a:defRPr>
                      </a:pPr>
                      <a:r>
                        <a:rPr sz="1600" b="0" i="0" u="none"/>
                        <a:t>Behavior</a:t>
                      </a:r>
                    </a:p>
                  </a:txBody>
                  <a:tcPr>
                    <a:solidFill>
                      <a:schemeClr val="accent4"/>
                    </a:solidFill>
                  </a:tcPr>
                </a:tc>
                <a:tc>
                  <a:txBody>
                    <a:bodyPr/>
                    <a:lstStyle/>
                    <a:p>
                      <a:pPr>
                        <a:buNone/>
                        <a:defRPr sz="1600" b="1">
                          <a:solidFill>
                            <a:schemeClr val="bg1"/>
                          </a:solidFill>
                        </a:defRPr>
                      </a:pPr>
                      <a:r>
                        <a:rPr sz="1600" b="0" i="0" u="none"/>
                        <a:t>Use case</a:t>
                      </a:r>
                    </a:p>
                  </a:txBody>
                  <a:tcPr>
                    <a:solidFill>
                      <a:schemeClr val="accent4"/>
                    </a:solidFill>
                  </a:tcPr>
                </a:tc>
                <a:extLst>
                  <a:ext uri="{0D108BD9-81ED-4DB2-BD59-A6C34878D82A}">
                    <a16:rowId xmlns:a16="http://schemas.microsoft.com/office/drawing/2014/main" val="10000"/>
                  </a:ext>
                </a:extLst>
              </a:tr>
              <a:tr h="457200">
                <a:tc>
                  <a:txBody>
                    <a:bodyPr/>
                    <a:lstStyle/>
                    <a:p>
                      <a:pPr>
                        <a:buNone/>
                        <a:defRPr sz="1600" b="0">
                          <a:solidFill>
                            <a:schemeClr val="tx1"/>
                          </a:solidFill>
                        </a:defRPr>
                      </a:pPr>
                      <a:r>
                        <a:rPr sz="1600" b="0" i="0" u="none"/>
                        <a:t>0.0</a:t>
                      </a:r>
                    </a:p>
                  </a:txBody>
                  <a:tcPr>
                    <a:solidFill>
                      <a:schemeClr val="accent4">
                        <a:lumMod val="20000"/>
                        <a:lumOff val="80000"/>
                      </a:schemeClr>
                    </a:solidFill>
                  </a:tcPr>
                </a:tc>
                <a:tc>
                  <a:txBody>
                    <a:bodyPr/>
                    <a:lstStyle/>
                    <a:p>
                      <a:pPr>
                        <a:buNone/>
                        <a:defRPr sz="1600" b="0">
                          <a:solidFill>
                            <a:schemeClr val="tx1"/>
                          </a:solidFill>
                        </a:defRPr>
                      </a:pPr>
                      <a:r>
                        <a:rPr sz="1600" b="0" i="0" u="none"/>
                        <a:t>Always picks highest probability</a:t>
                      </a:r>
                    </a:p>
                  </a:txBody>
                  <a:tcPr>
                    <a:solidFill>
                      <a:schemeClr val="accent4">
                        <a:lumMod val="20000"/>
                        <a:lumOff val="80000"/>
                      </a:schemeClr>
                    </a:solidFill>
                  </a:tcPr>
                </a:tc>
                <a:tc>
                  <a:txBody>
                    <a:bodyPr/>
                    <a:lstStyle/>
                    <a:p>
                      <a:pPr>
                        <a:buNone/>
                        <a:defRPr sz="1600" b="0">
                          <a:solidFill>
                            <a:schemeClr val="tx1"/>
                          </a:solidFill>
                        </a:defRPr>
                      </a:pPr>
                      <a:r>
                        <a:rPr sz="1600" b="0" i="0" u="none"/>
                        <a:t>Deterministic code</a:t>
                      </a:r>
                    </a:p>
                  </a:txBody>
                  <a:tcPr>
                    <a:solidFill>
                      <a:schemeClr val="accent4">
                        <a:lumMod val="20000"/>
                        <a:lumOff val="80000"/>
                      </a:schemeClr>
                    </a:solidFill>
                  </a:tcPr>
                </a:tc>
                <a:extLst>
                  <a:ext uri="{0D108BD9-81ED-4DB2-BD59-A6C34878D82A}">
                    <a16:rowId xmlns:a16="http://schemas.microsoft.com/office/drawing/2014/main" val="10001"/>
                  </a:ext>
                </a:extLst>
              </a:tr>
              <a:tr h="457200">
                <a:tc>
                  <a:txBody>
                    <a:bodyPr/>
                    <a:lstStyle/>
                    <a:p>
                      <a:pPr>
                        <a:buNone/>
                        <a:defRPr sz="1600" b="0">
                          <a:solidFill>
                            <a:schemeClr val="tx1"/>
                          </a:solidFill>
                        </a:defRPr>
                      </a:pPr>
                      <a:r>
                        <a:rPr sz="1600" b="0" i="0" u="none"/>
                        <a:t>0.3–0.5</a:t>
                      </a:r>
                    </a:p>
                  </a:txBody>
                  <a:tcPr>
                    <a:solidFill>
                      <a:schemeClr val="accent4">
                        <a:lumMod val="8000"/>
                        <a:lumOff val="92000"/>
                      </a:schemeClr>
                    </a:solidFill>
                  </a:tcPr>
                </a:tc>
                <a:tc>
                  <a:txBody>
                    <a:bodyPr/>
                    <a:lstStyle/>
                    <a:p>
                      <a:pPr>
                        <a:buNone/>
                        <a:defRPr sz="1600" b="0">
                          <a:solidFill>
                            <a:schemeClr val="tx1"/>
                          </a:solidFill>
                        </a:defRPr>
                      </a:pPr>
                      <a:r>
                        <a:rPr sz="1600" b="0" i="0" u="none"/>
                        <a:t>Mostly top tokens, some variety</a:t>
                      </a:r>
                    </a:p>
                  </a:txBody>
                  <a:tcPr>
                    <a:solidFill>
                      <a:schemeClr val="accent4">
                        <a:lumMod val="8000"/>
                        <a:lumOff val="92000"/>
                      </a:schemeClr>
                    </a:solidFill>
                  </a:tcPr>
                </a:tc>
                <a:tc>
                  <a:txBody>
                    <a:bodyPr/>
                    <a:lstStyle/>
                    <a:p>
                      <a:pPr>
                        <a:buNone/>
                        <a:defRPr sz="1600" b="0">
                          <a:solidFill>
                            <a:schemeClr val="tx1"/>
                          </a:solidFill>
                        </a:defRPr>
                      </a:pPr>
                      <a:r>
                        <a:rPr sz="1600" b="0" i="0" u="none"/>
                        <a:t>Code completion</a:t>
                      </a:r>
                    </a:p>
                  </a:txBody>
                  <a:tcPr>
                    <a:solidFill>
                      <a:schemeClr val="accent4">
                        <a:lumMod val="8000"/>
                        <a:lumOff val="92000"/>
                      </a:schemeClr>
                    </a:solidFill>
                  </a:tcPr>
                </a:tc>
                <a:extLst>
                  <a:ext uri="{0D108BD9-81ED-4DB2-BD59-A6C34878D82A}">
                    <a16:rowId xmlns:a16="http://schemas.microsoft.com/office/drawing/2014/main" val="10002"/>
                  </a:ext>
                </a:extLst>
              </a:tr>
              <a:tr h="457200">
                <a:tc>
                  <a:txBody>
                    <a:bodyPr/>
                    <a:lstStyle/>
                    <a:p>
                      <a:pPr>
                        <a:buNone/>
                        <a:defRPr sz="1600" b="0">
                          <a:solidFill>
                            <a:schemeClr val="tx1"/>
                          </a:solidFill>
                        </a:defRPr>
                      </a:pPr>
                      <a:r>
                        <a:rPr sz="1600" b="0" i="0" u="none"/>
                        <a:t>0.7–1.0</a:t>
                      </a:r>
                    </a:p>
                  </a:txBody>
                  <a:tcPr>
                    <a:solidFill>
                      <a:schemeClr val="accent4">
                        <a:lumMod val="20000"/>
                        <a:lumOff val="80000"/>
                      </a:schemeClr>
                    </a:solidFill>
                  </a:tcPr>
                </a:tc>
                <a:tc>
                  <a:txBody>
                    <a:bodyPr/>
                    <a:lstStyle/>
                    <a:p>
                      <a:pPr>
                        <a:buNone/>
                        <a:defRPr sz="1600" b="0">
                          <a:solidFill>
                            <a:schemeClr val="tx1"/>
                          </a:solidFill>
                        </a:defRPr>
                      </a:pPr>
                      <a:r>
                        <a:rPr sz="1600" b="0" i="0" u="none"/>
                        <a:t>More creative, less predictable</a:t>
                      </a:r>
                    </a:p>
                  </a:txBody>
                  <a:tcPr>
                    <a:solidFill>
                      <a:schemeClr val="accent4">
                        <a:lumMod val="20000"/>
                        <a:lumOff val="80000"/>
                      </a:schemeClr>
                    </a:solidFill>
                  </a:tcPr>
                </a:tc>
                <a:tc>
                  <a:txBody>
                    <a:bodyPr/>
                    <a:lstStyle/>
                    <a:p>
                      <a:pPr>
                        <a:buNone/>
                        <a:defRPr sz="1600" b="0">
                          <a:solidFill>
                            <a:schemeClr val="tx1"/>
                          </a:solidFill>
                        </a:defRPr>
                      </a:pPr>
                      <a:r>
                        <a:rPr sz="1600" b="0" i="0" u="none"/>
                        <a:t>Brainstorming</a:t>
                      </a:r>
                    </a:p>
                  </a:txBody>
                  <a:tcPr>
                    <a:solidFill>
                      <a:schemeClr val="accent4">
                        <a:lumMod val="20000"/>
                        <a:lumOff val="80000"/>
                      </a:schemeClr>
                    </a:solidFill>
                  </a:tcPr>
                </a:tc>
                <a:extLst>
                  <a:ext uri="{0D108BD9-81ED-4DB2-BD59-A6C34878D82A}">
                    <a16:rowId xmlns:a16="http://schemas.microsoft.com/office/drawing/2014/main" val="10003"/>
                  </a:ext>
                </a:extLst>
              </a:tr>
              <a:tr h="457200">
                <a:tc>
                  <a:txBody>
                    <a:bodyPr/>
                    <a:lstStyle/>
                    <a:p>
                      <a:pPr>
                        <a:buNone/>
                        <a:defRPr sz="1600" b="0">
                          <a:solidFill>
                            <a:schemeClr val="tx1"/>
                          </a:solidFill>
                        </a:defRPr>
                      </a:pPr>
                      <a:r>
                        <a:rPr sz="1600" b="0" i="1" u="none"/>
                        <a:t>1.0</a:t>
                      </a:r>
                    </a:p>
                  </a:txBody>
                  <a:tcPr>
                    <a:solidFill>
                      <a:schemeClr val="accent4">
                        <a:lumMod val="8000"/>
                        <a:lumOff val="92000"/>
                      </a:schemeClr>
                    </a:solidFill>
                  </a:tcPr>
                </a:tc>
                <a:tc>
                  <a:txBody>
                    <a:bodyPr/>
                    <a:lstStyle/>
                    <a:p>
                      <a:pPr>
                        <a:buNone/>
                        <a:defRPr sz="1600" b="0">
                          <a:solidFill>
                            <a:schemeClr val="tx1"/>
                          </a:solidFill>
                        </a:defRPr>
                      </a:pPr>
                      <a:r>
                        <a:rPr sz="1600" b="0" i="0" u="none"/>
                        <a:t>Random / incoherent</a:t>
                      </a:r>
                    </a:p>
                  </a:txBody>
                  <a:tcPr>
                    <a:solidFill>
                      <a:schemeClr val="accent4">
                        <a:lumMod val="8000"/>
                        <a:lumOff val="92000"/>
                      </a:schemeClr>
                    </a:solidFill>
                  </a:tcPr>
                </a:tc>
                <a:tc>
                  <a:txBody>
                    <a:bodyPr/>
                    <a:lstStyle/>
                    <a:p>
                      <a:pPr>
                        <a:buNone/>
                        <a:defRPr sz="1600" b="0">
                          <a:solidFill>
                            <a:schemeClr val="tx1"/>
                          </a:solidFill>
                        </a:defRPr>
                      </a:pPr>
                      <a:r>
                        <a:rPr sz="1600" b="0" i="0" u="none" dirty="0"/>
                        <a:t>Rarely useful</a:t>
                      </a:r>
                    </a:p>
                  </a:txBody>
                  <a:tcPr>
                    <a:solidFill>
                      <a:schemeClr val="accent4">
                        <a:lumMod val="8000"/>
                        <a:lumOff val="92000"/>
                      </a:schemeClr>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Key Takeaways</a:t>
            </a:r>
          </a:p>
        </p:txBody>
      </p:sp>
      <p:sp>
        <p:nvSpPr>
          <p:cNvPr id="3" name="Content Placeholder 2"/>
          <p:cNvSpPr>
            <a:spLocks noGrp="1"/>
          </p:cNvSpPr>
          <p:nvPr>
            <p:ph idx="1"/>
          </p:nvPr>
        </p:nvSpPr>
        <p:spPr/>
        <p:txBody>
          <a:bodyPr wrap="square">
            <a:noAutofit/>
          </a:bodyPr>
          <a:lstStyle/>
          <a:p>
            <a:r>
              <a:rPr sz="1850" b="0" i="0" u="none" dirty="0"/>
              <a:t>Tokenization — text is broken into tokens; everything is numbers</a:t>
            </a:r>
            <a:endParaRPr sz="1850" b="0" i="0" dirty="0">
              <a:latin typeface="Arial"/>
            </a:endParaRPr>
          </a:p>
          <a:p>
            <a:r>
              <a:rPr sz="1850" b="0" i="0" u="none" dirty="0"/>
              <a:t>Transformers — attention lets every token relate to every other</a:t>
            </a:r>
            <a:endParaRPr sz="1850" b="0" i="0" dirty="0">
              <a:latin typeface="Arial"/>
            </a:endParaRPr>
          </a:p>
          <a:p>
            <a:r>
              <a:rPr sz="1850" b="0" i="0" u="none" dirty="0"/>
              <a:t>Pre-training — learns from trillions of tokens of text &amp; code</a:t>
            </a:r>
            <a:endParaRPr sz="1850" b="0" i="0" dirty="0">
              <a:latin typeface="Arial"/>
            </a:endParaRPr>
          </a:p>
          <a:p>
            <a:r>
              <a:rPr sz="1850" b="0" i="0" u="none" dirty="0"/>
              <a:t>Fine-tuning — makes the model helpful, safe, and task-specific</a:t>
            </a:r>
            <a:endParaRPr sz="1850" b="0" i="0" dirty="0">
              <a:latin typeface="Arial"/>
            </a:endParaRPr>
          </a:p>
          <a:p>
            <a:r>
              <a:rPr sz="1850" b="0" i="0" u="none" dirty="0"/>
              <a:t>Context window — the model's working memory; bigger = better</a:t>
            </a:r>
            <a:endParaRPr sz="1850" b="0" i="0" dirty="0">
              <a:latin typeface="Arial"/>
            </a:endParaRPr>
          </a:p>
          <a:p>
            <a:r>
              <a:rPr sz="1850" b="0" i="0" u="none" dirty="0"/>
              <a:t>Temperature — controls creativity vs. determinism</a:t>
            </a:r>
            <a:endParaRPr sz="1850" b="0" i="0" dirty="0">
              <a:latin typeface="Arial"/>
            </a:endParaRPr>
          </a:p>
          <a:p>
            <a:pPr>
              <a:buNone/>
            </a:pPr>
            <a:endParaRPr sz="1850" b="0" i="0" dirty="0">
              <a:latin typeface="Arial"/>
            </a:endParaRPr>
          </a:p>
          <a:p>
            <a:pPr>
              <a:buNone/>
            </a:pPr>
            <a:r>
              <a:rPr sz="1850" b="0" i="0" u="none" dirty="0"/>
              <a:t>The bottom line for developers:</a:t>
            </a:r>
            <a:endParaRPr sz="1850" b="0" i="0" dirty="0">
              <a:latin typeface="Arial"/>
            </a:endParaRPr>
          </a:p>
          <a:p>
            <a:pPr>
              <a:buNone/>
            </a:pPr>
            <a:r>
              <a:rPr sz="1850" b="0" i="1" u="none" dirty="0"/>
              <a:t>LLMs are powerful pattern matchers. Give them clear context, good examples, and specific instructions — and they'll surprise you.</a:t>
            </a:r>
            <a:endParaRPr sz="1850" b="0" i="1" dirty="0">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Autofit/>
          </a:bodyPr>
          <a:lstStyle/>
          <a:p>
            <a:r>
              <a:rPr sz="2750" b="0" i="0" u="none"/>
              <a:t>Intro</a:t>
            </a:r>
          </a:p>
          <a:p>
            <a:r>
              <a:rPr sz="2750" b="0" i="0" u="none"/>
              <a:t>LLM</a:t>
            </a:r>
          </a:p>
          <a:p>
            <a:r>
              <a:rPr sz="2750" b="1" i="0" u="none"/>
              <a:t>▶ Copilot for Teams</a:t>
            </a:r>
          </a:p>
          <a:p>
            <a:r>
              <a:rPr sz="2750" b="0" i="0" u="none"/>
              <a:t>Safety Measures and Best Practices</a:t>
            </a:r>
          </a:p>
          <a:p>
            <a:r>
              <a:rPr sz="2750" b="0" i="0" u="none"/>
              <a:t>Models and Context</a:t>
            </a:r>
          </a:p>
          <a:p>
            <a:r>
              <a:rPr sz="2750" b="0" i="0" u="none"/>
              <a:t>Guardrails and Prompt Files</a:t>
            </a:r>
          </a:p>
          <a:p>
            <a:r>
              <a:rPr sz="2750" b="0" i="0" u="none"/>
              <a:t>AI Assisted Documentation</a:t>
            </a:r>
          </a:p>
          <a:p>
            <a:r>
              <a:rPr sz="2750" b="0" i="0" u="none"/>
              <a:t>Test Automation and Code Quality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GitHub Copilot for Teams</a:t>
            </a:r>
          </a:p>
        </p:txBody>
      </p:sp>
      <p:sp>
        <p:nvSpPr>
          <p:cNvPr id="3" name="Subtitle 2"/>
          <p:cNvSpPr>
            <a:spLocks noGrp="1"/>
          </p:cNvSpPr>
          <p:nvPr>
            <p:ph type="subTitle" idx="1"/>
          </p:nvPr>
        </p:nvSpPr>
        <p:spPr/>
        <p:txBody>
          <a:bodyPr wrap="square">
            <a:normAutofit/>
          </a:bodyPr>
          <a:lstStyle/>
          <a:p>
            <a:pPr>
              <a:buNone/>
            </a:pPr>
            <a:r>
              <a:rPr b="0" i="0" u="none"/>
              <a:t>Deploying AI Without Deploying Chaos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GitHub Copilot for Teams</a:t>
            </a:r>
          </a:p>
        </p:txBody>
      </p:sp>
      <p:sp>
        <p:nvSpPr>
          <p:cNvPr id="3" name="Content Placeholder 2"/>
          <p:cNvSpPr>
            <a:spLocks noGrp="1"/>
          </p:cNvSpPr>
          <p:nvPr>
            <p:ph idx="1"/>
          </p:nvPr>
        </p:nvSpPr>
        <p:spPr/>
        <p:txBody>
          <a:bodyPr wrap="square">
            <a:normAutofit/>
          </a:bodyPr>
          <a:lstStyle/>
          <a:p>
            <a:pPr>
              <a:buNone/>
            </a:pPr>
            <a:r>
              <a:rPr sz="2800" b="0" i="0" u="none"/>
              <a:t>Key Considerations for Adoption</a:t>
            </a:r>
            <a:endParaRPr sz="2800" b="0" i="0">
              <a:latin typeface="Arial"/>
            </a:endParaRPr>
          </a:p>
          <a:p>
            <a:pPr>
              <a:buNone/>
            </a:pPr>
            <a:endParaRPr sz="2800" b="0" i="0">
              <a:latin typeface="Arial"/>
            </a:endParaRPr>
          </a:p>
          <a:p>
            <a:pPr>
              <a:buNone/>
            </a:pPr>
            <a:r>
              <a:rPr sz="2800" b="0" i="0" u="none"/>
              <a:t>Empowering developers with AI while protecting your codebase</a:t>
            </a:r>
            <a:endParaRPr sz="2800" b="0" i="0">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Risks to Consider</a:t>
            </a:r>
          </a:p>
        </p:txBody>
      </p:sp>
      <p:sp>
        <p:nvSpPr>
          <p:cNvPr id="3" name="Content Placeholder 2"/>
          <p:cNvSpPr>
            <a:spLocks noGrp="1"/>
          </p:cNvSpPr>
          <p:nvPr>
            <p:ph idx="1"/>
          </p:nvPr>
        </p:nvSpPr>
        <p:spPr/>
        <p:txBody>
          <a:bodyPr wrap="square">
            <a:noAutofit/>
          </a:bodyPr>
          <a:lstStyle/>
          <a:p>
            <a:pPr>
              <a:buNone/>
            </a:pPr>
            <a:r>
              <a:rPr sz="2050" b="0" i="0" u="none"/>
              <a:t>IP Leakage Concerns</a:t>
            </a:r>
            <a:endParaRPr sz="2050" b="0" i="0">
              <a:latin typeface="Arial"/>
            </a:endParaRPr>
          </a:p>
          <a:p>
            <a:pPr lvl="1"/>
            <a:r>
              <a:rPr sz="2050" b="0" i="0" u="none"/>
              <a:t>Copilot may suggest code similar to public repositories</a:t>
            </a:r>
            <a:endParaRPr sz="2050" b="0" i="0">
              <a:latin typeface="Arial"/>
            </a:endParaRPr>
          </a:p>
          <a:p>
            <a:pPr lvl="1"/>
            <a:r>
              <a:rPr sz="2050" b="0" i="0" u="none"/>
              <a:t>Risk of inadvertently using copyrighted or licensed code</a:t>
            </a:r>
            <a:endParaRPr sz="2050" b="0" i="0">
              <a:latin typeface="Arial"/>
            </a:endParaRPr>
          </a:p>
          <a:p>
            <a:pPr lvl="1"/>
            <a:r>
              <a:rPr sz="2050" b="0" i="0" u="none"/>
              <a:t>Mitigation: Enable public code filters and review suggestions carefully</a:t>
            </a:r>
            <a:endParaRPr sz="2050" b="0" i="0">
              <a:latin typeface="Arial"/>
            </a:endParaRPr>
          </a:p>
          <a:p>
            <a:pPr>
              <a:buNone/>
            </a:pPr>
            <a:r>
              <a:rPr sz="2050" b="0" i="0" u="none"/>
              <a:t>Code Quality and Accuracy</a:t>
            </a:r>
            <a:endParaRPr sz="2050" b="0" i="0">
              <a:latin typeface="Arial"/>
            </a:endParaRPr>
          </a:p>
          <a:p>
            <a:pPr lvl="1"/>
            <a:r>
              <a:rPr sz="2050" b="0" i="0" u="none"/>
              <a:t>AI-generated code may contain bugs, inefficiencies, or security flaws</a:t>
            </a:r>
            <a:endParaRPr sz="2050" b="0" i="0">
              <a:latin typeface="Arial"/>
            </a:endParaRPr>
          </a:p>
          <a:p>
            <a:pPr lvl="1"/>
            <a:r>
              <a:rPr sz="2050" b="0" i="0" u="none"/>
              <a:t>Always validate and test before deployment</a:t>
            </a:r>
            <a:endParaRPr sz="2050" b="0" i="0">
              <a:latin typeface="Arial"/>
            </a:endParaRPr>
          </a:p>
          <a:p>
            <a:pPr lvl="1"/>
            <a:r>
              <a:rPr sz="2050" b="0" i="0" u="none"/>
              <a:t>Treat Copilot as a drafting tool, not a source of truth</a:t>
            </a:r>
            <a:endParaRPr sz="2050" b="0" i="0">
              <a:latin typeface="Arial"/>
            </a:endParaRPr>
          </a:p>
          <a:p>
            <a:pPr>
              <a:buNone/>
            </a:pPr>
            <a:r>
              <a:rPr sz="2050" b="0" i="0" u="none"/>
              <a:t>Developer Overreliance</a:t>
            </a:r>
            <a:endParaRPr sz="2050" b="0" i="0">
              <a:latin typeface="Arial"/>
            </a:endParaRPr>
          </a:p>
          <a:p>
            <a:pPr lvl="1"/>
            <a:r>
              <a:rPr sz="2050" b="0" i="0" u="none"/>
              <a:t>Risk of reduced understanding or critical thinking</a:t>
            </a:r>
            <a:endParaRPr sz="2050" b="0" i="0">
              <a:latin typeface="Arial"/>
            </a:endParaRPr>
          </a:p>
          <a:p>
            <a:pPr lvl="1"/>
            <a:r>
              <a:rPr sz="2050" b="0" i="0" u="none"/>
              <a:t>Encourage code reviews and pair programming to maintain rigor</a:t>
            </a:r>
            <a:endParaRPr sz="2050" b="0" i="0">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00"/>
              <a:t>Governance and Compliance Risks</a:t>
            </a:r>
          </a:p>
        </p:txBody>
      </p:sp>
      <p:sp>
        <p:nvSpPr>
          <p:cNvPr id="3" name="Content Placeholder 2"/>
          <p:cNvSpPr>
            <a:spLocks noGrp="1"/>
          </p:cNvSpPr>
          <p:nvPr>
            <p:ph idx="1"/>
          </p:nvPr>
        </p:nvSpPr>
        <p:spPr/>
        <p:txBody>
          <a:bodyPr wrap="square">
            <a:noAutofit/>
          </a:bodyPr>
          <a:lstStyle/>
          <a:p>
            <a:pPr>
              <a:buNone/>
            </a:pPr>
            <a:r>
              <a:rPr sz="2150" b="0" i="0" u="none"/>
              <a:t>Regulatory Compliance</a:t>
            </a:r>
            <a:endParaRPr sz="2150" b="0" i="0">
              <a:latin typeface="Arial"/>
            </a:endParaRPr>
          </a:p>
          <a:p>
            <a:pPr lvl="1"/>
            <a:r>
              <a:rPr sz="2150" b="0" i="0" u="none"/>
              <a:t>Generated code may not meet industry-specific standards (e.g., HIPAA, PCI-DSS)</a:t>
            </a:r>
            <a:endParaRPr sz="2150" b="0" i="0">
              <a:latin typeface="Arial"/>
            </a:endParaRPr>
          </a:p>
          <a:p>
            <a:pPr lvl="1"/>
            <a:r>
              <a:rPr sz="2150" b="0" i="0" u="none"/>
              <a:t>Organizations must enforce coding policies and audits</a:t>
            </a:r>
            <a:endParaRPr sz="2150" b="0" i="0">
              <a:latin typeface="Arial"/>
            </a:endParaRPr>
          </a:p>
          <a:p>
            <a:pPr>
              <a:buNone/>
            </a:pPr>
            <a:r>
              <a:rPr sz="2150" b="0" i="0" u="none"/>
              <a:t>Data Privacy and Security</a:t>
            </a:r>
            <a:endParaRPr sz="2150" b="0" i="0">
              <a:latin typeface="Arial"/>
            </a:endParaRPr>
          </a:p>
          <a:p>
            <a:pPr lvl="1"/>
            <a:r>
              <a:rPr sz="2150" b="0" i="0" u="none"/>
              <a:t>Sensitive data should never be typed into prompts</a:t>
            </a:r>
            <a:endParaRPr sz="2150" b="0" i="0">
              <a:latin typeface="Arial"/>
            </a:endParaRPr>
          </a:p>
          <a:p>
            <a:pPr lvl="1"/>
            <a:r>
              <a:rPr sz="2150" b="0" i="0" u="none"/>
              <a:t>Use Copilot in secure environments with clear usage guidelines</a:t>
            </a:r>
            <a:endParaRPr sz="2150" b="0" i="0">
              <a:latin typeface="Arial"/>
            </a:endParaRPr>
          </a:p>
          <a:p>
            <a:pPr>
              <a:buNone/>
            </a:pPr>
            <a:r>
              <a:rPr sz="2150" b="0" i="0" u="none"/>
              <a:t>Licensing Ambiguity</a:t>
            </a:r>
            <a:endParaRPr sz="2150" b="0" i="0">
              <a:latin typeface="Arial"/>
            </a:endParaRPr>
          </a:p>
          <a:p>
            <a:pPr lvl="1"/>
            <a:r>
              <a:rPr sz="2150" b="0" i="0" u="none"/>
              <a:t>Copilot suggestions may resemble code under restrictive licenses</a:t>
            </a:r>
            <a:endParaRPr sz="2150" b="0" i="0">
              <a:latin typeface="Arial"/>
            </a:endParaRPr>
          </a:p>
          <a:p>
            <a:pPr lvl="1"/>
            <a:r>
              <a:rPr sz="2150" b="0" i="0" u="none"/>
              <a:t>Legal teams should define acceptable use policies and monitor compliance</a:t>
            </a:r>
            <a:endParaRPr sz="2150" b="0" i="0">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IP and Data Protection</a:t>
            </a:r>
          </a:p>
        </p:txBody>
      </p:sp>
      <p:sp>
        <p:nvSpPr>
          <p:cNvPr id="3" name="Content Placeholder 2"/>
          <p:cNvSpPr>
            <a:spLocks noGrp="1"/>
          </p:cNvSpPr>
          <p:nvPr>
            <p:ph idx="1"/>
          </p:nvPr>
        </p:nvSpPr>
        <p:spPr/>
        <p:txBody>
          <a:bodyPr wrap="square">
            <a:noAutofit/>
          </a:bodyPr>
          <a:lstStyle/>
          <a:p>
            <a:r>
              <a:rPr sz="2700" b="0" i="0" u="none"/>
              <a:t>Your code is not used to retrain the model (with Copilot for Business/Enterprise)</a:t>
            </a:r>
            <a:endParaRPr sz="2700" b="0" i="0">
              <a:latin typeface="Arial"/>
            </a:endParaRPr>
          </a:p>
          <a:p>
            <a:r>
              <a:rPr sz="2700" b="0" i="0" u="none"/>
              <a:t>Suggestions are generated locally — no code is shared unless feedback is submitted</a:t>
            </a:r>
            <a:endParaRPr sz="2700" b="0" i="0">
              <a:latin typeface="Arial"/>
            </a:endParaRPr>
          </a:p>
          <a:p>
            <a:r>
              <a:rPr sz="2700" b="0" i="0" u="none"/>
              <a:t>No leakage between users: your private code is not exposed to others</a:t>
            </a:r>
            <a:endParaRPr sz="2700" b="0" i="0">
              <a:latin typeface="Arial"/>
            </a:endParaRPr>
          </a:p>
          <a:p>
            <a:r>
              <a:rPr sz="2700" b="0" i="0" u="none"/>
              <a:t>Admins can disable suggestions matching public code for added safety</a:t>
            </a:r>
            <a:endParaRPr sz="2700" b="0" i="0">
              <a:latin typeface="Arial"/>
            </a:endParaRPr>
          </a:p>
          <a:p>
            <a:r>
              <a:rPr sz="2700" b="0" i="0" u="none"/>
              <a:t>In April 2026, GitHub made this opt-out</a:t>
            </a:r>
            <a:endParaRPr sz="2700" b="0" i="0">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900"/>
              <a:t>Licensing and Legal Considerations</a:t>
            </a:r>
          </a:p>
        </p:txBody>
      </p:sp>
      <p:sp>
        <p:nvSpPr>
          <p:cNvPr id="3" name="Content Placeholder 2"/>
          <p:cNvSpPr>
            <a:spLocks noGrp="1"/>
          </p:cNvSpPr>
          <p:nvPr>
            <p:ph idx="1"/>
          </p:nvPr>
        </p:nvSpPr>
        <p:spPr/>
        <p:txBody>
          <a:bodyPr wrap="square">
            <a:normAutofit/>
          </a:bodyPr>
          <a:lstStyle/>
          <a:p>
            <a:r>
              <a:rPr sz="2800" b="0" i="0" u="none"/>
              <a:t>Copilot may suggest code similar to public repositories</a:t>
            </a:r>
            <a:endParaRPr sz="2800" b="0" i="0">
              <a:latin typeface="Arial"/>
            </a:endParaRPr>
          </a:p>
          <a:p>
            <a:r>
              <a:rPr sz="2800" b="0" i="0" u="none"/>
              <a:t>GitHub provides a filter to block matching public code</a:t>
            </a:r>
            <a:endParaRPr sz="2800" b="0" i="0">
              <a:latin typeface="Arial"/>
            </a:endParaRPr>
          </a:p>
          <a:p>
            <a:r>
              <a:rPr sz="2800" b="0" i="0" u="none"/>
              <a:t>Organizations should review Copilot's Terms of Service and Privacy Statement</a:t>
            </a:r>
            <a:endParaRPr sz="2800" b="0" i="0">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Deployment Options</a:t>
            </a:r>
          </a:p>
        </p:txBody>
      </p:sp>
      <p:graphicFrame>
        <p:nvGraphicFramePr>
          <p:cNvPr id="3" name="Table 2"/>
          <p:cNvGraphicFramePr>
            <a:graphicFrameLocks noGrp="1"/>
          </p:cNvGraphicFramePr>
          <p:nvPr>
            <p:extLst>
              <p:ext uri="{D42A27DB-BD31-4B8C-83A1-F6EECF244321}">
                <p14:modId xmlns:p14="http://schemas.microsoft.com/office/powerpoint/2010/main" val="485357674"/>
              </p:ext>
            </p:extLst>
          </p:nvPr>
        </p:nvGraphicFramePr>
        <p:xfrm>
          <a:off x="457199" y="1828800"/>
          <a:ext cx="11255433" cy="1828800"/>
        </p:xfrm>
        <a:graphic>
          <a:graphicData uri="http://schemas.openxmlformats.org/drawingml/2006/table">
            <a:tbl>
              <a:tblPr firstRow="1" bandRow="1">
                <a:tableStyleId>{5C22544A-7EE6-4342-B048-85BDC9FD1C3A}</a:tableStyleId>
              </a:tblPr>
              <a:tblGrid>
                <a:gridCol w="3751811">
                  <a:extLst>
                    <a:ext uri="{9D8B030D-6E8A-4147-A177-3AD203B41FA5}">
                      <a16:colId xmlns:a16="http://schemas.microsoft.com/office/drawing/2014/main" val="20000"/>
                    </a:ext>
                  </a:extLst>
                </a:gridCol>
                <a:gridCol w="3751811">
                  <a:extLst>
                    <a:ext uri="{9D8B030D-6E8A-4147-A177-3AD203B41FA5}">
                      <a16:colId xmlns:a16="http://schemas.microsoft.com/office/drawing/2014/main" val="20001"/>
                    </a:ext>
                  </a:extLst>
                </a:gridCol>
                <a:gridCol w="3751811">
                  <a:extLst>
                    <a:ext uri="{9D8B030D-6E8A-4147-A177-3AD203B41FA5}">
                      <a16:colId xmlns:a16="http://schemas.microsoft.com/office/drawing/2014/main" val="20002"/>
                    </a:ext>
                  </a:extLst>
                </a:gridCol>
              </a:tblGrid>
              <a:tr h="457200">
                <a:tc>
                  <a:txBody>
                    <a:bodyPr/>
                    <a:lstStyle/>
                    <a:p>
                      <a:pPr>
                        <a:buNone/>
                        <a:defRPr sz="1600" b="1">
                          <a:solidFill>
                            <a:schemeClr val="bg1"/>
                          </a:solidFill>
                        </a:defRPr>
                      </a:pPr>
                      <a:r>
                        <a:rPr sz="1600" b="0" i="0" u="none"/>
                        <a:t>Plan</a:t>
                      </a:r>
                    </a:p>
                  </a:txBody>
                  <a:tcPr>
                    <a:solidFill>
                      <a:schemeClr val="accent4"/>
                    </a:solidFill>
                  </a:tcPr>
                </a:tc>
                <a:tc>
                  <a:txBody>
                    <a:bodyPr/>
                    <a:lstStyle/>
                    <a:p>
                      <a:pPr>
                        <a:buNone/>
                        <a:defRPr sz="1600" b="1">
                          <a:solidFill>
                            <a:schemeClr val="bg1"/>
                          </a:solidFill>
                        </a:defRPr>
                      </a:pPr>
                      <a:r>
                        <a:rPr sz="1600" b="0" i="0" u="none"/>
                        <a:t>Key Features</a:t>
                      </a:r>
                    </a:p>
                  </a:txBody>
                  <a:tcPr>
                    <a:solidFill>
                      <a:schemeClr val="accent4"/>
                    </a:solidFill>
                  </a:tcPr>
                </a:tc>
                <a:tc>
                  <a:txBody>
                    <a:bodyPr/>
                    <a:lstStyle/>
                    <a:p>
                      <a:pPr>
                        <a:buNone/>
                        <a:defRPr sz="1600" b="1">
                          <a:solidFill>
                            <a:schemeClr val="bg1"/>
                          </a:solidFill>
                        </a:defRPr>
                      </a:pPr>
                      <a:r>
                        <a:rPr sz="1600" b="0" i="0" u="none"/>
                        <a:t>IP Protection</a:t>
                      </a:r>
                    </a:p>
                  </a:txBody>
                  <a:tcPr>
                    <a:solidFill>
                      <a:schemeClr val="accent4"/>
                    </a:solidFill>
                  </a:tcPr>
                </a:tc>
                <a:extLst>
                  <a:ext uri="{0D108BD9-81ED-4DB2-BD59-A6C34878D82A}">
                    <a16:rowId xmlns:a16="http://schemas.microsoft.com/office/drawing/2014/main" val="10000"/>
                  </a:ext>
                </a:extLst>
              </a:tr>
              <a:tr h="457200">
                <a:tc>
                  <a:txBody>
                    <a:bodyPr/>
                    <a:lstStyle/>
                    <a:p>
                      <a:pPr>
                        <a:buNone/>
                        <a:defRPr sz="1600" b="0">
                          <a:solidFill>
                            <a:schemeClr val="tx1"/>
                          </a:solidFill>
                        </a:defRPr>
                      </a:pPr>
                      <a:r>
                        <a:rPr sz="1600" b="0" i="0" u="none"/>
                        <a:t>Copilot Individual (Pro, Pro+)</a:t>
                      </a:r>
                    </a:p>
                  </a:txBody>
                  <a:tcPr>
                    <a:solidFill>
                      <a:schemeClr val="accent4">
                        <a:lumMod val="20000"/>
                        <a:lumOff val="80000"/>
                      </a:schemeClr>
                    </a:solidFill>
                  </a:tcPr>
                </a:tc>
                <a:tc>
                  <a:txBody>
                    <a:bodyPr/>
                    <a:lstStyle/>
                    <a:p>
                      <a:pPr>
                        <a:buNone/>
                        <a:defRPr sz="1600" b="0">
                          <a:solidFill>
                            <a:schemeClr val="tx1"/>
                          </a:solidFill>
                        </a:defRPr>
                      </a:pPr>
                      <a:r>
                        <a:rPr sz="1600" b="0" i="0" u="none"/>
                        <a:t>Personal use, no admin controls</a:t>
                      </a:r>
                    </a:p>
                  </a:txBody>
                  <a:tcPr>
                    <a:solidFill>
                      <a:schemeClr val="accent4">
                        <a:lumMod val="20000"/>
                        <a:lumOff val="80000"/>
                      </a:schemeClr>
                    </a:solidFill>
                  </a:tcPr>
                </a:tc>
                <a:tc>
                  <a:txBody>
                    <a:bodyPr/>
                    <a:lstStyle/>
                    <a:p>
                      <a:pPr>
                        <a:buNone/>
                        <a:defRPr sz="1600" b="0">
                          <a:solidFill>
                            <a:schemeClr val="tx1"/>
                          </a:solidFill>
                        </a:defRPr>
                      </a:pPr>
                      <a:r>
                        <a:rPr sz="1600" b="0" i="0" u="none"/>
                        <a:t>Limited</a:t>
                      </a:r>
                    </a:p>
                  </a:txBody>
                  <a:tcPr>
                    <a:solidFill>
                      <a:schemeClr val="accent4">
                        <a:lumMod val="20000"/>
                        <a:lumOff val="80000"/>
                      </a:schemeClr>
                    </a:solidFill>
                  </a:tcPr>
                </a:tc>
                <a:extLst>
                  <a:ext uri="{0D108BD9-81ED-4DB2-BD59-A6C34878D82A}">
                    <a16:rowId xmlns:a16="http://schemas.microsoft.com/office/drawing/2014/main" val="10001"/>
                  </a:ext>
                </a:extLst>
              </a:tr>
              <a:tr h="457200">
                <a:tc>
                  <a:txBody>
                    <a:bodyPr/>
                    <a:lstStyle/>
                    <a:p>
                      <a:pPr>
                        <a:buNone/>
                        <a:defRPr sz="1600" b="0">
                          <a:solidFill>
                            <a:schemeClr val="tx1"/>
                          </a:solidFill>
                        </a:defRPr>
                      </a:pPr>
                      <a:r>
                        <a:rPr sz="1600" b="0" i="0" u="none"/>
                        <a:t>Copilot for Business</a:t>
                      </a:r>
                    </a:p>
                  </a:txBody>
                  <a:tcPr>
                    <a:solidFill>
                      <a:schemeClr val="accent4">
                        <a:lumMod val="8000"/>
                        <a:lumOff val="92000"/>
                      </a:schemeClr>
                    </a:solidFill>
                  </a:tcPr>
                </a:tc>
                <a:tc>
                  <a:txBody>
                    <a:bodyPr/>
                    <a:lstStyle/>
                    <a:p>
                      <a:pPr>
                        <a:buNone/>
                        <a:defRPr sz="1600" b="0">
                          <a:solidFill>
                            <a:schemeClr val="tx1"/>
                          </a:solidFill>
                        </a:defRPr>
                      </a:pPr>
                      <a:r>
                        <a:rPr sz="1600" b="0" i="0" u="none"/>
                        <a:t>Admin controls, policy enforcement</a:t>
                      </a:r>
                    </a:p>
                  </a:txBody>
                  <a:tcPr>
                    <a:solidFill>
                      <a:schemeClr val="accent4">
                        <a:lumMod val="8000"/>
                        <a:lumOff val="92000"/>
                      </a:schemeClr>
                    </a:solidFill>
                  </a:tcPr>
                </a:tc>
                <a:tc>
                  <a:txBody>
                    <a:bodyPr/>
                    <a:lstStyle/>
                    <a:p>
                      <a:pPr>
                        <a:buNone/>
                        <a:defRPr sz="1600" b="0">
                          <a:solidFill>
                            <a:schemeClr val="tx1"/>
                          </a:solidFill>
                        </a:defRPr>
                      </a:pPr>
                      <a:r>
                        <a:rPr sz="1600" b="0" i="0" u="none" dirty="0"/>
                        <a:t>Strong</a:t>
                      </a:r>
                    </a:p>
                  </a:txBody>
                  <a:tcPr>
                    <a:solidFill>
                      <a:schemeClr val="accent4">
                        <a:lumMod val="8000"/>
                        <a:lumOff val="92000"/>
                      </a:schemeClr>
                    </a:solidFill>
                  </a:tcPr>
                </a:tc>
                <a:extLst>
                  <a:ext uri="{0D108BD9-81ED-4DB2-BD59-A6C34878D82A}">
                    <a16:rowId xmlns:a16="http://schemas.microsoft.com/office/drawing/2014/main" val="10002"/>
                  </a:ext>
                </a:extLst>
              </a:tr>
              <a:tr h="457200">
                <a:tc>
                  <a:txBody>
                    <a:bodyPr/>
                    <a:lstStyle/>
                    <a:p>
                      <a:pPr>
                        <a:buNone/>
                        <a:defRPr sz="1600" b="0">
                          <a:solidFill>
                            <a:schemeClr val="tx1"/>
                          </a:solidFill>
                        </a:defRPr>
                      </a:pPr>
                      <a:r>
                        <a:rPr sz="1600" b="0" i="0" u="none"/>
                        <a:t>Copilot for Enterprise</a:t>
                      </a:r>
                    </a:p>
                  </a:txBody>
                  <a:tcPr>
                    <a:solidFill>
                      <a:schemeClr val="accent4">
                        <a:lumMod val="20000"/>
                        <a:lumOff val="80000"/>
                      </a:schemeClr>
                    </a:solidFill>
                  </a:tcPr>
                </a:tc>
                <a:tc>
                  <a:txBody>
                    <a:bodyPr/>
                    <a:lstStyle/>
                    <a:p>
                      <a:pPr>
                        <a:buNone/>
                        <a:defRPr sz="1600" b="0">
                          <a:solidFill>
                            <a:schemeClr val="tx1"/>
                          </a:solidFill>
                        </a:defRPr>
                      </a:pPr>
                      <a:r>
                        <a:rPr sz="1600" b="0" i="0" u="none"/>
                        <a:t>Org-wide policy, audit tools</a:t>
                      </a:r>
                    </a:p>
                  </a:txBody>
                  <a:tcPr>
                    <a:solidFill>
                      <a:schemeClr val="accent4">
                        <a:lumMod val="20000"/>
                        <a:lumOff val="80000"/>
                      </a:schemeClr>
                    </a:solidFill>
                  </a:tcPr>
                </a:tc>
                <a:tc>
                  <a:txBody>
                    <a:bodyPr/>
                    <a:lstStyle/>
                    <a:p>
                      <a:pPr>
                        <a:buNone/>
                        <a:defRPr sz="1600" b="0">
                          <a:solidFill>
                            <a:schemeClr val="tx1"/>
                          </a:solidFill>
                        </a:defRPr>
                      </a:pPr>
                      <a:r>
                        <a:rPr sz="1600" b="0" i="0" u="none" dirty="0"/>
                        <a:t>Strongest</a:t>
                      </a:r>
                    </a:p>
                  </a:txBody>
                  <a:tcPr>
                    <a:solidFill>
                      <a:schemeClr val="accent4">
                        <a:lumMod val="20000"/>
                        <a:lumOff val="80000"/>
                      </a:schemeClr>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Resources</a:t>
            </a:r>
          </a:p>
        </p:txBody>
      </p:sp>
      <p:sp>
        <p:nvSpPr>
          <p:cNvPr id="3" name="Content Placeholder 2"/>
          <p:cNvSpPr>
            <a:spLocks noGrp="1"/>
          </p:cNvSpPr>
          <p:nvPr>
            <p:ph idx="1"/>
          </p:nvPr>
        </p:nvSpPr>
        <p:spPr/>
        <p:txBody>
          <a:bodyPr wrap="square">
            <a:normAutofit/>
          </a:bodyPr>
          <a:lstStyle/>
          <a:p>
            <a:r>
              <a:rPr sz="2800" b="0" i="0" u="none"/>
              <a:t>Copilot Documentation:</a:t>
            </a:r>
            <a:endParaRPr sz="2800" b="0" i="0">
              <a:latin typeface="Arial"/>
            </a:endParaRPr>
          </a:p>
          <a:p>
            <a:pPr>
              <a:buNone/>
            </a:pPr>
            <a:r>
              <a:rPr sz="2800" b="0" i="0" u="none"/>
              <a:t>  https://docs.github.com/en/copilot</a:t>
            </a:r>
            <a:endParaRPr sz="2800" b="0" i="0">
              <a:latin typeface="Arial"/>
            </a:endParaRPr>
          </a:p>
          <a:p>
            <a:r>
              <a:rPr sz="2800" b="0" i="0" u="none"/>
              <a:t>Copilot for Business Overview</a:t>
            </a:r>
            <a:endParaRPr sz="2800" b="0" i="0">
              <a:latin typeface="Arial"/>
            </a:endParaRPr>
          </a:p>
          <a:p>
            <a:pPr>
              <a:buNone/>
            </a:pPr>
            <a:r>
              <a:rPr sz="2800" b="0" i="0" u="none"/>
              <a:t>  https://github.com/features/copilot-for-business</a:t>
            </a:r>
            <a:endParaRPr sz="2800" b="0" i="0">
              <a:latin typeface="Arial"/>
            </a:endParaRPr>
          </a:p>
          <a:p>
            <a:r>
              <a:rPr sz="2800" b="0" i="0" u="none"/>
              <a:t>Security and Privacy FAQ</a:t>
            </a:r>
            <a:endParaRPr sz="2800" b="0" i="0">
              <a:latin typeface="Arial"/>
            </a:endParaRPr>
          </a:p>
          <a:p>
            <a:pPr>
              <a:buNone/>
            </a:pPr>
            <a:r>
              <a:rPr sz="2800" b="0" i="0" u="none"/>
              <a:t>  https://docs.github.com/en/copilot/security</a:t>
            </a:r>
            <a:endParaRPr sz="2800" b="0" i="0">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Autofit/>
          </a:bodyPr>
          <a:lstStyle/>
          <a:p>
            <a:r>
              <a:rPr sz="2750" b="0" i="0" u="none"/>
              <a:t>Intro</a:t>
            </a:r>
          </a:p>
          <a:p>
            <a:r>
              <a:rPr sz="2750" b="0" i="0" u="none"/>
              <a:t>LLM</a:t>
            </a:r>
          </a:p>
          <a:p>
            <a:r>
              <a:rPr sz="2750" b="0" i="0" u="none"/>
              <a:t>Copilot for Teams</a:t>
            </a:r>
          </a:p>
          <a:p>
            <a:r>
              <a:rPr sz="2750" b="1" i="0" u="none"/>
              <a:t>▶ Safety Measures and Best Practices</a:t>
            </a:r>
          </a:p>
          <a:p>
            <a:r>
              <a:rPr sz="2750" b="0" i="0" u="none"/>
              <a:t>Models and Context</a:t>
            </a:r>
          </a:p>
          <a:p>
            <a:r>
              <a:rPr sz="2750" b="0" i="0" u="none"/>
              <a:t>Guardrails and Prompt Files</a:t>
            </a:r>
          </a:p>
          <a:p>
            <a:r>
              <a:rPr sz="2750" b="0" i="0" u="none"/>
              <a:t>AI Assisted Documentation</a:t>
            </a:r>
          </a:p>
          <a:p>
            <a:r>
              <a:rPr sz="2750" b="0" i="0" u="none"/>
              <a:t>Test Automation and Code Quality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00"/>
              <a:t>Safety Measures and Best Practices</a:t>
            </a:r>
          </a:p>
        </p:txBody>
      </p:sp>
      <p:sp>
        <p:nvSpPr>
          <p:cNvPr id="3" name="Subtitle 2"/>
          <p:cNvSpPr>
            <a:spLocks noGrp="1"/>
          </p:cNvSpPr>
          <p:nvPr>
            <p:ph type="subTitle" idx="1"/>
          </p:nvPr>
        </p:nvSpPr>
        <p:spPr/>
        <p:txBody>
          <a:bodyPr wrap="square">
            <a:noAutofit/>
          </a:bodyPr>
          <a:lstStyle/>
          <a:p>
            <a:pPr>
              <a:buNone/>
            </a:pPr>
            <a:r>
              <a:rPr sz="2200" b="0" i="0" u="none"/>
              <a:t>Code Review: The Last Line of Defense Against AI Overconfidence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150"/>
              <a:t>Safety Measures &amp; Best Practices</a:t>
            </a:r>
          </a:p>
        </p:txBody>
      </p:sp>
      <p:sp>
        <p:nvSpPr>
          <p:cNvPr id="3" name="Content Placeholder 2"/>
          <p:cNvSpPr>
            <a:spLocks noGrp="1"/>
          </p:cNvSpPr>
          <p:nvPr>
            <p:ph idx="1"/>
          </p:nvPr>
        </p:nvSpPr>
        <p:spPr/>
        <p:txBody>
          <a:bodyPr wrap="square">
            <a:normAutofit/>
          </a:bodyPr>
          <a:lstStyle/>
          <a:p>
            <a:r>
              <a:rPr sz="2800" b="0" i="0" u="none"/>
              <a:t>Safety nets make AI acceleration safer</a:t>
            </a:r>
            <a:endParaRPr sz="2800" b="0" i="0">
              <a:latin typeface="Arial"/>
            </a:endParaRPr>
          </a:p>
          <a:p>
            <a:r>
              <a:rPr sz="2800" b="0" i="0" u="none"/>
              <a:t>Test quality matters more than raw coverage</a:t>
            </a:r>
            <a:endParaRPr sz="2800" b="0" i="0">
              <a:latin typeface="Arial"/>
            </a:endParaRPr>
          </a:p>
          <a:p>
            <a:r>
              <a:rPr sz="2800" b="0" i="0" u="none"/>
              <a:t>AI output must be reviewed like junior developer work</a:t>
            </a:r>
            <a:endParaRPr sz="2800" b="0" i="0">
              <a:latin typeface="Arial"/>
            </a:endParaRPr>
          </a:p>
          <a:p>
            <a:r>
              <a:rPr sz="2800" b="0" i="0" u="none"/>
              <a:t>Small, focused diffs are easier to trust</a:t>
            </a:r>
            <a:endParaRPr sz="2800" b="0" i="0">
              <a:latin typeface="Arial"/>
            </a:endParaRPr>
          </a:p>
          <a:p>
            <a:r>
              <a:rPr sz="2800" b="0" i="0" u="none"/>
              <a:t>Automation helps reviewers scale</a:t>
            </a:r>
            <a:endParaRPr sz="2800" b="0" i="0">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8928887" cy="703024"/>
          </a:xfrm>
        </p:spPr>
        <p:txBody>
          <a:bodyPr anchor="ctr">
            <a:normAutofit/>
          </a:bodyPr>
          <a:lstStyle/>
          <a:p>
            <a:r>
              <a:rPr lang="en-US" sz="2400"/>
              <a:t>Treat AI Like an Eager Knowledgeable Junior Developer</a:t>
            </a:r>
          </a:p>
        </p:txBody>
      </p:sp>
      <p:sp>
        <p:nvSpPr>
          <p:cNvPr id="3" name="Content Placeholder 2"/>
          <p:cNvSpPr>
            <a:spLocks noGrp="1"/>
          </p:cNvSpPr>
          <p:nvPr>
            <p:ph sz="half" idx="1"/>
          </p:nvPr>
        </p:nvSpPr>
        <p:spPr>
          <a:xfrm>
            <a:off x="838200" y="1463752"/>
            <a:ext cx="5181600" cy="4351338"/>
          </a:xfrm>
        </p:spPr>
        <p:txBody>
          <a:bodyPr>
            <a:normAutofit/>
          </a:bodyPr>
          <a:lstStyle/>
          <a:p>
            <a:pPr>
              <a:lnSpc>
                <a:spcPct val="90000"/>
              </a:lnSpc>
            </a:pPr>
            <a:r>
              <a:rPr lang="en-US" sz="2400" b="0" i="0" u="none"/>
              <a:t>AI can produce useful first drafts quickly</a:t>
            </a:r>
            <a:endParaRPr lang="en-US" sz="2400" b="0" i="0"/>
          </a:p>
          <a:p>
            <a:pPr>
              <a:lnSpc>
                <a:spcPct val="90000"/>
              </a:lnSpc>
            </a:pPr>
            <a:r>
              <a:rPr lang="en-US" sz="2400" b="0" i="0" u="none"/>
              <a:t>It can also misunderstand requirements or context</a:t>
            </a:r>
            <a:endParaRPr lang="en-US" sz="2400" b="0" i="0"/>
          </a:p>
          <a:p>
            <a:pPr>
              <a:lnSpc>
                <a:spcPct val="90000"/>
              </a:lnSpc>
            </a:pPr>
            <a:r>
              <a:rPr lang="en-US" sz="2400" b="0" i="0" u="none"/>
              <a:t>Humans remain accountable for correctness and intent</a:t>
            </a:r>
            <a:endParaRPr lang="en-US" sz="2400" b="0" i="0"/>
          </a:p>
          <a:p>
            <a:pPr>
              <a:lnSpc>
                <a:spcPct val="90000"/>
              </a:lnSpc>
            </a:pPr>
            <a:r>
              <a:rPr lang="en-US" sz="2400" b="0" i="0" u="none"/>
              <a:t>Review every generated change before commit or merge</a:t>
            </a:r>
            <a:endParaRPr lang="en-US" sz="2400" b="0" i="0"/>
          </a:p>
          <a:p>
            <a:pPr>
              <a:lnSpc>
                <a:spcPct val="90000"/>
              </a:lnSpc>
            </a:pPr>
            <a:r>
              <a:rPr lang="en-US" sz="2400" b="0" i="0" u="none"/>
              <a:t>Use AI for acceleration, not delegated judgment</a:t>
            </a:r>
            <a:endParaRPr lang="en-US" sz="2400" b="0" i="0"/>
          </a:p>
        </p:txBody>
      </p:sp>
      <p:pic>
        <p:nvPicPr>
          <p:cNvPr id="4" name="Picture 3" descr="81a798a338e7eb28a4d0d756b247789d6cc66246.png"/>
          <p:cNvPicPr>
            <a:picLocks noChangeAspect="1"/>
          </p:cNvPicPr>
          <p:nvPr/>
        </p:nvPicPr>
        <p:blipFill>
          <a:blip r:embed="rId3"/>
          <a:stretch>
            <a:fillRect/>
          </a:stretch>
        </p:blipFill>
        <p:spPr>
          <a:xfrm>
            <a:off x="7625922" y="1463752"/>
            <a:ext cx="2274156" cy="4351338"/>
          </a:xfrm>
          <a:prstGeom prst="rect">
            <a:avLst/>
          </a:prstGeom>
          <a:noFill/>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200"/>
              <a:t>Coverage Is a Floor, Not the Goal</a:t>
            </a:r>
          </a:p>
        </p:txBody>
      </p:sp>
      <p:sp>
        <p:nvSpPr>
          <p:cNvPr id="3" name="Content Placeholder 2"/>
          <p:cNvSpPr>
            <a:spLocks noGrp="1"/>
          </p:cNvSpPr>
          <p:nvPr>
            <p:ph idx="1"/>
          </p:nvPr>
        </p:nvSpPr>
        <p:spPr/>
        <p:txBody>
          <a:bodyPr wrap="square">
            <a:noAutofit/>
          </a:bodyPr>
          <a:lstStyle/>
          <a:p>
            <a:r>
              <a:rPr sz="2150" b="0" i="0" u="none"/>
              <a:t>Coverage tells you how much code was executed</a:t>
            </a:r>
            <a:endParaRPr sz="2150" b="0" i="0">
              <a:latin typeface="Arial"/>
            </a:endParaRPr>
          </a:p>
          <a:p>
            <a:r>
              <a:rPr sz="2150" b="0" i="0" u="none"/>
              <a:t>Signal quality tells you whether failures would matter</a:t>
            </a:r>
            <a:endParaRPr sz="2150" b="0" i="0">
              <a:latin typeface="Arial"/>
            </a:endParaRPr>
          </a:p>
          <a:p>
            <a:r>
              <a:rPr sz="2150" b="0" i="0" u="none"/>
              <a:t>Prefer tests that detect regressions in behavior</a:t>
            </a:r>
            <a:endParaRPr sz="2150" b="0" i="0">
              <a:latin typeface="Arial"/>
            </a:endParaRPr>
          </a:p>
          <a:p>
            <a:r>
              <a:rPr sz="2150" b="0" i="0" u="none"/>
              <a:t>Include edge cases, negative paths, and business rules</a:t>
            </a:r>
            <a:endParaRPr sz="2150" b="0" i="0">
              <a:latin typeface="Arial"/>
            </a:endParaRPr>
          </a:p>
          <a:p>
            <a:r>
              <a:rPr sz="2150" b="0" i="0" u="none"/>
              <a:t>Do not confuse green dashboards with real confidence</a:t>
            </a:r>
            <a:endParaRPr sz="2150" b="0" i="0">
              <a:latin typeface="Arial"/>
            </a:endParaRPr>
          </a:p>
          <a:p>
            <a:pPr>
              <a:buNone/>
            </a:pPr>
            <a:endParaRPr sz="2150" b="0" i="0">
              <a:latin typeface="Arial"/>
            </a:endParaRPr>
          </a:p>
          <a:p>
            <a:pPr>
              <a:buNone/>
            </a:pPr>
            <a:r>
              <a:rPr sz="2150" b="0" i="0" u="none"/>
              <a:t>High-signal tests usually check</a:t>
            </a:r>
            <a:endParaRPr sz="2150" b="0" i="0">
              <a:latin typeface="Arial"/>
            </a:endParaRPr>
          </a:p>
          <a:p>
            <a:pPr lvl="1"/>
            <a:r>
              <a:rPr sz="2150" b="0" i="0" u="none"/>
              <a:t>outcomes users care about</a:t>
            </a:r>
            <a:endParaRPr sz="2150" b="0" i="0">
              <a:latin typeface="Arial"/>
            </a:endParaRPr>
          </a:p>
          <a:p>
            <a:pPr lvl="1"/>
            <a:r>
              <a:rPr sz="2150" b="0" i="0" u="none"/>
              <a:t>meaningful failure conditions</a:t>
            </a:r>
            <a:endParaRPr sz="2150" b="0" i="0">
              <a:latin typeface="Arial"/>
            </a:endParaRPr>
          </a:p>
          <a:p>
            <a:pPr lvl="1"/>
            <a:r>
              <a:rPr sz="2150" b="0" i="0" u="none"/>
              <a:t>integration boundaries and contracts</a:t>
            </a:r>
            <a:endParaRPr sz="2150" b="0" i="0">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400"/>
              <a:t>Keep Change Sets Small and Reviewable</a:t>
            </a:r>
          </a:p>
        </p:txBody>
      </p:sp>
      <p:sp>
        <p:nvSpPr>
          <p:cNvPr id="3" name="Content Placeholder 2"/>
          <p:cNvSpPr>
            <a:spLocks noGrp="1"/>
          </p:cNvSpPr>
          <p:nvPr>
            <p:ph idx="1"/>
          </p:nvPr>
        </p:nvSpPr>
        <p:spPr/>
        <p:txBody>
          <a:bodyPr wrap="square">
            <a:noAutofit/>
          </a:bodyPr>
          <a:lstStyle/>
          <a:p>
            <a:r>
              <a:rPr sz="2150" b="0" i="0" u="none"/>
              <a:t>Smaller diffs are easier to understand</a:t>
            </a:r>
            <a:endParaRPr sz="2150" b="0" i="0">
              <a:latin typeface="Arial"/>
            </a:endParaRPr>
          </a:p>
          <a:p>
            <a:r>
              <a:rPr sz="2150" b="0" i="0" u="none"/>
              <a:t>Reviewers spot risk faster in focused changes</a:t>
            </a:r>
            <a:endParaRPr sz="2150" b="0" i="0">
              <a:latin typeface="Arial"/>
            </a:endParaRPr>
          </a:p>
          <a:p>
            <a:r>
              <a:rPr sz="2150" b="0" i="0" u="none"/>
              <a:t>Rollback is simpler when scope is narrow</a:t>
            </a:r>
            <a:endParaRPr sz="2150" b="0" i="0">
              <a:latin typeface="Arial"/>
            </a:endParaRPr>
          </a:p>
          <a:p>
            <a:r>
              <a:rPr sz="2150" b="0" i="0" u="none"/>
              <a:t>Incremental delivery reduces blast radius</a:t>
            </a:r>
            <a:endParaRPr sz="2150" b="0" i="0">
              <a:latin typeface="Arial"/>
            </a:endParaRPr>
          </a:p>
          <a:p>
            <a:r>
              <a:rPr sz="2150" b="0" i="0" u="none"/>
              <a:t>Large AI-generated diffs hide subtle mistakes</a:t>
            </a:r>
            <a:endParaRPr sz="2150" b="0" i="0">
              <a:latin typeface="Arial"/>
            </a:endParaRPr>
          </a:p>
          <a:p>
            <a:pPr>
              <a:buNone/>
            </a:pPr>
            <a:endParaRPr sz="2150" b="0" i="0">
              <a:latin typeface="Arial"/>
            </a:endParaRPr>
          </a:p>
          <a:p>
            <a:pPr>
              <a:buNone/>
            </a:pPr>
            <a:r>
              <a:rPr sz="2150" b="0" i="0" u="none"/>
              <a:t>Good small-change patterns</a:t>
            </a:r>
            <a:endParaRPr sz="2150" b="0" i="0">
              <a:latin typeface="Arial"/>
            </a:endParaRPr>
          </a:p>
          <a:p>
            <a:pPr lvl="1">
              <a:buNone/>
            </a:pPr>
            <a:r>
              <a:rPr sz="2150" b="0" i="0" u="none"/>
              <a:t>  1. separate refactor from behavior change</a:t>
            </a:r>
            <a:endParaRPr sz="2150" b="0" i="0">
              <a:latin typeface="Arial"/>
            </a:endParaRPr>
          </a:p>
          <a:p>
            <a:pPr lvl="1">
              <a:buNone/>
            </a:pPr>
            <a:r>
              <a:rPr sz="2150" b="0" i="0" u="none"/>
              <a:t>  2. ship one concern per pull request</a:t>
            </a:r>
            <a:endParaRPr sz="2150" b="0" i="0">
              <a:latin typeface="Arial"/>
            </a:endParaRPr>
          </a:p>
          <a:p>
            <a:pPr lvl="1">
              <a:buNone/>
            </a:pPr>
            <a:r>
              <a:rPr sz="2150" b="0" i="0" u="none"/>
              <a:t>  3. keep cleanup close to the related feature</a:t>
            </a:r>
            <a:endParaRPr sz="2150" b="0" i="0">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950"/>
              <a:t>Human Review + Automated Review Workflow</a:t>
            </a:r>
          </a:p>
        </p:txBody>
      </p:sp>
      <p:sp>
        <p:nvSpPr>
          <p:cNvPr id="3" name="Content Placeholder 2"/>
          <p:cNvSpPr>
            <a:spLocks noGrp="1"/>
          </p:cNvSpPr>
          <p:nvPr>
            <p:ph idx="1"/>
          </p:nvPr>
        </p:nvSpPr>
        <p:spPr/>
        <p:txBody>
          <a:bodyPr wrap="square">
            <a:noAutofit/>
          </a:bodyPr>
          <a:lstStyle/>
          <a:p>
            <a:r>
              <a:rPr sz="2450" b="0" i="0" u="none"/>
              <a:t>Use automation to surface risky files, missing tests, and policy gaps</a:t>
            </a:r>
            <a:endParaRPr sz="2450" b="0" i="0">
              <a:latin typeface="Arial"/>
            </a:endParaRPr>
          </a:p>
          <a:p>
            <a:r>
              <a:rPr sz="2450" b="0" i="0" u="none"/>
              <a:t>Use humans to judge correctness, intent, and business impact</a:t>
            </a:r>
            <a:endParaRPr sz="2450" b="0" i="0">
              <a:latin typeface="Arial"/>
            </a:endParaRPr>
          </a:p>
          <a:p>
            <a:r>
              <a:rPr sz="2450" b="0" i="0" u="none"/>
              <a:t>Azure DevOps MCP tools can help automate PR review workflows</a:t>
            </a:r>
            <a:endParaRPr sz="2450" b="0" i="0">
              <a:latin typeface="Arial"/>
            </a:endParaRPr>
          </a:p>
          <a:p>
            <a:r>
              <a:rPr sz="2450" b="0" i="0" u="none"/>
              <a:t>Automated comments are triage aids, not merge authority</a:t>
            </a:r>
            <a:endParaRPr sz="2450" b="0" i="0">
              <a:latin typeface="Arial"/>
            </a:endParaRPr>
          </a:p>
          <a:p>
            <a:r>
              <a:rPr sz="2450" b="0" i="0" u="none"/>
              <a:t>The best workflow combines speed, consistency, and accountability</a:t>
            </a:r>
            <a:endParaRPr sz="2450" b="0" i="0">
              <a:latin typeface="Arial"/>
            </a:endParaRPr>
          </a:p>
          <a:p>
            <a:pPr>
              <a:buNone/>
            </a:pPr>
            <a:endParaRPr sz="2450" b="0" i="0">
              <a:latin typeface="Arial"/>
            </a:endParaRPr>
          </a:p>
          <a:p>
            <a:pPr>
              <a:buNone/>
            </a:pPr>
            <a:r>
              <a:rPr sz="2450" b="0" i="0" u="none"/>
              <a:t>Suggested review split</a:t>
            </a:r>
            <a:endParaRPr sz="2450" b="0" i="0">
              <a:latin typeface="Arial"/>
            </a:endParaRPr>
          </a:p>
          <a:p>
            <a:pPr lvl="1"/>
            <a:r>
              <a:rPr sz="2450" b="0" i="0" u="none"/>
              <a:t>Automation: lint, tests, policy checks, review hints</a:t>
            </a:r>
            <a:endParaRPr sz="2450" b="0" i="0">
              <a:latin typeface="Arial"/>
            </a:endParaRPr>
          </a:p>
          <a:p>
            <a:pPr lvl="1"/>
            <a:r>
              <a:rPr sz="2450" b="0" i="0" u="none"/>
              <a:t>Human reviewers: architecture, behavior, domain correctness</a:t>
            </a:r>
            <a:endParaRPr sz="2450" b="0" i="0">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750"/>
              <a:t>Practical Safety Checklist for AI-Assisted Changes</a:t>
            </a:r>
          </a:p>
        </p:txBody>
      </p:sp>
      <p:sp>
        <p:nvSpPr>
          <p:cNvPr id="3" name="Content Placeholder 2"/>
          <p:cNvSpPr>
            <a:spLocks noGrp="1"/>
          </p:cNvSpPr>
          <p:nvPr>
            <p:ph idx="1"/>
          </p:nvPr>
        </p:nvSpPr>
        <p:spPr/>
        <p:txBody>
          <a:bodyPr wrap="square">
            <a:noAutofit/>
          </a:bodyPr>
          <a:lstStyle/>
          <a:p>
            <a:r>
              <a:rPr sz="2450" b="0" i="0" u="none"/>
              <a:t>Review every AI-generated diff before commit</a:t>
            </a:r>
            <a:endParaRPr sz="2450" b="0" i="0">
              <a:latin typeface="Arial"/>
            </a:endParaRPr>
          </a:p>
          <a:p>
            <a:r>
              <a:rPr sz="2450" b="0" i="0" u="none"/>
              <a:t>Require tests, but evaluate their signal, not just count</a:t>
            </a:r>
            <a:endParaRPr sz="2450" b="0" i="0">
              <a:latin typeface="Arial"/>
            </a:endParaRPr>
          </a:p>
          <a:p>
            <a:r>
              <a:rPr sz="2450" b="0" i="0" u="none"/>
              <a:t>Keep pull requests focused and incremental</a:t>
            </a:r>
            <a:endParaRPr sz="2450" b="0" i="0">
              <a:latin typeface="Arial"/>
            </a:endParaRPr>
          </a:p>
          <a:p>
            <a:r>
              <a:rPr sz="2450" b="0" i="0" u="none"/>
              <a:t>Use automation to pre-screen issues for reviewers</a:t>
            </a:r>
            <a:endParaRPr sz="2450" b="0" i="0">
              <a:latin typeface="Arial"/>
            </a:endParaRPr>
          </a:p>
          <a:p>
            <a:r>
              <a:rPr sz="2450" b="0" i="0" u="none"/>
              <a:t>Clean up obsolete flags and dead paths intentionally</a:t>
            </a:r>
            <a:endParaRPr sz="2450" b="0" i="0">
              <a:latin typeface="Arial"/>
            </a:endParaRPr>
          </a:p>
          <a:p>
            <a:r>
              <a:rPr sz="2450" b="0" i="0" u="none"/>
              <a:t>Merge only when humans understand the change</a:t>
            </a:r>
            <a:endParaRPr sz="2450" b="0" i="0">
              <a:latin typeface="Arial"/>
            </a:endParaRPr>
          </a:p>
          <a:p>
            <a:pPr>
              <a:buNone/>
            </a:pPr>
            <a:endParaRPr sz="2450" b="0" i="0">
              <a:latin typeface="Arial"/>
            </a:endParaRPr>
          </a:p>
          <a:p>
            <a:pPr>
              <a:buNone/>
            </a:pPr>
            <a:r>
              <a:rPr sz="2450" b="0" i="0" u="none"/>
              <a:t>Bottom line: fast AI-assisted delivery still needs disciplined engineering.</a:t>
            </a:r>
            <a:endParaRPr sz="2450" b="0" i="0">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Autofit/>
          </a:bodyPr>
          <a:lstStyle/>
          <a:p>
            <a:r>
              <a:rPr sz="2750" b="0" i="0" u="none"/>
              <a:t>Intro</a:t>
            </a:r>
          </a:p>
          <a:p>
            <a:r>
              <a:rPr sz="2750" b="0" i="0" u="none"/>
              <a:t>LLM</a:t>
            </a:r>
          </a:p>
          <a:p>
            <a:r>
              <a:rPr sz="2750" b="0" i="0" u="none"/>
              <a:t>Copilot for Teams</a:t>
            </a:r>
          </a:p>
          <a:p>
            <a:r>
              <a:rPr sz="2750" b="0" i="0" u="none"/>
              <a:t>Safety Measures and Best Practices</a:t>
            </a:r>
          </a:p>
          <a:p>
            <a:r>
              <a:rPr sz="2750" b="1" i="0" u="none"/>
              <a:t>▶ Models and Context</a:t>
            </a:r>
          </a:p>
          <a:p>
            <a:r>
              <a:rPr sz="2750" b="0" i="0" u="none"/>
              <a:t>Guardrails and Prompt Files</a:t>
            </a:r>
          </a:p>
          <a:p>
            <a:r>
              <a:rPr sz="2750" b="0" i="0" u="none"/>
              <a:t>AI Assisted Documentation</a:t>
            </a:r>
          </a:p>
          <a:p>
            <a:r>
              <a:rPr sz="2750" b="0" i="0" u="none"/>
              <a:t>Test Automation and Code Quality</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200"/>
              <a:t>Model Selection and Comparison</a:t>
            </a:r>
          </a:p>
        </p:txBody>
      </p:sp>
      <p:sp>
        <p:nvSpPr>
          <p:cNvPr id="3" name="Subtitle 2"/>
          <p:cNvSpPr>
            <a:spLocks noGrp="1"/>
          </p:cNvSpPr>
          <p:nvPr>
            <p:ph type="subTitle" idx="1"/>
          </p:nvPr>
        </p:nvSpPr>
        <p:spPr/>
        <p:txBody>
          <a:bodyPr wrap="square">
            <a:normAutofit/>
          </a:bodyPr>
          <a:lstStyle/>
          <a:p>
            <a:pPr>
              <a:buNone/>
            </a:pPr>
            <a:r>
              <a:rPr b="0" i="0" u="none"/>
              <a:t>So Many Models, So Few Context Windows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Public Leaderboards</a:t>
            </a:r>
          </a:p>
        </p:txBody>
      </p:sp>
      <p:sp>
        <p:nvSpPr>
          <p:cNvPr id="3" name="Content Placeholder 2"/>
          <p:cNvSpPr>
            <a:spLocks noGrp="1"/>
          </p:cNvSpPr>
          <p:nvPr>
            <p:ph idx="1"/>
          </p:nvPr>
        </p:nvSpPr>
        <p:spPr/>
        <p:txBody>
          <a:bodyPr wrap="square">
            <a:noAutofit/>
          </a:bodyPr>
          <a:lstStyle/>
          <a:p>
            <a:r>
              <a:rPr sz="2550" b="0" i="0" u="none"/>
              <a:t>Where to See Model-to-Model Comparisons</a:t>
            </a:r>
            <a:endParaRPr sz="2550" b="0" i="0">
              <a:latin typeface="Arial"/>
            </a:endParaRPr>
          </a:p>
          <a:p>
            <a:r>
              <a:rPr sz="2550" b="0" i="0" u="none"/>
              <a:t>LLM-Stats Coding Leaderboard</a:t>
            </a:r>
            <a:endParaRPr sz="2550" b="0" i="0">
              <a:latin typeface="Arial"/>
            </a:endParaRPr>
          </a:p>
          <a:p>
            <a:pPr lvl="1"/>
            <a:r>
              <a:rPr sz="2550" b="0" i="0" u="none"/>
              <a:t>Aggregates 20+ coding benchmarks</a:t>
            </a:r>
            <a:endParaRPr sz="2550" b="0" i="0">
              <a:latin typeface="Arial"/>
            </a:endParaRPr>
          </a:p>
          <a:p>
            <a:pPr lvl="1"/>
            <a:r>
              <a:rPr sz="2550" b="0" i="0" u="none"/>
              <a:t>Shows top performers across HumanEval, LiveCodeBench, etc.</a:t>
            </a:r>
            <a:endParaRPr sz="2550" b="0" i="0">
              <a:latin typeface="Arial"/>
            </a:endParaRPr>
          </a:p>
          <a:p>
            <a:r>
              <a:rPr sz="2550" b="0" i="0" u="none"/>
              <a:t>TechRadar's Coding LLM Guide</a:t>
            </a:r>
            <a:endParaRPr sz="2550" b="0" i="0">
              <a:latin typeface="Arial"/>
            </a:endParaRPr>
          </a:p>
          <a:p>
            <a:pPr lvl="1"/>
            <a:r>
              <a:rPr sz="2550" b="0" i="0" u="none"/>
              <a:t>Editorial comparison of strengths (debugging, test generation, etc.)</a:t>
            </a:r>
            <a:endParaRPr sz="2550" b="0" i="0">
              <a:latin typeface="Arial"/>
            </a:endParaRPr>
          </a:p>
          <a:p>
            <a:r>
              <a:rPr sz="2550" b="0" i="0" u="none"/>
              <a:t>Zencoder's 2026 Model Comparison</a:t>
            </a:r>
            <a:endParaRPr sz="2550" b="0" i="0">
              <a:latin typeface="Arial"/>
            </a:endParaRPr>
          </a:p>
          <a:p>
            <a:pPr lvl="1"/>
            <a:r>
              <a:rPr sz="2550" b="0" i="0" u="none"/>
              <a:t>Breaks down accuracy, reasoning, and context window-</a:t>
            </a:r>
            <a:endParaRPr sz="2550" b="0" i="0">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Core Benchmarks</a:t>
            </a:r>
          </a:p>
        </p:txBody>
      </p:sp>
      <p:sp>
        <p:nvSpPr>
          <p:cNvPr id="3" name="Content Placeholder 2"/>
          <p:cNvSpPr>
            <a:spLocks noGrp="1"/>
          </p:cNvSpPr>
          <p:nvPr>
            <p:ph idx="1"/>
          </p:nvPr>
        </p:nvSpPr>
        <p:spPr/>
        <p:txBody>
          <a:bodyPr wrap="square">
            <a:noAutofit/>
          </a:bodyPr>
          <a:lstStyle/>
          <a:p>
            <a:r>
              <a:rPr sz="1950" b="0" i="0" u="none"/>
              <a:t>What Models Are Actually Tested On</a:t>
            </a:r>
            <a:endParaRPr sz="1950" b="0" i="0">
              <a:latin typeface="Arial"/>
            </a:endParaRPr>
          </a:p>
          <a:p>
            <a:r>
              <a:rPr sz="1950" b="0" i="0" u="none"/>
              <a:t>HumanEval</a:t>
            </a:r>
            <a:endParaRPr sz="1950" b="0" i="0">
              <a:latin typeface="Arial"/>
            </a:endParaRPr>
          </a:p>
          <a:p>
            <a:pPr lvl="1"/>
            <a:r>
              <a:rPr sz="1950" b="0" i="0" u="none"/>
              <a:t>Classic functional-correctness benchmark for Python</a:t>
            </a:r>
            <a:endParaRPr sz="1950" b="0" i="0">
              <a:latin typeface="Arial"/>
            </a:endParaRPr>
          </a:p>
          <a:p>
            <a:r>
              <a:rPr sz="1950" b="0" i="0" u="none"/>
              <a:t>LiveCodeBench</a:t>
            </a:r>
            <a:endParaRPr sz="1950" b="0" i="0">
              <a:latin typeface="Arial"/>
            </a:endParaRPr>
          </a:p>
          <a:p>
            <a:pPr lvl="1"/>
            <a:r>
              <a:rPr sz="1950" b="0" i="0" u="none"/>
              <a:t>Contamination-free, holistic benchmark for modern LLMs</a:t>
            </a:r>
            <a:endParaRPr sz="1950" b="0" i="0">
              <a:latin typeface="Arial"/>
            </a:endParaRPr>
          </a:p>
          <a:p>
            <a:r>
              <a:rPr sz="1950" b="0" i="0" u="none"/>
              <a:t>MBPP (Mostly Basic Programming Problems)</a:t>
            </a:r>
            <a:endParaRPr sz="1950" b="0" i="0">
              <a:latin typeface="Arial"/>
            </a:endParaRPr>
          </a:p>
          <a:p>
            <a:pPr lvl="1"/>
            <a:r>
              <a:rPr sz="1950" b="0" i="0" u="none"/>
              <a:t>Simple algorithmic tasks across languages</a:t>
            </a:r>
            <a:endParaRPr sz="1950" b="0" i="0">
              <a:latin typeface="Arial"/>
            </a:endParaRPr>
          </a:p>
          <a:p>
            <a:r>
              <a:rPr sz="1950" b="0" i="0" u="none"/>
              <a:t>SWE-Bench</a:t>
            </a:r>
            <a:endParaRPr sz="1950" b="0" i="0">
              <a:latin typeface="Arial"/>
            </a:endParaRPr>
          </a:p>
          <a:p>
            <a:pPr lvl="1"/>
            <a:r>
              <a:rPr sz="1950" b="0" i="0" u="none"/>
              <a:t>Real-world GitHub issue resolution</a:t>
            </a:r>
            <a:endParaRPr sz="1950" b="0" i="0">
              <a:latin typeface="Arial"/>
            </a:endParaRPr>
          </a:p>
          <a:p>
            <a:r>
              <a:rPr sz="1950" b="0" i="0" u="none"/>
              <a:t>DevQualityEval</a:t>
            </a:r>
            <a:endParaRPr sz="1950" b="0" i="0">
              <a:latin typeface="Arial"/>
            </a:endParaRPr>
          </a:p>
          <a:p>
            <a:pPr lvl="1"/>
            <a:r>
              <a:rPr sz="1950" b="0" i="0" u="none"/>
              <a:t>Evaluates test generation for Java and Go</a:t>
            </a:r>
            <a:endParaRPr sz="1950" b="0" i="0">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Surveys &amp; Deep-Dive Research</a:t>
            </a:r>
          </a:p>
        </p:txBody>
      </p:sp>
      <p:sp>
        <p:nvSpPr>
          <p:cNvPr id="3" name="Content Placeholder 2"/>
          <p:cNvSpPr>
            <a:spLocks noGrp="1"/>
          </p:cNvSpPr>
          <p:nvPr>
            <p:ph idx="1"/>
          </p:nvPr>
        </p:nvSpPr>
        <p:spPr/>
        <p:txBody>
          <a:bodyPr wrap="square">
            <a:noAutofit/>
          </a:bodyPr>
          <a:lstStyle/>
          <a:p>
            <a:pPr>
              <a:buNone/>
            </a:pPr>
            <a:r>
              <a:rPr sz="2250" b="0" i="0" u="none"/>
              <a:t>Understanding the Landscape</a:t>
            </a:r>
            <a:endParaRPr sz="2250" b="0" i="0">
              <a:latin typeface="Arial"/>
            </a:endParaRPr>
          </a:p>
          <a:p>
            <a:pPr>
              <a:buNone/>
            </a:pPr>
            <a:r>
              <a:rPr sz="2250" b="0" i="0" u="none"/>
              <a:t>Academic Surveys (arXiv)</a:t>
            </a:r>
            <a:endParaRPr sz="2250" b="0" i="0">
              <a:latin typeface="Arial"/>
            </a:endParaRPr>
          </a:p>
          <a:p>
            <a:pPr>
              <a:buNone/>
            </a:pPr>
            <a:endParaRPr sz="2250" b="0" i="0">
              <a:latin typeface="Arial"/>
            </a:endParaRPr>
          </a:p>
          <a:p>
            <a:r>
              <a:rPr sz="2250" b="0" i="0" u="none"/>
              <a:t>Comprehensive overviews of techniques, benchmarks, and model families</a:t>
            </a:r>
            <a:endParaRPr sz="2250" b="0" i="0">
              <a:latin typeface="Arial"/>
            </a:endParaRPr>
          </a:p>
          <a:p>
            <a:pPr>
              <a:buNone/>
            </a:pPr>
            <a:r>
              <a:rPr sz="2250" b="0" i="0" u="none"/>
              <a:t>  Benchmark Explainers (Vellum, Analytics Vidhya)</a:t>
            </a:r>
            <a:endParaRPr sz="2250" b="0" i="0">
              <a:latin typeface="Arial"/>
            </a:endParaRPr>
          </a:p>
          <a:p>
            <a:r>
              <a:rPr sz="2250" b="0" i="0" u="none"/>
              <a:t>Strengths and weaknesses of each benchmark</a:t>
            </a:r>
            <a:endParaRPr sz="2250" b="0" i="0">
              <a:latin typeface="Arial"/>
            </a:endParaRPr>
          </a:p>
          <a:p>
            <a:r>
              <a:rPr sz="2250" b="0" i="0" u="none"/>
              <a:t>How to interpret results</a:t>
            </a:r>
            <a:endParaRPr sz="2250" b="0" i="0">
              <a:latin typeface="Arial"/>
            </a:endParaRPr>
          </a:p>
          <a:p>
            <a:pPr>
              <a:buNone/>
            </a:pPr>
            <a:r>
              <a:rPr sz="2250" b="0" i="0" u="none"/>
              <a:t>  Specialized Benchmarks</a:t>
            </a:r>
            <a:endParaRPr sz="2250" b="0" i="0">
              <a:latin typeface="Arial"/>
            </a:endParaRPr>
          </a:p>
          <a:p>
            <a:r>
              <a:rPr sz="2250" b="0" i="0" u="none"/>
              <a:t>SwiftEval, domain-specific coding evaluations, etc</a:t>
            </a:r>
            <a:endParaRPr sz="2250" b="0" i="0">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Evaluation Frameworks</a:t>
            </a:r>
          </a:p>
        </p:txBody>
      </p:sp>
      <p:sp>
        <p:nvSpPr>
          <p:cNvPr id="3" name="Content Placeholder 2"/>
          <p:cNvSpPr>
            <a:spLocks noGrp="1"/>
          </p:cNvSpPr>
          <p:nvPr>
            <p:ph idx="1"/>
          </p:nvPr>
        </p:nvSpPr>
        <p:spPr/>
        <p:txBody>
          <a:bodyPr wrap="square">
            <a:normAutofit/>
          </a:bodyPr>
          <a:lstStyle/>
          <a:p>
            <a:r>
              <a:rPr sz="2800" b="0" i="0" u="none"/>
              <a:t>Tools for Running Your Own Tests</a:t>
            </a:r>
            <a:endParaRPr sz="2800" b="0" i="0">
              <a:latin typeface="Arial"/>
            </a:endParaRPr>
          </a:p>
          <a:p>
            <a:pPr lvl="1"/>
            <a:r>
              <a:rPr sz="2800" b="0" i="0" u="none"/>
              <a:t>Symflower DevQualityEval</a:t>
            </a:r>
            <a:endParaRPr sz="2800" b="0" i="0">
              <a:latin typeface="Arial"/>
            </a:endParaRPr>
          </a:p>
          <a:p>
            <a:pPr lvl="2"/>
            <a:r>
              <a:rPr sz="2800" b="0" i="0" u="none"/>
              <a:t>Open-source framework for code and test generation evaluation</a:t>
            </a:r>
            <a:endParaRPr sz="2800" b="0" i="0">
              <a:latin typeface="Arial"/>
            </a:endParaRPr>
          </a:p>
          <a:p>
            <a:pPr lvl="1"/>
            <a:r>
              <a:rPr sz="2800" b="0" i="0" u="none"/>
              <a:t>CodeArena (HuggingFace)</a:t>
            </a:r>
            <a:endParaRPr sz="2800" b="0" i="0">
              <a:latin typeface="Arial"/>
            </a:endParaRPr>
          </a:p>
          <a:p>
            <a:pPr lvl="2"/>
            <a:r>
              <a:rPr sz="2800" b="0" i="0" u="none"/>
              <a:t>Collective evaluation platform for coding tasks</a:t>
            </a:r>
            <a:endParaRPr sz="2800" b="0" i="0">
              <a:latin typeface="Arial"/>
            </a:endParaRPr>
          </a:p>
          <a:p>
            <a:pPr lvl="1"/>
            <a:r>
              <a:rPr sz="2800" b="0" i="0" u="none"/>
              <a:t>Automatic Benchmark Generation Tools</a:t>
            </a:r>
            <a:endParaRPr sz="2800" b="0" i="0">
              <a:latin typeface="Arial"/>
            </a:endParaRPr>
          </a:p>
          <a:p>
            <a:pPr lvl="2"/>
            <a:r>
              <a:rPr sz="2800" b="0" i="0" u="none"/>
              <a:t>Research into LLM-generated benchmarks and judge reliability</a:t>
            </a:r>
            <a:endParaRPr sz="2800" b="0" i="0">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Selecting Models</a:t>
            </a:r>
          </a:p>
        </p:txBody>
      </p:sp>
      <p:sp>
        <p:nvSpPr>
          <p:cNvPr id="3" name="Content Placeholder 2"/>
          <p:cNvSpPr>
            <a:spLocks noGrp="1"/>
          </p:cNvSpPr>
          <p:nvPr>
            <p:ph idx="1"/>
          </p:nvPr>
        </p:nvSpPr>
        <p:spPr/>
        <p:txBody>
          <a:bodyPr wrap="square">
            <a:normAutofit/>
          </a:bodyPr>
          <a:lstStyle/>
          <a:p>
            <a:r>
              <a:rPr sz="2800" b="0" i="0" u="none"/>
              <a:t>Select benchmarks aligned with your workflow</a:t>
            </a:r>
            <a:endParaRPr sz="2800" b="0" i="0">
              <a:latin typeface="Arial"/>
            </a:endParaRPr>
          </a:p>
          <a:p>
            <a:r>
              <a:rPr sz="2800" b="0" i="0" u="none"/>
              <a:t>Combine leaderboards + hands-on evaluation</a:t>
            </a:r>
            <a:endParaRPr sz="2800" b="0" i="0">
              <a:latin typeface="Arial"/>
            </a:endParaRPr>
          </a:p>
          <a:p>
            <a:r>
              <a:rPr sz="2800" b="0" i="0" u="none"/>
              <a:t>Build a repeatable internal benchmark suite</a:t>
            </a:r>
            <a:endParaRPr sz="2800" b="0" i="0">
              <a:latin typeface="Arial"/>
            </a:endParaRPr>
          </a:p>
          <a:p>
            <a:r>
              <a:rPr sz="2800" b="0" i="0" u="none"/>
              <a:t>Track contamination-free benchmarks for reliability</a:t>
            </a:r>
            <a:endParaRPr sz="2800" b="0" i="0">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Advanced Context Techniques</a:t>
            </a:r>
          </a:p>
        </p:txBody>
      </p:sp>
      <p:sp>
        <p:nvSpPr>
          <p:cNvPr id="3" name="Subtitle 2"/>
          <p:cNvSpPr>
            <a:spLocks noGrp="1"/>
          </p:cNvSpPr>
          <p:nvPr>
            <p:ph type="subTitle" idx="1"/>
          </p:nvPr>
        </p:nvSpPr>
        <p:spPr/>
        <p:txBody>
          <a:bodyPr wrap="square">
            <a:normAutofit/>
          </a:bodyPr>
          <a:lstStyle/>
          <a:p>
            <a:pPr>
              <a:buNone/>
            </a:pPr>
            <a:r>
              <a:rPr b="0" i="0" u="none"/>
              <a:t>Garbage In, Hallucinations Out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Advanced Context Techniques</a:t>
            </a:r>
          </a:p>
        </p:txBody>
      </p:sp>
      <p:sp>
        <p:nvSpPr>
          <p:cNvPr id="3" name="Content Placeholder 2"/>
          <p:cNvSpPr>
            <a:spLocks noGrp="1"/>
          </p:cNvSpPr>
          <p:nvPr>
            <p:ph idx="1"/>
          </p:nvPr>
        </p:nvSpPr>
        <p:spPr/>
        <p:txBody>
          <a:bodyPr wrap="square">
            <a:normAutofit/>
          </a:bodyPr>
          <a:lstStyle/>
          <a:p>
            <a:r>
              <a:rPr sz="2800" b="0" i="0" u="none"/>
              <a:t>Modern AI tools rely heavily on context quality</a:t>
            </a:r>
            <a:endParaRPr sz="2800" b="0" i="0">
              <a:latin typeface="Arial"/>
            </a:endParaRPr>
          </a:p>
          <a:p>
            <a:r>
              <a:rPr sz="2800" b="0" i="0" u="none"/>
              <a:t>Developers can shape context intentionally</a:t>
            </a:r>
            <a:endParaRPr sz="2800" b="0" i="0">
              <a:latin typeface="Arial"/>
            </a:endParaRPr>
          </a:p>
          <a:p>
            <a:r>
              <a:rPr sz="2800" b="0" i="0" u="none"/>
              <a:t>Reduces hallucinations, drift, and rework</a:t>
            </a:r>
            <a:endParaRPr sz="2800" b="0" i="0">
              <a:latin typeface="Arial"/>
            </a:endParaRPr>
          </a:p>
          <a:p>
            <a:r>
              <a:rPr sz="2800" b="0" i="0" u="none"/>
              <a:t>Strong context discipline is a core AI-era skill</a:t>
            </a:r>
            <a:endParaRPr sz="2800" b="0" i="0">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150"/>
              <a:t>File &amp; Folder Mentions (# Syntax)</a:t>
            </a:r>
          </a:p>
        </p:txBody>
      </p:sp>
      <p:sp>
        <p:nvSpPr>
          <p:cNvPr id="3" name="Content Placeholder 2"/>
          <p:cNvSpPr>
            <a:spLocks noGrp="1"/>
          </p:cNvSpPr>
          <p:nvPr>
            <p:ph idx="1"/>
          </p:nvPr>
        </p:nvSpPr>
        <p:spPr/>
        <p:txBody>
          <a:bodyPr wrap="square">
            <a:normAutofit/>
          </a:bodyPr>
          <a:lstStyle/>
          <a:p>
            <a:pPr>
              <a:buNone/>
            </a:pPr>
            <a:r>
              <a:rPr sz="1800" b="0" i="0" u="none" dirty="0"/>
              <a:t>How it helps</a:t>
            </a:r>
            <a:endParaRPr sz="1800" b="0" i="0" dirty="0">
              <a:latin typeface="Consolas"/>
            </a:endParaRPr>
          </a:p>
          <a:p>
            <a:r>
              <a:rPr sz="1800" b="0" i="0" u="none" dirty="0"/>
              <a:t>Explicitly pull files into context</a:t>
            </a:r>
            <a:endParaRPr sz="1800" b="0" i="0" dirty="0">
              <a:latin typeface="Consolas"/>
            </a:endParaRPr>
          </a:p>
          <a:p>
            <a:r>
              <a:rPr sz="1800" b="0" i="0" u="none" dirty="0"/>
              <a:t>Ensures the model references real code, not guesses</a:t>
            </a:r>
            <a:endParaRPr sz="1800" b="0" i="0" dirty="0">
              <a:latin typeface="Consolas"/>
            </a:endParaRPr>
          </a:p>
          <a:p>
            <a:r>
              <a:rPr sz="1800" b="0" i="0" u="none" dirty="0"/>
              <a:t>Supports cross-file refactoring and API consistency</a:t>
            </a:r>
            <a:endParaRPr sz="1800" b="0" i="0" dirty="0">
              <a:latin typeface="Consolas"/>
            </a:endParaRPr>
          </a:p>
          <a:p>
            <a:r>
              <a:rPr sz="1800" b="0" i="0" u="none" dirty="0"/>
              <a:t>Reduces drift in large repos</a:t>
            </a:r>
            <a:endParaRPr sz="1800" b="0" i="0" dirty="0">
              <a:latin typeface="Consolas"/>
            </a:endParaRPr>
          </a:p>
          <a:p>
            <a:pPr>
              <a:buNone/>
            </a:pPr>
            <a:endParaRPr sz="1800" b="0" i="0" dirty="0">
              <a:latin typeface="Consolas"/>
            </a:endParaRPr>
          </a:p>
          <a:p>
            <a:pPr>
              <a:buNone/>
            </a:pPr>
            <a:r>
              <a:rPr sz="1800" b="0" i="0" u="none" dirty="0"/>
              <a:t>Examples</a:t>
            </a:r>
            <a:endParaRPr sz="1800" b="0" i="0" dirty="0">
              <a:latin typeface="Consolas"/>
            </a:endParaRPr>
          </a:p>
          <a:p>
            <a:pPr>
              <a:buNone/>
            </a:pPr>
            <a:r>
              <a:rPr sz="1800" b="0" i="0" dirty="0">
                <a:latin typeface="Consolas"/>
              </a:rPr>
              <a:t>#src/utils/date.ts</a:t>
            </a:r>
          </a:p>
          <a:p>
            <a:pPr>
              <a:buNone/>
            </a:pPr>
            <a:r>
              <a:rPr sz="1800" b="0" i="0" dirty="0">
                <a:latin typeface="Consolas"/>
              </a:rPr>
              <a:t>#services/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50"/>
              <a:t>Spaces &amp; Knowledge Bases Integration</a:t>
            </a:r>
          </a:p>
        </p:txBody>
      </p:sp>
      <p:sp>
        <p:nvSpPr>
          <p:cNvPr id="3" name="Content Placeholder 2"/>
          <p:cNvSpPr>
            <a:spLocks noGrp="1"/>
          </p:cNvSpPr>
          <p:nvPr>
            <p:ph idx="1"/>
          </p:nvPr>
        </p:nvSpPr>
        <p:spPr/>
        <p:txBody>
          <a:bodyPr wrap="square">
            <a:noAutofit/>
          </a:bodyPr>
          <a:lstStyle/>
          <a:p>
            <a:pPr>
              <a:buNone/>
            </a:pPr>
            <a:r>
              <a:rPr sz="1750" b="0" i="0" u="none"/>
              <a:t>Why they matter</a:t>
            </a:r>
            <a:endParaRPr sz="1750" b="0" i="0">
              <a:latin typeface="Arial"/>
            </a:endParaRPr>
          </a:p>
          <a:p>
            <a:r>
              <a:rPr sz="1750" b="0" i="0" u="none"/>
              <a:t>Persistent, structured context containers</a:t>
            </a:r>
            <a:endParaRPr sz="1750" b="0" i="0">
              <a:latin typeface="Arial"/>
            </a:endParaRPr>
          </a:p>
          <a:p>
            <a:r>
              <a:rPr sz="1750" b="0" i="0" u="none"/>
              <a:t>Store architectural rules, domain models, coding standards</a:t>
            </a:r>
            <a:endParaRPr sz="1750" b="0" i="0">
              <a:latin typeface="Arial"/>
            </a:endParaRPr>
          </a:p>
          <a:p>
            <a:r>
              <a:rPr sz="1750" b="0" i="0" u="none"/>
              <a:t>Provide long-term memory beyond a single prompt</a:t>
            </a:r>
            <a:endParaRPr sz="1750" b="0" i="0">
              <a:latin typeface="Arial"/>
            </a:endParaRPr>
          </a:p>
          <a:p>
            <a:r>
              <a:rPr sz="1750" b="0" i="0" u="none"/>
              <a:t>Ideal for instruction files and evergreen boundaries</a:t>
            </a:r>
            <a:endParaRPr sz="1750" b="0" i="0">
              <a:latin typeface="Arial"/>
            </a:endParaRPr>
          </a:p>
          <a:p>
            <a:pPr>
              <a:buNone/>
            </a:pPr>
            <a:endParaRPr sz="1750" b="0" i="0">
              <a:latin typeface="Arial"/>
            </a:endParaRPr>
          </a:p>
          <a:p>
            <a:pPr>
              <a:buNone/>
            </a:pPr>
            <a:r>
              <a:rPr sz="1750" b="0" i="0" u="none"/>
              <a:t>Use cases</a:t>
            </a:r>
            <a:endParaRPr sz="1750" b="0" i="0">
              <a:latin typeface="Arial"/>
            </a:endParaRPr>
          </a:p>
          <a:p>
            <a:r>
              <a:rPr sz="1750" b="0" i="0" u="none"/>
              <a:t>Architecture constraints</a:t>
            </a:r>
            <a:endParaRPr sz="1750" b="0" i="0">
              <a:latin typeface="Arial"/>
            </a:endParaRPr>
          </a:p>
          <a:p>
            <a:r>
              <a:rPr sz="1750" b="0" i="0" u="none"/>
              <a:t>Domain terminology</a:t>
            </a:r>
            <a:endParaRPr sz="1750" b="0" i="0">
              <a:latin typeface="Arial"/>
            </a:endParaRPr>
          </a:p>
          <a:p>
            <a:r>
              <a:rPr sz="1750" b="0" i="0" u="none"/>
              <a:t>API contracts</a:t>
            </a:r>
            <a:endParaRPr sz="1750" b="0" i="0">
              <a:latin typeface="Arial"/>
            </a:endParaRPr>
          </a:p>
          <a:p>
            <a:r>
              <a:rPr sz="1750" b="0" i="0" u="none"/>
              <a:t>Coding conventions</a:t>
            </a:r>
            <a:endParaRPr sz="1750" b="0" i="0">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Premium Usage Monitoring</a:t>
            </a:r>
          </a:p>
        </p:txBody>
      </p:sp>
      <p:sp>
        <p:nvSpPr>
          <p:cNvPr id="3" name="Content Placeholder 2"/>
          <p:cNvSpPr>
            <a:spLocks noGrp="1"/>
          </p:cNvSpPr>
          <p:nvPr>
            <p:ph idx="1"/>
          </p:nvPr>
        </p:nvSpPr>
        <p:spPr/>
        <p:txBody>
          <a:bodyPr wrap="square">
            <a:normAutofit/>
          </a:bodyPr>
          <a:lstStyle/>
          <a:p>
            <a:pPr>
              <a:buNone/>
            </a:pPr>
            <a:r>
              <a:rPr sz="2800" b="0" i="0" u="none" dirty="0"/>
              <a:t>High-end models = high reasoning cost</a:t>
            </a:r>
            <a:endParaRPr lang="en-US" sz="2800" b="0" i="0" u="none" dirty="0"/>
          </a:p>
          <a:p>
            <a:pPr>
              <a:buNone/>
            </a:pPr>
            <a:endParaRPr sz="2800" b="0" i="0" dirty="0">
              <a:latin typeface="Arial"/>
            </a:endParaRPr>
          </a:p>
          <a:p>
            <a:r>
              <a:rPr sz="2800" b="0" i="0" u="none" dirty="0"/>
              <a:t>Monitor usage patterns to avoid unnecessary calls</a:t>
            </a:r>
            <a:endParaRPr sz="2800" b="0" i="0" dirty="0">
              <a:latin typeface="Arial"/>
            </a:endParaRPr>
          </a:p>
          <a:p>
            <a:r>
              <a:rPr sz="2800" b="0" i="0" u="none" dirty="0"/>
              <a:t>Use a tiered strategy:</a:t>
            </a:r>
            <a:endParaRPr sz="2800" b="0" i="0" dirty="0">
              <a:latin typeface="Arial"/>
            </a:endParaRPr>
          </a:p>
          <a:p>
            <a:pPr lvl="1"/>
            <a:r>
              <a:rPr sz="2800" b="0" i="0" u="none" dirty="0"/>
              <a:t>Premium for architecture &amp; refactoring</a:t>
            </a:r>
            <a:endParaRPr sz="2800" b="0" i="0" dirty="0">
              <a:latin typeface="Arial"/>
            </a:endParaRPr>
          </a:p>
          <a:p>
            <a:pPr lvl="1"/>
            <a:r>
              <a:rPr sz="2800" b="0" i="0" u="none" dirty="0"/>
              <a:t>Mid-tier for implementation</a:t>
            </a:r>
            <a:endParaRPr sz="2800" b="0" i="0" dirty="0">
              <a:latin typeface="Arial"/>
            </a:endParaRPr>
          </a:p>
          <a:p>
            <a:pPr lvl="1"/>
            <a:r>
              <a:rPr sz="2800" b="0" i="0" u="none" dirty="0"/>
              <a:t>Lightweight for boilerplate</a:t>
            </a:r>
            <a:endParaRPr sz="2800" b="0" i="0" dirty="0">
              <a:latin typeface="Arial"/>
            </a:endParaRPr>
          </a:p>
          <a:p>
            <a:r>
              <a:rPr sz="2800" b="0" i="0" u="none" dirty="0"/>
              <a:t>Optimize prompts to reduce token consumption</a:t>
            </a:r>
            <a:endParaRPr sz="2800" b="0" i="0" dirty="0">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450"/>
              <a:t>Token Estimation &amp; Overflow Detection</a:t>
            </a:r>
          </a:p>
        </p:txBody>
      </p:sp>
      <p:sp>
        <p:nvSpPr>
          <p:cNvPr id="3" name="Content Placeholder 2"/>
          <p:cNvSpPr>
            <a:spLocks noGrp="1"/>
          </p:cNvSpPr>
          <p:nvPr>
            <p:ph idx="1"/>
          </p:nvPr>
        </p:nvSpPr>
        <p:spPr/>
        <p:txBody>
          <a:bodyPr wrap="square">
            <a:noAutofit/>
          </a:bodyPr>
          <a:lstStyle/>
          <a:p>
            <a:pPr>
              <a:buNone/>
            </a:pPr>
            <a:r>
              <a:rPr sz="1800" b="0" i="0" u="none"/>
              <a:t>Models have strict token limits</a:t>
            </a:r>
            <a:endParaRPr sz="1800" b="0" i="0">
              <a:latin typeface="Arial"/>
            </a:endParaRPr>
          </a:p>
          <a:p>
            <a:pPr>
              <a:buNone/>
            </a:pPr>
            <a:endParaRPr sz="1800" b="0" i="0">
              <a:latin typeface="Arial"/>
            </a:endParaRPr>
          </a:p>
          <a:p>
            <a:pPr>
              <a:buNone/>
            </a:pPr>
            <a:r>
              <a:rPr sz="1800" b="0" i="0" u="none"/>
              <a:t>Overflow causes silent failures:</a:t>
            </a:r>
            <a:endParaRPr sz="1800" b="0" i="0">
              <a:latin typeface="Arial"/>
            </a:endParaRPr>
          </a:p>
          <a:p>
            <a:pPr lvl="1"/>
            <a:r>
              <a:rPr sz="1800" b="0" i="0" u="none"/>
              <a:t>Missing requirements</a:t>
            </a:r>
            <a:endParaRPr sz="1800" b="0" i="0">
              <a:latin typeface="Arial"/>
            </a:endParaRPr>
          </a:p>
          <a:p>
            <a:pPr lvl="1"/>
            <a:r>
              <a:rPr sz="1800" b="0" i="0" u="none"/>
              <a:t>Contradictions</a:t>
            </a:r>
            <a:endParaRPr sz="1800" b="0" i="0">
              <a:latin typeface="Arial"/>
            </a:endParaRPr>
          </a:p>
          <a:p>
            <a:pPr lvl="1"/>
            <a:r>
              <a:rPr sz="1800" b="0" i="0" u="none"/>
              <a:t>Forgotten rules</a:t>
            </a:r>
            <a:endParaRPr sz="1800" b="0" i="0">
              <a:latin typeface="Arial"/>
            </a:endParaRPr>
          </a:p>
          <a:p>
            <a:pPr>
              <a:buNone/>
            </a:pPr>
            <a:endParaRPr sz="1800" b="0" i="0">
              <a:latin typeface="Arial"/>
            </a:endParaRPr>
          </a:p>
          <a:p>
            <a:pPr>
              <a:buNone/>
            </a:pPr>
            <a:r>
              <a:rPr sz="1800" b="0" i="0" u="none"/>
              <a:t>Techniques to stay within limits:</a:t>
            </a:r>
            <a:endParaRPr sz="1800" b="0" i="0">
              <a:latin typeface="Arial"/>
            </a:endParaRPr>
          </a:p>
          <a:p>
            <a:pPr lvl="1"/>
            <a:r>
              <a:rPr sz="1800" b="0" i="0" u="none"/>
              <a:t>Summaries</a:t>
            </a:r>
            <a:endParaRPr sz="1800" b="0" i="0">
              <a:latin typeface="Arial"/>
            </a:endParaRPr>
          </a:p>
          <a:p>
            <a:pPr lvl="1"/>
            <a:r>
              <a:rPr sz="1800" b="0" i="0" u="none"/>
              <a:t>Chunking</a:t>
            </a:r>
            <a:endParaRPr sz="1800" b="0" i="0">
              <a:latin typeface="Arial"/>
            </a:endParaRPr>
          </a:p>
          <a:p>
            <a:pPr lvl="1"/>
            <a:r>
              <a:rPr sz="1800" b="0" i="0" u="none"/>
              <a:t>Scoped prompts</a:t>
            </a:r>
            <a:endParaRPr sz="1800" b="0" i="0">
              <a:latin typeface="Arial"/>
            </a:endParaRPr>
          </a:p>
          <a:p>
            <a:pPr lvl="1"/>
            <a:r>
              <a:rPr sz="1800" b="0" i="0" u="none"/>
              <a:t>Instruction files</a:t>
            </a:r>
            <a:endParaRPr sz="1800" b="0" i="0">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Why Token Limits Matter</a:t>
            </a:r>
          </a:p>
        </p:txBody>
      </p:sp>
      <p:sp>
        <p:nvSpPr>
          <p:cNvPr id="3" name="Content Placeholder 2"/>
          <p:cNvSpPr>
            <a:spLocks noGrp="1"/>
          </p:cNvSpPr>
          <p:nvPr>
            <p:ph idx="1"/>
          </p:nvPr>
        </p:nvSpPr>
        <p:spPr/>
        <p:txBody>
          <a:bodyPr wrap="square">
            <a:normAutofit/>
          </a:bodyPr>
          <a:lstStyle/>
          <a:p>
            <a:r>
              <a:rPr sz="2800" b="0" i="0" u="none"/>
              <a:t>Every model has a maximum context window</a:t>
            </a:r>
            <a:endParaRPr sz="2800" b="0" i="0">
              <a:latin typeface="Arial"/>
            </a:endParaRPr>
          </a:p>
          <a:p>
            <a:r>
              <a:rPr sz="2800" b="0" i="0" u="none"/>
              <a:t>Prompts, code, examples, and instructions all consume tokens</a:t>
            </a:r>
            <a:endParaRPr sz="2800" b="0" i="0">
              <a:latin typeface="Arial"/>
            </a:endParaRPr>
          </a:p>
          <a:p>
            <a:r>
              <a:rPr sz="2800" b="0" i="0" u="none"/>
              <a:t>Exceeding the limit forces the model to discard earlier content</a:t>
            </a:r>
            <a:endParaRPr sz="2800" b="0" i="0">
              <a:latin typeface="Arial"/>
            </a:endParaRPr>
          </a:p>
          <a:p>
            <a:r>
              <a:rPr sz="2800" b="0" i="0" u="none"/>
              <a:t>The model never alerts you when this happens</a:t>
            </a:r>
            <a:endParaRPr sz="2800" b="0" i="0">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Technique: Summaries</a:t>
            </a:r>
          </a:p>
        </p:txBody>
      </p:sp>
      <p:sp>
        <p:nvSpPr>
          <p:cNvPr id="3" name="Content Placeholder 2"/>
          <p:cNvSpPr>
            <a:spLocks noGrp="1"/>
          </p:cNvSpPr>
          <p:nvPr>
            <p:ph idx="1"/>
          </p:nvPr>
        </p:nvSpPr>
        <p:spPr/>
        <p:txBody>
          <a:bodyPr wrap="square">
            <a:normAutofit/>
          </a:bodyPr>
          <a:lstStyle/>
          <a:p>
            <a:pPr>
              <a:buNone/>
            </a:pPr>
            <a:r>
              <a:rPr sz="2800" b="0" i="0" u="none"/>
              <a:t>How Summaries Help</a:t>
            </a:r>
            <a:endParaRPr sz="2800" b="0" i="0">
              <a:latin typeface="Arial"/>
            </a:endParaRPr>
          </a:p>
          <a:p>
            <a:pPr lvl="1"/>
            <a:r>
              <a:rPr sz="2800" b="0" i="0" u="none"/>
              <a:t>Compress large files into short, high-signal descriptions</a:t>
            </a:r>
            <a:endParaRPr sz="2800" b="0" i="0">
              <a:latin typeface="Arial"/>
            </a:endParaRPr>
          </a:p>
          <a:p>
            <a:pPr lvl="1"/>
            <a:r>
              <a:rPr sz="2800" b="0" i="0" u="none"/>
              <a:t>Preserve intent without overwhelming the context window</a:t>
            </a:r>
            <a:endParaRPr sz="2800" b="0" i="0">
              <a:latin typeface="Arial"/>
            </a:endParaRPr>
          </a:p>
          <a:p>
            <a:pPr lvl="1"/>
            <a:r>
              <a:rPr sz="2800" b="0" i="0" u="none"/>
              <a:t>Reuse summaries across prompts</a:t>
            </a:r>
            <a:endParaRPr sz="2800" b="0" i="0">
              <a:latin typeface="Arial"/>
            </a:endParaRPr>
          </a:p>
          <a:p>
            <a:pPr lvl="1"/>
            <a:r>
              <a:rPr sz="2800" b="0" i="0" u="none"/>
              <a:t>Reduce noise and improve model alignment</a:t>
            </a:r>
            <a:endParaRPr sz="2800" b="0" i="0">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Technique: Chunking</a:t>
            </a:r>
          </a:p>
        </p:txBody>
      </p:sp>
      <p:sp>
        <p:nvSpPr>
          <p:cNvPr id="3" name="Content Placeholder 2"/>
          <p:cNvSpPr>
            <a:spLocks noGrp="1"/>
          </p:cNvSpPr>
          <p:nvPr>
            <p:ph idx="1"/>
          </p:nvPr>
        </p:nvSpPr>
        <p:spPr/>
        <p:txBody>
          <a:bodyPr wrap="square">
            <a:normAutofit/>
          </a:bodyPr>
          <a:lstStyle/>
          <a:p>
            <a:pPr>
              <a:buNone/>
            </a:pPr>
            <a:r>
              <a:rPr sz="2800" b="0" i="0" u="none"/>
              <a:t>How Chunking Works</a:t>
            </a:r>
            <a:endParaRPr sz="2800" b="0" i="0">
              <a:latin typeface="Arial"/>
            </a:endParaRPr>
          </a:p>
          <a:p>
            <a:pPr lvl="1"/>
            <a:r>
              <a:rPr sz="2800" b="0" i="0" u="none"/>
              <a:t>Break large tasks into smaller, self-contained steps</a:t>
            </a:r>
            <a:endParaRPr sz="2800" b="0" i="0">
              <a:latin typeface="Arial"/>
            </a:endParaRPr>
          </a:p>
          <a:p>
            <a:pPr lvl="1"/>
            <a:r>
              <a:rPr sz="2800" b="0" i="0" u="none"/>
              <a:t>Provide only the relevant portion of the code</a:t>
            </a:r>
            <a:endParaRPr sz="2800" b="0" i="0">
              <a:latin typeface="Arial"/>
            </a:endParaRPr>
          </a:p>
          <a:p>
            <a:pPr lvl="1"/>
            <a:r>
              <a:rPr sz="2800" b="0" i="0" u="none"/>
              <a:t>Validate each chunk before moving on</a:t>
            </a:r>
            <a:endParaRPr sz="2800" b="0" i="0">
              <a:latin typeface="Arial"/>
            </a:endParaRPr>
          </a:p>
          <a:p>
            <a:pPr lvl="1"/>
            <a:r>
              <a:rPr sz="2800" b="0" i="0" u="none"/>
              <a:t>Prevents the model from being overloaded</a:t>
            </a:r>
            <a:endParaRPr sz="2800" b="0" i="0">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Technique: Scoped Prompts</a:t>
            </a:r>
          </a:p>
        </p:txBody>
      </p:sp>
      <p:sp>
        <p:nvSpPr>
          <p:cNvPr id="3" name="Content Placeholder 2"/>
          <p:cNvSpPr>
            <a:spLocks noGrp="1"/>
          </p:cNvSpPr>
          <p:nvPr>
            <p:ph idx="1"/>
          </p:nvPr>
        </p:nvSpPr>
        <p:spPr/>
        <p:txBody>
          <a:bodyPr wrap="square">
            <a:normAutofit/>
          </a:bodyPr>
          <a:lstStyle/>
          <a:p>
            <a:pPr>
              <a:buNone/>
            </a:pPr>
            <a:r>
              <a:rPr sz="2800" b="0" i="0" u="none"/>
              <a:t>Benefits</a:t>
            </a:r>
            <a:endParaRPr sz="2800" b="0" i="0">
              <a:latin typeface="Arial"/>
            </a:endParaRPr>
          </a:p>
          <a:p>
            <a:pPr lvl="1"/>
            <a:r>
              <a:rPr sz="2800" b="0" i="0" u="none"/>
              <a:t>Limit the model's focus to a single module or function</a:t>
            </a:r>
            <a:endParaRPr sz="2800" b="0" i="0">
              <a:latin typeface="Arial"/>
            </a:endParaRPr>
          </a:p>
          <a:p>
            <a:pPr lvl="1"/>
            <a:r>
              <a:rPr sz="2800" b="0" i="0" u="none"/>
              <a:t>Reduce irrelevant context</a:t>
            </a:r>
            <a:endParaRPr sz="2800" b="0" i="0">
              <a:latin typeface="Arial"/>
            </a:endParaRPr>
          </a:p>
          <a:p>
            <a:pPr lvl="1"/>
            <a:r>
              <a:rPr sz="2800" b="0" i="0" u="none"/>
              <a:t>Improve accuracy and reduce hallucinations</a:t>
            </a:r>
            <a:endParaRPr sz="2800" b="0" i="0">
              <a:latin typeface="Arial"/>
            </a:endParaRPr>
          </a:p>
          <a:p>
            <a:pPr lvl="1"/>
            <a:r>
              <a:rPr sz="2800" b="0" i="0" u="none"/>
              <a:t>Keep token usage predictable</a:t>
            </a:r>
            <a:endParaRPr sz="2800" b="0" i="0">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Technique: Instruction Files</a:t>
            </a:r>
          </a:p>
        </p:txBody>
      </p:sp>
      <p:sp>
        <p:nvSpPr>
          <p:cNvPr id="3" name="Content Placeholder 2"/>
          <p:cNvSpPr>
            <a:spLocks noGrp="1"/>
          </p:cNvSpPr>
          <p:nvPr>
            <p:ph idx="1"/>
          </p:nvPr>
        </p:nvSpPr>
        <p:spPr/>
        <p:txBody>
          <a:bodyPr wrap="square">
            <a:normAutofit/>
          </a:bodyPr>
          <a:lstStyle/>
          <a:p>
            <a:pPr>
              <a:buNone/>
            </a:pPr>
            <a:r>
              <a:rPr sz="2800" b="0" i="0" u="none"/>
              <a:t>Why They Matter</a:t>
            </a:r>
            <a:endParaRPr sz="2800" b="0" i="0">
              <a:latin typeface="Arial"/>
            </a:endParaRPr>
          </a:p>
          <a:p>
            <a:pPr lvl="1"/>
            <a:r>
              <a:rPr sz="2800" b="0" i="0" u="none"/>
              <a:t>Move stable rules out of the active prompt</a:t>
            </a:r>
            <a:endParaRPr sz="2800" b="0" i="0">
              <a:latin typeface="Arial"/>
            </a:endParaRPr>
          </a:p>
          <a:p>
            <a:pPr lvl="1"/>
            <a:r>
              <a:rPr sz="2800" b="0" i="0" u="none"/>
              <a:t>Provide persistent architectural and style guidance</a:t>
            </a:r>
            <a:endParaRPr sz="2800" b="0" i="0">
              <a:latin typeface="Arial"/>
            </a:endParaRPr>
          </a:p>
          <a:p>
            <a:pPr lvl="1"/>
            <a:r>
              <a:rPr sz="2800" b="0" i="0" u="none"/>
              <a:t>Reduce repeated tokens across sessions</a:t>
            </a:r>
            <a:endParaRPr sz="2800" b="0" i="0">
              <a:latin typeface="Arial"/>
            </a:endParaRPr>
          </a:p>
          <a:p>
            <a:pPr lvl="1"/>
            <a:r>
              <a:rPr sz="2800" b="0" i="0" u="none"/>
              <a:t>Keep prompts short and high-signal</a:t>
            </a:r>
            <a:endParaRPr sz="2800" b="0" i="0">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Autofit/>
          </a:bodyPr>
          <a:lstStyle/>
          <a:p>
            <a:r>
              <a:rPr sz="2750" b="0" i="0" u="none"/>
              <a:t>Intro</a:t>
            </a:r>
          </a:p>
          <a:p>
            <a:r>
              <a:rPr sz="2750" b="0" i="0" u="none"/>
              <a:t>LLM</a:t>
            </a:r>
          </a:p>
          <a:p>
            <a:r>
              <a:rPr sz="2750" b="0" i="0" u="none"/>
              <a:t>Copilot for Teams</a:t>
            </a:r>
          </a:p>
          <a:p>
            <a:r>
              <a:rPr sz="2750" b="0" i="0" u="none"/>
              <a:t>Safety Measures and Best Practices</a:t>
            </a:r>
          </a:p>
          <a:p>
            <a:r>
              <a:rPr sz="2750" b="0" i="0" u="none"/>
              <a:t>Models and Context</a:t>
            </a:r>
          </a:p>
          <a:p>
            <a:r>
              <a:rPr sz="2750" b="1" i="0" u="none"/>
              <a:t>▶ Guardrails and Prompt Files</a:t>
            </a:r>
          </a:p>
          <a:p>
            <a:r>
              <a:rPr sz="2750" b="0" i="0" u="none"/>
              <a:t>AI Assisted Documentation</a:t>
            </a:r>
          </a:p>
          <a:p>
            <a:r>
              <a:rPr sz="2750" b="0" i="0" u="none"/>
              <a:t>Test Automation and Code Quality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00"/>
              <a:t>Scoped vs Non‑Scoped Instructions</a:t>
            </a:r>
          </a:p>
        </p:txBody>
      </p:sp>
      <p:sp>
        <p:nvSpPr>
          <p:cNvPr id="3" name="Subtitle 2"/>
          <p:cNvSpPr>
            <a:spLocks noGrp="1"/>
          </p:cNvSpPr>
          <p:nvPr>
            <p:ph type="subTitle" idx="1"/>
          </p:nvPr>
        </p:nvSpPr>
        <p:spPr/>
        <p:txBody>
          <a:bodyPr wrap="square">
            <a:normAutofit/>
          </a:bodyPr>
          <a:lstStyle/>
          <a:p>
            <a:pPr>
              <a:buNone/>
            </a:pPr>
            <a:r>
              <a:rPr b="0" i="0" u="none"/>
              <a:t>Choosing the Right Instruction File Type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00"/>
              <a:t>Scoped `&lt;name&gt;.instructions.md` files</a:t>
            </a:r>
          </a:p>
        </p:txBody>
      </p:sp>
      <p:sp>
        <p:nvSpPr>
          <p:cNvPr id="3" name="Content Placeholder 2"/>
          <p:cNvSpPr>
            <a:spLocks noGrp="1"/>
          </p:cNvSpPr>
          <p:nvPr>
            <p:ph idx="1"/>
          </p:nvPr>
        </p:nvSpPr>
        <p:spPr/>
        <p:txBody>
          <a:bodyPr wrap="square">
            <a:normAutofit/>
          </a:bodyPr>
          <a:lstStyle/>
          <a:p>
            <a:r>
              <a:rPr sz="1800" b="0" i="0" u="none"/>
              <a:t>Apply only when </a:t>
            </a:r>
            <a:r>
              <a:rPr sz="1800" b="0" i="0" u="none">
                <a:latin typeface="Consolas"/>
              </a:rPr>
              <a:t>applyTo</a:t>
            </a:r>
            <a:r>
              <a:rPr sz="1800" b="0" i="0" u="none"/>
              <a:t> matches</a:t>
            </a:r>
            <a:endParaRPr sz="1800" b="0" i="0">
              <a:latin typeface="Consolas"/>
            </a:endParaRPr>
          </a:p>
          <a:p>
            <a:r>
              <a:rPr sz="1800" b="0" i="0" u="none"/>
              <a:t>Can exclude paths</a:t>
            </a:r>
            <a:endParaRPr sz="1800" b="0" i="0">
              <a:latin typeface="Consolas"/>
            </a:endParaRPr>
          </a:p>
          <a:p>
            <a:r>
              <a:rPr sz="1800" b="0" i="0" u="none"/>
              <a:t>For language‑, framework‑, or domain‑specific rules</a:t>
            </a:r>
            <a:endParaRPr sz="1800" b="0" i="0">
              <a:latin typeface="Consolas"/>
            </a:endParaRPr>
          </a:p>
          <a:p>
            <a:r>
              <a:rPr sz="1800" b="0" i="0" u="none"/>
              <a:t>Ideal for precision control</a:t>
            </a:r>
            <a:endParaRPr sz="1800" b="0" i="0">
              <a:latin typeface="Consolas"/>
            </a:endParaRPr>
          </a:p>
          <a:p>
            <a:r>
              <a:rPr sz="1800" b="0" i="0" u="none"/>
              <a:t>Best for targeted, contextual guidance</a:t>
            </a:r>
            <a:endParaRPr sz="1800" b="0" i="0">
              <a:latin typeface="Consolas"/>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Repo‑level `.md` files</a:t>
            </a:r>
          </a:p>
        </p:txBody>
      </p:sp>
      <p:sp>
        <p:nvSpPr>
          <p:cNvPr id="3" name="Content Placeholder 2"/>
          <p:cNvSpPr>
            <a:spLocks noGrp="1"/>
          </p:cNvSpPr>
          <p:nvPr>
            <p:ph idx="1"/>
          </p:nvPr>
        </p:nvSpPr>
        <p:spPr/>
        <p:txBody>
          <a:bodyPr wrap="square">
            <a:normAutofit/>
          </a:bodyPr>
          <a:lstStyle/>
          <a:p>
            <a:r>
              <a:rPr sz="1800" b="0" i="0" u="none"/>
              <a:t>Apply everywhere in the repo</a:t>
            </a:r>
            <a:endParaRPr sz="1800" b="0" i="0">
              <a:latin typeface="Consolas"/>
            </a:endParaRPr>
          </a:p>
          <a:p>
            <a:r>
              <a:rPr sz="1800" b="0" i="0" u="none"/>
              <a:t>Always included</a:t>
            </a:r>
            <a:endParaRPr sz="1800" b="0" i="0">
              <a:latin typeface="Consolas"/>
            </a:endParaRPr>
          </a:p>
          <a:p>
            <a:r>
              <a:rPr sz="1800" b="0" i="0" u="none"/>
              <a:t>For universal rules: style, security, logging, architecture</a:t>
            </a:r>
            <a:endParaRPr sz="1800" b="0" i="0">
              <a:latin typeface="Consolas"/>
            </a:endParaRPr>
          </a:p>
          <a:p>
            <a:r>
              <a:rPr sz="1800" b="0" i="0" u="none"/>
              <a:t>No </a:t>
            </a:r>
            <a:r>
              <a:rPr sz="1800" b="0" i="0" u="none">
                <a:latin typeface="Consolas"/>
              </a:rPr>
              <a:t>applyTo</a:t>
            </a:r>
            <a:r>
              <a:rPr sz="1800" b="0" i="0" u="none"/>
              <a:t> / </a:t>
            </a:r>
            <a:r>
              <a:rPr sz="1800" b="0" i="0" u="none">
                <a:latin typeface="Consolas"/>
              </a:rPr>
              <a:t>exclude</a:t>
            </a:r>
            <a:r>
              <a:rPr sz="1800" b="0" i="0" u="none"/>
              <a:t> support</a:t>
            </a:r>
            <a:endParaRPr sz="1800" b="0" i="0">
              <a:latin typeface="Consolas"/>
            </a:endParaRPr>
          </a:p>
          <a:p>
            <a:r>
              <a:rPr sz="1800" b="0" i="0" u="none"/>
              <a:t>Best for global, evergreen guidance</a:t>
            </a:r>
            <a:endParaRPr sz="1800" b="0" i="0">
              <a:latin typeface="Consolas"/>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Decision Rule</a:t>
            </a:r>
          </a:p>
        </p:txBody>
      </p:sp>
      <p:sp>
        <p:nvSpPr>
          <p:cNvPr id="3" name="Content Placeholder 2"/>
          <p:cNvSpPr>
            <a:spLocks noGrp="1"/>
          </p:cNvSpPr>
          <p:nvPr>
            <p:ph idx="1"/>
          </p:nvPr>
        </p:nvSpPr>
        <p:spPr/>
        <p:txBody>
          <a:bodyPr wrap="square">
            <a:normAutofit/>
          </a:bodyPr>
          <a:lstStyle/>
          <a:p>
            <a:r>
              <a:rPr sz="1800" b="0" i="0" u="none"/>
              <a:t>If it should apply repo‑wide → use </a:t>
            </a:r>
            <a:r>
              <a:rPr sz="1800" b="0" i="0" u="none">
                <a:latin typeface="Consolas"/>
              </a:rPr>
              <a:t>.md</a:t>
            </a:r>
            <a:endParaRPr sz="1800" b="0" i="0">
              <a:latin typeface="Consolas"/>
            </a:endParaRPr>
          </a:p>
          <a:p>
            <a:r>
              <a:rPr sz="1800" b="0" i="0" u="none"/>
              <a:t>If it should apply only in certain paths → use </a:t>
            </a:r>
            <a:r>
              <a:rPr sz="1800" b="0" i="0" u="none">
                <a:latin typeface="Consolas"/>
              </a:rPr>
              <a:t>.instructions.md</a:t>
            </a:r>
            <a:endParaRPr sz="1800" b="0" i="0">
              <a:latin typeface="Consolas"/>
            </a:endParaRPr>
          </a:p>
          <a:p>
            <a:r>
              <a:rPr sz="1800" b="0" i="0" u="none"/>
              <a:t>If you need exclusions → must use </a:t>
            </a:r>
            <a:r>
              <a:rPr sz="1800" b="0" i="0" u="none">
                <a:latin typeface="Consolas"/>
              </a:rPr>
              <a:t>.instructions.md</a:t>
            </a:r>
            <a:endParaRPr sz="1800" b="0" i="0">
              <a:latin typeface="Consolas"/>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`exclude:` in Practice</a:t>
            </a:r>
          </a:p>
        </p:txBody>
      </p:sp>
      <p:sp>
        <p:nvSpPr>
          <p:cNvPr id="3" name="Content Placeholder 2"/>
          <p:cNvSpPr>
            <a:spLocks noGrp="1"/>
          </p:cNvSpPr>
          <p:nvPr>
            <p:ph idx="1"/>
          </p:nvPr>
        </p:nvSpPr>
        <p:spPr/>
        <p:txBody>
          <a:bodyPr wrap="square">
            <a:normAutofit/>
          </a:bodyPr>
          <a:lstStyle/>
          <a:p>
            <a:endParaRPr sz="1800" b="0" i="0">
              <a:latin typeface="Consolas"/>
            </a:endParaRPr>
          </a:p>
          <a:p>
            <a:pPr>
              <a:buNone/>
            </a:pPr>
            <a:r>
              <a:rPr sz="1800" b="0" i="0">
                <a:latin typeface="Consolas"/>
              </a:rPr>
              <a:t>applyTo:</a:t>
            </a:r>
          </a:p>
          <a:p>
            <a:pPr>
              <a:buNone/>
            </a:pPr>
            <a:r>
              <a:rPr sz="1800" b="0" i="0">
                <a:latin typeface="Consolas"/>
              </a:rPr>
              <a:t>  - "src/**"</a:t>
            </a:r>
          </a:p>
          <a:p>
            <a:pPr>
              <a:buNone/>
            </a:pPr>
            <a:r>
              <a:rPr sz="1800" b="0" i="0">
                <a:latin typeface="Consolas"/>
              </a:rPr>
              <a:t>exclude:</a:t>
            </a:r>
          </a:p>
          <a:p>
            <a:pPr>
              <a:buNone/>
            </a:pPr>
            <a:r>
              <a:rPr sz="1800" b="0" i="0">
                <a:latin typeface="Consolas"/>
              </a:rPr>
              <a:t>  - "src/experimental/**"</a:t>
            </a:r>
          </a:p>
          <a:p>
            <a:pPr>
              <a:buNone/>
            </a:pPr>
            <a:r>
              <a:rPr sz="1800" b="0" i="0">
                <a:latin typeface="Consolas"/>
              </a:rPr>
              <a:t>  - "src/legacy/*.js"</a:t>
            </a:r>
          </a:p>
          <a:p>
            <a:pPr>
              <a:buNone/>
            </a:pPr>
            <a:endParaRPr sz="1800" b="0" i="0">
              <a:latin typeface="Consolas"/>
            </a:endParaRPr>
          </a:p>
          <a:p>
            <a:r>
              <a:rPr sz="1800" b="0" i="0" u="none"/>
              <a:t>Scope instructions to </a:t>
            </a:r>
            <a:r>
              <a:rPr sz="1800" b="0" i="0" u="none">
                <a:latin typeface="Consolas"/>
              </a:rPr>
              <a:t>src/</a:t>
            </a:r>
            <a:r>
              <a:rPr sz="1800" b="0" i="0" u="none"/>
              <a:t> but carve out experimental and legacy paths</a:t>
            </a:r>
            <a:endParaRPr sz="1800" b="0" i="0">
              <a:latin typeface="Consolas"/>
            </a:endParaRPr>
          </a:p>
          <a:p>
            <a:r>
              <a:rPr sz="1800" b="0" i="0" u="none"/>
              <a:t>Only available with </a:t>
            </a:r>
            <a:r>
              <a:rPr sz="1800" b="0" i="0" u="none">
                <a:latin typeface="Consolas"/>
              </a:rPr>
              <a:t>.instructions.md</a:t>
            </a:r>
            <a:r>
              <a:rPr sz="1800" b="0" i="0" u="none"/>
              <a:t> files (not repo‑level </a:t>
            </a:r>
            <a:r>
              <a:rPr sz="1800" b="0" i="0" u="none">
                <a:latin typeface="Consolas"/>
              </a:rPr>
              <a:t>.md</a:t>
            </a:r>
            <a:r>
              <a:rPr sz="1800" b="0" i="0" u="none"/>
              <a:t>)</a:t>
            </a:r>
            <a:endParaRPr sz="1800" b="0" i="0">
              <a:latin typeface="Consola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Prompt Files</a:t>
            </a:r>
          </a:p>
        </p:txBody>
      </p:sp>
      <p:sp>
        <p:nvSpPr>
          <p:cNvPr id="3" name="Subtitle 2"/>
          <p:cNvSpPr>
            <a:spLocks noGrp="1"/>
          </p:cNvSpPr>
          <p:nvPr>
            <p:ph type="subTitle" idx="1"/>
          </p:nvPr>
        </p:nvSpPr>
        <p:spPr/>
        <p:txBody>
          <a:bodyPr wrap="square">
            <a:normAutofit/>
          </a:bodyPr>
          <a:lstStyle/>
          <a:p>
            <a:pPr>
              <a:buNone/>
            </a:pPr>
            <a:r>
              <a:rPr b="0" i="0" u="none"/>
              <a:t>Prompts That Run, Not Just Chat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What Are Prompt Files?</a:t>
            </a:r>
          </a:p>
        </p:txBody>
      </p:sp>
      <p:sp>
        <p:nvSpPr>
          <p:cNvPr id="3" name="Content Placeholder 2"/>
          <p:cNvSpPr>
            <a:spLocks noGrp="1"/>
          </p:cNvSpPr>
          <p:nvPr>
            <p:ph idx="1"/>
          </p:nvPr>
        </p:nvSpPr>
        <p:spPr/>
        <p:txBody>
          <a:bodyPr wrap="square">
            <a:noAutofit/>
          </a:bodyPr>
          <a:lstStyle/>
          <a:p>
            <a:r>
              <a:rPr sz="2000" b="0" i="0" u="none" dirty="0"/>
              <a:t>Structured templates for specific, repeatable tasks</a:t>
            </a:r>
            <a:endParaRPr sz="2000" b="0" i="0" dirty="0">
              <a:latin typeface="Arial"/>
            </a:endParaRPr>
          </a:p>
          <a:p>
            <a:r>
              <a:rPr sz="2000" b="0" i="0" u="none" dirty="0"/>
              <a:t>Contain detailed instructions for particular objectives</a:t>
            </a:r>
            <a:endParaRPr sz="2000" b="0" i="0" dirty="0">
              <a:latin typeface="Arial"/>
            </a:endParaRPr>
          </a:p>
          <a:p>
            <a:r>
              <a:rPr sz="2000" b="0" i="0" u="none" dirty="0"/>
              <a:t>Designed for execution in AI chat interfaces</a:t>
            </a:r>
            <a:endParaRPr sz="2000" b="0" i="0" dirty="0">
              <a:latin typeface="Arial"/>
            </a:endParaRPr>
          </a:p>
          <a:p>
            <a:pPr>
              <a:buNone/>
            </a:pPr>
            <a:endParaRPr sz="2000" b="0" i="0" dirty="0">
              <a:latin typeface="Arial"/>
            </a:endParaRPr>
          </a:p>
          <a:p>
            <a:pPr>
              <a:buNone/>
            </a:pPr>
            <a:r>
              <a:rPr sz="2000" b="0" i="0" u="none" dirty="0"/>
              <a:t>Key Characteristics</a:t>
            </a:r>
            <a:endParaRPr sz="2000" b="0" i="0" dirty="0">
              <a:latin typeface="Arial"/>
            </a:endParaRPr>
          </a:p>
          <a:p>
            <a:r>
              <a:rPr sz="2000" b="0" i="0" u="none" dirty="0"/>
              <a:t>Scope: Single, focused task or workflow</a:t>
            </a:r>
            <a:endParaRPr sz="2000" b="0" i="0" dirty="0">
              <a:latin typeface="Arial"/>
            </a:endParaRPr>
          </a:p>
          <a:p>
            <a:r>
              <a:rPr sz="2000" b="0" i="0" u="none" dirty="0"/>
              <a:t>Execution: Run on-demand when needed</a:t>
            </a:r>
            <a:endParaRPr sz="2000" b="0" i="0" dirty="0">
              <a:latin typeface="Arial"/>
            </a:endParaRPr>
          </a:p>
          <a:p>
            <a:pPr>
              <a:buNone/>
            </a:pPr>
            <a:endParaRPr sz="2000" b="0" i="0" dirty="0">
              <a:latin typeface="Arial"/>
            </a:endParaRPr>
          </a:p>
          <a:p>
            <a:pPr>
              <a:buNone/>
            </a:pPr>
            <a:r>
              <a:rPr sz="2000" b="0" i="0" u="none" dirty="0"/>
              <a:t>Purpose: Define “what” to accomplish with specific steps</a:t>
            </a:r>
            <a:endParaRPr sz="2000" b="0" i="0" dirty="0">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Prompt Files: Use Cases</a:t>
            </a:r>
          </a:p>
        </p:txBody>
      </p:sp>
      <p:sp>
        <p:nvSpPr>
          <p:cNvPr id="3" name="Content Placeholder 2"/>
          <p:cNvSpPr>
            <a:spLocks noGrp="1"/>
          </p:cNvSpPr>
          <p:nvPr>
            <p:ph idx="1"/>
          </p:nvPr>
        </p:nvSpPr>
        <p:spPr/>
        <p:txBody>
          <a:bodyPr wrap="square">
            <a:noAutofit/>
          </a:bodyPr>
          <a:lstStyle/>
          <a:p>
            <a:pPr>
              <a:buNone/>
            </a:pPr>
            <a:r>
              <a:rPr sz="2400" b="0" i="0" u="none" dirty="0"/>
              <a:t>Perfect For</a:t>
            </a:r>
            <a:endParaRPr sz="2400" b="0" i="0" dirty="0">
              <a:latin typeface="Arial"/>
            </a:endParaRPr>
          </a:p>
          <a:p>
            <a:pPr lvl="1"/>
            <a:r>
              <a:rPr sz="1800" b="0" i="0" u="none" dirty="0"/>
              <a:t>Code Generation → Create specific components/features</a:t>
            </a:r>
            <a:endParaRPr sz="1800" b="0" i="0" dirty="0">
              <a:latin typeface="Arial"/>
            </a:endParaRPr>
          </a:p>
          <a:p>
            <a:pPr lvl="1"/>
            <a:r>
              <a:rPr sz="1800" b="0" i="0" u="none" dirty="0"/>
              <a:t>Documentation → Generate standardized docs</a:t>
            </a:r>
            <a:endParaRPr sz="1800" b="0" i="0" dirty="0">
              <a:latin typeface="Arial"/>
            </a:endParaRPr>
          </a:p>
          <a:p>
            <a:pPr lvl="1"/>
            <a:r>
              <a:rPr sz="1800" b="0" i="0" u="none" dirty="0"/>
              <a:t>Analysis Tasks → Code reviews, security audits</a:t>
            </a:r>
            <a:endParaRPr sz="1800" b="0" i="0" dirty="0">
              <a:latin typeface="Arial"/>
            </a:endParaRPr>
          </a:p>
          <a:p>
            <a:pPr lvl="1"/>
            <a:r>
              <a:rPr sz="1800" b="0" i="0" u="none" dirty="0"/>
              <a:t>Refactoring → Structured code improvements</a:t>
            </a:r>
            <a:endParaRPr sz="1800" b="0" i="0" dirty="0">
              <a:latin typeface="Arial"/>
            </a:endParaRPr>
          </a:p>
          <a:p>
            <a:pPr>
              <a:buNone/>
            </a:pPr>
            <a:endParaRPr sz="2400" b="0" i="0" dirty="0">
              <a:latin typeface="Arial"/>
            </a:endParaRPr>
          </a:p>
          <a:p>
            <a:pPr>
              <a:buNone/>
            </a:pPr>
            <a:r>
              <a:rPr sz="2400" b="0" i="0" u="none" dirty="0"/>
              <a:t>Examples</a:t>
            </a:r>
            <a:endParaRPr sz="2400" b="0" i="0" dirty="0">
              <a:latin typeface="Arial"/>
            </a:endParaRPr>
          </a:p>
          <a:p>
            <a:pPr lvl="1"/>
            <a:r>
              <a:rPr sz="1800" b="0" i="0" u="none" dirty="0"/>
              <a:t>implement-user-authentication.prompt.md</a:t>
            </a:r>
            <a:endParaRPr sz="1800" b="0" i="0" dirty="0">
              <a:latin typeface="Arial"/>
            </a:endParaRPr>
          </a:p>
          <a:p>
            <a:pPr lvl="1"/>
            <a:r>
              <a:rPr sz="1800" b="0" i="0" u="none" dirty="0"/>
              <a:t>generate-test-suite.prompt.md</a:t>
            </a:r>
            <a:endParaRPr sz="1800" b="0" i="0" dirty="0">
              <a:latin typeface="Arial"/>
            </a:endParaRPr>
          </a:p>
          <a:p>
            <a:pPr lvl="1"/>
            <a:r>
              <a:rPr sz="1800" b="0" i="0" u="none" dirty="0"/>
              <a:t>create-deployment-pipeline.prompt.md</a:t>
            </a:r>
            <a:endParaRPr sz="1800" b="0" i="0" dirty="0">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Prompt Files Best Practices</a:t>
            </a:r>
          </a:p>
        </p:txBody>
      </p:sp>
      <p:sp>
        <p:nvSpPr>
          <p:cNvPr id="3" name="Content Placeholder 2"/>
          <p:cNvSpPr>
            <a:spLocks noGrp="1"/>
          </p:cNvSpPr>
          <p:nvPr>
            <p:ph sz="half" idx="1"/>
          </p:nvPr>
        </p:nvSpPr>
        <p:spPr/>
        <p:txBody>
          <a:bodyPr wrap="square">
            <a:normAutofit/>
          </a:bodyPr>
          <a:lstStyle/>
          <a:p>
            <a:pPr>
              <a:buNone/>
            </a:pPr>
            <a:r>
              <a:rPr sz="2800" b="0" i="0" u="none"/>
              <a:t>✅ Do This:</a:t>
            </a:r>
            <a:endParaRPr sz="2800" b="0" i="0">
              <a:latin typeface="Arial"/>
            </a:endParaRPr>
          </a:p>
          <a:p>
            <a:pPr>
              <a:buNone/>
            </a:pPr>
            <a:r>
              <a:rPr sz="2800" b="0" i="0" u="none"/>
              <a:t>Include comprehensive metadata</a:t>
            </a:r>
            <a:endParaRPr sz="2800" b="0" i="0">
              <a:latin typeface="Arial"/>
            </a:endParaRPr>
          </a:p>
          <a:p>
            <a:pPr>
              <a:buNone/>
            </a:pPr>
            <a:r>
              <a:rPr sz="2800" b="0" i="0" u="none"/>
              <a:t>Provide clear context and requirements</a:t>
            </a:r>
            <a:endParaRPr sz="2800" b="0" i="0">
              <a:latin typeface="Arial"/>
            </a:endParaRPr>
          </a:p>
          <a:p>
            <a:pPr>
              <a:buNone/>
            </a:pPr>
            <a:r>
              <a:rPr sz="2800" b="0" i="0" u="none"/>
              <a:t>Specify expected deliverables</a:t>
            </a:r>
            <a:endParaRPr sz="2800" b="0" i="0">
              <a:latin typeface="Arial"/>
            </a:endParaRPr>
          </a:p>
          <a:p>
            <a:pPr>
              <a:buNone/>
            </a:pPr>
            <a:r>
              <a:rPr sz="2800" b="0" i="0" u="none"/>
              <a:t>Include verification steps</a:t>
            </a:r>
            <a:endParaRPr sz="2800" b="0" i="0">
              <a:latin typeface="Arial"/>
            </a:endParaRPr>
          </a:p>
        </p:txBody>
      </p:sp>
      <p:sp>
        <p:nvSpPr>
          <p:cNvPr id="4" name="Content Placeholder 3"/>
          <p:cNvSpPr>
            <a:spLocks noGrp="1"/>
          </p:cNvSpPr>
          <p:nvPr>
            <p:ph sz="half" idx="2"/>
          </p:nvPr>
        </p:nvSpPr>
        <p:spPr/>
        <p:txBody>
          <a:bodyPr wrap="square">
            <a:normAutofit/>
          </a:bodyPr>
          <a:lstStyle/>
          <a:p>
            <a:pPr>
              <a:buNone/>
            </a:pPr>
            <a:r>
              <a:rPr sz="2800" b="0" i="0" u="none"/>
              <a:t>❌ Avoid This:</a:t>
            </a:r>
            <a:endParaRPr sz="2800" b="0" i="0">
              <a:latin typeface="Arial"/>
            </a:endParaRPr>
          </a:p>
          <a:p>
            <a:pPr>
              <a:buNone/>
            </a:pPr>
            <a:r>
              <a:rPr sz="2800" b="0" i="0" u="none"/>
              <a:t>Vague or ambiguous instructions</a:t>
            </a:r>
            <a:endParaRPr sz="2800" b="0" i="0">
              <a:latin typeface="Arial"/>
            </a:endParaRPr>
          </a:p>
          <a:p>
            <a:pPr>
              <a:buNone/>
            </a:pPr>
            <a:r>
              <a:rPr sz="2800" b="0" i="0" u="none"/>
              <a:t>Missing prerequisite information</a:t>
            </a:r>
            <a:endParaRPr sz="2800" b="0" i="0">
              <a:latin typeface="Arial"/>
            </a:endParaRPr>
          </a:p>
          <a:p>
            <a:pPr>
              <a:buNone/>
            </a:pPr>
            <a:r>
              <a:rPr sz="2800" b="0" i="0" u="none"/>
              <a:t>No success criteria defined</a:t>
            </a:r>
            <a:endParaRPr sz="2800" b="0" i="0">
              <a:latin typeface="Arial"/>
            </a:endParaRPr>
          </a:p>
          <a:p>
            <a:pPr>
              <a:buNone/>
            </a:pPr>
            <a:r>
              <a:rPr sz="2800" b="0" i="0" u="none"/>
              <a:t>Overly complex single prompts (break them down)</a:t>
            </a:r>
            <a:endParaRPr sz="2800" b="0" i="0">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Creating Prompt Files</a:t>
            </a:r>
          </a:p>
        </p:txBody>
      </p:sp>
      <p:sp>
        <p:nvSpPr>
          <p:cNvPr id="3" name="Subtitle 2"/>
          <p:cNvSpPr>
            <a:spLocks noGrp="1"/>
          </p:cNvSpPr>
          <p:nvPr>
            <p:ph type="subTitle" idx="1"/>
          </p:nvPr>
        </p:nvSpPr>
        <p:spPr/>
        <p:txBody>
          <a:bodyPr wrap="square">
            <a:normAutofit/>
          </a:bodyPr>
          <a:lstStyle/>
          <a:p>
            <a:pPr>
              <a:buNone/>
            </a:pPr>
            <a:r>
              <a:rPr b="0" i="0" u="none" dirty="0"/>
              <a:t>The Prompt Engineering Gauntlet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Creating Prompt Files</a:t>
            </a:r>
          </a:p>
        </p:txBody>
      </p:sp>
      <p:sp>
        <p:nvSpPr>
          <p:cNvPr id="3" name="Content Placeholder 2"/>
          <p:cNvSpPr>
            <a:spLocks noGrp="1"/>
          </p:cNvSpPr>
          <p:nvPr>
            <p:ph sz="half" idx="1"/>
          </p:nvPr>
        </p:nvSpPr>
        <p:spPr/>
        <p:txBody>
          <a:bodyPr wrap="square">
            <a:normAutofit lnSpcReduction="10000"/>
          </a:bodyPr>
          <a:lstStyle/>
          <a:p>
            <a:pPr>
              <a:buNone/>
            </a:pPr>
            <a:r>
              <a:rPr sz="1800" b="0" i="0" u="none" dirty="0"/>
              <a:t>Objectives</a:t>
            </a:r>
            <a:endParaRPr sz="1800" b="0" i="0" dirty="0">
              <a:latin typeface="Arial"/>
            </a:endParaRPr>
          </a:p>
          <a:p>
            <a:pPr lvl="1"/>
            <a:r>
              <a:rPr sz="1100" b="0" i="0" u="none" dirty="0"/>
              <a:t>Understand prompt structure and best practices for AI instruction file generation</a:t>
            </a:r>
            <a:endParaRPr sz="1100" b="0" i="0" dirty="0">
              <a:latin typeface="Arial"/>
            </a:endParaRPr>
          </a:p>
          <a:p>
            <a:pPr lvl="1"/>
            <a:r>
              <a:rPr sz="1100" b="0" i="0" u="none" dirty="0"/>
              <a:t>Practice prompt engineering by creating reusable prompt files</a:t>
            </a:r>
            <a:endParaRPr sz="1100" b="0" i="0" dirty="0">
              <a:latin typeface="Arial"/>
            </a:endParaRPr>
          </a:p>
          <a:p>
            <a:pPr lvl="1"/>
            <a:r>
              <a:rPr sz="1100" b="0" i="0" u="none" dirty="0"/>
              <a:t>Observe measurable impact of instruction files on AI output quality</a:t>
            </a:r>
            <a:endParaRPr sz="1100" b="0" i="0" dirty="0">
              <a:latin typeface="Arial"/>
            </a:endParaRPr>
          </a:p>
          <a:p>
            <a:pPr lvl="1"/>
            <a:r>
              <a:rPr sz="1100" b="0" i="0" u="none" dirty="0"/>
              <a:t>Compare outputs with and without instruction file guidance</a:t>
            </a:r>
            <a:endParaRPr sz="1100" b="0" i="0" dirty="0">
              <a:latin typeface="Arial"/>
            </a:endParaRPr>
          </a:p>
          <a:p>
            <a:pPr>
              <a:buNone/>
            </a:pPr>
            <a:endParaRPr sz="1800" b="0" i="0" dirty="0">
              <a:latin typeface="Arial"/>
            </a:endParaRPr>
          </a:p>
          <a:p>
            <a:pPr>
              <a:buNone/>
            </a:pPr>
            <a:r>
              <a:rPr sz="1800" b="0" i="0" u="none" dirty="0"/>
              <a:t>Activities</a:t>
            </a:r>
            <a:endParaRPr sz="1800" b="0" i="0" dirty="0">
              <a:latin typeface="Arial"/>
            </a:endParaRPr>
          </a:p>
          <a:p>
            <a:pPr lvl="1"/>
            <a:r>
              <a:rPr sz="1100" b="0" i="0" u="none" dirty="0"/>
              <a:t>Phase 1 - Baseline: Create prompt to generate Evergreen instruction file without repository instruction files; save output for comparison</a:t>
            </a:r>
            <a:endParaRPr sz="1100" b="0" i="0" dirty="0">
              <a:latin typeface="Arial"/>
            </a:endParaRPr>
          </a:p>
          <a:p>
            <a:pPr lvl="1"/>
            <a:r>
              <a:rPr sz="1100" b="0" i="0" u="none" dirty="0"/>
              <a:t>Phase 2 - Enhanced: Pull repository updates with instruction files; clear chat context; re-run identical prompt with new guidance</a:t>
            </a:r>
            <a:endParaRPr sz="1100" b="0" i="0" dirty="0">
              <a:latin typeface="Arial"/>
            </a:endParaRPr>
          </a:p>
          <a:p>
            <a:pPr lvl="1"/>
            <a:r>
              <a:rPr sz="1100" b="0" i="0" u="none" dirty="0"/>
              <a:t>Phase 3 - Analysis: Compare both outputs using AI-assisted analysis; quantify differences in structure, metadata completeness, and quality</a:t>
            </a:r>
            <a:endParaRPr sz="1100" b="0" i="0" dirty="0">
              <a:latin typeface="Arial"/>
            </a:endParaRPr>
          </a:p>
          <a:p>
            <a:pPr lvl="1"/>
            <a:r>
              <a:rPr sz="1100" b="0" i="0" u="none" dirty="0"/>
              <a:t>Discussion &amp; Review: Analyze findings on reproducibility, token optimization, non-determinism, and real participant results</a:t>
            </a:r>
            <a:endParaRPr sz="1100" b="0" i="0" dirty="0">
              <a:latin typeface="Arial"/>
            </a:endParaRPr>
          </a:p>
        </p:txBody>
      </p:sp>
      <p:sp>
        <p:nvSpPr>
          <p:cNvPr id="4" name="Content Placeholder 3"/>
          <p:cNvSpPr>
            <a:spLocks noGrp="1"/>
          </p:cNvSpPr>
          <p:nvPr>
            <p:ph sz="half" idx="2"/>
          </p:nvPr>
        </p:nvSpPr>
        <p:spPr/>
        <p:txBody>
          <a:bodyPr wrap="square">
            <a:noAutofit/>
          </a:bodyPr>
          <a:lstStyle/>
          <a:p>
            <a:pPr>
              <a:buNone/>
            </a:pPr>
            <a:r>
              <a:rPr sz="1600" b="0" i="0" u="none" dirty="0"/>
              <a:t>Success Criteria</a:t>
            </a:r>
            <a:endParaRPr sz="1600" b="0" i="0" dirty="0">
              <a:latin typeface="Arial"/>
            </a:endParaRPr>
          </a:p>
          <a:p>
            <a:pPr lvl="1"/>
            <a:r>
              <a:rPr sz="1200" b="0" i="0" u="none" dirty="0"/>
              <a:t>Generated complete instruction file for Evergreen software development in both phases</a:t>
            </a:r>
            <a:endParaRPr sz="1200" b="0" i="0" dirty="0">
              <a:latin typeface="Arial"/>
            </a:endParaRPr>
          </a:p>
          <a:p>
            <a:pPr lvl="1"/>
            <a:r>
              <a:rPr sz="1200" b="0" i="0" u="none" dirty="0"/>
              <a:t>Completed comparison analysis identifying 3+ significant structural/metadata differences</a:t>
            </a:r>
            <a:endParaRPr sz="1200" b="0" i="0" dirty="0">
              <a:latin typeface="Arial"/>
            </a:endParaRPr>
          </a:p>
          <a:p>
            <a:pPr lvl="1"/>
            <a:r>
              <a:rPr sz="1200" b="0" i="0" u="none" dirty="0"/>
              <a:t>Understand how instruction files reduce output variance from ±40% to ±10%</a:t>
            </a:r>
            <a:endParaRPr sz="1200" b="0" i="0" dirty="0">
              <a:latin typeface="Arial"/>
            </a:endParaRPr>
          </a:p>
          <a:p>
            <a:pPr lvl="1"/>
            <a:r>
              <a:rPr sz="1200" b="0" i="0" u="none" dirty="0"/>
              <a:t>Recognize token optimization strategies achieving 60-70% reduction in context usage</a:t>
            </a:r>
            <a:endParaRPr sz="1200" b="0" i="0" dirty="0">
              <a:latin typeface="Arial"/>
            </a:endParaRPr>
          </a:p>
          <a:p>
            <a:pPr lvl="1"/>
            <a:r>
              <a:rPr sz="1200" b="0" i="0" u="none" dirty="0"/>
              <a:t>Explain reproducibility benefits and non-determinism management strategies</a:t>
            </a:r>
            <a:endParaRPr sz="1200" b="0" i="0" dirty="0">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00"/>
              <a:t>Creating Instruction Files from Prompts</a:t>
            </a:r>
          </a:p>
        </p:txBody>
      </p:sp>
      <p:sp>
        <p:nvSpPr>
          <p:cNvPr id="3" name="Subtitle 2"/>
          <p:cNvSpPr>
            <a:spLocks noGrp="1"/>
          </p:cNvSpPr>
          <p:nvPr>
            <p:ph type="subTitle" idx="1"/>
          </p:nvPr>
        </p:nvSpPr>
        <p:spPr/>
        <p:txBody>
          <a:bodyPr wrap="square">
            <a:noAutofit/>
          </a:bodyPr>
          <a:lstStyle/>
          <a:p>
            <a:pPr>
              <a:buNone/>
            </a:pPr>
            <a:r>
              <a:rPr sz="2550" b="0" i="0" u="none"/>
              <a:t>The Prompt That Writes the Rules That Guide the Prompt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450"/>
              <a:t>Creating Instruction Files from Prompts</a:t>
            </a:r>
          </a:p>
        </p:txBody>
      </p:sp>
      <p:sp>
        <p:nvSpPr>
          <p:cNvPr id="3" name="Content Placeholder 2"/>
          <p:cNvSpPr>
            <a:spLocks noGrp="1"/>
          </p:cNvSpPr>
          <p:nvPr>
            <p:ph idx="1"/>
          </p:nvPr>
        </p:nvSpPr>
        <p:spPr/>
        <p:txBody>
          <a:bodyPr wrap="square">
            <a:normAutofit/>
          </a:bodyPr>
          <a:lstStyle/>
          <a:p>
            <a:r>
              <a:rPr sz="2800" b="0" i="0" u="none"/>
              <a:t>Run the prompt files from the prior exercise</a:t>
            </a:r>
            <a:endParaRPr sz="2800" b="0" i="0">
              <a:latin typeface="Arial"/>
            </a:endParaRPr>
          </a:p>
          <a:p>
            <a:r>
              <a:rPr sz="2800" b="0" i="0" u="none"/>
              <a:t>Generate instruction files from those prompts</a:t>
            </a:r>
            <a:endParaRPr sz="2800" b="0" i="0">
              <a:latin typeface="Arial"/>
            </a:endParaRPr>
          </a:p>
          <a:p>
            <a:r>
              <a:rPr sz="2800" b="0" i="0" u="none"/>
              <a:t>Review what the model inferred and why it matters</a:t>
            </a:r>
            <a:endParaRPr sz="2800" b="0" i="0">
              <a:latin typeface="Arial"/>
            </a:endParaRPr>
          </a:p>
          <a:p>
            <a:r>
              <a:rPr sz="2800" b="0" i="0" u="none"/>
              <a:t>Decide how to refine the result for long-term reuse</a:t>
            </a:r>
            <a:endParaRPr sz="2800" b="0" i="0">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8928887" cy="703024"/>
          </a:xfrm>
        </p:spPr>
        <p:txBody>
          <a:bodyPr anchor="ctr">
            <a:normAutofit/>
          </a:bodyPr>
          <a:lstStyle/>
          <a:p>
            <a:r>
              <a:rPr lang="en-US" sz="4100"/>
              <a:t>Prompt to Instruction Workflow</a:t>
            </a:r>
          </a:p>
        </p:txBody>
      </p:sp>
      <p:sp>
        <p:nvSpPr>
          <p:cNvPr id="3" name="Content Placeholder 2"/>
          <p:cNvSpPr>
            <a:spLocks noGrp="1"/>
          </p:cNvSpPr>
          <p:nvPr>
            <p:ph sz="half" idx="1"/>
          </p:nvPr>
        </p:nvSpPr>
        <p:spPr>
          <a:xfrm>
            <a:off x="838200" y="1463752"/>
            <a:ext cx="5181600" cy="4351338"/>
          </a:xfrm>
        </p:spPr>
        <p:txBody>
          <a:bodyPr>
            <a:normAutofit/>
          </a:bodyPr>
          <a:lstStyle/>
          <a:p>
            <a:r>
              <a:rPr lang="en-US" b="0" i="0" u="none" dirty="0"/>
              <a:t>The prompt is the reusable source</a:t>
            </a:r>
            <a:endParaRPr lang="en-US" b="0" i="0" dirty="0"/>
          </a:p>
          <a:p>
            <a:r>
              <a:rPr lang="en-US" b="0" i="0" u="none" dirty="0"/>
              <a:t>The instruction file is the generated artifact</a:t>
            </a:r>
            <a:endParaRPr lang="en-US" b="0" i="0" dirty="0"/>
          </a:p>
          <a:p>
            <a:r>
              <a:rPr lang="en-US" b="0" i="0" u="none" dirty="0"/>
              <a:t>Review happens after generation, not instead of it</a:t>
            </a:r>
            <a:endParaRPr lang="en-US" b="0" i="0" dirty="0"/>
          </a:p>
          <a:p>
            <a:pPr>
              <a:buNone/>
            </a:pPr>
            <a:endParaRPr lang="en-US" b="0" i="0" dirty="0"/>
          </a:p>
        </p:txBody>
      </p:sp>
      <p:pic>
        <p:nvPicPr>
          <p:cNvPr id="5" name="Picture 4" descr="6bbf7149f807406ad658b64dc9b021c3f56a77de.png"/>
          <p:cNvPicPr>
            <a:picLocks noChangeAspect="1"/>
          </p:cNvPicPr>
          <p:nvPr/>
        </p:nvPicPr>
        <p:blipFill>
          <a:blip r:embed="rId3"/>
          <a:stretch>
            <a:fillRect/>
          </a:stretch>
        </p:blipFill>
        <p:spPr>
          <a:xfrm>
            <a:off x="7055100" y="1463752"/>
            <a:ext cx="3415799" cy="4351338"/>
          </a:xfrm>
          <a:prstGeom prst="rect">
            <a:avLst/>
          </a:prstGeom>
          <a:noFill/>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Inference Is Your Friend</a:t>
            </a:r>
          </a:p>
        </p:txBody>
      </p:sp>
      <p:sp>
        <p:nvSpPr>
          <p:cNvPr id="3" name="Content Placeholder 2"/>
          <p:cNvSpPr>
            <a:spLocks noGrp="1"/>
          </p:cNvSpPr>
          <p:nvPr>
            <p:ph idx="1"/>
          </p:nvPr>
        </p:nvSpPr>
        <p:spPr/>
        <p:txBody>
          <a:bodyPr wrap="square">
            <a:normAutofit/>
          </a:bodyPr>
          <a:lstStyle/>
          <a:p>
            <a:r>
              <a:rPr sz="2800" b="0" i="0" u="none"/>
              <a:t>AI fills in architectural context, expected sections, and familiar conventions</a:t>
            </a:r>
            <a:endParaRPr sz="2800" b="0" i="0">
              <a:latin typeface="Arial"/>
            </a:endParaRPr>
          </a:p>
          <a:p>
            <a:r>
              <a:rPr sz="2800" b="0" i="0" u="none"/>
              <a:t>Minimal guidance can still produce surprisingly detailed instruction files</a:t>
            </a:r>
            <a:endParaRPr sz="2800" b="0" i="0">
              <a:latin typeface="Arial"/>
            </a:endParaRPr>
          </a:p>
          <a:p>
            <a:r>
              <a:rPr sz="2800" b="0" i="0" u="none"/>
              <a:t>Rich output is useful when the model understands the domain patterns already</a:t>
            </a:r>
            <a:endParaRPr sz="2800" b="0" i="0">
              <a:latin typeface="Arial"/>
            </a:endParaRPr>
          </a:p>
          <a:p>
            <a:r>
              <a:rPr sz="2800" b="0" i="0" u="none"/>
              <a:t>Review trims, sharpens, and aligns the inferred detail to your actual standards</a:t>
            </a:r>
            <a:endParaRPr sz="2800" b="0" i="0">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Inference Is Not Your Friend</a:t>
            </a:r>
          </a:p>
        </p:txBody>
      </p:sp>
      <p:sp>
        <p:nvSpPr>
          <p:cNvPr id="3" name="Content Placeholder 2"/>
          <p:cNvSpPr>
            <a:spLocks noGrp="1"/>
          </p:cNvSpPr>
          <p:nvPr>
            <p:ph idx="1"/>
          </p:nvPr>
        </p:nvSpPr>
        <p:spPr/>
        <p:txBody>
          <a:bodyPr wrap="square">
            <a:noAutofit/>
          </a:bodyPr>
          <a:lstStyle/>
          <a:p>
            <a:r>
              <a:rPr sz="2400" b="0" i="0" u="none"/>
              <a:t>AI can infer incorrectly or assume patterns that do not fit your domain</a:t>
            </a:r>
            <a:endParaRPr sz="2400" b="0" i="0">
              <a:latin typeface="Arial"/>
            </a:endParaRPr>
          </a:p>
          <a:p>
            <a:r>
              <a:rPr sz="2400" b="0" i="0" u="none"/>
              <a:t>Broad inference may include outdated conventions or anti-patterns</a:t>
            </a:r>
            <a:endParaRPr sz="2400" b="0" i="0">
              <a:latin typeface="Arial"/>
            </a:endParaRPr>
          </a:p>
          <a:p>
            <a:r>
              <a:rPr sz="2400" b="0" i="0" u="none"/>
              <a:t>Rich output requires careful review to catch subtle errors</a:t>
            </a:r>
            <a:endParaRPr sz="2400" b="0" i="0">
              <a:latin typeface="Arial"/>
            </a:endParaRPr>
          </a:p>
          <a:p>
            <a:r>
              <a:rPr sz="2400" b="0" i="0" u="none"/>
              <a:t>Over-reliance on inference can lock you into assumptions you did not intend</a:t>
            </a:r>
            <a:endParaRPr sz="2400" b="0" i="0">
              <a:latin typeface="Arial"/>
            </a:endParaRPr>
          </a:p>
          <a:p>
            <a:r>
              <a:rPr sz="2400" b="0" i="0" u="none"/>
              <a:t>Validation and testing still mandatory despite confident-sounding output</a:t>
            </a:r>
            <a:endParaRPr sz="2400" b="0" i="0">
              <a:latin typeface="Arial"/>
            </a:endParaRPr>
          </a:p>
          <a:p>
            <a:pPr>
              <a:buNone/>
            </a:pPr>
            <a:endParaRPr sz="2400" b="0" i="0">
              <a:latin typeface="Arial"/>
            </a:endParaRPr>
          </a:p>
          <a:p>
            <a:pPr>
              <a:buNone/>
            </a:pPr>
            <a:r>
              <a:rPr sz="2400" b="0" i="0" u="none"/>
              <a:t>The catch: inference saves time only if you actively curate the result.</a:t>
            </a:r>
            <a:endParaRPr sz="2400" b="0" i="0">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350"/>
              <a:t>Why Start with a Prompt-First Approach?</a:t>
            </a:r>
          </a:p>
        </p:txBody>
      </p:sp>
      <p:sp>
        <p:nvSpPr>
          <p:cNvPr id="3" name="Content Placeholder 2"/>
          <p:cNvSpPr>
            <a:spLocks noGrp="1"/>
          </p:cNvSpPr>
          <p:nvPr>
            <p:ph idx="1"/>
          </p:nvPr>
        </p:nvSpPr>
        <p:spPr/>
        <p:txBody>
          <a:bodyPr wrap="square">
            <a:noAutofit/>
          </a:bodyPr>
          <a:lstStyle/>
          <a:p>
            <a:r>
              <a:rPr sz="2650" b="0" i="0" u="none"/>
              <a:t>Easier to delete surplus detail than author every section from scratch</a:t>
            </a:r>
            <a:endParaRPr sz="2650" b="0" i="0">
              <a:latin typeface="Arial"/>
            </a:endParaRPr>
          </a:p>
          <a:p>
            <a:r>
              <a:rPr sz="2650" b="0" i="0" u="none"/>
              <a:t>Start with comprehensive AI-generated content, then edit down</a:t>
            </a:r>
            <a:endParaRPr sz="2650" b="0" i="0">
              <a:latin typeface="Arial"/>
            </a:endParaRPr>
          </a:p>
          <a:p>
            <a:r>
              <a:rPr sz="2650" b="0" i="0" u="none"/>
              <a:t>Reduces blank-page friction and initial authoring burden</a:t>
            </a:r>
            <a:endParaRPr sz="2650" b="0" i="0">
              <a:latin typeface="Arial"/>
            </a:endParaRPr>
          </a:p>
          <a:p>
            <a:r>
              <a:rPr sz="2650" b="0" i="0" u="none"/>
              <a:t>Encourages a repeatable workflow instead of one-off handcrafted artifacts</a:t>
            </a:r>
            <a:endParaRPr sz="2650" b="0" i="0">
              <a:latin typeface="Arial"/>
            </a:endParaRPr>
          </a:p>
          <a:p>
            <a:pPr>
              <a:buNone/>
            </a:pPr>
            <a:endParaRPr sz="2650" b="0" i="0">
              <a:latin typeface="Arial"/>
            </a:endParaRPr>
          </a:p>
          <a:p>
            <a:pPr>
              <a:buNone/>
            </a:pPr>
            <a:r>
              <a:rPr sz="2650" b="0" i="0" u="none"/>
              <a:t>Core idea: generate broadly first, then narrow precisely.</a:t>
            </a:r>
            <a:endParaRPr sz="2650" b="0" i="0">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Two Ways to Refine the Result</a:t>
            </a:r>
          </a:p>
        </p:txBody>
      </p:sp>
      <p:sp>
        <p:nvSpPr>
          <p:cNvPr id="3" name="Content Placeholder 2"/>
          <p:cNvSpPr>
            <a:spLocks noGrp="1"/>
          </p:cNvSpPr>
          <p:nvPr>
            <p:ph idx="1"/>
          </p:nvPr>
        </p:nvSpPr>
        <p:spPr/>
        <p:txBody>
          <a:bodyPr wrap="square">
            <a:normAutofit fontScale="92500"/>
          </a:bodyPr>
          <a:lstStyle/>
          <a:p>
            <a:pPr>
              <a:buNone/>
            </a:pPr>
            <a:r>
              <a:rPr b="0" i="0" u="none" dirty="0"/>
              <a:t>1. Edit the generated instruction file directly</a:t>
            </a:r>
            <a:endParaRPr b="0" i="0" dirty="0">
              <a:latin typeface="Arial"/>
            </a:endParaRPr>
          </a:p>
          <a:p>
            <a:pPr>
              <a:buNone/>
            </a:pPr>
            <a:r>
              <a:rPr b="0" i="0" u="none" dirty="0"/>
              <a:t>2. Modify the prompt file and regenerate</a:t>
            </a:r>
            <a:endParaRPr b="0" i="0" dirty="0">
              <a:latin typeface="Arial"/>
            </a:endParaRPr>
          </a:p>
          <a:p>
            <a:pPr>
              <a:buNone/>
            </a:pPr>
            <a:endParaRPr b="0" i="0" dirty="0">
              <a:latin typeface="Arial"/>
            </a:endParaRPr>
          </a:p>
          <a:p>
            <a:pPr>
              <a:buNone/>
            </a:pPr>
            <a:r>
              <a:rPr b="0" i="0" u="none" dirty="0"/>
              <a:t>Preferred for version control: update the prompt, then rerun it.</a:t>
            </a:r>
            <a:endParaRPr b="0" i="0" dirty="0">
              <a:latin typeface="Arial"/>
            </a:endParaRPr>
          </a:p>
          <a:p>
            <a:pPr>
              <a:buNone/>
            </a:pPr>
            <a:endParaRPr b="0" i="0" dirty="0">
              <a:latin typeface="Arial"/>
            </a:endParaRPr>
          </a:p>
          <a:p>
            <a:pPr>
              <a:buNone/>
            </a:pPr>
            <a:r>
              <a:rPr b="0" i="0" u="none" dirty="0"/>
              <a:t>Why the second path usually wins:</a:t>
            </a:r>
            <a:endParaRPr b="0" i="0" dirty="0">
              <a:latin typeface="Arial"/>
            </a:endParaRPr>
          </a:p>
          <a:p>
            <a:pPr lvl="1"/>
            <a:r>
              <a:rPr sz="2000" b="0" i="0" u="none" dirty="0"/>
              <a:t>Prompt evolution is preserved in source control</a:t>
            </a:r>
            <a:endParaRPr sz="2000" b="0" i="0" dirty="0">
              <a:latin typeface="Arial"/>
            </a:endParaRPr>
          </a:p>
          <a:p>
            <a:pPr lvl="1"/>
            <a:r>
              <a:rPr sz="2000" b="0" i="0" u="none" dirty="0"/>
              <a:t>Future regeneration stays aligned with the revised intent</a:t>
            </a:r>
            <a:endParaRPr sz="2000" b="0" i="0" dirty="0">
              <a:latin typeface="Arial"/>
            </a:endParaRPr>
          </a:p>
          <a:p>
            <a:pPr lvl="1"/>
            <a:r>
              <a:rPr sz="2000" b="0" i="0" u="none" dirty="0"/>
              <a:t>Teams can reproduce the artifact instead of reverse-engineering it</a:t>
            </a:r>
            <a:endParaRPr sz="2000" b="0" i="0" dirty="0">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400"/>
              <a:t>Why Prompt Files Beat Simple Directives</a:t>
            </a:r>
          </a:p>
        </p:txBody>
      </p:sp>
      <p:sp>
        <p:nvSpPr>
          <p:cNvPr id="3" name="Content Placeholder 2"/>
          <p:cNvSpPr>
            <a:spLocks noGrp="1"/>
          </p:cNvSpPr>
          <p:nvPr>
            <p:ph sz="half" idx="1"/>
          </p:nvPr>
        </p:nvSpPr>
        <p:spPr/>
        <p:txBody>
          <a:bodyPr wrap="square">
            <a:normAutofit lnSpcReduction="10000"/>
          </a:bodyPr>
          <a:lstStyle/>
          <a:p>
            <a:pPr>
              <a:buNone/>
            </a:pPr>
            <a:r>
              <a:rPr b="0" i="0" u="none" dirty="0"/>
              <a:t>Simple directive:</a:t>
            </a:r>
            <a:endParaRPr b="0" i="0" dirty="0">
              <a:latin typeface="Arial"/>
            </a:endParaRPr>
          </a:p>
          <a:p>
            <a:pPr>
              <a:buNone/>
            </a:pPr>
            <a:r>
              <a:rPr b="0" i="1" u="none" dirty="0"/>
              <a:t>Create instruction file for Evergreen development</a:t>
            </a:r>
            <a:endParaRPr b="0" i="1" dirty="0">
              <a:latin typeface="Arial"/>
            </a:endParaRPr>
          </a:p>
          <a:p>
            <a:pPr>
              <a:buNone/>
            </a:pPr>
            <a:endParaRPr b="0" i="0" dirty="0">
              <a:latin typeface="Arial"/>
            </a:endParaRPr>
          </a:p>
          <a:p>
            <a:pPr>
              <a:buNone/>
            </a:pPr>
            <a:r>
              <a:rPr b="0" i="0" u="none" dirty="0"/>
              <a:t>Prompt-file approach:</a:t>
            </a:r>
            <a:endParaRPr b="0" i="0" dirty="0">
              <a:latin typeface="Arial"/>
            </a:endParaRPr>
          </a:p>
          <a:p>
            <a:pPr lvl="1"/>
            <a:r>
              <a:rPr sz="2000" b="0" i="0" u="none" dirty="0"/>
              <a:t>Objective</a:t>
            </a:r>
            <a:endParaRPr sz="2000" b="0" i="0" dirty="0">
              <a:latin typeface="Arial"/>
            </a:endParaRPr>
          </a:p>
          <a:p>
            <a:pPr lvl="1"/>
            <a:r>
              <a:rPr sz="2000" b="0" i="0" u="none" dirty="0"/>
              <a:t>Structure</a:t>
            </a:r>
            <a:endParaRPr sz="2000" b="0" i="0" dirty="0">
              <a:latin typeface="Arial"/>
            </a:endParaRPr>
          </a:p>
          <a:p>
            <a:pPr lvl="1"/>
            <a:r>
              <a:rPr sz="2000" b="0" i="0" u="none" dirty="0"/>
              <a:t>Requirements</a:t>
            </a:r>
            <a:endParaRPr sz="2000" b="0" i="0" dirty="0">
              <a:latin typeface="Arial"/>
            </a:endParaRPr>
          </a:p>
          <a:p>
            <a:pPr lvl="1"/>
            <a:r>
              <a:rPr sz="2000" b="0" i="0" u="none" dirty="0"/>
              <a:t>Constraints</a:t>
            </a:r>
            <a:endParaRPr sz="2000" b="0" i="0" dirty="0">
              <a:latin typeface="Arial"/>
            </a:endParaRPr>
          </a:p>
          <a:p>
            <a:pPr lvl="1"/>
            <a:r>
              <a:rPr sz="2000" b="0" i="0" u="none" dirty="0"/>
              <a:t>Expected deliverable</a:t>
            </a:r>
            <a:endParaRPr sz="2000" b="0" i="0" dirty="0">
              <a:latin typeface="Arial"/>
            </a:endParaRPr>
          </a:p>
        </p:txBody>
      </p:sp>
      <p:sp>
        <p:nvSpPr>
          <p:cNvPr id="4" name="Content Placeholder 3"/>
          <p:cNvSpPr>
            <a:spLocks noGrp="1"/>
          </p:cNvSpPr>
          <p:nvPr>
            <p:ph sz="half" idx="2"/>
          </p:nvPr>
        </p:nvSpPr>
        <p:spPr/>
        <p:txBody>
          <a:bodyPr wrap="square">
            <a:noAutofit/>
          </a:bodyPr>
          <a:lstStyle/>
          <a:p>
            <a:pPr>
              <a:buNone/>
            </a:pPr>
            <a:r>
              <a:rPr b="0" i="0" u="none" dirty="0"/>
              <a:t>Benefits:</a:t>
            </a:r>
            <a:endParaRPr b="0" i="0" dirty="0">
              <a:latin typeface="Arial"/>
            </a:endParaRPr>
          </a:p>
          <a:p>
            <a:pPr lvl="1"/>
            <a:r>
              <a:rPr b="0" i="0" u="none" dirty="0"/>
              <a:t>Changes preserved in source control</a:t>
            </a:r>
            <a:endParaRPr b="0" i="0" dirty="0">
              <a:latin typeface="Arial"/>
            </a:endParaRPr>
          </a:p>
          <a:p>
            <a:pPr lvl="1"/>
            <a:r>
              <a:rPr b="0" i="0" u="none" dirty="0"/>
              <a:t>Prompt evolution tracked over time</a:t>
            </a:r>
            <a:endParaRPr b="0" i="0" dirty="0">
              <a:latin typeface="Arial"/>
            </a:endParaRPr>
          </a:p>
          <a:p>
            <a:pPr lvl="1"/>
            <a:r>
              <a:rPr b="0" i="0" u="none" dirty="0"/>
              <a:t>Reproducible instruction-file generation</a:t>
            </a:r>
            <a:endParaRPr b="0" i="0" dirty="0">
              <a:latin typeface="Arial"/>
            </a:endParaRPr>
          </a:p>
          <a:p>
            <a:pPr lvl="1"/>
            <a:r>
              <a:rPr b="0" i="0" u="none" dirty="0"/>
              <a:t>Better provenance than a short, vague command</a:t>
            </a:r>
            <a:endParaRPr b="0" i="0" dirty="0">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Autofit/>
          </a:bodyPr>
          <a:lstStyle/>
          <a:p>
            <a:r>
              <a:rPr sz="2750" b="0" i="0" u="none"/>
              <a:t>Intro</a:t>
            </a:r>
          </a:p>
          <a:p>
            <a:r>
              <a:rPr sz="2750" b="0" i="0" u="none"/>
              <a:t>LLM</a:t>
            </a:r>
          </a:p>
          <a:p>
            <a:r>
              <a:rPr sz="2750" b="0" i="0" u="none"/>
              <a:t>Copilot for Teams</a:t>
            </a:r>
          </a:p>
          <a:p>
            <a:r>
              <a:rPr sz="2750" b="0" i="0" u="none"/>
              <a:t>Safety Measures and Best Practices</a:t>
            </a:r>
          </a:p>
          <a:p>
            <a:r>
              <a:rPr sz="2750" b="0" i="0" u="none"/>
              <a:t>Models and Context</a:t>
            </a:r>
          </a:p>
          <a:p>
            <a:r>
              <a:rPr sz="2750" b="0" i="0" u="none"/>
              <a:t>Guardrails and Prompt Files</a:t>
            </a:r>
          </a:p>
          <a:p>
            <a:r>
              <a:rPr sz="2750" b="1" i="0" u="none"/>
              <a:t>▶ AI Assisted Documentation</a:t>
            </a:r>
          </a:p>
          <a:p>
            <a:r>
              <a:rPr sz="2750" b="0" i="0" u="none"/>
              <a:t>Test Automation and Code Quality</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00"/>
              <a:t>Documentation Generation and Code Analysis</a:t>
            </a:r>
          </a:p>
        </p:txBody>
      </p:sp>
      <p:sp>
        <p:nvSpPr>
          <p:cNvPr id="3" name="Subtitle 2"/>
          <p:cNvSpPr>
            <a:spLocks noGrp="1"/>
          </p:cNvSpPr>
          <p:nvPr>
            <p:ph type="subTitle" idx="1"/>
          </p:nvPr>
        </p:nvSpPr>
        <p:spPr/>
        <p:txBody>
          <a:bodyPr wrap="square">
            <a:normAutofit/>
          </a:bodyPr>
          <a:lstStyle/>
          <a:p>
            <a:pPr>
              <a:buNone/>
            </a:pPr>
            <a:r>
              <a:rPr b="0" i="0" u="none"/>
              <a:t>The README That Writes Itself (Finally)</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150"/>
              <a:t>Documentation Generation &amp; Code Analysis</a:t>
            </a:r>
          </a:p>
        </p:txBody>
      </p:sp>
      <p:sp>
        <p:nvSpPr>
          <p:cNvPr id="3" name="Content Placeholder 2"/>
          <p:cNvSpPr>
            <a:spLocks noGrp="1"/>
          </p:cNvSpPr>
          <p:nvPr>
            <p:ph idx="1"/>
          </p:nvPr>
        </p:nvSpPr>
        <p:spPr/>
        <p:txBody>
          <a:bodyPr wrap="square">
            <a:normAutofit/>
          </a:bodyPr>
          <a:lstStyle/>
          <a:p>
            <a:r>
              <a:rPr sz="2800" b="0" i="0" u="none"/>
              <a:t>Automated README and documentation updates</a:t>
            </a:r>
            <a:endParaRPr sz="2800" b="0" i="0">
              <a:latin typeface="Arial"/>
            </a:endParaRPr>
          </a:p>
          <a:p>
            <a:r>
              <a:rPr sz="2800" b="0" i="0" u="none"/>
              <a:t>Architecture diagram generation</a:t>
            </a:r>
            <a:endParaRPr sz="2800" b="0" i="0">
              <a:latin typeface="Arial"/>
            </a:endParaRPr>
          </a:p>
          <a:p>
            <a:r>
              <a:rPr sz="2800" b="0" i="0" u="none"/>
              <a:t>Complex code explanation and mapping</a:t>
            </a:r>
            <a:endParaRPr sz="2800" b="0" i="0">
              <a:latin typeface="Arial"/>
            </a:endParaRPr>
          </a:p>
          <a:p>
            <a:r>
              <a:rPr sz="2800" b="0" i="0" u="none"/>
              <a:t>Identifying technical debt hot-spots</a:t>
            </a:r>
            <a:endParaRPr sz="2800" b="0" i="0">
              <a:latin typeface="Arial"/>
            </a:endParaRPr>
          </a:p>
          <a:p>
            <a:r>
              <a:rPr sz="2800" b="0" i="0" u="none"/>
              <a:t>Exercises for hands-on practice</a:t>
            </a:r>
            <a:endParaRPr sz="2800" b="0" i="0">
              <a:latin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900"/>
              <a:t>Automated README &amp; Documentation Updates</a:t>
            </a:r>
          </a:p>
        </p:txBody>
      </p:sp>
      <p:sp>
        <p:nvSpPr>
          <p:cNvPr id="3" name="Content Placeholder 2"/>
          <p:cNvSpPr>
            <a:spLocks noGrp="1"/>
          </p:cNvSpPr>
          <p:nvPr>
            <p:ph idx="1"/>
          </p:nvPr>
        </p:nvSpPr>
        <p:spPr/>
        <p:txBody>
          <a:bodyPr wrap="square">
            <a:noAutofit/>
          </a:bodyPr>
          <a:lstStyle/>
          <a:p>
            <a:pPr>
              <a:buNone/>
            </a:pPr>
            <a:r>
              <a:rPr sz="2750" b="0" i="0" u="none" dirty="0"/>
              <a:t>Capabilities</a:t>
            </a:r>
            <a:endParaRPr sz="2750" b="0" i="0" dirty="0">
              <a:latin typeface="Arial"/>
            </a:endParaRPr>
          </a:p>
          <a:p>
            <a:pPr lvl="1"/>
            <a:r>
              <a:rPr sz="2350" b="0" i="0" u="none" dirty="0"/>
              <a:t>Generate or update README files</a:t>
            </a:r>
            <a:endParaRPr sz="2350" b="0" i="0" dirty="0">
              <a:latin typeface="Arial"/>
            </a:endParaRPr>
          </a:p>
          <a:p>
            <a:pPr lvl="1"/>
            <a:r>
              <a:rPr sz="2350" b="0" i="0" u="none" dirty="0"/>
              <a:t>Create module-level documentation</a:t>
            </a:r>
            <a:endParaRPr sz="2350" b="0" i="0" dirty="0">
              <a:latin typeface="Arial"/>
            </a:endParaRPr>
          </a:p>
          <a:p>
            <a:pPr lvl="1"/>
            <a:r>
              <a:rPr sz="2350" b="0" i="0" u="none" dirty="0"/>
              <a:t>Produce API references and usage examples</a:t>
            </a:r>
            <a:endParaRPr sz="2350" b="0" i="0" dirty="0">
              <a:latin typeface="Arial"/>
            </a:endParaRPr>
          </a:p>
          <a:p>
            <a:pPr lvl="1"/>
            <a:r>
              <a:rPr sz="2350" b="0" i="0" u="none" dirty="0"/>
              <a:t>Keep documentation aligned with code changes</a:t>
            </a:r>
            <a:endParaRPr sz="2350" b="0" i="0" dirty="0">
              <a:latin typeface="Arial"/>
            </a:endParaRPr>
          </a:p>
          <a:p>
            <a:pPr>
              <a:buNone/>
            </a:pPr>
            <a:endParaRPr sz="2750" b="0" i="0" dirty="0">
              <a:latin typeface="Arial"/>
            </a:endParaRPr>
          </a:p>
          <a:p>
            <a:pPr>
              <a:buNone/>
            </a:pPr>
            <a:r>
              <a:rPr sz="2750" b="0" i="0" u="none" dirty="0"/>
              <a:t>Create a documentation instruction file?</a:t>
            </a:r>
            <a:endParaRPr sz="2750" b="0" i="0" dirty="0">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Create Architecture Diagrams</a:t>
            </a:r>
          </a:p>
        </p:txBody>
      </p:sp>
      <p:sp>
        <p:nvSpPr>
          <p:cNvPr id="3" name="Content Placeholder 2"/>
          <p:cNvSpPr>
            <a:spLocks noGrp="1"/>
          </p:cNvSpPr>
          <p:nvPr>
            <p:ph idx="1"/>
          </p:nvPr>
        </p:nvSpPr>
        <p:spPr/>
        <p:txBody>
          <a:bodyPr wrap="square">
            <a:normAutofit/>
          </a:bodyPr>
          <a:lstStyle/>
          <a:p>
            <a:pPr>
              <a:buNone/>
            </a:pPr>
            <a:r>
              <a:rPr sz="2800" b="0" i="0" u="none" dirty="0"/>
              <a:t>AI-generated diagrams include:</a:t>
            </a:r>
            <a:endParaRPr sz="2800" b="0" i="0" dirty="0">
              <a:latin typeface="Arial"/>
            </a:endParaRPr>
          </a:p>
          <a:p>
            <a:pPr lvl="1"/>
            <a:r>
              <a:rPr b="0" i="0" u="none" dirty="0"/>
              <a:t>System boundaries</a:t>
            </a:r>
            <a:endParaRPr b="0" i="0" dirty="0">
              <a:latin typeface="Arial"/>
            </a:endParaRPr>
          </a:p>
          <a:p>
            <a:pPr lvl="1"/>
            <a:r>
              <a:rPr b="0" i="0" u="none" dirty="0"/>
              <a:t>Module interactions</a:t>
            </a:r>
            <a:endParaRPr b="0" i="0" dirty="0">
              <a:latin typeface="Arial"/>
            </a:endParaRPr>
          </a:p>
          <a:p>
            <a:pPr lvl="1"/>
            <a:r>
              <a:rPr b="0" i="0" u="none" dirty="0"/>
              <a:t>Data flows</a:t>
            </a:r>
            <a:endParaRPr b="0" i="0" dirty="0">
              <a:latin typeface="Arial"/>
            </a:endParaRPr>
          </a:p>
          <a:p>
            <a:pPr lvl="1"/>
            <a:r>
              <a:rPr b="0" i="0" u="none" dirty="0"/>
              <a:t>Deployment environments</a:t>
            </a:r>
            <a:endParaRPr b="0" i="0" dirty="0">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100"/>
              <a:t>Architecture Diagram Generation</a:t>
            </a:r>
          </a:p>
        </p:txBody>
      </p:sp>
      <p:sp>
        <p:nvSpPr>
          <p:cNvPr id="3" name="Content Placeholder 2"/>
          <p:cNvSpPr>
            <a:spLocks noGrp="1"/>
          </p:cNvSpPr>
          <p:nvPr>
            <p:ph idx="1"/>
          </p:nvPr>
        </p:nvSpPr>
        <p:spPr/>
        <p:txBody>
          <a:bodyPr wrap="square">
            <a:normAutofit/>
          </a:bodyPr>
          <a:lstStyle/>
          <a:p>
            <a:pPr>
              <a:buNone/>
            </a:pPr>
            <a:r>
              <a:rPr sz="2800" b="0" i="0" u="none" dirty="0"/>
              <a:t>What AI can generate</a:t>
            </a:r>
            <a:endParaRPr sz="2800" b="0" i="0" dirty="0">
              <a:latin typeface="Arial"/>
            </a:endParaRPr>
          </a:p>
          <a:p>
            <a:pPr>
              <a:buNone/>
            </a:pPr>
            <a:endParaRPr sz="2800" b="0" i="0" dirty="0">
              <a:latin typeface="Arial"/>
            </a:endParaRPr>
          </a:p>
          <a:p>
            <a:r>
              <a:rPr sz="2800" b="0" i="0" u="none" dirty="0"/>
              <a:t>High-level system diagrams</a:t>
            </a:r>
            <a:endParaRPr sz="2800" b="0" i="0" dirty="0">
              <a:latin typeface="Arial"/>
            </a:endParaRPr>
          </a:p>
          <a:p>
            <a:r>
              <a:rPr sz="2800" b="0" i="0" u="none" dirty="0"/>
              <a:t>Module dependency graphs</a:t>
            </a:r>
            <a:endParaRPr sz="2800" b="0" i="0" dirty="0">
              <a:latin typeface="Arial"/>
            </a:endParaRPr>
          </a:p>
          <a:p>
            <a:r>
              <a:rPr sz="2800" b="0" i="0" u="none" dirty="0"/>
              <a:t>Data flow diagrams</a:t>
            </a:r>
            <a:endParaRPr sz="2800" b="0" i="0" dirty="0">
              <a:latin typeface="Arial"/>
            </a:endParaRPr>
          </a:p>
          <a:p>
            <a:r>
              <a:rPr sz="2800" b="0" i="0" u="none" dirty="0"/>
              <a:t>Deployment topologies</a:t>
            </a:r>
            <a:endParaRPr sz="2800" b="0" i="0" dirty="0">
              <a:latin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600"/>
              <a:t>Complex Code Explanation &amp; Mapping</a:t>
            </a:r>
          </a:p>
        </p:txBody>
      </p:sp>
      <p:sp>
        <p:nvSpPr>
          <p:cNvPr id="3" name="Content Placeholder 2"/>
          <p:cNvSpPr>
            <a:spLocks noGrp="1"/>
          </p:cNvSpPr>
          <p:nvPr>
            <p:ph idx="1"/>
          </p:nvPr>
        </p:nvSpPr>
        <p:spPr/>
        <p:txBody>
          <a:bodyPr wrap="square">
            <a:normAutofit/>
          </a:bodyPr>
          <a:lstStyle/>
          <a:p>
            <a:pPr>
              <a:buNone/>
            </a:pPr>
            <a:r>
              <a:rPr sz="2800" b="0" i="0" u="none"/>
              <a:t>AI can help with:</a:t>
            </a:r>
            <a:endParaRPr sz="2800" b="0" i="0">
              <a:latin typeface="Arial"/>
            </a:endParaRPr>
          </a:p>
          <a:p>
            <a:pPr>
              <a:buNone/>
            </a:pPr>
            <a:endParaRPr sz="2800" b="0" i="0">
              <a:latin typeface="Arial"/>
            </a:endParaRPr>
          </a:p>
          <a:p>
            <a:r>
              <a:rPr sz="2800" b="0" i="0" u="none"/>
              <a:t>Explaining unfamiliar or legacy code</a:t>
            </a:r>
            <a:endParaRPr sz="2800" b="0" i="0">
              <a:latin typeface="Arial"/>
            </a:endParaRPr>
          </a:p>
          <a:p>
            <a:r>
              <a:rPr sz="2800" b="0" i="0" u="none"/>
              <a:t>Mapping call chains and dependencies</a:t>
            </a:r>
            <a:endParaRPr sz="2800" b="0" i="0">
              <a:latin typeface="Arial"/>
            </a:endParaRPr>
          </a:p>
          <a:p>
            <a:r>
              <a:rPr sz="2800" b="0" i="0" u="none"/>
              <a:t>Identifying hidden coupling</a:t>
            </a:r>
            <a:endParaRPr sz="2800" b="0" i="0">
              <a:latin typeface="Arial"/>
            </a:endParaRPr>
          </a:p>
          <a:p>
            <a:r>
              <a:rPr sz="2800" b="0" i="0" u="none"/>
              <a:t>Translating code into human-readable narratives</a:t>
            </a:r>
            <a:endParaRPr sz="2800" b="0" i="0">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750"/>
              <a:t>Identifying Technical Debt Hot-spots</a:t>
            </a:r>
          </a:p>
        </p:txBody>
      </p:sp>
      <p:sp>
        <p:nvSpPr>
          <p:cNvPr id="3" name="Content Placeholder 2"/>
          <p:cNvSpPr>
            <a:spLocks noGrp="1"/>
          </p:cNvSpPr>
          <p:nvPr>
            <p:ph idx="1"/>
          </p:nvPr>
        </p:nvSpPr>
        <p:spPr/>
        <p:txBody>
          <a:bodyPr wrap="square">
            <a:normAutofit/>
          </a:bodyPr>
          <a:lstStyle/>
          <a:p>
            <a:pPr>
              <a:buNone/>
            </a:pPr>
            <a:r>
              <a:rPr sz="2800" b="0" i="0" u="none"/>
              <a:t>AI can detect:</a:t>
            </a:r>
            <a:endParaRPr sz="2800" b="0" i="0">
              <a:latin typeface="Arial"/>
            </a:endParaRPr>
          </a:p>
          <a:p>
            <a:pPr>
              <a:buNone/>
            </a:pPr>
            <a:endParaRPr sz="2800" b="0" i="0">
              <a:latin typeface="Arial"/>
            </a:endParaRPr>
          </a:p>
          <a:p>
            <a:r>
              <a:rPr sz="2800" b="0" i="0" u="none"/>
              <a:t>Outdated patterns</a:t>
            </a:r>
            <a:endParaRPr sz="2800" b="0" i="0">
              <a:latin typeface="Arial"/>
            </a:endParaRPr>
          </a:p>
          <a:p>
            <a:r>
              <a:rPr sz="2800" b="0" i="0" u="none"/>
              <a:t>Duplicate logic</a:t>
            </a:r>
            <a:endParaRPr sz="2800" b="0" i="0">
              <a:latin typeface="Arial"/>
            </a:endParaRPr>
          </a:p>
          <a:p>
            <a:r>
              <a:rPr sz="2800" b="0" i="0" u="none"/>
              <a:t>Missing tests</a:t>
            </a:r>
            <a:endParaRPr sz="2800" b="0" i="0">
              <a:latin typeface="Arial"/>
            </a:endParaRPr>
          </a:p>
          <a:p>
            <a:r>
              <a:rPr sz="2800" b="0" i="0" u="none"/>
              <a:t>High-complexity functions</a:t>
            </a:r>
            <a:endParaRPr sz="2800" b="0" i="0">
              <a:latin typeface="Arial"/>
            </a:endParaRPr>
          </a:p>
          <a:p>
            <a:r>
              <a:rPr sz="2800" b="0" i="0" u="none"/>
              <a:t>Security risks</a:t>
            </a:r>
            <a:endParaRPr sz="2800" b="0" i="0">
              <a:latin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000"/>
              <a:t>Generate Development &amp; Deployment Guides</a:t>
            </a:r>
          </a:p>
        </p:txBody>
      </p:sp>
      <p:sp>
        <p:nvSpPr>
          <p:cNvPr id="3" name="Content Placeholder 2"/>
          <p:cNvSpPr>
            <a:spLocks noGrp="1"/>
          </p:cNvSpPr>
          <p:nvPr>
            <p:ph idx="1"/>
          </p:nvPr>
        </p:nvSpPr>
        <p:spPr/>
        <p:txBody>
          <a:bodyPr wrap="square">
            <a:normAutofit/>
          </a:bodyPr>
          <a:lstStyle/>
          <a:p>
            <a:pPr>
              <a:buNone/>
            </a:pPr>
            <a:r>
              <a:rPr sz="2800" b="0" i="0" u="none"/>
              <a:t>AI can produce:</a:t>
            </a:r>
            <a:endParaRPr sz="2800" b="0" i="0">
              <a:latin typeface="Arial"/>
            </a:endParaRPr>
          </a:p>
          <a:p>
            <a:pPr>
              <a:buNone/>
            </a:pPr>
            <a:endParaRPr sz="2800" b="0" i="0">
              <a:latin typeface="Arial"/>
            </a:endParaRPr>
          </a:p>
          <a:p>
            <a:r>
              <a:rPr sz="2800" b="0" i="0" u="none"/>
              <a:t>Setup instructions</a:t>
            </a:r>
            <a:endParaRPr sz="2800" b="0" i="0">
              <a:latin typeface="Arial"/>
            </a:endParaRPr>
          </a:p>
          <a:p>
            <a:r>
              <a:rPr sz="2800" b="0" i="0" u="none"/>
              <a:t>Local development workflows</a:t>
            </a:r>
            <a:endParaRPr sz="2800" b="0" i="0">
              <a:latin typeface="Arial"/>
            </a:endParaRPr>
          </a:p>
          <a:p>
            <a:r>
              <a:rPr sz="2800" b="0" i="0" u="none"/>
              <a:t>CI/CD pipeline explanations</a:t>
            </a:r>
            <a:endParaRPr sz="2800" b="0" i="0">
              <a:latin typeface="Arial"/>
            </a:endParaRPr>
          </a:p>
          <a:p>
            <a:r>
              <a:rPr sz="2800" b="0" i="0" u="none"/>
              <a:t>Deployment steps and rollback procedures</a:t>
            </a:r>
            <a:endParaRPr sz="2800" b="0" i="0">
              <a:latin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Update Project Documentation</a:t>
            </a:r>
          </a:p>
        </p:txBody>
      </p:sp>
      <p:sp>
        <p:nvSpPr>
          <p:cNvPr id="3" name="Content Placeholder 2"/>
          <p:cNvSpPr>
            <a:spLocks noGrp="1"/>
          </p:cNvSpPr>
          <p:nvPr>
            <p:ph idx="1"/>
          </p:nvPr>
        </p:nvSpPr>
        <p:spPr/>
        <p:txBody>
          <a:bodyPr wrap="square">
            <a:normAutofit/>
          </a:bodyPr>
          <a:lstStyle/>
          <a:p>
            <a:pPr>
              <a:buNone/>
            </a:pPr>
            <a:r>
              <a:rPr sz="1800" b="0" i="0" u="none"/>
              <a:t>AI can update:</a:t>
            </a:r>
            <a:endParaRPr sz="1800" b="0" i="0">
              <a:latin typeface="Consolas"/>
            </a:endParaRPr>
          </a:p>
          <a:p>
            <a:pPr>
              <a:buNone/>
            </a:pPr>
            <a:endParaRPr sz="1800" b="0" i="0">
              <a:latin typeface="Consolas"/>
            </a:endParaRPr>
          </a:p>
          <a:p>
            <a:r>
              <a:rPr sz="1800" b="0" i="0" u="none">
                <a:latin typeface="Consolas"/>
              </a:rPr>
              <a:t>CHANGELOGs</a:t>
            </a:r>
            <a:endParaRPr sz="1800" b="0" i="0">
              <a:latin typeface="Consolas"/>
            </a:endParaRPr>
          </a:p>
          <a:p>
            <a:r>
              <a:rPr sz="1800" b="0" i="0" u="none">
                <a:latin typeface="Consolas"/>
              </a:rPr>
              <a:t>CONTRIBUTING</a:t>
            </a:r>
            <a:r>
              <a:rPr sz="1800" b="0" i="0" u="none"/>
              <a:t> guides</a:t>
            </a:r>
            <a:endParaRPr sz="1800" b="0" i="0">
              <a:latin typeface="Consolas"/>
            </a:endParaRPr>
          </a:p>
          <a:p>
            <a:r>
              <a:rPr sz="1800" b="0" i="0" u="none">
                <a:latin typeface="Consolas"/>
              </a:rPr>
              <a:t>API</a:t>
            </a:r>
            <a:r>
              <a:rPr sz="1800" b="0" i="0" u="none"/>
              <a:t> references</a:t>
            </a:r>
            <a:endParaRPr sz="1800" b="0" i="0">
              <a:latin typeface="Consolas"/>
            </a:endParaRPr>
          </a:p>
          <a:p>
            <a:r>
              <a:rPr sz="1800" b="0" i="0" u="none"/>
              <a:t>Module-level docs</a:t>
            </a:r>
            <a:endParaRPr sz="1800" b="0" i="0">
              <a:latin typeface="Consolas"/>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00"/>
              <a:t>Cross-Validate With Multiple AI Models</a:t>
            </a:r>
          </a:p>
        </p:txBody>
      </p:sp>
      <p:sp>
        <p:nvSpPr>
          <p:cNvPr id="3" name="Content Placeholder 2"/>
          <p:cNvSpPr>
            <a:spLocks noGrp="1"/>
          </p:cNvSpPr>
          <p:nvPr>
            <p:ph idx="1"/>
          </p:nvPr>
        </p:nvSpPr>
        <p:spPr/>
        <p:txBody>
          <a:bodyPr wrap="square">
            <a:normAutofit/>
          </a:bodyPr>
          <a:lstStyle/>
          <a:p>
            <a:pPr>
              <a:buNone/>
            </a:pPr>
            <a:r>
              <a:rPr sz="2800" b="0" i="0" u="none"/>
              <a:t>Why cross-validate?</a:t>
            </a:r>
            <a:endParaRPr sz="2800" b="0" i="0">
              <a:latin typeface="Arial"/>
            </a:endParaRPr>
          </a:p>
          <a:p>
            <a:pPr>
              <a:buNone/>
            </a:pPr>
            <a:endParaRPr sz="2800" b="0" i="0">
              <a:latin typeface="Arial"/>
            </a:endParaRPr>
          </a:p>
          <a:p>
            <a:r>
              <a:rPr sz="2800" b="0" i="0" u="none"/>
              <a:t>Reduce hallucinations</a:t>
            </a:r>
            <a:endParaRPr sz="2800" b="0" i="0">
              <a:latin typeface="Arial"/>
            </a:endParaRPr>
          </a:p>
          <a:p>
            <a:r>
              <a:rPr sz="2800" b="0" i="0" u="none"/>
              <a:t>Catch inconsistencies</a:t>
            </a:r>
            <a:endParaRPr sz="2800" b="0" i="0">
              <a:latin typeface="Arial"/>
            </a:endParaRPr>
          </a:p>
          <a:p>
            <a:r>
              <a:rPr sz="2800" b="0" i="0" u="none"/>
              <a:t>Improve accuracy</a:t>
            </a:r>
            <a:endParaRPr sz="2800" b="0" i="0">
              <a:latin typeface="Arial"/>
            </a:endParaRPr>
          </a:p>
          <a:p>
            <a:r>
              <a:rPr sz="2800" b="0" i="0" u="none"/>
              <a:t>Validate architectural assumptions</a:t>
            </a:r>
            <a:endParaRPr sz="2800" b="0" i="0">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250"/>
              <a:t>Exercise: Brownfield Code Documentation</a:t>
            </a:r>
          </a:p>
        </p:txBody>
      </p:sp>
      <p:sp>
        <p:nvSpPr>
          <p:cNvPr id="3" name="Content Placeholder 2"/>
          <p:cNvSpPr>
            <a:spLocks noGrp="1"/>
          </p:cNvSpPr>
          <p:nvPr>
            <p:ph sz="half" idx="1"/>
          </p:nvPr>
        </p:nvSpPr>
        <p:spPr/>
        <p:txBody>
          <a:bodyPr wrap="square">
            <a:noAutofit/>
          </a:bodyPr>
          <a:lstStyle/>
          <a:p>
            <a:pPr>
              <a:buNone/>
            </a:pPr>
            <a:r>
              <a:rPr sz="2100" b="0" i="0" u="none" dirty="0"/>
              <a:t>Objectives</a:t>
            </a:r>
            <a:endParaRPr sz="2100" b="0" i="0" dirty="0">
              <a:latin typeface="Arial"/>
            </a:endParaRPr>
          </a:p>
          <a:p>
            <a:r>
              <a:rPr sz="2100" b="0" i="0" u="none" dirty="0"/>
              <a:t>Practice generating documentation for legacy code</a:t>
            </a:r>
            <a:endParaRPr sz="2100" b="0" i="0" dirty="0">
              <a:latin typeface="Arial"/>
            </a:endParaRPr>
          </a:p>
          <a:p>
            <a:r>
              <a:rPr sz="2100" b="0" i="0" u="none" dirty="0"/>
              <a:t>Identify missing or unclear areas</a:t>
            </a:r>
            <a:endParaRPr sz="2100" b="0" i="0" dirty="0">
              <a:latin typeface="Arial"/>
            </a:endParaRPr>
          </a:p>
          <a:p>
            <a:r>
              <a:rPr sz="2100" b="0" i="0" u="none" dirty="0"/>
              <a:t>Produce high-signal summaries</a:t>
            </a:r>
            <a:endParaRPr sz="2100" b="0" i="0" dirty="0">
              <a:latin typeface="Arial"/>
            </a:endParaRPr>
          </a:p>
          <a:p>
            <a:pPr>
              <a:buNone/>
            </a:pPr>
            <a:endParaRPr sz="2100" b="0" i="0" dirty="0">
              <a:latin typeface="Arial"/>
            </a:endParaRPr>
          </a:p>
          <a:p>
            <a:pPr>
              <a:buNone/>
            </a:pPr>
            <a:r>
              <a:rPr sz="2100" b="0" i="0" u="none" dirty="0"/>
              <a:t>Activities</a:t>
            </a:r>
            <a:endParaRPr sz="2100" b="0" i="0" dirty="0">
              <a:latin typeface="Arial"/>
            </a:endParaRPr>
          </a:p>
          <a:p>
            <a:pPr>
              <a:buNone/>
            </a:pPr>
            <a:r>
              <a:rPr sz="2100" b="0" i="0" u="none" dirty="0"/>
              <a:t>1. Select a brownfield module or file</a:t>
            </a:r>
            <a:endParaRPr sz="2100" b="0" i="0" dirty="0">
              <a:latin typeface="Arial"/>
            </a:endParaRPr>
          </a:p>
        </p:txBody>
      </p:sp>
      <p:sp>
        <p:nvSpPr>
          <p:cNvPr id="4" name="Content Placeholder 3"/>
          <p:cNvSpPr>
            <a:spLocks noGrp="1"/>
          </p:cNvSpPr>
          <p:nvPr>
            <p:ph sz="half" idx="2"/>
          </p:nvPr>
        </p:nvSpPr>
        <p:spPr/>
        <p:txBody>
          <a:bodyPr wrap="square">
            <a:noAutofit/>
          </a:bodyPr>
          <a:lstStyle/>
          <a:p>
            <a:pPr>
              <a:buNone/>
            </a:pPr>
            <a:r>
              <a:rPr sz="2000" b="0" i="0" u="none" dirty="0"/>
              <a:t>2. Ask AI to generate:</a:t>
            </a:r>
            <a:endParaRPr sz="2000" b="0" i="0" dirty="0">
              <a:latin typeface="Arial"/>
            </a:endParaRPr>
          </a:p>
          <a:p>
            <a:pPr lvl="1"/>
            <a:r>
              <a:rPr sz="2000" b="0" i="0" u="none" dirty="0"/>
              <a:t>A summary</a:t>
            </a:r>
            <a:endParaRPr sz="2000" b="0" i="0" dirty="0">
              <a:latin typeface="Arial"/>
            </a:endParaRPr>
          </a:p>
          <a:p>
            <a:pPr lvl="1"/>
            <a:r>
              <a:rPr sz="2000" b="0" i="0" u="none" dirty="0"/>
              <a:t>Key responsibilities</a:t>
            </a:r>
            <a:endParaRPr sz="2000" b="0" i="0" dirty="0">
              <a:latin typeface="Arial"/>
            </a:endParaRPr>
          </a:p>
          <a:p>
            <a:pPr lvl="1"/>
            <a:r>
              <a:rPr sz="2000" b="0" i="0" u="none" dirty="0"/>
              <a:t>Inputs/outputs</a:t>
            </a:r>
            <a:endParaRPr sz="2000" b="0" i="0" dirty="0">
              <a:latin typeface="Arial"/>
            </a:endParaRPr>
          </a:p>
          <a:p>
            <a:pPr>
              <a:buNone/>
            </a:pPr>
            <a:endParaRPr sz="2000" b="0" i="0" dirty="0">
              <a:latin typeface="Arial"/>
            </a:endParaRPr>
          </a:p>
          <a:p>
            <a:pPr>
              <a:buNone/>
            </a:pPr>
            <a:r>
              <a:rPr sz="2000" b="0" i="0" u="none" dirty="0"/>
              <a:t>Success Criteria</a:t>
            </a:r>
            <a:endParaRPr sz="2000" b="0" i="0" dirty="0">
              <a:latin typeface="Arial"/>
            </a:endParaRPr>
          </a:p>
          <a:p>
            <a:r>
              <a:rPr sz="2000" b="0" i="0" u="none" dirty="0"/>
              <a:t>Documentation is accurate and concise</a:t>
            </a:r>
            <a:endParaRPr sz="2000" b="0" i="0" dirty="0">
              <a:latin typeface="Arial"/>
            </a:endParaRPr>
          </a:p>
          <a:p>
            <a:r>
              <a:rPr sz="2000" b="0" i="0" u="none" dirty="0"/>
              <a:t>Risks and gaps are clearly identified</a:t>
            </a:r>
            <a:endParaRPr sz="2000" b="0" i="0" dirty="0">
              <a:latin typeface="Arial"/>
            </a:endParaRPr>
          </a:p>
          <a:p>
            <a:r>
              <a:rPr sz="2000" b="0" i="0" u="none" dirty="0"/>
              <a:t>Provenance is included</a:t>
            </a:r>
            <a:endParaRPr sz="2000" b="0" i="0" dirty="0">
              <a:latin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Exercise: Create a Prompt File</a:t>
            </a:r>
          </a:p>
        </p:txBody>
      </p:sp>
      <p:sp>
        <p:nvSpPr>
          <p:cNvPr id="3" name="Content Placeholder 2"/>
          <p:cNvSpPr>
            <a:spLocks noGrp="1"/>
          </p:cNvSpPr>
          <p:nvPr>
            <p:ph sz="half" idx="1"/>
          </p:nvPr>
        </p:nvSpPr>
        <p:spPr/>
        <p:txBody>
          <a:bodyPr wrap="square">
            <a:noAutofit/>
          </a:bodyPr>
          <a:lstStyle/>
          <a:p>
            <a:pPr>
              <a:buNone/>
            </a:pPr>
            <a:r>
              <a:rPr sz="2000" b="0" i="0" u="none"/>
              <a:t>Objectives</a:t>
            </a:r>
            <a:endParaRPr sz="2000" b="0" i="0">
              <a:latin typeface="Arial"/>
            </a:endParaRPr>
          </a:p>
          <a:p>
            <a:pPr lvl="1"/>
            <a:r>
              <a:rPr sz="2000" b="0" i="0" u="none"/>
              <a:t>Understand prompt structure</a:t>
            </a:r>
            <a:endParaRPr sz="2000" b="0" i="0">
              <a:latin typeface="Arial"/>
            </a:endParaRPr>
          </a:p>
          <a:p>
            <a:pPr lvl="1"/>
            <a:r>
              <a:rPr sz="2000" b="0" i="0" u="none"/>
              <a:t>Practice defining task intent</a:t>
            </a:r>
            <a:endParaRPr sz="2000" b="0" i="0">
              <a:latin typeface="Arial"/>
            </a:endParaRPr>
          </a:p>
          <a:p>
            <a:pPr lvl="1"/>
            <a:r>
              <a:rPr sz="2000" b="0" i="0" u="none"/>
              <a:t>Apply constraints and success criteria</a:t>
            </a:r>
            <a:endParaRPr sz="2000" b="0" i="0">
              <a:latin typeface="Arial"/>
            </a:endParaRPr>
          </a:p>
          <a:p>
            <a:pPr>
              <a:buNone/>
            </a:pPr>
            <a:endParaRPr sz="2000" b="0" i="0">
              <a:latin typeface="Arial"/>
            </a:endParaRPr>
          </a:p>
          <a:p>
            <a:pPr>
              <a:buNone/>
            </a:pPr>
            <a:r>
              <a:rPr sz="2000" b="0" i="0" u="none"/>
              <a:t>Activities</a:t>
            </a:r>
            <a:endParaRPr sz="2000" b="0" i="0">
              <a:latin typeface="Arial"/>
            </a:endParaRPr>
          </a:p>
          <a:p>
            <a:pPr lvl="1">
              <a:buNone/>
            </a:pPr>
            <a:r>
              <a:rPr sz="2000" b="0" i="0" u="none"/>
              <a:t>  1. Prompt Copilot to create a prompt file that creates an instruction file for evergreen software development</a:t>
            </a:r>
            <a:endParaRPr sz="2000" b="0" i="0">
              <a:latin typeface="Arial"/>
            </a:endParaRPr>
          </a:p>
          <a:p>
            <a:pPr lvl="1">
              <a:buNone/>
            </a:pPr>
            <a:r>
              <a:rPr sz="2000" b="0" i="0" u="none"/>
              <a:t>  2. Review the prompt</a:t>
            </a:r>
            <a:endParaRPr sz="2000" b="0" i="0">
              <a:latin typeface="Arial"/>
            </a:endParaRPr>
          </a:p>
        </p:txBody>
      </p:sp>
      <p:sp>
        <p:nvSpPr>
          <p:cNvPr id="4" name="Content Placeholder 3"/>
          <p:cNvSpPr>
            <a:spLocks noGrp="1"/>
          </p:cNvSpPr>
          <p:nvPr>
            <p:ph sz="half" idx="2"/>
          </p:nvPr>
        </p:nvSpPr>
        <p:spPr/>
        <p:txBody>
          <a:bodyPr wrap="square">
            <a:normAutofit/>
          </a:bodyPr>
          <a:lstStyle/>
          <a:p>
            <a:pPr>
              <a:buNone/>
            </a:pPr>
            <a:r>
              <a:rPr sz="2800" b="0" i="0" u="none"/>
              <a:t>Success Criteria</a:t>
            </a:r>
            <a:endParaRPr sz="2800" b="0" i="0">
              <a:latin typeface="Arial"/>
            </a:endParaRPr>
          </a:p>
          <a:p>
            <a:pPr lvl="1"/>
            <a:r>
              <a:rPr sz="2800" b="0" i="0" u="none"/>
              <a:t>Prompt is clear, scoped, and reusable</a:t>
            </a:r>
            <a:endParaRPr sz="2800" b="0" i="0">
              <a:latin typeface="Arial"/>
            </a:endParaRPr>
          </a:p>
          <a:p>
            <a:pPr lvl="1"/>
            <a:r>
              <a:rPr sz="2800" b="0" i="0" u="none"/>
              <a:t>Includes constraints and success criteria</a:t>
            </a:r>
            <a:endParaRPr sz="2800" b="0" i="0">
              <a:latin typeface="Arial"/>
            </a:endParaRPr>
          </a:p>
          <a:p>
            <a:pPr lvl="1"/>
            <a:r>
              <a:rPr sz="2800" b="0" i="0" u="none"/>
              <a:t>Avoids unnecessary context</a:t>
            </a:r>
            <a:endParaRPr sz="2800" b="0" i="0">
              <a:latin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Code Explanation and Analysis</a:t>
            </a:r>
          </a:p>
        </p:txBody>
      </p:sp>
      <p:sp>
        <p:nvSpPr>
          <p:cNvPr id="3" name="Subtitle 2"/>
          <p:cNvSpPr>
            <a:spLocks noGrp="1"/>
          </p:cNvSpPr>
          <p:nvPr>
            <p:ph type="subTitle" idx="1"/>
          </p:nvPr>
        </p:nvSpPr>
        <p:spPr/>
        <p:txBody>
          <a:bodyPr wrap="square">
            <a:normAutofit/>
          </a:bodyPr>
          <a:lstStyle/>
          <a:p>
            <a:pPr>
              <a:buNone/>
            </a:pPr>
            <a:r>
              <a:rPr b="0" i="0" u="none"/>
              <a:t>Ctrl+I: The "What Does This Even Do?" Button</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900" dirty="0"/>
              <a:t>Code Explanation with Copilot</a:t>
            </a:r>
          </a:p>
        </p:txBody>
      </p:sp>
      <p:sp>
        <p:nvSpPr>
          <p:cNvPr id="3" name="Content Placeholder 2"/>
          <p:cNvSpPr>
            <a:spLocks noGrp="1"/>
          </p:cNvSpPr>
          <p:nvPr>
            <p:ph idx="1"/>
          </p:nvPr>
        </p:nvSpPr>
        <p:spPr/>
        <p:txBody>
          <a:bodyPr wrap="square">
            <a:normAutofit fontScale="92500" lnSpcReduction="10000"/>
          </a:bodyPr>
          <a:lstStyle/>
          <a:p>
            <a:pPr>
              <a:buNone/>
            </a:pPr>
            <a:r>
              <a:rPr sz="1400" b="0" i="0" u="none" dirty="0"/>
              <a:t>Two Ways to Explain Code</a:t>
            </a:r>
            <a:endParaRPr sz="1400" b="0" i="0" dirty="0">
              <a:latin typeface="Consolas"/>
            </a:endParaRPr>
          </a:p>
          <a:p>
            <a:pPr>
              <a:buNone/>
            </a:pPr>
            <a:endParaRPr sz="1400" b="0" i="0" dirty="0">
              <a:latin typeface="Consolas"/>
            </a:endParaRPr>
          </a:p>
          <a:p>
            <a:pPr>
              <a:buNone/>
            </a:pPr>
            <a:r>
              <a:rPr sz="1400" b="0" i="0" u="none" dirty="0"/>
              <a:t>Option 1: Inline Chat (</a:t>
            </a:r>
            <a:r>
              <a:rPr sz="1400" b="0" i="0" u="none" dirty="0" err="1"/>
              <a:t>Control+I</a:t>
            </a:r>
            <a:r>
              <a:rPr sz="1400" b="0" i="0" u="none" dirty="0"/>
              <a:t>)</a:t>
            </a:r>
            <a:endParaRPr sz="1400" b="0" i="0" dirty="0">
              <a:latin typeface="Consolas"/>
            </a:endParaRPr>
          </a:p>
          <a:p>
            <a:pPr>
              <a:buNone/>
            </a:pPr>
            <a:endParaRPr sz="1400" b="0" i="0" dirty="0">
              <a:latin typeface="Consolas"/>
            </a:endParaRPr>
          </a:p>
          <a:p>
            <a:pPr>
              <a:buNone/>
            </a:pPr>
            <a:r>
              <a:rPr sz="1400" b="0" i="0" u="none" dirty="0"/>
              <a:t>1. Select the code you want explained</a:t>
            </a:r>
            <a:endParaRPr sz="1400" b="0" i="0" dirty="0">
              <a:latin typeface="Consolas"/>
            </a:endParaRPr>
          </a:p>
          <a:p>
            <a:pPr>
              <a:buNone/>
            </a:pPr>
            <a:r>
              <a:rPr sz="1400" b="0" i="0" u="none" dirty="0"/>
              <a:t>2. Press </a:t>
            </a:r>
            <a:r>
              <a:rPr sz="1400" b="0" i="0" u="none" dirty="0" err="1"/>
              <a:t>Ctrl+I</a:t>
            </a:r>
            <a:r>
              <a:rPr sz="1400" b="0" i="0" u="none" dirty="0"/>
              <a:t> (Windows/Linux) or ⌘+I (Mac)</a:t>
            </a:r>
            <a:endParaRPr sz="1400" b="0" i="0" dirty="0">
              <a:latin typeface="Consolas"/>
            </a:endParaRPr>
          </a:p>
          <a:p>
            <a:pPr>
              <a:buNone/>
            </a:pPr>
            <a:r>
              <a:rPr sz="1400" b="0" i="0" u="none" dirty="0"/>
              <a:t>3. Type </a:t>
            </a:r>
            <a:r>
              <a:rPr sz="1400" b="0" i="0" u="none" dirty="0">
                <a:latin typeface="Consolas"/>
              </a:rPr>
              <a:t>explain</a:t>
            </a:r>
            <a:r>
              <a:rPr sz="1400" b="0" i="0" u="none" dirty="0"/>
              <a:t> or ask a specific question</a:t>
            </a:r>
            <a:endParaRPr sz="1400" b="0" i="0" dirty="0">
              <a:latin typeface="Consolas"/>
            </a:endParaRPr>
          </a:p>
          <a:p>
            <a:pPr>
              <a:buNone/>
            </a:pPr>
            <a:r>
              <a:rPr sz="1400" b="0" i="0" u="none" dirty="0"/>
              <a:t>4. Copilot explains the selection in context</a:t>
            </a:r>
            <a:endParaRPr sz="1400" b="0" i="0" dirty="0">
              <a:latin typeface="Consolas"/>
            </a:endParaRPr>
          </a:p>
          <a:p>
            <a:pPr>
              <a:buNone/>
            </a:pPr>
            <a:endParaRPr sz="1400" b="0" i="0" dirty="0">
              <a:latin typeface="Consolas"/>
            </a:endParaRPr>
          </a:p>
          <a:p>
            <a:pPr>
              <a:buNone/>
            </a:pPr>
            <a:r>
              <a:rPr sz="1400" b="0" i="0" u="none" dirty="0"/>
              <a:t>Option 2: Right-Click Menu</a:t>
            </a:r>
            <a:endParaRPr sz="1400" b="0" i="0" dirty="0">
              <a:latin typeface="Consolas"/>
            </a:endParaRPr>
          </a:p>
          <a:p>
            <a:pPr>
              <a:buNone/>
            </a:pPr>
            <a:endParaRPr sz="1400" b="0" i="0" dirty="0">
              <a:latin typeface="Consolas"/>
            </a:endParaRPr>
          </a:p>
          <a:p>
            <a:pPr>
              <a:buNone/>
            </a:pPr>
            <a:r>
              <a:rPr sz="1400" b="0" i="0" u="none" dirty="0"/>
              <a:t>1. Select the code you want explained</a:t>
            </a:r>
            <a:endParaRPr sz="1400" b="0" i="0" dirty="0">
              <a:latin typeface="Consolas"/>
            </a:endParaRPr>
          </a:p>
          <a:p>
            <a:pPr>
              <a:buNone/>
            </a:pPr>
            <a:r>
              <a:rPr sz="1400" b="0" i="0" u="none" dirty="0"/>
              <a:t>2. Right-click → Copilot → Explain</a:t>
            </a:r>
            <a:endParaRPr sz="1400" b="0" i="0" dirty="0">
              <a:latin typeface="Consolas"/>
            </a:endParaRPr>
          </a:p>
          <a:p>
            <a:pPr>
              <a:buNone/>
            </a:pPr>
            <a:r>
              <a:rPr sz="1400" b="0" i="0" u="none" dirty="0"/>
              <a:t>3. Explanation appears in the Chat panel</a:t>
            </a:r>
            <a:endParaRPr sz="1400" b="0" i="0" dirty="0">
              <a:latin typeface="Consolas"/>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Understanding Test Code</a:t>
            </a:r>
          </a:p>
        </p:txBody>
      </p:sp>
      <p:sp>
        <p:nvSpPr>
          <p:cNvPr id="3" name="Content Placeholder 2"/>
          <p:cNvSpPr>
            <a:spLocks noGrp="1"/>
          </p:cNvSpPr>
          <p:nvPr>
            <p:ph sz="half" idx="1"/>
          </p:nvPr>
        </p:nvSpPr>
        <p:spPr/>
        <p:txBody>
          <a:bodyPr wrap="square">
            <a:noAutofit/>
          </a:bodyPr>
          <a:lstStyle/>
          <a:p>
            <a:pPr>
              <a:buNone/>
            </a:pPr>
            <a:r>
              <a:rPr sz="1550" b="0" i="0" u="none"/>
              <a:t>Why Test Code Is Hard to Read</a:t>
            </a:r>
            <a:endParaRPr sz="1550" b="0" i="0">
              <a:latin typeface="Consolas"/>
            </a:endParaRPr>
          </a:p>
          <a:p>
            <a:pPr>
              <a:buNone/>
            </a:pPr>
            <a:endParaRPr sz="1550" b="0" i="0">
              <a:latin typeface="Consolas"/>
            </a:endParaRPr>
          </a:p>
          <a:p>
            <a:r>
              <a:rPr sz="1550" b="0" i="0" u="none"/>
              <a:t>Tests use mocking, stubs, and spy patterns</a:t>
            </a:r>
            <a:endParaRPr sz="1550" b="0" i="0">
              <a:latin typeface="Consolas"/>
            </a:endParaRPr>
          </a:p>
          <a:p>
            <a:r>
              <a:rPr sz="1550" b="0" i="0" u="none"/>
              <a:t>Setup and teardown logic can obscure intent</a:t>
            </a:r>
            <a:endParaRPr sz="1550" b="0" i="0">
              <a:latin typeface="Consolas"/>
            </a:endParaRPr>
          </a:p>
          <a:p>
            <a:r>
              <a:rPr sz="1550" b="0" i="0" u="none"/>
              <a:t>Assertion libraries have their own DSLs</a:t>
            </a:r>
            <a:endParaRPr sz="1550" b="0" i="0">
              <a:latin typeface="Consolas"/>
            </a:endParaRPr>
          </a:p>
          <a:p>
            <a:r>
              <a:rPr sz="1550" b="0" i="0" u="none"/>
              <a:t>Tests often reveal implicit requirements not in docs</a:t>
            </a:r>
            <a:endParaRPr sz="1550" b="0" i="0">
              <a:latin typeface="Consolas"/>
            </a:endParaRPr>
          </a:p>
          <a:p>
            <a:pPr>
              <a:buNone/>
            </a:pPr>
            <a:endParaRPr sz="1550" b="0" i="0">
              <a:latin typeface="Consolas"/>
            </a:endParaRPr>
          </a:p>
          <a:p>
            <a:pPr>
              <a:buNone/>
            </a:pPr>
            <a:r>
              <a:rPr sz="1550" b="0" i="0" u="none"/>
              <a:t>Copilot Explains Tests Effectively</a:t>
            </a:r>
            <a:endParaRPr sz="1550" b="0" i="0">
              <a:latin typeface="Consolas"/>
            </a:endParaRPr>
          </a:p>
          <a:p>
            <a:pPr>
              <a:buNone/>
            </a:pPr>
            <a:endParaRPr sz="1550" b="0" i="0">
              <a:latin typeface="Consolas"/>
            </a:endParaRPr>
          </a:p>
          <a:p>
            <a:pPr>
              <a:buNone/>
            </a:pPr>
            <a:r>
              <a:rPr sz="1550" b="0" i="0">
                <a:latin typeface="Consolas"/>
              </a:rPr>
              <a:t>Select test → Ctrl+I → "Explain what this test is verifying</a:t>
            </a:r>
          </a:p>
          <a:p>
            <a:pPr>
              <a:buNone/>
            </a:pPr>
            <a:r>
              <a:rPr sz="1550" b="0" i="0">
                <a:latin typeface="Consolas"/>
              </a:rPr>
              <a:t>and what edge cases it covers"</a:t>
            </a:r>
          </a:p>
        </p:txBody>
      </p:sp>
      <p:sp>
        <p:nvSpPr>
          <p:cNvPr id="4" name="Content Placeholder 3"/>
          <p:cNvSpPr>
            <a:spLocks noGrp="1"/>
          </p:cNvSpPr>
          <p:nvPr>
            <p:ph sz="half" idx="2"/>
          </p:nvPr>
        </p:nvSpPr>
        <p:spPr/>
        <p:txBody>
          <a:bodyPr wrap="square">
            <a:noAutofit/>
          </a:bodyPr>
          <a:lstStyle/>
          <a:p>
            <a:pPr>
              <a:buNone/>
            </a:pPr>
            <a:r>
              <a:rPr sz="2600" b="0" i="0" u="none"/>
              <a:t>What You Learn From Test Explanations</a:t>
            </a:r>
            <a:endParaRPr sz="2600" b="0" i="0">
              <a:latin typeface="Arial"/>
            </a:endParaRPr>
          </a:p>
          <a:p>
            <a:pPr>
              <a:buNone/>
            </a:pPr>
            <a:endParaRPr sz="2600" b="0" i="0">
              <a:latin typeface="Arial"/>
            </a:endParaRPr>
          </a:p>
          <a:p>
            <a:pPr>
              <a:buNone/>
            </a:pPr>
            <a:r>
              <a:rPr sz="2600" b="0" i="0" u="none"/>
              <a:t>✅ What behavior is being tested</a:t>
            </a:r>
            <a:endParaRPr sz="2600" b="0" i="0">
              <a:latin typeface="Arial"/>
            </a:endParaRPr>
          </a:p>
          <a:p>
            <a:pPr>
              <a:buNone/>
            </a:pPr>
            <a:r>
              <a:rPr sz="2600" b="0" i="0" u="none"/>
              <a:t>✅ What inputs trigger the test</a:t>
            </a:r>
            <a:endParaRPr sz="2600" b="0" i="0">
              <a:latin typeface="Arial"/>
            </a:endParaRPr>
          </a:p>
          <a:p>
            <a:pPr>
              <a:buNone/>
            </a:pPr>
            <a:r>
              <a:rPr sz="2600" b="0" i="0" u="none"/>
              <a:t>✅ What the expected output is</a:t>
            </a:r>
            <a:endParaRPr sz="2600" b="0" i="0">
              <a:latin typeface="Arial"/>
            </a:endParaRPr>
          </a:p>
          <a:p>
            <a:pPr>
              <a:buNone/>
            </a:pPr>
            <a:r>
              <a:rPr sz="2600" b="0" i="0" u="none"/>
              <a:t>✅ Where the gaps might be</a:t>
            </a:r>
            <a:endParaRPr sz="2600" b="0" i="0">
              <a:latin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Coverage Gap Analysis</a:t>
            </a:r>
          </a:p>
        </p:txBody>
      </p:sp>
      <p:sp>
        <p:nvSpPr>
          <p:cNvPr id="3" name="Content Placeholder 2"/>
          <p:cNvSpPr>
            <a:spLocks noGrp="1"/>
          </p:cNvSpPr>
          <p:nvPr>
            <p:ph idx="1"/>
          </p:nvPr>
        </p:nvSpPr>
        <p:spPr/>
        <p:txBody>
          <a:bodyPr wrap="square">
            <a:noAutofit/>
          </a:bodyPr>
          <a:lstStyle/>
          <a:p>
            <a:pPr>
              <a:buNone/>
            </a:pPr>
            <a:r>
              <a:rPr sz="1400" b="0" i="0" u="none"/>
              <a:t>Most projects have incomplete test coverage that is hard to spot manually:</a:t>
            </a:r>
            <a:endParaRPr sz="1400" b="0" i="0">
              <a:latin typeface="Consolas"/>
            </a:endParaRPr>
          </a:p>
          <a:p>
            <a:pPr>
              <a:buNone/>
            </a:pPr>
            <a:endParaRPr sz="1400" b="0" i="0">
              <a:latin typeface="Consolas"/>
            </a:endParaRPr>
          </a:p>
          <a:p>
            <a:r>
              <a:rPr sz="1400" b="0" i="0" u="none"/>
              <a:t>Some code paths never exercised</a:t>
            </a:r>
            <a:endParaRPr sz="1400" b="0" i="0">
              <a:latin typeface="Consolas"/>
            </a:endParaRPr>
          </a:p>
          <a:p>
            <a:r>
              <a:rPr sz="1400" b="0" i="0" u="none"/>
              <a:t>Edge cases and error conditions skipped</a:t>
            </a:r>
            <a:endParaRPr sz="1400" b="0" i="0">
              <a:latin typeface="Consolas"/>
            </a:endParaRPr>
          </a:p>
          <a:p>
            <a:r>
              <a:rPr sz="1400" b="0" i="0" u="none"/>
              <a:t>Integration between components untested</a:t>
            </a:r>
            <a:endParaRPr sz="1400" b="0" i="0">
              <a:latin typeface="Consolas"/>
            </a:endParaRPr>
          </a:p>
          <a:p>
            <a:r>
              <a:rPr sz="1400" b="0" i="0" u="none"/>
              <a:t>New features added without corresponding tests</a:t>
            </a:r>
            <a:endParaRPr sz="1400" b="0" i="0">
              <a:latin typeface="Consolas"/>
            </a:endParaRPr>
          </a:p>
          <a:p>
            <a:pPr>
              <a:buNone/>
            </a:pPr>
            <a:endParaRPr sz="1400" b="0" i="0">
              <a:latin typeface="Consolas"/>
            </a:endParaRPr>
          </a:p>
          <a:p>
            <a:pPr>
              <a:buNone/>
            </a:pPr>
            <a:r>
              <a:rPr sz="1400" b="0" i="0" u="none"/>
              <a:t>The Solution: Copilot-Assisted Analysis</a:t>
            </a:r>
            <a:endParaRPr sz="1400" b="0" i="0">
              <a:latin typeface="Consolas"/>
            </a:endParaRPr>
          </a:p>
          <a:p>
            <a:pPr>
              <a:buNone/>
            </a:pPr>
            <a:endParaRPr sz="1400" b="0" i="0">
              <a:latin typeface="Consolas"/>
            </a:endParaRPr>
          </a:p>
          <a:p>
            <a:pPr>
              <a:buNone/>
            </a:pPr>
            <a:r>
              <a:rPr sz="1400" b="0" i="0" u="none"/>
              <a:t>Ask Copilot to analyze your test suite:</a:t>
            </a:r>
            <a:endParaRPr sz="1400" b="0" i="0">
              <a:latin typeface="Consolas"/>
            </a:endParaRPr>
          </a:p>
          <a:p>
            <a:pPr>
              <a:buNone/>
            </a:pPr>
            <a:endParaRPr sz="1400" b="0" i="0">
              <a:latin typeface="Consolas"/>
            </a:endParaRPr>
          </a:p>
          <a:p>
            <a:pPr>
              <a:buNone/>
            </a:pPr>
            <a:r>
              <a:rPr sz="1400" b="0" i="0">
                <a:latin typeface="Consolas"/>
              </a:rPr>
              <a:t>"Analyze this test file and explain its structure.</a:t>
            </a:r>
          </a:p>
          <a:p>
            <a:pPr>
              <a:buNone/>
            </a:pPr>
            <a:r>
              <a:rPr sz="1400" b="0" i="0">
                <a:latin typeface="Consolas"/>
              </a:rPr>
              <a:t>What scenarios are covered? What's missing?"</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Generating a Coverage Report</a:t>
            </a:r>
          </a:p>
        </p:txBody>
      </p:sp>
      <p:sp>
        <p:nvSpPr>
          <p:cNvPr id="3" name="Content Placeholder 2"/>
          <p:cNvSpPr>
            <a:spLocks noGrp="1"/>
          </p:cNvSpPr>
          <p:nvPr>
            <p:ph idx="1"/>
          </p:nvPr>
        </p:nvSpPr>
        <p:spPr/>
        <p:txBody>
          <a:bodyPr wrap="square">
            <a:noAutofit/>
          </a:bodyPr>
          <a:lstStyle/>
          <a:p>
            <a:pPr>
              <a:buNone/>
            </a:pPr>
            <a:r>
              <a:rPr sz="1550" b="0" i="0" u="none"/>
              <a:t>Prompt to Copilot:</a:t>
            </a:r>
            <a:endParaRPr sz="1550" b="0" i="0">
              <a:latin typeface="Consolas"/>
            </a:endParaRPr>
          </a:p>
          <a:p>
            <a:pPr>
              <a:buNone/>
            </a:pPr>
            <a:endParaRPr sz="1550" b="0" i="0">
              <a:latin typeface="Consolas"/>
            </a:endParaRPr>
          </a:p>
          <a:p>
            <a:pPr>
              <a:buNone/>
            </a:pPr>
            <a:r>
              <a:rPr sz="1550" b="0" i="0">
                <a:latin typeface="Consolas"/>
              </a:rPr>
              <a:t>"Analyze the service test file. Explain the test suite</a:t>
            </a:r>
          </a:p>
          <a:p>
            <a:pPr>
              <a:buNone/>
            </a:pPr>
            <a:r>
              <a:rPr sz="1550" b="0" i="0">
                <a:latin typeface="Consolas"/>
              </a:rPr>
              <a:t>structure, what operations are covered, and generate a coverage</a:t>
            </a:r>
          </a:p>
          <a:p>
            <a:pPr>
              <a:buNone/>
            </a:pPr>
            <a:r>
              <a:rPr sz="1550" b="0" i="0">
                <a:latin typeface="Consolas"/>
              </a:rPr>
              <a:t>report showing what's tested vs. what's missing."</a:t>
            </a:r>
          </a:p>
          <a:p>
            <a:pPr>
              <a:buNone/>
            </a:pPr>
            <a:endParaRPr sz="1550" b="0" i="0">
              <a:latin typeface="Consolas"/>
            </a:endParaRPr>
          </a:p>
          <a:p>
            <a:pPr>
              <a:buNone/>
            </a:pPr>
            <a:r>
              <a:rPr sz="1550" b="0" i="0" u="none"/>
              <a:t>Copilot's Response Includes:</a:t>
            </a:r>
            <a:endParaRPr sz="1550" b="0" i="0">
              <a:latin typeface="Consolas"/>
            </a:endParaRPr>
          </a:p>
          <a:p>
            <a:pPr>
              <a:buNone/>
            </a:pPr>
            <a:endParaRPr sz="1550" b="0" i="0">
              <a:latin typeface="Consolas"/>
            </a:endParaRPr>
          </a:p>
          <a:p>
            <a:r>
              <a:rPr sz="1550" b="0" i="0" u="none"/>
              <a:t>Test suite structure overview</a:t>
            </a:r>
            <a:endParaRPr sz="1550" b="0" i="0">
              <a:latin typeface="Consolas"/>
            </a:endParaRPr>
          </a:p>
          <a:p>
            <a:r>
              <a:rPr sz="1550" b="0" i="0" u="none"/>
              <a:t>Covered scenarios (e.g., basic operations: add, subtract, multiply, divide)</a:t>
            </a:r>
            <a:endParaRPr sz="1550" b="0" i="0">
              <a:latin typeface="Consolas"/>
            </a:endParaRPr>
          </a:p>
          <a:p>
            <a:r>
              <a:rPr sz="1550" b="0" i="0" u="none"/>
              <a:t>Coverage estimate: 95% for service</a:t>
            </a:r>
            <a:endParaRPr sz="1550" b="0" i="0">
              <a:latin typeface="Consolas"/>
            </a:endParaRPr>
          </a:p>
          <a:p>
            <a:r>
              <a:rPr sz="1550" b="0" i="0" u="none"/>
              <a:t>Missing coverage areas</a:t>
            </a:r>
            <a:endParaRPr sz="1550" b="0" i="0">
              <a:latin typeface="Consolas"/>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50"/>
              <a:t>Identifying Missing Coverage Areas</a:t>
            </a:r>
          </a:p>
        </p:txBody>
      </p:sp>
      <p:graphicFrame>
        <p:nvGraphicFramePr>
          <p:cNvPr id="3" name="Table 2"/>
          <p:cNvGraphicFramePr>
            <a:graphicFrameLocks noGrp="1"/>
          </p:cNvGraphicFramePr>
          <p:nvPr>
            <p:extLst>
              <p:ext uri="{D42A27DB-BD31-4B8C-83A1-F6EECF244321}">
                <p14:modId xmlns:p14="http://schemas.microsoft.com/office/powerpoint/2010/main" val="464795195"/>
              </p:ext>
            </p:extLst>
          </p:nvPr>
        </p:nvGraphicFramePr>
        <p:xfrm>
          <a:off x="457200" y="1828800"/>
          <a:ext cx="11094334" cy="2743200"/>
        </p:xfrm>
        <a:graphic>
          <a:graphicData uri="http://schemas.openxmlformats.org/drawingml/2006/table">
            <a:tbl>
              <a:tblPr firstRow="1" bandRow="1">
                <a:tableStyleId>{5C22544A-7EE6-4342-B048-85BDC9FD1C3A}</a:tableStyleId>
              </a:tblPr>
              <a:tblGrid>
                <a:gridCol w="5547167">
                  <a:extLst>
                    <a:ext uri="{9D8B030D-6E8A-4147-A177-3AD203B41FA5}">
                      <a16:colId xmlns:a16="http://schemas.microsoft.com/office/drawing/2014/main" val="20000"/>
                    </a:ext>
                  </a:extLst>
                </a:gridCol>
                <a:gridCol w="5547167">
                  <a:extLst>
                    <a:ext uri="{9D8B030D-6E8A-4147-A177-3AD203B41FA5}">
                      <a16:colId xmlns:a16="http://schemas.microsoft.com/office/drawing/2014/main" val="20001"/>
                    </a:ext>
                  </a:extLst>
                </a:gridCol>
              </a:tblGrid>
              <a:tr h="457200">
                <a:tc>
                  <a:txBody>
                    <a:bodyPr/>
                    <a:lstStyle/>
                    <a:p>
                      <a:pPr>
                        <a:buNone/>
                        <a:defRPr sz="1600" b="1">
                          <a:solidFill>
                            <a:schemeClr val="bg1"/>
                          </a:solidFill>
                        </a:defRPr>
                      </a:pPr>
                      <a:r>
                        <a:rPr sz="1600" b="0" i="0" u="none"/>
                        <a:t>Category</a:t>
                      </a:r>
                    </a:p>
                  </a:txBody>
                  <a:tcPr>
                    <a:solidFill>
                      <a:schemeClr val="accent4"/>
                    </a:solidFill>
                  </a:tcPr>
                </a:tc>
                <a:tc>
                  <a:txBody>
                    <a:bodyPr/>
                    <a:lstStyle/>
                    <a:p>
                      <a:pPr>
                        <a:buNone/>
                        <a:defRPr sz="1600" b="1">
                          <a:solidFill>
                            <a:schemeClr val="bg1"/>
                          </a:solidFill>
                        </a:defRPr>
                      </a:pPr>
                      <a:r>
                        <a:rPr sz="1600" b="0" i="0" u="none"/>
                        <a:t>Examples</a:t>
                      </a:r>
                    </a:p>
                  </a:txBody>
                  <a:tcPr>
                    <a:solidFill>
                      <a:schemeClr val="accent4"/>
                    </a:solidFill>
                  </a:tcPr>
                </a:tc>
                <a:extLst>
                  <a:ext uri="{0D108BD9-81ED-4DB2-BD59-A6C34878D82A}">
                    <a16:rowId xmlns:a16="http://schemas.microsoft.com/office/drawing/2014/main" val="10000"/>
                  </a:ext>
                </a:extLst>
              </a:tr>
              <a:tr h="457200">
                <a:tc>
                  <a:txBody>
                    <a:bodyPr/>
                    <a:lstStyle/>
                    <a:p>
                      <a:pPr>
                        <a:buNone/>
                        <a:defRPr sz="1600" b="0">
                          <a:solidFill>
                            <a:schemeClr val="tx1"/>
                          </a:solidFill>
                        </a:defRPr>
                      </a:pPr>
                      <a:r>
                        <a:rPr sz="1600" b="1" i="0" u="none"/>
                        <a:t>Error conditions</a:t>
                      </a:r>
                    </a:p>
                  </a:txBody>
                  <a:tcPr>
                    <a:solidFill>
                      <a:schemeClr val="accent4">
                        <a:lumMod val="20000"/>
                        <a:lumOff val="80000"/>
                      </a:schemeClr>
                    </a:solidFill>
                  </a:tcPr>
                </a:tc>
                <a:tc>
                  <a:txBody>
                    <a:bodyPr/>
                    <a:lstStyle/>
                    <a:p>
                      <a:pPr>
                        <a:buNone/>
                        <a:defRPr sz="1600" b="0">
                          <a:solidFill>
                            <a:schemeClr val="tx1"/>
                          </a:solidFill>
                        </a:defRPr>
                      </a:pPr>
                      <a:r>
                        <a:rPr sz="1600" b="0" i="0" u="none"/>
                        <a:t>Division by zero, null inputs, overflow</a:t>
                      </a:r>
                    </a:p>
                  </a:txBody>
                  <a:tcPr>
                    <a:solidFill>
                      <a:schemeClr val="accent4">
                        <a:lumMod val="20000"/>
                        <a:lumOff val="80000"/>
                      </a:schemeClr>
                    </a:solidFill>
                  </a:tcPr>
                </a:tc>
                <a:extLst>
                  <a:ext uri="{0D108BD9-81ED-4DB2-BD59-A6C34878D82A}">
                    <a16:rowId xmlns:a16="http://schemas.microsoft.com/office/drawing/2014/main" val="10001"/>
                  </a:ext>
                </a:extLst>
              </a:tr>
              <a:tr h="457200">
                <a:tc>
                  <a:txBody>
                    <a:bodyPr/>
                    <a:lstStyle/>
                    <a:p>
                      <a:pPr>
                        <a:buNone/>
                        <a:defRPr sz="1600" b="0">
                          <a:solidFill>
                            <a:schemeClr val="tx1"/>
                          </a:solidFill>
                        </a:defRPr>
                      </a:pPr>
                      <a:r>
                        <a:rPr sz="1600" b="1" i="0" u="none"/>
                        <a:t>Boundary values</a:t>
                      </a:r>
                    </a:p>
                  </a:txBody>
                  <a:tcPr>
                    <a:solidFill>
                      <a:schemeClr val="accent4">
                        <a:lumMod val="8000"/>
                        <a:lumOff val="92000"/>
                      </a:schemeClr>
                    </a:solidFill>
                  </a:tcPr>
                </a:tc>
                <a:tc>
                  <a:txBody>
                    <a:bodyPr/>
                    <a:lstStyle/>
                    <a:p>
                      <a:pPr>
                        <a:buNone/>
                        <a:defRPr sz="1600" b="0">
                          <a:solidFill>
                            <a:schemeClr val="tx1"/>
                          </a:solidFill>
                        </a:defRPr>
                      </a:pPr>
                      <a:r>
                        <a:rPr sz="1600" b="0" i="0" u="none"/>
                        <a:t>Min/max values, empty collections</a:t>
                      </a:r>
                    </a:p>
                  </a:txBody>
                  <a:tcPr>
                    <a:solidFill>
                      <a:schemeClr val="accent4">
                        <a:lumMod val="8000"/>
                        <a:lumOff val="92000"/>
                      </a:schemeClr>
                    </a:solidFill>
                  </a:tcPr>
                </a:tc>
                <a:extLst>
                  <a:ext uri="{0D108BD9-81ED-4DB2-BD59-A6C34878D82A}">
                    <a16:rowId xmlns:a16="http://schemas.microsoft.com/office/drawing/2014/main" val="10002"/>
                  </a:ext>
                </a:extLst>
              </a:tr>
              <a:tr h="457200">
                <a:tc>
                  <a:txBody>
                    <a:bodyPr/>
                    <a:lstStyle/>
                    <a:p>
                      <a:pPr>
                        <a:buNone/>
                        <a:defRPr sz="1600" b="0">
                          <a:solidFill>
                            <a:schemeClr val="tx1"/>
                          </a:solidFill>
                        </a:defRPr>
                      </a:pPr>
                      <a:r>
                        <a:rPr sz="1600" b="1" i="0" u="none"/>
                        <a:t>Integration paths</a:t>
                      </a:r>
                    </a:p>
                  </a:txBody>
                  <a:tcPr>
                    <a:solidFill>
                      <a:schemeClr val="accent4">
                        <a:lumMod val="20000"/>
                        <a:lumOff val="80000"/>
                      </a:schemeClr>
                    </a:solidFill>
                  </a:tcPr>
                </a:tc>
                <a:tc>
                  <a:txBody>
                    <a:bodyPr/>
                    <a:lstStyle/>
                    <a:p>
                      <a:pPr>
                        <a:buNone/>
                        <a:defRPr sz="1600" b="0">
                          <a:solidFill>
                            <a:schemeClr val="tx1"/>
                          </a:solidFill>
                        </a:defRPr>
                      </a:pPr>
                      <a:r>
                        <a:rPr sz="1600" b="0" i="0" u="none"/>
                        <a:t>Multi-step operations, state transitions</a:t>
                      </a:r>
                    </a:p>
                  </a:txBody>
                  <a:tcPr>
                    <a:solidFill>
                      <a:schemeClr val="accent4">
                        <a:lumMod val="20000"/>
                        <a:lumOff val="80000"/>
                      </a:schemeClr>
                    </a:solidFill>
                  </a:tcPr>
                </a:tc>
                <a:extLst>
                  <a:ext uri="{0D108BD9-81ED-4DB2-BD59-A6C34878D82A}">
                    <a16:rowId xmlns:a16="http://schemas.microsoft.com/office/drawing/2014/main" val="10003"/>
                  </a:ext>
                </a:extLst>
              </a:tr>
              <a:tr h="457200">
                <a:tc>
                  <a:txBody>
                    <a:bodyPr/>
                    <a:lstStyle/>
                    <a:p>
                      <a:pPr>
                        <a:buNone/>
                        <a:defRPr sz="1600" b="0">
                          <a:solidFill>
                            <a:schemeClr val="tx1"/>
                          </a:solidFill>
                        </a:defRPr>
                      </a:pPr>
                      <a:r>
                        <a:rPr sz="1600" b="1" i="0" u="none"/>
                        <a:t>Edge cases</a:t>
                      </a:r>
                    </a:p>
                  </a:txBody>
                  <a:tcPr>
                    <a:solidFill>
                      <a:schemeClr val="accent4">
                        <a:lumMod val="8000"/>
                        <a:lumOff val="92000"/>
                      </a:schemeClr>
                    </a:solidFill>
                  </a:tcPr>
                </a:tc>
                <a:tc>
                  <a:txBody>
                    <a:bodyPr/>
                    <a:lstStyle/>
                    <a:p>
                      <a:pPr>
                        <a:buNone/>
                        <a:defRPr sz="1600" b="0">
                          <a:solidFill>
                            <a:schemeClr val="tx1"/>
                          </a:solidFill>
                        </a:defRPr>
                      </a:pPr>
                      <a:r>
                        <a:rPr sz="1600" b="0" i="0" u="none"/>
                        <a:t>Floating point precision, negative numbers</a:t>
                      </a:r>
                    </a:p>
                  </a:txBody>
                  <a:tcPr>
                    <a:solidFill>
                      <a:schemeClr val="accent4">
                        <a:lumMod val="8000"/>
                        <a:lumOff val="92000"/>
                      </a:schemeClr>
                    </a:solidFill>
                  </a:tcPr>
                </a:tc>
                <a:extLst>
                  <a:ext uri="{0D108BD9-81ED-4DB2-BD59-A6C34878D82A}">
                    <a16:rowId xmlns:a16="http://schemas.microsoft.com/office/drawing/2014/main" val="10004"/>
                  </a:ext>
                </a:extLst>
              </a:tr>
              <a:tr h="457200">
                <a:tc>
                  <a:txBody>
                    <a:bodyPr/>
                    <a:lstStyle/>
                    <a:p>
                      <a:pPr>
                        <a:buNone/>
                        <a:defRPr sz="1600" b="0">
                          <a:solidFill>
                            <a:schemeClr val="tx1"/>
                          </a:solidFill>
                        </a:defRPr>
                      </a:pPr>
                      <a:r>
                        <a:rPr sz="1600" b="1" i="0" u="none"/>
                        <a:t>Concurrency</a:t>
                      </a:r>
                    </a:p>
                  </a:txBody>
                  <a:tcPr>
                    <a:solidFill>
                      <a:schemeClr val="accent4">
                        <a:lumMod val="20000"/>
                        <a:lumOff val="80000"/>
                      </a:schemeClr>
                    </a:solidFill>
                  </a:tcPr>
                </a:tc>
                <a:tc>
                  <a:txBody>
                    <a:bodyPr/>
                    <a:lstStyle/>
                    <a:p>
                      <a:pPr>
                        <a:buNone/>
                        <a:defRPr sz="1600" b="0">
                          <a:solidFill>
                            <a:schemeClr val="tx1"/>
                          </a:solidFill>
                        </a:defRPr>
                      </a:pPr>
                      <a:r>
                        <a:rPr sz="1600" b="0" i="0" u="none" dirty="0"/>
                        <a:t>Race conditions, async operations</a:t>
                      </a:r>
                    </a:p>
                  </a:txBody>
                  <a:tcPr>
                    <a:solidFill>
                      <a:schemeClr val="accent4">
                        <a:lumMod val="20000"/>
                        <a:lumOff val="80000"/>
                      </a:schemeClr>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300"/>
              <a:t>Recommended Test Implementation Plan</a:t>
            </a:r>
          </a:p>
        </p:txBody>
      </p:sp>
      <p:sp>
        <p:nvSpPr>
          <p:cNvPr id="3" name="Content Placeholder 2"/>
          <p:cNvSpPr>
            <a:spLocks noGrp="1"/>
          </p:cNvSpPr>
          <p:nvPr>
            <p:ph idx="1"/>
          </p:nvPr>
        </p:nvSpPr>
        <p:spPr/>
        <p:txBody>
          <a:bodyPr wrap="square">
            <a:noAutofit/>
          </a:bodyPr>
          <a:lstStyle/>
          <a:p>
            <a:pPr>
              <a:buNone/>
            </a:pPr>
            <a:r>
              <a:rPr sz="1550" b="0" i="0" u="none"/>
              <a:t>After identifying gaps, ask:</a:t>
            </a:r>
            <a:endParaRPr sz="1550" b="0" i="0">
              <a:latin typeface="Consolas"/>
            </a:endParaRPr>
          </a:p>
          <a:p>
            <a:pPr>
              <a:buNone/>
            </a:pPr>
            <a:endParaRPr sz="1550" b="0" i="0">
              <a:latin typeface="Consolas"/>
            </a:endParaRPr>
          </a:p>
          <a:p>
            <a:pPr>
              <a:buNone/>
            </a:pPr>
            <a:r>
              <a:rPr sz="1550" b="0" i="0">
                <a:latin typeface="Consolas"/>
              </a:rPr>
              <a:t>"Create a test implementation plan for the missing coverage areas.</a:t>
            </a:r>
          </a:p>
          <a:p>
            <a:pPr>
              <a:buNone/>
            </a:pPr>
            <a:r>
              <a:rPr sz="1550" b="0" i="0">
                <a:latin typeface="Consolas"/>
              </a:rPr>
              <a:t>Prioritize by risk and provide implementation order."</a:t>
            </a:r>
          </a:p>
          <a:p>
            <a:pPr>
              <a:buNone/>
            </a:pPr>
            <a:endParaRPr sz="1550" b="0" i="0">
              <a:latin typeface="Consolas"/>
            </a:endParaRPr>
          </a:p>
          <a:p>
            <a:pPr>
              <a:buNone/>
            </a:pPr>
            <a:r>
              <a:rPr sz="1550" b="0" i="0" u="none"/>
              <a:t>Example Plan Output:</a:t>
            </a:r>
            <a:endParaRPr sz="1550" b="0" i="0">
              <a:latin typeface="Consolas"/>
            </a:endParaRPr>
          </a:p>
          <a:p>
            <a:pPr>
              <a:buNone/>
            </a:pPr>
            <a:endParaRPr sz="1550" b="0" i="0">
              <a:latin typeface="Consolas"/>
            </a:endParaRPr>
          </a:p>
          <a:p>
            <a:pPr>
              <a:buNone/>
            </a:pPr>
            <a:r>
              <a:rPr sz="1550" b="0" i="0" u="none"/>
              <a:t>1. 🔴 High Priority: Add </a:t>
            </a:r>
            <a:r>
              <a:rPr sz="1550" b="0" i="0" u="none">
                <a:latin typeface="Consolas"/>
              </a:rPr>
              <a:t>divide_by_zero_throws_exception</a:t>
            </a:r>
            <a:r>
              <a:rPr sz="1550" b="0" i="0" u="none"/>
              <a:t> test</a:t>
            </a:r>
            <a:endParaRPr sz="1550" b="0" i="0">
              <a:latin typeface="Consolas"/>
            </a:endParaRPr>
          </a:p>
          <a:p>
            <a:pPr>
              <a:buNone/>
            </a:pPr>
            <a:r>
              <a:rPr sz="1550" b="0" i="0" u="none"/>
              <a:t>2. 🔴 High Priority: Add </a:t>
            </a:r>
            <a:r>
              <a:rPr sz="1550" b="0" i="0" u="none">
                <a:latin typeface="Consolas"/>
              </a:rPr>
              <a:t>negative_number_operations</a:t>
            </a:r>
            <a:r>
              <a:rPr sz="1550" b="0" i="0" u="none"/>
              <a:t> tests</a:t>
            </a:r>
            <a:endParaRPr sz="1550" b="0" i="0">
              <a:latin typeface="Consolas"/>
            </a:endParaRPr>
          </a:p>
          <a:p>
            <a:pPr>
              <a:buNone/>
            </a:pPr>
            <a:r>
              <a:rPr sz="1550" b="0" i="0" u="none"/>
              <a:t>3. 🟡 Medium Priority: Add boundary value tests for max/min inputs</a:t>
            </a:r>
            <a:endParaRPr sz="1550" b="0" i="0">
              <a:latin typeface="Consolas"/>
            </a:endParaRPr>
          </a:p>
          <a:p>
            <a:pPr>
              <a:buNone/>
            </a:pPr>
            <a:r>
              <a:rPr sz="1550" b="0" i="0" u="none"/>
              <a:t>4. 🟡 Medium Priority: Add floating point precision tests</a:t>
            </a:r>
            <a:endParaRPr sz="1550" b="0" i="0">
              <a:latin typeface="Consolas"/>
            </a:endParaRPr>
          </a:p>
          <a:p>
            <a:pPr>
              <a:buNone/>
            </a:pPr>
            <a:r>
              <a:rPr sz="1550" b="0" i="0" u="none"/>
              <a:t>5. 🟢 Low Priority: Add chained operation integration tests</a:t>
            </a:r>
            <a:endParaRPr sz="1550" b="0" i="0">
              <a:latin typeface="Consolas"/>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050"/>
              <a:t>Implementing Tests from Recommendations</a:t>
            </a:r>
          </a:p>
        </p:txBody>
      </p:sp>
      <p:sp>
        <p:nvSpPr>
          <p:cNvPr id="3" name="Content Placeholder 2"/>
          <p:cNvSpPr>
            <a:spLocks noGrp="1"/>
          </p:cNvSpPr>
          <p:nvPr>
            <p:ph idx="1"/>
          </p:nvPr>
        </p:nvSpPr>
        <p:spPr/>
        <p:txBody>
          <a:bodyPr wrap="square">
            <a:normAutofit fontScale="92500" lnSpcReduction="20000"/>
          </a:bodyPr>
          <a:lstStyle/>
          <a:p>
            <a:pPr>
              <a:buNone/>
            </a:pPr>
            <a:r>
              <a:rPr sz="1400" b="0" i="0" u="none" dirty="0"/>
              <a:t>After reviewing the plan, ask Copilot to implement:</a:t>
            </a:r>
            <a:endParaRPr sz="1400" b="0" i="0" dirty="0">
              <a:latin typeface="Consolas"/>
            </a:endParaRPr>
          </a:p>
          <a:p>
            <a:pPr>
              <a:buNone/>
            </a:pPr>
            <a:endParaRPr sz="1400" b="0" i="0" dirty="0">
              <a:latin typeface="Consolas"/>
            </a:endParaRPr>
          </a:p>
          <a:p>
            <a:pPr>
              <a:buNone/>
            </a:pPr>
            <a:r>
              <a:rPr sz="1400" b="0" i="0" dirty="0">
                <a:latin typeface="Consolas"/>
              </a:rPr>
              <a:t>"Implement the high-priority tests from the coverage gap analysis.</a:t>
            </a:r>
          </a:p>
          <a:p>
            <a:pPr>
              <a:buNone/>
            </a:pPr>
            <a:r>
              <a:rPr sz="1400" b="0" i="0" dirty="0">
                <a:latin typeface="Consolas"/>
              </a:rPr>
              <a:t>Follow the existing test patterns in the file."</a:t>
            </a:r>
          </a:p>
          <a:p>
            <a:pPr>
              <a:buNone/>
            </a:pPr>
            <a:endParaRPr sz="1400" b="0" i="0" dirty="0">
              <a:latin typeface="Consolas"/>
            </a:endParaRPr>
          </a:p>
          <a:p>
            <a:pPr>
              <a:buNone/>
            </a:pPr>
            <a:r>
              <a:rPr sz="1400" b="0" i="0" u="none" dirty="0"/>
              <a:t>What Copilot Generates:</a:t>
            </a:r>
            <a:endParaRPr sz="1400" b="0" i="0" dirty="0">
              <a:latin typeface="Consolas"/>
            </a:endParaRPr>
          </a:p>
          <a:p>
            <a:pPr>
              <a:buNone/>
            </a:pPr>
            <a:endParaRPr sz="1400" b="0" i="0" dirty="0">
              <a:latin typeface="Consolas"/>
            </a:endParaRPr>
          </a:p>
          <a:p>
            <a:r>
              <a:rPr sz="1400" b="0" i="0" u="none" dirty="0"/>
              <a:t>Tests using the same framework as existing tests</a:t>
            </a:r>
            <a:endParaRPr sz="1400" b="0" i="0" dirty="0">
              <a:latin typeface="Consolas"/>
            </a:endParaRPr>
          </a:p>
          <a:p>
            <a:r>
              <a:rPr sz="1400" b="0" i="0" u="none" dirty="0"/>
              <a:t>Consistent naming conventions matching the codebase</a:t>
            </a:r>
            <a:endParaRPr sz="1400" b="0" i="0" dirty="0">
              <a:latin typeface="Consolas"/>
            </a:endParaRPr>
          </a:p>
          <a:p>
            <a:r>
              <a:rPr sz="1400" b="0" i="0" u="none" dirty="0"/>
              <a:t>Appropriate assertions for each scenario</a:t>
            </a:r>
            <a:endParaRPr sz="1400" b="0" i="0" dirty="0">
              <a:latin typeface="Consolas"/>
            </a:endParaRPr>
          </a:p>
          <a:p>
            <a:r>
              <a:rPr sz="1400" b="0" i="0" u="none" dirty="0"/>
              <a:t>Comments explaining what each test verifies</a:t>
            </a:r>
            <a:endParaRPr sz="1400" b="0" i="0" dirty="0">
              <a:latin typeface="Consolas"/>
            </a:endParaRPr>
          </a:p>
          <a:p>
            <a:pPr>
              <a:buNone/>
            </a:pPr>
            <a:endParaRPr sz="1400" b="0" i="0" dirty="0">
              <a:latin typeface="Consolas"/>
            </a:endParaRPr>
          </a:p>
          <a:p>
            <a:pPr>
              <a:buNone/>
            </a:pPr>
            <a:r>
              <a:rPr sz="1400" b="0" i="0" u="none" dirty="0"/>
              <a:t>The Full Workflow</a:t>
            </a:r>
            <a:endParaRPr sz="1400" b="0" i="0" dirty="0">
              <a:latin typeface="Consolas"/>
            </a:endParaRPr>
          </a:p>
          <a:p>
            <a:pPr>
              <a:buNone/>
            </a:pPr>
            <a:endParaRPr sz="1400" b="0" i="0" dirty="0">
              <a:latin typeface="Consolas"/>
            </a:endParaRPr>
          </a:p>
          <a:p>
            <a:pPr>
              <a:buNone/>
            </a:pPr>
            <a:r>
              <a:rPr sz="1400" b="0" i="0" dirty="0">
                <a:latin typeface="Consolas"/>
              </a:rPr>
              <a:t>Explain → Analyze → Identify Gaps → Plan → Implement → Review</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Autofit/>
          </a:bodyPr>
          <a:lstStyle/>
          <a:p>
            <a:r>
              <a:rPr sz="2750" b="0" i="0" u="none"/>
              <a:t>Intro</a:t>
            </a:r>
          </a:p>
          <a:p>
            <a:r>
              <a:rPr sz="2750" b="0" i="0" u="none"/>
              <a:t>LLM</a:t>
            </a:r>
          </a:p>
          <a:p>
            <a:r>
              <a:rPr sz="2750" b="0" i="0" u="none"/>
              <a:t>Copilot for Teams</a:t>
            </a:r>
          </a:p>
          <a:p>
            <a:r>
              <a:rPr sz="2750" b="0" i="0" u="none"/>
              <a:t>Safety Measures and Best Practices</a:t>
            </a:r>
          </a:p>
          <a:p>
            <a:r>
              <a:rPr sz="2750" b="0" i="0" u="none"/>
              <a:t>Models and Context</a:t>
            </a:r>
          </a:p>
          <a:p>
            <a:r>
              <a:rPr sz="2750" b="0" i="0" u="none"/>
              <a:t>Guardrails and Prompt Files</a:t>
            </a:r>
          </a:p>
          <a:p>
            <a:r>
              <a:rPr sz="2750" b="0" i="0" u="none"/>
              <a:t>AI Assisted Documentation</a:t>
            </a:r>
          </a:p>
          <a:p>
            <a:r>
              <a:rPr sz="2750" b="1" i="0" u="none"/>
              <a:t>▶ Test Automation and Code Quality</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00"/>
              <a:t>Test Automation and Code Quality</a:t>
            </a:r>
          </a:p>
        </p:txBody>
      </p:sp>
      <p:sp>
        <p:nvSpPr>
          <p:cNvPr id="3" name="Subtitle 2"/>
          <p:cNvSpPr>
            <a:spLocks noGrp="1"/>
          </p:cNvSpPr>
          <p:nvPr>
            <p:ph type="subTitle" idx="1"/>
          </p:nvPr>
        </p:nvSpPr>
        <p:spPr/>
        <p:txBody>
          <a:bodyPr wrap="square">
            <a:normAutofit/>
          </a:bodyPr>
          <a:lstStyle/>
          <a:p>
            <a:pPr>
              <a:buNone/>
            </a:pPr>
            <a:r>
              <a:rPr b="0" i="0" u="none"/>
              <a:t>The Test Suite You Deserved All Along</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250"/>
              <a:t>Test Automation &amp; Code Quality</a:t>
            </a:r>
          </a:p>
        </p:txBody>
      </p:sp>
      <p:sp>
        <p:nvSpPr>
          <p:cNvPr id="3" name="Content Placeholder 2"/>
          <p:cNvSpPr>
            <a:spLocks noGrp="1"/>
          </p:cNvSpPr>
          <p:nvPr>
            <p:ph idx="1"/>
          </p:nvPr>
        </p:nvSpPr>
        <p:spPr/>
        <p:txBody>
          <a:bodyPr wrap="square">
            <a:normAutofit/>
          </a:bodyPr>
          <a:lstStyle/>
          <a:p>
            <a:r>
              <a:rPr sz="2800" b="0" i="0" u="none"/>
              <a:t>AI-assisted test generation (unit, integration, E2E)</a:t>
            </a:r>
            <a:endParaRPr sz="2800" b="0" i="0">
              <a:latin typeface="Arial"/>
            </a:endParaRPr>
          </a:p>
          <a:p>
            <a:r>
              <a:rPr sz="2800" b="0" i="0" u="none"/>
              <a:t>Intelligent linting beyond static analysis</a:t>
            </a:r>
            <a:endParaRPr sz="2800" b="0" i="0">
              <a:latin typeface="Arial"/>
            </a:endParaRPr>
          </a:p>
          <a:p>
            <a:r>
              <a:rPr sz="2800" b="0" i="0" u="none"/>
              <a:t>Coverage analysis and test adequacy assessment</a:t>
            </a:r>
            <a:endParaRPr sz="2800" b="0" i="0">
              <a:latin typeface="Arial"/>
            </a:endParaRPr>
          </a:p>
          <a:p>
            <a:r>
              <a:rPr sz="2800" b="0" i="0" u="none"/>
              <a:t>Automated quality gates</a:t>
            </a:r>
            <a:endParaRPr sz="2800" b="0" i="0">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AI-Assisted Test Generation</a:t>
            </a:r>
          </a:p>
        </p:txBody>
      </p:sp>
      <p:sp>
        <p:nvSpPr>
          <p:cNvPr id="3" name="Content Placeholder 2"/>
          <p:cNvSpPr>
            <a:spLocks noGrp="1"/>
          </p:cNvSpPr>
          <p:nvPr>
            <p:ph idx="1"/>
          </p:nvPr>
        </p:nvSpPr>
        <p:spPr/>
        <p:txBody>
          <a:bodyPr wrap="square">
            <a:noAutofit/>
          </a:bodyPr>
          <a:lstStyle/>
          <a:p>
            <a:pPr>
              <a:buNone/>
            </a:pPr>
            <a:r>
              <a:rPr sz="2050" b="0" i="0" u="none"/>
              <a:t>AI can generate:</a:t>
            </a:r>
            <a:endParaRPr sz="2050" b="0" i="0">
              <a:latin typeface="Arial"/>
            </a:endParaRPr>
          </a:p>
          <a:p>
            <a:pPr lvl="1"/>
            <a:r>
              <a:rPr sz="2050" b="0" i="0" u="none"/>
              <a:t>Unit tests for functions, classes, and utilities</a:t>
            </a:r>
            <a:endParaRPr sz="2050" b="0" i="0">
              <a:latin typeface="Arial"/>
            </a:endParaRPr>
          </a:p>
          <a:p>
            <a:pPr lvl="1"/>
            <a:r>
              <a:rPr sz="2050" b="0" i="0" u="none"/>
              <a:t>Integration tests for module interactions</a:t>
            </a:r>
            <a:endParaRPr sz="2050" b="0" i="0">
              <a:latin typeface="Arial"/>
            </a:endParaRPr>
          </a:p>
          <a:p>
            <a:pPr lvl="1"/>
            <a:r>
              <a:rPr sz="2050" b="0" i="0" u="none"/>
              <a:t>End-to-end tests for full workflows</a:t>
            </a:r>
            <a:endParaRPr sz="2050" b="0" i="0">
              <a:latin typeface="Arial"/>
            </a:endParaRPr>
          </a:p>
          <a:p>
            <a:pPr lvl="1"/>
            <a:r>
              <a:rPr sz="2050" b="0" i="0" u="none"/>
              <a:t>Edge-case tests and regression scenarios</a:t>
            </a:r>
            <a:endParaRPr sz="2050" b="0" i="0">
              <a:latin typeface="Arial"/>
            </a:endParaRPr>
          </a:p>
          <a:p>
            <a:pPr lvl="1"/>
            <a:r>
              <a:rPr sz="2050" b="0" i="0" u="none"/>
              <a:t>Contract tests for APIs and services</a:t>
            </a:r>
            <a:endParaRPr sz="2050" b="0" i="0">
              <a:latin typeface="Arial"/>
            </a:endParaRPr>
          </a:p>
          <a:p>
            <a:pPr>
              <a:buNone/>
            </a:pPr>
            <a:endParaRPr sz="2050" b="0" i="0">
              <a:latin typeface="Arial"/>
            </a:endParaRPr>
          </a:p>
          <a:p>
            <a:pPr>
              <a:buNone/>
            </a:pPr>
            <a:r>
              <a:rPr sz="2050" b="0" i="0" u="none"/>
              <a:t>Benefits</a:t>
            </a:r>
            <a:endParaRPr sz="2050" b="0" i="0">
              <a:latin typeface="Arial"/>
            </a:endParaRPr>
          </a:p>
          <a:p>
            <a:pPr lvl="1"/>
            <a:r>
              <a:rPr sz="2050" b="0" i="0" u="none"/>
              <a:t>Rapid coverage expansion</a:t>
            </a:r>
            <a:endParaRPr sz="2050" b="0" i="0">
              <a:latin typeface="Arial"/>
            </a:endParaRPr>
          </a:p>
          <a:p>
            <a:pPr lvl="1"/>
            <a:r>
              <a:rPr sz="2050" b="0" i="0" u="none"/>
              <a:t>Consistent structure and naming</a:t>
            </a:r>
            <a:endParaRPr sz="2050" b="0" i="0">
              <a:latin typeface="Arial"/>
            </a:endParaRPr>
          </a:p>
          <a:p>
            <a:pPr lvl="1"/>
            <a:r>
              <a:rPr sz="2050" b="0" i="0" u="none"/>
              <a:t>Reduced onboarding time</a:t>
            </a:r>
            <a:endParaRPr sz="2050" b="0" i="0">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Intelligent Linting</a:t>
            </a:r>
          </a:p>
        </p:txBody>
      </p:sp>
      <p:sp>
        <p:nvSpPr>
          <p:cNvPr id="3" name="Content Placeholder 2"/>
          <p:cNvSpPr>
            <a:spLocks noGrp="1"/>
          </p:cNvSpPr>
          <p:nvPr>
            <p:ph idx="1"/>
          </p:nvPr>
        </p:nvSpPr>
        <p:spPr/>
        <p:txBody>
          <a:bodyPr wrap="square">
            <a:noAutofit/>
          </a:bodyPr>
          <a:lstStyle/>
          <a:p>
            <a:pPr>
              <a:buNone/>
            </a:pPr>
            <a:r>
              <a:rPr sz="2050" b="0" i="0" u="none"/>
              <a:t>AI-enhanced linting can detect:</a:t>
            </a:r>
            <a:endParaRPr sz="2050" b="0" i="0">
              <a:latin typeface="Arial"/>
            </a:endParaRPr>
          </a:p>
          <a:p>
            <a:pPr lvl="1"/>
            <a:r>
              <a:rPr sz="2050" b="0" i="0" u="none"/>
              <a:t>Architectural violations</a:t>
            </a:r>
            <a:endParaRPr sz="2050" b="0" i="0">
              <a:latin typeface="Arial"/>
            </a:endParaRPr>
          </a:p>
          <a:p>
            <a:pPr lvl="1"/>
            <a:r>
              <a:rPr sz="2050" b="0" i="0" u="none"/>
              <a:t>Anti-patterns</a:t>
            </a:r>
            <a:endParaRPr sz="2050" b="0" i="0">
              <a:latin typeface="Arial"/>
            </a:endParaRPr>
          </a:p>
          <a:p>
            <a:pPr lvl="1"/>
            <a:r>
              <a:rPr sz="2050" b="0" i="0" u="none"/>
              <a:t>Unsafe refactors</a:t>
            </a:r>
            <a:endParaRPr sz="2050" b="0" i="0">
              <a:latin typeface="Arial"/>
            </a:endParaRPr>
          </a:p>
          <a:p>
            <a:pPr lvl="1"/>
            <a:r>
              <a:rPr sz="2050" b="0" i="0" u="none"/>
              <a:t>Missing documentation</a:t>
            </a:r>
            <a:endParaRPr sz="2050" b="0" i="0">
              <a:latin typeface="Arial"/>
            </a:endParaRPr>
          </a:p>
          <a:p>
            <a:pPr lvl="1"/>
            <a:r>
              <a:rPr sz="2050" b="0" i="0" u="none"/>
              <a:t>Inconsistent naming or domain terminology</a:t>
            </a:r>
            <a:endParaRPr sz="2050" b="0" i="0">
              <a:latin typeface="Arial"/>
            </a:endParaRPr>
          </a:p>
          <a:p>
            <a:pPr>
              <a:buNone/>
            </a:pPr>
            <a:endParaRPr sz="2050" b="0" i="0">
              <a:latin typeface="Arial"/>
            </a:endParaRPr>
          </a:p>
          <a:p>
            <a:pPr>
              <a:buNone/>
            </a:pPr>
            <a:r>
              <a:rPr sz="2050" b="0" i="0" u="none"/>
              <a:t>Why it matters</a:t>
            </a:r>
            <a:endParaRPr sz="2050" b="0" i="0">
              <a:latin typeface="Arial"/>
            </a:endParaRPr>
          </a:p>
          <a:p>
            <a:pPr lvl="1"/>
            <a:r>
              <a:rPr sz="2050" b="0" i="0" u="none"/>
              <a:t>Goes beyond syntax</a:t>
            </a:r>
            <a:endParaRPr sz="2050" b="0" i="0">
              <a:latin typeface="Arial"/>
            </a:endParaRPr>
          </a:p>
          <a:p>
            <a:pPr lvl="1"/>
            <a:r>
              <a:rPr sz="2050" b="0" i="0" u="none"/>
              <a:t>Enforces architectural guardrails</a:t>
            </a:r>
            <a:endParaRPr sz="2050" b="0" i="0">
              <a:latin typeface="Arial"/>
            </a:endParaRPr>
          </a:p>
          <a:p>
            <a:pPr lvl="1"/>
            <a:r>
              <a:rPr sz="2050" b="0" i="0" u="none"/>
              <a:t>Reduces long-term technical debt</a:t>
            </a:r>
            <a:endParaRPr sz="2050" b="0" i="0">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Coverage Analysis</a:t>
            </a:r>
          </a:p>
        </p:txBody>
      </p:sp>
      <p:sp>
        <p:nvSpPr>
          <p:cNvPr id="3" name="Content Placeholder 2"/>
          <p:cNvSpPr>
            <a:spLocks noGrp="1"/>
          </p:cNvSpPr>
          <p:nvPr>
            <p:ph idx="1"/>
          </p:nvPr>
        </p:nvSpPr>
        <p:spPr/>
        <p:txBody>
          <a:bodyPr wrap="square">
            <a:noAutofit/>
          </a:bodyPr>
          <a:lstStyle/>
          <a:p>
            <a:pPr>
              <a:buNone/>
            </a:pPr>
            <a:r>
              <a:rPr sz="2050" b="0" i="0" u="none"/>
              <a:t>AI can help evaluate:</a:t>
            </a:r>
            <a:endParaRPr sz="2050" b="0" i="0">
              <a:latin typeface="Arial"/>
            </a:endParaRPr>
          </a:p>
          <a:p>
            <a:pPr lvl="1"/>
            <a:r>
              <a:rPr sz="2050" b="0" i="0" u="none"/>
              <a:t>Coverage gaps</a:t>
            </a:r>
            <a:endParaRPr sz="2050" b="0" i="0">
              <a:latin typeface="Arial"/>
            </a:endParaRPr>
          </a:p>
          <a:p>
            <a:pPr lvl="1"/>
            <a:r>
              <a:rPr sz="2050" b="0" i="0" u="none"/>
              <a:t>Missing edge cases</a:t>
            </a:r>
            <a:endParaRPr sz="2050" b="0" i="0">
              <a:latin typeface="Arial"/>
            </a:endParaRPr>
          </a:p>
          <a:p>
            <a:pPr lvl="1"/>
            <a:r>
              <a:rPr sz="2050" b="0" i="0" u="none"/>
              <a:t>Over-testing of implementation details</a:t>
            </a:r>
            <a:endParaRPr sz="2050" b="0" i="0">
              <a:latin typeface="Arial"/>
            </a:endParaRPr>
          </a:p>
          <a:p>
            <a:pPr lvl="1"/>
            <a:r>
              <a:rPr sz="2050" b="0" i="0" u="none"/>
              <a:t>Under-testing of business logic</a:t>
            </a:r>
            <a:endParaRPr sz="2050" b="0" i="0">
              <a:latin typeface="Arial"/>
            </a:endParaRPr>
          </a:p>
          <a:p>
            <a:pPr lvl="1"/>
            <a:r>
              <a:rPr sz="2050" b="0" i="0" u="none"/>
              <a:t>Redundant or brittle tests</a:t>
            </a:r>
            <a:endParaRPr sz="2050" b="0" i="0">
              <a:latin typeface="Arial"/>
            </a:endParaRPr>
          </a:p>
          <a:p>
            <a:pPr>
              <a:buNone/>
            </a:pPr>
            <a:endParaRPr sz="2050" b="0" i="0">
              <a:latin typeface="Arial"/>
            </a:endParaRPr>
          </a:p>
          <a:p>
            <a:pPr>
              <a:buNone/>
            </a:pPr>
            <a:r>
              <a:rPr sz="2050" b="0" i="0" u="none"/>
              <a:t>Outcomes</a:t>
            </a:r>
            <a:endParaRPr sz="2050" b="0" i="0">
              <a:latin typeface="Arial"/>
            </a:endParaRPr>
          </a:p>
          <a:p>
            <a:pPr lvl="1"/>
            <a:r>
              <a:rPr sz="2050" b="0" i="0" u="none"/>
              <a:t>More meaningful coverage</a:t>
            </a:r>
            <a:endParaRPr sz="2050" b="0" i="0">
              <a:latin typeface="Arial"/>
            </a:endParaRPr>
          </a:p>
          <a:p>
            <a:pPr lvl="1"/>
            <a:r>
              <a:rPr sz="2050" b="0" i="0" u="none"/>
              <a:t>Better alignment with real behavior</a:t>
            </a:r>
            <a:endParaRPr sz="2050" b="0" i="0">
              <a:latin typeface="Arial"/>
            </a:endParaRPr>
          </a:p>
          <a:p>
            <a:pPr lvl="1"/>
            <a:r>
              <a:rPr sz="2050" b="0" i="0" u="none"/>
              <a:t>Reduced maintenance burden</a:t>
            </a:r>
            <a:endParaRPr sz="2050" b="0" i="0">
              <a:latin typeface="Aria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Automated Quality Gates</a:t>
            </a:r>
          </a:p>
        </p:txBody>
      </p:sp>
      <p:sp>
        <p:nvSpPr>
          <p:cNvPr id="3" name="Content Placeholder 2"/>
          <p:cNvSpPr>
            <a:spLocks noGrp="1"/>
          </p:cNvSpPr>
          <p:nvPr>
            <p:ph idx="1"/>
          </p:nvPr>
        </p:nvSpPr>
        <p:spPr/>
        <p:txBody>
          <a:bodyPr wrap="square">
            <a:noAutofit/>
          </a:bodyPr>
          <a:lstStyle/>
          <a:p>
            <a:pPr>
              <a:buNone/>
            </a:pPr>
            <a:r>
              <a:rPr sz="2050" b="0" i="0" u="none"/>
              <a:t>Quality gates can enforce:</a:t>
            </a:r>
            <a:endParaRPr sz="2050" b="0" i="0">
              <a:latin typeface="Arial"/>
            </a:endParaRPr>
          </a:p>
          <a:p>
            <a:pPr lvl="1"/>
            <a:r>
              <a:rPr sz="2050" b="0" i="0" u="none"/>
              <a:t>Minimum test coverage</a:t>
            </a:r>
            <a:endParaRPr sz="2050" b="0" i="0">
              <a:latin typeface="Arial"/>
            </a:endParaRPr>
          </a:p>
          <a:p>
            <a:pPr lvl="1"/>
            <a:r>
              <a:rPr sz="2050" b="0" i="0" u="none"/>
              <a:t>Linting and architectural checks</a:t>
            </a:r>
            <a:endParaRPr sz="2050" b="0" i="0">
              <a:latin typeface="Arial"/>
            </a:endParaRPr>
          </a:p>
          <a:p>
            <a:pPr lvl="1"/>
            <a:r>
              <a:rPr sz="2050" b="0" i="0" u="none"/>
              <a:t>Provenance requirements</a:t>
            </a:r>
            <a:endParaRPr sz="2050" b="0" i="0">
              <a:latin typeface="Arial"/>
            </a:endParaRPr>
          </a:p>
          <a:p>
            <a:pPr lvl="1"/>
            <a:r>
              <a:rPr sz="2050" b="0" i="0" u="none"/>
              <a:t>PR-level test generation</a:t>
            </a:r>
            <a:endParaRPr sz="2050" b="0" i="0">
              <a:latin typeface="Arial"/>
            </a:endParaRPr>
          </a:p>
          <a:p>
            <a:pPr lvl="1"/>
            <a:r>
              <a:rPr sz="2050" b="0" i="0" u="none"/>
              <a:t>Risk scoring for changes</a:t>
            </a:r>
            <a:endParaRPr sz="2050" b="0" i="0">
              <a:latin typeface="Arial"/>
            </a:endParaRPr>
          </a:p>
          <a:p>
            <a:pPr>
              <a:buNone/>
            </a:pPr>
            <a:endParaRPr sz="2050" b="0" i="0">
              <a:latin typeface="Arial"/>
            </a:endParaRPr>
          </a:p>
          <a:p>
            <a:pPr>
              <a:buNone/>
            </a:pPr>
            <a:r>
              <a:rPr sz="2050" b="0" i="0" u="none"/>
              <a:t>Benefits</a:t>
            </a:r>
            <a:endParaRPr sz="2050" b="0" i="0">
              <a:latin typeface="Arial"/>
            </a:endParaRPr>
          </a:p>
          <a:p>
            <a:pPr lvl="1"/>
            <a:r>
              <a:rPr sz="2050" b="0" i="0" u="none"/>
              <a:t>Prevents regressions</a:t>
            </a:r>
            <a:endParaRPr sz="2050" b="0" i="0">
              <a:latin typeface="Arial"/>
            </a:endParaRPr>
          </a:p>
          <a:p>
            <a:pPr lvl="1"/>
            <a:r>
              <a:rPr sz="2050" b="0" i="0" u="none"/>
              <a:t>Ensures consistent quality</a:t>
            </a:r>
            <a:endParaRPr sz="2050" b="0" i="0">
              <a:latin typeface="Arial"/>
            </a:endParaRPr>
          </a:p>
          <a:p>
            <a:pPr lvl="1"/>
            <a:r>
              <a:rPr sz="2050" b="0" i="0" u="none"/>
              <a:t>Supports evergreen development</a:t>
            </a:r>
            <a:endParaRPr sz="2050" b="0" i="0">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00"/>
              <a:t>Exercise: Test Automation and Quality</a:t>
            </a:r>
          </a:p>
        </p:txBody>
      </p:sp>
      <p:sp>
        <p:nvSpPr>
          <p:cNvPr id="3" name="Subtitle 2"/>
          <p:cNvSpPr>
            <a:spLocks noGrp="1"/>
          </p:cNvSpPr>
          <p:nvPr>
            <p:ph type="subTitle" idx="1"/>
          </p:nvPr>
        </p:nvSpPr>
        <p:spPr/>
        <p:txBody>
          <a:bodyPr wrap="square">
            <a:normAutofit/>
          </a:bodyPr>
          <a:lstStyle/>
          <a:p>
            <a:pPr>
              <a:buNone/>
            </a:pPr>
            <a:r>
              <a:rPr b="0" i="0" u="none" dirty="0"/>
              <a:t>The Tests You Always Meant to Write</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400"/>
              <a:t>Exercise: Strengthening Test Automation &amp; Code Quality</a:t>
            </a:r>
          </a:p>
        </p:txBody>
      </p:sp>
      <p:sp>
        <p:nvSpPr>
          <p:cNvPr id="3" name="Content Placeholder 2"/>
          <p:cNvSpPr>
            <a:spLocks noGrp="1"/>
          </p:cNvSpPr>
          <p:nvPr>
            <p:ph sz="half" idx="1"/>
          </p:nvPr>
        </p:nvSpPr>
        <p:spPr/>
        <p:txBody>
          <a:bodyPr wrap="square">
            <a:noAutofit/>
          </a:bodyPr>
          <a:lstStyle/>
          <a:p>
            <a:pPr>
              <a:buNone/>
            </a:pPr>
            <a:r>
              <a:rPr sz="1700" b="0" i="0" u="none"/>
              <a:t>Objectives</a:t>
            </a:r>
            <a:endParaRPr sz="1700" b="0" i="0">
              <a:latin typeface="Arial"/>
            </a:endParaRPr>
          </a:p>
          <a:p>
            <a:pPr lvl="1"/>
            <a:r>
              <a:rPr sz="1700" b="0" i="0" u="none"/>
              <a:t>Identify gaps in test automation</a:t>
            </a:r>
            <a:endParaRPr sz="1700" b="0" i="0">
              <a:latin typeface="Arial"/>
            </a:endParaRPr>
          </a:p>
          <a:p>
            <a:pPr lvl="1"/>
            <a:r>
              <a:rPr sz="1700" b="0" i="0" u="none"/>
              <a:t>Use AI to generate missing tests</a:t>
            </a:r>
            <a:endParaRPr sz="1700" b="0" i="0">
              <a:latin typeface="Arial"/>
            </a:endParaRPr>
          </a:p>
          <a:p>
            <a:pPr lvl="1"/>
            <a:r>
              <a:rPr sz="1700" b="0" i="0" u="none"/>
              <a:t>Apply intelligent linting and quality gates</a:t>
            </a:r>
            <a:endParaRPr sz="1700" b="0" i="0">
              <a:latin typeface="Arial"/>
            </a:endParaRPr>
          </a:p>
          <a:p>
            <a:pPr lvl="1"/>
            <a:r>
              <a:rPr sz="1700" b="0" i="0" u="none"/>
              <a:t>Validate test adequacy and architectural alignment</a:t>
            </a:r>
            <a:endParaRPr sz="1700" b="0" i="0">
              <a:latin typeface="Arial"/>
            </a:endParaRPr>
          </a:p>
          <a:p>
            <a:pPr>
              <a:buNone/>
            </a:pPr>
            <a:endParaRPr sz="1700" b="0" i="0">
              <a:latin typeface="Arial"/>
            </a:endParaRPr>
          </a:p>
          <a:p>
            <a:pPr>
              <a:buNone/>
            </a:pPr>
            <a:r>
              <a:rPr sz="1700" b="0" i="0" u="none"/>
              <a:t>Activities</a:t>
            </a:r>
            <a:endParaRPr sz="1700" b="0" i="0">
              <a:latin typeface="Arial"/>
            </a:endParaRPr>
          </a:p>
          <a:p>
            <a:pPr lvl="1">
              <a:buNone/>
            </a:pPr>
            <a:r>
              <a:rPr sz="1700" b="0" i="0" u="none"/>
              <a:t>  1. Select a brownfield module or function</a:t>
            </a:r>
            <a:endParaRPr sz="1700" b="0" i="0">
              <a:latin typeface="Arial"/>
            </a:endParaRPr>
          </a:p>
          <a:p>
            <a:pPr lvl="1">
              <a:buNone/>
            </a:pPr>
            <a:r>
              <a:rPr sz="1700" b="0" i="0" u="none"/>
              <a:t>  2. Review existing tests for:</a:t>
            </a:r>
            <a:endParaRPr sz="1700" b="0" i="0">
              <a:latin typeface="Arial"/>
            </a:endParaRPr>
          </a:p>
          <a:p>
            <a:pPr lvl="2"/>
            <a:r>
              <a:rPr sz="1700" b="0" i="0" u="none"/>
              <a:t>Coverage gaps</a:t>
            </a:r>
            <a:endParaRPr sz="1700" b="0" i="0">
              <a:latin typeface="Arial"/>
            </a:endParaRPr>
          </a:p>
          <a:p>
            <a:pPr lvl="2"/>
            <a:r>
              <a:rPr sz="1700" b="0" i="0" u="none"/>
              <a:t>Missing edge cases</a:t>
            </a:r>
            <a:endParaRPr sz="1700" b="0" i="0">
              <a:latin typeface="Arial"/>
            </a:endParaRPr>
          </a:p>
          <a:p>
            <a:pPr lvl="2"/>
            <a:r>
              <a:rPr sz="1700" b="0" i="0" u="none"/>
              <a:t>Redundant or brittle tests</a:t>
            </a:r>
            <a:endParaRPr sz="1700" b="0" i="0">
              <a:latin typeface="Arial"/>
            </a:endParaRPr>
          </a:p>
        </p:txBody>
      </p:sp>
      <p:sp>
        <p:nvSpPr>
          <p:cNvPr id="4" name="Content Placeholder 3"/>
          <p:cNvSpPr>
            <a:spLocks noGrp="1"/>
          </p:cNvSpPr>
          <p:nvPr>
            <p:ph sz="half" idx="2"/>
          </p:nvPr>
        </p:nvSpPr>
        <p:spPr/>
        <p:txBody>
          <a:bodyPr wrap="square">
            <a:noAutofit/>
          </a:bodyPr>
          <a:lstStyle/>
          <a:p>
            <a:pPr>
              <a:buNone/>
            </a:pPr>
            <a:r>
              <a:rPr sz="1600" b="0" i="0" u="none"/>
              <a:t>3. Ask AI to generate missing tests</a:t>
            </a:r>
            <a:endParaRPr sz="1600" b="0" i="0">
              <a:latin typeface="Arial"/>
            </a:endParaRPr>
          </a:p>
          <a:p>
            <a:pPr lvl="1">
              <a:buNone/>
            </a:pPr>
            <a:r>
              <a:rPr sz="1600" b="0" i="0" u="none"/>
              <a:t>  4. Run linting and architectural checks</a:t>
            </a:r>
            <a:endParaRPr sz="1600" b="0" i="0">
              <a:latin typeface="Arial"/>
            </a:endParaRPr>
          </a:p>
          <a:p>
            <a:pPr lvl="1">
              <a:buNone/>
            </a:pPr>
            <a:r>
              <a:rPr sz="1600" b="0" i="0" u="none"/>
              <a:t>  5. Propose quality gates to enforce improvements</a:t>
            </a:r>
            <a:endParaRPr sz="1600" b="0" i="0">
              <a:latin typeface="Arial"/>
            </a:endParaRPr>
          </a:p>
          <a:p>
            <a:pPr lvl="1">
              <a:buNone/>
            </a:pPr>
            <a:r>
              <a:rPr sz="1600" b="0" i="0" u="none"/>
              <a:t>  6. Add provenance metadata to all new artifacts</a:t>
            </a:r>
            <a:endParaRPr sz="1600" b="0" i="0">
              <a:latin typeface="Arial"/>
            </a:endParaRPr>
          </a:p>
          <a:p>
            <a:pPr>
              <a:buNone/>
            </a:pPr>
            <a:endParaRPr sz="1600" b="0" i="0">
              <a:latin typeface="Arial"/>
            </a:endParaRPr>
          </a:p>
          <a:p>
            <a:pPr>
              <a:buNone/>
            </a:pPr>
            <a:r>
              <a:rPr sz="1600" b="0" i="0" u="none"/>
              <a:t>Success Criteria</a:t>
            </a:r>
            <a:endParaRPr sz="1600" b="0" i="0">
              <a:latin typeface="Arial"/>
            </a:endParaRPr>
          </a:p>
          <a:p>
            <a:pPr lvl="1"/>
            <a:r>
              <a:rPr sz="1600" b="0" i="0" u="none"/>
              <a:t>Coverage gaps are identified and addressed</a:t>
            </a:r>
            <a:endParaRPr sz="1600" b="0" i="0">
              <a:latin typeface="Arial"/>
            </a:endParaRPr>
          </a:p>
          <a:p>
            <a:pPr lvl="1"/>
            <a:r>
              <a:rPr sz="1600" b="0" i="0" u="none"/>
              <a:t>AI-generated tests are validated and correct</a:t>
            </a:r>
            <a:endParaRPr sz="1600" b="0" i="0">
              <a:latin typeface="Arial"/>
            </a:endParaRPr>
          </a:p>
          <a:p>
            <a:pPr lvl="1"/>
            <a:r>
              <a:rPr sz="1600" b="0" i="0" u="none"/>
              <a:t>Linting and architectural issues are resolved</a:t>
            </a:r>
            <a:endParaRPr sz="1600" b="0" i="0">
              <a:latin typeface="Arial"/>
            </a:endParaRPr>
          </a:p>
          <a:p>
            <a:pPr lvl="1"/>
            <a:r>
              <a:rPr sz="1600" b="0" i="0" u="none"/>
              <a:t>Proposed quality gates are actionable and safe</a:t>
            </a:r>
            <a:endParaRPr sz="1600" b="0" i="0">
              <a:latin typeface="Arial"/>
            </a:endParaRPr>
          </a:p>
          <a:p>
            <a:pPr lvl="1"/>
            <a:r>
              <a:rPr sz="1600" b="0" i="0" u="none"/>
              <a:t>Provenance metadata is included</a:t>
            </a:r>
            <a:endParaRPr sz="1600" b="0" i="0">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000"/>
              <a:t>Creating Robust Testing Frameworks</a:t>
            </a:r>
          </a:p>
        </p:txBody>
      </p:sp>
      <p:sp>
        <p:nvSpPr>
          <p:cNvPr id="3" name="Subtitle 2"/>
          <p:cNvSpPr>
            <a:spLocks noGrp="1"/>
          </p:cNvSpPr>
          <p:nvPr>
            <p:ph type="subTitle" idx="1"/>
          </p:nvPr>
        </p:nvSpPr>
        <p:spPr/>
        <p:txBody>
          <a:bodyPr wrap="square">
            <a:normAutofit/>
          </a:bodyPr>
          <a:lstStyle/>
          <a:p>
            <a:pPr>
              <a:buNone/>
            </a:pPr>
            <a:r>
              <a:rPr b="0" i="0" u="none"/>
              <a:t>Tests So Comprehensive Even You'd Be Impressed</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50"/>
              <a:t>Generating Comprehensive Test Suites</a:t>
            </a:r>
          </a:p>
        </p:txBody>
      </p:sp>
      <p:sp>
        <p:nvSpPr>
          <p:cNvPr id="3" name="Content Placeholder 2"/>
          <p:cNvSpPr>
            <a:spLocks noGrp="1"/>
          </p:cNvSpPr>
          <p:nvPr>
            <p:ph idx="1"/>
          </p:nvPr>
        </p:nvSpPr>
        <p:spPr/>
        <p:txBody>
          <a:bodyPr wrap="square">
            <a:noAutofit/>
          </a:bodyPr>
          <a:lstStyle/>
          <a:p>
            <a:pPr>
              <a:buNone/>
            </a:pPr>
            <a:r>
              <a:rPr sz="2050" b="0" i="0" u="none"/>
              <a:t>AI can help generate:</a:t>
            </a:r>
            <a:endParaRPr sz="2050" b="0" i="0">
              <a:latin typeface="Arial"/>
            </a:endParaRPr>
          </a:p>
          <a:p>
            <a:pPr lvl="1"/>
            <a:r>
              <a:rPr sz="2050" b="0" i="0" u="none"/>
              <a:t>Unit tests</a:t>
            </a:r>
            <a:endParaRPr sz="2050" b="0" i="0">
              <a:latin typeface="Arial"/>
            </a:endParaRPr>
          </a:p>
          <a:p>
            <a:pPr lvl="1"/>
            <a:r>
              <a:rPr sz="2050" b="0" i="0" u="none"/>
              <a:t>Integration tests</a:t>
            </a:r>
            <a:endParaRPr sz="2050" b="0" i="0">
              <a:latin typeface="Arial"/>
            </a:endParaRPr>
          </a:p>
          <a:p>
            <a:pPr lvl="1"/>
            <a:r>
              <a:rPr sz="2050" b="0" i="0" u="none"/>
              <a:t>End-to-end tests</a:t>
            </a:r>
            <a:endParaRPr sz="2050" b="0" i="0">
              <a:latin typeface="Arial"/>
            </a:endParaRPr>
          </a:p>
          <a:p>
            <a:pPr lvl="1"/>
            <a:r>
              <a:rPr sz="2050" b="0" i="0" u="none"/>
              <a:t>Snapshot and contract tests</a:t>
            </a:r>
            <a:endParaRPr sz="2050" b="0" i="0">
              <a:latin typeface="Arial"/>
            </a:endParaRPr>
          </a:p>
          <a:p>
            <a:pPr lvl="1"/>
            <a:r>
              <a:rPr sz="2050" b="0" i="0" u="none"/>
              <a:t>Edge-case and regression tests</a:t>
            </a:r>
            <a:endParaRPr sz="2050" b="0" i="0">
              <a:latin typeface="Arial"/>
            </a:endParaRPr>
          </a:p>
          <a:p>
            <a:pPr>
              <a:buNone/>
            </a:pPr>
            <a:endParaRPr sz="2050" b="0" i="0">
              <a:latin typeface="Arial"/>
            </a:endParaRPr>
          </a:p>
          <a:p>
            <a:pPr>
              <a:buNone/>
            </a:pPr>
            <a:r>
              <a:rPr sz="2050" b="0" i="0" u="none"/>
              <a:t>Benefits</a:t>
            </a:r>
            <a:endParaRPr sz="2050" b="0" i="0">
              <a:latin typeface="Arial"/>
            </a:endParaRPr>
          </a:p>
          <a:p>
            <a:pPr lvl="1"/>
            <a:r>
              <a:rPr sz="2050" b="0" i="0" u="none"/>
              <a:t>Faster coverage expansion</a:t>
            </a:r>
            <a:endParaRPr sz="2050" b="0" i="0">
              <a:latin typeface="Arial"/>
            </a:endParaRPr>
          </a:p>
          <a:p>
            <a:pPr lvl="1"/>
            <a:r>
              <a:rPr sz="2050" b="0" i="0" u="none"/>
              <a:t>Consistent test structure</a:t>
            </a:r>
            <a:endParaRPr sz="2050" b="0" i="0">
              <a:latin typeface="Arial"/>
            </a:endParaRPr>
          </a:p>
          <a:p>
            <a:pPr lvl="1"/>
            <a:r>
              <a:rPr sz="2050" b="0" i="0" u="none"/>
              <a:t>Reduced onboarding time</a:t>
            </a:r>
            <a:endParaRPr sz="2050" b="0" i="0">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250"/>
              <a:t>Managing Test Suites Over Time</a:t>
            </a:r>
          </a:p>
        </p:txBody>
      </p:sp>
      <p:sp>
        <p:nvSpPr>
          <p:cNvPr id="3" name="Content Placeholder 2"/>
          <p:cNvSpPr>
            <a:spLocks noGrp="1"/>
          </p:cNvSpPr>
          <p:nvPr>
            <p:ph idx="1"/>
          </p:nvPr>
        </p:nvSpPr>
        <p:spPr/>
        <p:txBody>
          <a:bodyPr wrap="square">
            <a:normAutofit/>
          </a:bodyPr>
          <a:lstStyle/>
          <a:p>
            <a:pPr>
              <a:buNone/>
            </a:pPr>
            <a:r>
              <a:rPr sz="2800" b="0" i="0" u="none"/>
              <a:t>Key Practices</a:t>
            </a:r>
            <a:endParaRPr sz="2800" b="0" i="0">
              <a:latin typeface="Arial"/>
            </a:endParaRPr>
          </a:p>
          <a:p>
            <a:pPr lvl="1"/>
            <a:r>
              <a:rPr sz="2800" b="0" i="0" u="none"/>
              <a:t>Regularly prune obsolete tests</a:t>
            </a:r>
            <a:endParaRPr sz="2800" b="0" i="0">
              <a:latin typeface="Arial"/>
            </a:endParaRPr>
          </a:p>
          <a:p>
            <a:pPr lvl="1"/>
            <a:r>
              <a:rPr sz="2800" b="0" i="0" u="none"/>
              <a:t>Update tests alongside code changes</a:t>
            </a:r>
            <a:endParaRPr sz="2800" b="0" i="0">
              <a:latin typeface="Arial"/>
            </a:endParaRPr>
          </a:p>
          <a:p>
            <a:pPr lvl="1"/>
            <a:r>
              <a:rPr sz="2800" b="0" i="0" u="none"/>
              <a:t>Maintain clear naming and structure</a:t>
            </a:r>
            <a:endParaRPr sz="2800" b="0" i="0">
              <a:latin typeface="Arial"/>
            </a:endParaRPr>
          </a:p>
          <a:p>
            <a:pPr lvl="1"/>
            <a:r>
              <a:rPr sz="2800" b="0" i="0" u="none"/>
              <a:t>Use coverage reports to guide improvements</a:t>
            </a:r>
            <a:endParaRPr sz="2800" b="0" i="0">
              <a:latin typeface="Arial"/>
            </a:endParaRPr>
          </a:p>
          <a:p>
            <a:pPr lvl="1"/>
            <a:r>
              <a:rPr sz="2800" b="0" i="0" u="none"/>
              <a:t>Version-control test strategy documents</a:t>
            </a:r>
            <a:endParaRPr sz="2800" b="0" i="0">
              <a:latin typeface="Aria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900"/>
              <a:t>Test Review &amp; Validation Strategies</a:t>
            </a:r>
          </a:p>
        </p:txBody>
      </p:sp>
      <p:sp>
        <p:nvSpPr>
          <p:cNvPr id="3" name="Content Placeholder 2"/>
          <p:cNvSpPr>
            <a:spLocks noGrp="1"/>
          </p:cNvSpPr>
          <p:nvPr>
            <p:ph idx="1"/>
          </p:nvPr>
        </p:nvSpPr>
        <p:spPr/>
        <p:txBody>
          <a:bodyPr wrap="square">
            <a:noAutofit/>
          </a:bodyPr>
          <a:lstStyle/>
          <a:p>
            <a:pPr>
              <a:buNone/>
            </a:pPr>
            <a:r>
              <a:rPr sz="2300" b="0" i="0" u="none"/>
              <a:t>AI-assisted review can:</a:t>
            </a:r>
            <a:endParaRPr sz="2300" b="0" i="0">
              <a:latin typeface="Arial"/>
            </a:endParaRPr>
          </a:p>
          <a:p>
            <a:pPr lvl="1"/>
            <a:r>
              <a:rPr sz="2300" b="0" i="0" u="none"/>
              <a:t>Detect missing assertions</a:t>
            </a:r>
            <a:endParaRPr sz="2300" b="0" i="0">
              <a:latin typeface="Arial"/>
            </a:endParaRPr>
          </a:p>
          <a:p>
            <a:pPr lvl="1"/>
            <a:r>
              <a:rPr sz="2300" b="0" i="0" u="none"/>
              <a:t>Identify redundant tests</a:t>
            </a:r>
            <a:endParaRPr sz="2300" b="0" i="0">
              <a:latin typeface="Arial"/>
            </a:endParaRPr>
          </a:p>
          <a:p>
            <a:pPr lvl="1"/>
            <a:r>
              <a:rPr sz="2300" b="0" i="0" u="none"/>
              <a:t>Suggest edge cases</a:t>
            </a:r>
            <a:endParaRPr sz="2300" b="0" i="0">
              <a:latin typeface="Arial"/>
            </a:endParaRPr>
          </a:p>
          <a:p>
            <a:pPr lvl="1"/>
            <a:r>
              <a:rPr sz="2300" b="0" i="0" u="none"/>
              <a:t>Flag inconsistent patterns</a:t>
            </a:r>
            <a:endParaRPr sz="2300" b="0" i="0">
              <a:latin typeface="Arial"/>
            </a:endParaRPr>
          </a:p>
          <a:p>
            <a:pPr>
              <a:buNone/>
            </a:pPr>
            <a:endParaRPr sz="2300" b="0" i="0">
              <a:latin typeface="Arial"/>
            </a:endParaRPr>
          </a:p>
          <a:p>
            <a:pPr>
              <a:buNone/>
            </a:pPr>
            <a:r>
              <a:rPr sz="2300" b="0" i="0" u="none"/>
              <a:t>Human reviewers focus on:</a:t>
            </a:r>
            <a:endParaRPr sz="2300" b="0" i="0">
              <a:latin typeface="Arial"/>
            </a:endParaRPr>
          </a:p>
          <a:p>
            <a:pPr lvl="1"/>
            <a:r>
              <a:rPr sz="2300" b="0" i="0" u="none"/>
              <a:t>Intent correctness</a:t>
            </a:r>
            <a:endParaRPr sz="2300" b="0" i="0">
              <a:latin typeface="Arial"/>
            </a:endParaRPr>
          </a:p>
          <a:p>
            <a:pPr lvl="1"/>
            <a:r>
              <a:rPr sz="2300" b="0" i="0" u="none"/>
              <a:t>Business logic validation</a:t>
            </a:r>
            <a:endParaRPr sz="2300" b="0" i="0">
              <a:latin typeface="Arial"/>
            </a:endParaRPr>
          </a:p>
          <a:p>
            <a:pPr lvl="1"/>
            <a:r>
              <a:rPr sz="2300" b="0" i="0" u="none"/>
              <a:t>Architectural alignment</a:t>
            </a:r>
            <a:endParaRPr sz="2300" b="0" i="0">
              <a:latin typeface="Arial"/>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000"/>
              <a:t>Balancing Test Coverage with Maintainability</a:t>
            </a:r>
          </a:p>
        </p:txBody>
      </p:sp>
      <p:sp>
        <p:nvSpPr>
          <p:cNvPr id="3" name="Content Placeholder 2"/>
          <p:cNvSpPr>
            <a:spLocks noGrp="1"/>
          </p:cNvSpPr>
          <p:nvPr>
            <p:ph idx="1"/>
          </p:nvPr>
        </p:nvSpPr>
        <p:spPr/>
        <p:txBody>
          <a:bodyPr wrap="square">
            <a:normAutofit/>
          </a:bodyPr>
          <a:lstStyle/>
          <a:p>
            <a:pPr>
              <a:buNone/>
            </a:pPr>
            <a:r>
              <a:rPr sz="2800" b="0" i="0" u="none"/>
              <a:t>Principles</a:t>
            </a:r>
            <a:endParaRPr sz="2800" b="0" i="0">
              <a:latin typeface="Arial"/>
            </a:endParaRPr>
          </a:p>
          <a:p>
            <a:pPr lvl="1"/>
            <a:r>
              <a:rPr sz="2800" b="0" i="0" u="none"/>
              <a:t>Aim for meaningful coverage, not maximal coverage</a:t>
            </a:r>
            <a:endParaRPr sz="2800" b="0" i="0">
              <a:latin typeface="Arial"/>
            </a:endParaRPr>
          </a:p>
          <a:p>
            <a:pPr lvl="1"/>
            <a:r>
              <a:rPr sz="2800" b="0" i="0" u="none"/>
              <a:t>Prioritize high-risk and high-change areas</a:t>
            </a:r>
            <a:endParaRPr sz="2800" b="0" i="0">
              <a:latin typeface="Arial"/>
            </a:endParaRPr>
          </a:p>
          <a:p>
            <a:pPr lvl="1"/>
            <a:r>
              <a:rPr sz="2800" b="0" i="0" u="none"/>
              <a:t>Avoid over-testing implementation details</a:t>
            </a:r>
            <a:endParaRPr sz="2800" b="0" i="0">
              <a:latin typeface="Arial"/>
            </a:endParaRPr>
          </a:p>
          <a:p>
            <a:pPr lvl="1"/>
            <a:r>
              <a:rPr sz="2800" b="0" i="0" u="none"/>
              <a:t>Keep tests readable and maintainable</a:t>
            </a:r>
            <a:endParaRPr sz="2800" b="0" i="0">
              <a:latin typeface="Arial"/>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2800"/>
              <a:t>Exercise: Strengthening Your Testing Framework</a:t>
            </a:r>
          </a:p>
        </p:txBody>
      </p:sp>
      <p:sp>
        <p:nvSpPr>
          <p:cNvPr id="3" name="Content Placeholder 2"/>
          <p:cNvSpPr>
            <a:spLocks noGrp="1"/>
          </p:cNvSpPr>
          <p:nvPr>
            <p:ph sz="half" idx="1"/>
          </p:nvPr>
        </p:nvSpPr>
        <p:spPr/>
        <p:txBody>
          <a:bodyPr wrap="square">
            <a:noAutofit/>
          </a:bodyPr>
          <a:lstStyle/>
          <a:p>
            <a:pPr>
              <a:buNone/>
            </a:pPr>
            <a:r>
              <a:rPr sz="1750" b="0" i="0" u="none"/>
              <a:t>Objectives</a:t>
            </a:r>
            <a:endParaRPr sz="1750" b="0" i="0">
              <a:latin typeface="Arial"/>
            </a:endParaRPr>
          </a:p>
          <a:p>
            <a:pPr lvl="1"/>
            <a:r>
              <a:rPr sz="1750" b="0" i="0" u="none"/>
              <a:t>Identify gaps in an existing test suite</a:t>
            </a:r>
            <a:endParaRPr sz="1750" b="0" i="0">
              <a:latin typeface="Arial"/>
            </a:endParaRPr>
          </a:p>
          <a:p>
            <a:pPr lvl="1"/>
            <a:r>
              <a:rPr sz="1750" b="0" i="0" u="none"/>
              <a:t>Use AI to generate missing tests</a:t>
            </a:r>
            <a:endParaRPr sz="1750" b="0" i="0">
              <a:latin typeface="Arial"/>
            </a:endParaRPr>
          </a:p>
          <a:p>
            <a:pPr lvl="1"/>
            <a:r>
              <a:rPr sz="1750" b="0" i="0" u="none"/>
              <a:t>Improve maintainability and structure</a:t>
            </a:r>
            <a:endParaRPr sz="1750" b="0" i="0">
              <a:latin typeface="Arial"/>
            </a:endParaRPr>
          </a:p>
          <a:p>
            <a:pPr lvl="1"/>
            <a:r>
              <a:rPr sz="1750" b="0" i="0" u="none"/>
              <a:t>Validate tests for correctness and intent</a:t>
            </a:r>
            <a:endParaRPr sz="1750" b="0" i="0">
              <a:latin typeface="Arial"/>
            </a:endParaRPr>
          </a:p>
          <a:p>
            <a:pPr>
              <a:buNone/>
            </a:pPr>
            <a:endParaRPr sz="1750" b="0" i="0">
              <a:latin typeface="Arial"/>
            </a:endParaRPr>
          </a:p>
          <a:p>
            <a:pPr>
              <a:buNone/>
            </a:pPr>
            <a:r>
              <a:rPr sz="1750" b="0" i="0" u="none"/>
              <a:t>Activities</a:t>
            </a:r>
            <a:endParaRPr sz="1750" b="0" i="0">
              <a:latin typeface="Arial"/>
            </a:endParaRPr>
          </a:p>
          <a:p>
            <a:pPr lvl="1">
              <a:buNone/>
            </a:pPr>
            <a:r>
              <a:rPr sz="1750" b="0" i="0" u="none"/>
              <a:t>  1. Select a brownfield module or function.</a:t>
            </a:r>
            <a:endParaRPr sz="1750" b="0" i="0">
              <a:latin typeface="Arial"/>
            </a:endParaRPr>
          </a:p>
          <a:p>
            <a:pPr lvl="1">
              <a:buNone/>
            </a:pPr>
            <a:r>
              <a:rPr sz="1750" b="0" i="0" u="none"/>
              <a:t>  2. Review existing tests for:</a:t>
            </a:r>
            <a:endParaRPr sz="1750" b="0" i="0">
              <a:latin typeface="Arial"/>
            </a:endParaRPr>
          </a:p>
          <a:p>
            <a:pPr lvl="2"/>
            <a:r>
              <a:rPr sz="1750" b="0" i="0" u="none"/>
              <a:t>Coverage gaps</a:t>
            </a:r>
            <a:endParaRPr sz="1750" b="0" i="0">
              <a:latin typeface="Arial"/>
            </a:endParaRPr>
          </a:p>
          <a:p>
            <a:pPr lvl="2"/>
            <a:r>
              <a:rPr sz="1750" b="0" i="0" u="none"/>
              <a:t>Redundant or brittle tests</a:t>
            </a:r>
            <a:endParaRPr sz="1750" b="0" i="0">
              <a:latin typeface="Arial"/>
            </a:endParaRPr>
          </a:p>
          <a:p>
            <a:pPr lvl="2"/>
            <a:r>
              <a:rPr sz="1750" b="0" i="0" u="none"/>
              <a:t>Missing edge cases</a:t>
            </a:r>
            <a:endParaRPr sz="1750" b="0" i="0">
              <a:latin typeface="Arial"/>
            </a:endParaRPr>
          </a:p>
        </p:txBody>
      </p:sp>
      <p:sp>
        <p:nvSpPr>
          <p:cNvPr id="4" name="Content Placeholder 3"/>
          <p:cNvSpPr>
            <a:spLocks noGrp="1"/>
          </p:cNvSpPr>
          <p:nvPr>
            <p:ph sz="half" idx="2"/>
          </p:nvPr>
        </p:nvSpPr>
        <p:spPr/>
        <p:txBody>
          <a:bodyPr wrap="square">
            <a:noAutofit/>
          </a:bodyPr>
          <a:lstStyle/>
          <a:p>
            <a:pPr>
              <a:buNone/>
            </a:pPr>
            <a:r>
              <a:rPr sz="1550" b="0" i="0" u="none"/>
              <a:t>3.  Ask AI to generate missing tests.</a:t>
            </a:r>
            <a:endParaRPr sz="1550" b="0" i="0">
              <a:latin typeface="Arial"/>
            </a:endParaRPr>
          </a:p>
          <a:p>
            <a:pPr lvl="2"/>
            <a:r>
              <a:rPr sz="1550" b="0" i="0" u="none"/>
              <a:t>Validate AI-generated tests for correctness.</a:t>
            </a:r>
            <a:endParaRPr sz="1550" b="0" i="0">
              <a:latin typeface="Arial"/>
            </a:endParaRPr>
          </a:p>
          <a:p>
            <a:pPr lvl="2"/>
            <a:r>
              <a:rPr sz="1550" b="0" i="0" u="none"/>
              <a:t>Refactor or reorganize tests for clarity.</a:t>
            </a:r>
            <a:endParaRPr sz="1550" b="0" i="0">
              <a:latin typeface="Arial"/>
            </a:endParaRPr>
          </a:p>
          <a:p>
            <a:pPr lvl="2"/>
            <a:r>
              <a:rPr sz="1550" b="0" i="0" u="none"/>
              <a:t>Add provenance metadata to all new tests.</a:t>
            </a:r>
            <a:endParaRPr sz="1550" b="0" i="0">
              <a:latin typeface="Arial"/>
            </a:endParaRPr>
          </a:p>
          <a:p>
            <a:pPr>
              <a:buNone/>
            </a:pPr>
            <a:endParaRPr sz="1550" b="0" i="0">
              <a:latin typeface="Arial"/>
            </a:endParaRPr>
          </a:p>
          <a:p>
            <a:pPr>
              <a:buNone/>
            </a:pPr>
            <a:r>
              <a:rPr sz="1550" b="0" i="0" u="none"/>
              <a:t>Success Criteria</a:t>
            </a:r>
            <a:endParaRPr sz="1550" b="0" i="0">
              <a:latin typeface="Arial"/>
            </a:endParaRPr>
          </a:p>
          <a:p>
            <a:pPr lvl="2"/>
            <a:r>
              <a:rPr sz="1550" b="0" i="0" u="none"/>
              <a:t>Coverage gaps are identified and addressed</a:t>
            </a:r>
            <a:endParaRPr sz="1550" b="0" i="0">
              <a:latin typeface="Arial"/>
            </a:endParaRPr>
          </a:p>
          <a:p>
            <a:pPr lvl="2"/>
            <a:r>
              <a:rPr sz="1550" b="0" i="0" u="none"/>
              <a:t>AI-generated tests are validated and correct</a:t>
            </a:r>
            <a:endParaRPr sz="1550" b="0" i="0">
              <a:latin typeface="Arial"/>
            </a:endParaRPr>
          </a:p>
          <a:p>
            <a:pPr lvl="2"/>
            <a:r>
              <a:rPr sz="1550" b="0" i="0" u="none"/>
              <a:t>Test suite readability and structure improve</a:t>
            </a:r>
            <a:endParaRPr sz="1550" b="0" i="0">
              <a:latin typeface="Arial"/>
            </a:endParaRPr>
          </a:p>
          <a:p>
            <a:pPr lvl="2"/>
            <a:r>
              <a:rPr sz="1550" b="0" i="0" u="none"/>
              <a:t>Provenance metadata is included</a:t>
            </a:r>
            <a:endParaRPr sz="1550" b="0" i="0">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Feature Flags and Test Suites</a:t>
            </a:r>
          </a:p>
        </p:txBody>
      </p:sp>
      <p:sp>
        <p:nvSpPr>
          <p:cNvPr id="3" name="Subtitle 2"/>
          <p:cNvSpPr>
            <a:spLocks noGrp="1"/>
          </p:cNvSpPr>
          <p:nvPr>
            <p:ph type="subTitle" idx="1"/>
          </p:nvPr>
        </p:nvSpPr>
        <p:spPr/>
        <p:txBody>
          <a:bodyPr wrap="square">
            <a:normAutofit/>
          </a:bodyPr>
          <a:lstStyle/>
          <a:p>
            <a:pPr>
              <a:buNone/>
            </a:pPr>
            <a:r>
              <a:rPr b="0" i="0" u="none"/>
              <a:t>Ship It Behind a Flag and Pretend It's Not There Yet</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Feature Flags &amp; Test Suites</a:t>
            </a:r>
          </a:p>
        </p:txBody>
      </p:sp>
      <p:sp>
        <p:nvSpPr>
          <p:cNvPr id="3" name="Content Placeholder 2"/>
          <p:cNvSpPr>
            <a:spLocks noGrp="1"/>
          </p:cNvSpPr>
          <p:nvPr>
            <p:ph idx="1"/>
          </p:nvPr>
        </p:nvSpPr>
        <p:spPr/>
        <p:txBody>
          <a:bodyPr wrap="square">
            <a:normAutofit/>
          </a:bodyPr>
          <a:lstStyle/>
          <a:p>
            <a:pPr>
              <a:buNone/>
            </a:pPr>
            <a:r>
              <a:rPr sz="2800" b="0" i="0" u="none"/>
              <a:t>Safe deployment strategies for brownfield modernization</a:t>
            </a:r>
            <a:endParaRPr sz="2800" b="0" i="0">
              <a:latin typeface="Arial"/>
            </a:endParaRPr>
          </a:p>
          <a:p>
            <a:pPr lvl="1"/>
            <a:r>
              <a:rPr sz="2800" b="0" i="0" u="none"/>
              <a:t>Feature flags for managing work-in-progress</a:t>
            </a:r>
            <a:endParaRPr sz="2800" b="0" i="0">
              <a:latin typeface="Arial"/>
            </a:endParaRPr>
          </a:p>
          <a:p>
            <a:pPr lvl="1"/>
            <a:r>
              <a:rPr sz="2800" b="0" i="0" u="none"/>
              <a:t>As-Is vs. To-Be test suites</a:t>
            </a:r>
            <a:endParaRPr sz="2800" b="0" i="0">
              <a:latin typeface="Arial"/>
            </a:endParaRPr>
          </a:p>
          <a:p>
            <a:pPr lvl="1"/>
            <a:r>
              <a:rPr sz="2800" b="0" i="0" u="none"/>
              <a:t>Retiring flags with AI assistance</a:t>
            </a:r>
            <a:endParaRPr sz="2800" b="0" i="0">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As-Is Test Suites — Purpose</a:t>
            </a:r>
          </a:p>
        </p:txBody>
      </p:sp>
      <p:sp>
        <p:nvSpPr>
          <p:cNvPr id="3" name="Content Placeholder 2"/>
          <p:cNvSpPr>
            <a:spLocks noGrp="1"/>
          </p:cNvSpPr>
          <p:nvPr>
            <p:ph idx="1"/>
          </p:nvPr>
        </p:nvSpPr>
        <p:spPr/>
        <p:txBody>
          <a:bodyPr wrap="square">
            <a:normAutofit/>
          </a:bodyPr>
          <a:lstStyle/>
          <a:p>
            <a:pPr>
              <a:buNone/>
            </a:pPr>
            <a:r>
              <a:rPr sz="2800" b="0" i="0" u="none"/>
              <a:t>Capture what your system does right now</a:t>
            </a:r>
            <a:endParaRPr sz="2800" b="0" i="0">
              <a:latin typeface="Arial"/>
            </a:endParaRPr>
          </a:p>
          <a:p>
            <a:pPr>
              <a:buNone/>
            </a:pPr>
            <a:endParaRPr sz="2800" b="0" i="0">
              <a:latin typeface="Arial"/>
            </a:endParaRPr>
          </a:p>
          <a:p>
            <a:r>
              <a:rPr sz="2800" b="0" i="0" u="none"/>
              <a:t>Freeze current behavior — tests describe production</a:t>
            </a:r>
            <a:endParaRPr sz="2800" b="0" i="0">
              <a:latin typeface="Arial"/>
            </a:endParaRPr>
          </a:p>
          <a:p>
            <a:r>
              <a:rPr sz="2800" b="0" i="0" u="none"/>
              <a:t>Protect against regressions — know when something breaks</a:t>
            </a:r>
            <a:endParaRPr sz="2800" b="0" i="0">
              <a:latin typeface="Arial"/>
            </a:endParaRPr>
          </a:p>
          <a:p>
            <a:r>
              <a:rPr sz="2800" b="0" i="0" u="none"/>
              <a:t>Document expectations — living spec of legacy behavior</a:t>
            </a:r>
            <a:endParaRPr sz="2800" b="0" i="0">
              <a:latin typeface="Arial"/>
            </a:endParaRPr>
          </a:p>
          <a:p>
            <a:r>
              <a:rPr sz="2800" b="0" i="0" u="none"/>
              <a:t>Production gate — go to production anytime As-Is tests pass</a:t>
            </a:r>
            <a:endParaRPr sz="2800" b="0" i="0">
              <a:latin typeface="Aria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00"/>
              <a:t>As-Is Test Suites — Building Confidence</a:t>
            </a:r>
          </a:p>
        </p:txBody>
      </p:sp>
      <p:sp>
        <p:nvSpPr>
          <p:cNvPr id="3" name="Content Placeholder 2"/>
          <p:cNvSpPr>
            <a:spLocks noGrp="1"/>
          </p:cNvSpPr>
          <p:nvPr>
            <p:ph idx="1"/>
          </p:nvPr>
        </p:nvSpPr>
        <p:spPr/>
        <p:txBody>
          <a:bodyPr wrap="square">
            <a:normAutofit/>
          </a:bodyPr>
          <a:lstStyle/>
          <a:p>
            <a:pPr>
              <a:buNone/>
            </a:pPr>
            <a:r>
              <a:rPr sz="2800" b="0" i="0" u="none"/>
              <a:t>Grow coverage incrementally before making changes</a:t>
            </a:r>
            <a:endParaRPr sz="2800" b="0" i="0">
              <a:latin typeface="Arial"/>
            </a:endParaRPr>
          </a:p>
          <a:p>
            <a:pPr>
              <a:buNone/>
            </a:pPr>
            <a:endParaRPr sz="2800" b="0" i="0">
              <a:latin typeface="Arial"/>
            </a:endParaRPr>
          </a:p>
          <a:p>
            <a:r>
              <a:rPr sz="2800" b="0" i="0" u="none"/>
              <a:t>Add tests before modifying code</a:t>
            </a:r>
            <a:endParaRPr sz="2800" b="0" i="0">
              <a:latin typeface="Arial"/>
            </a:endParaRPr>
          </a:p>
          <a:p>
            <a:r>
              <a:rPr sz="2800" b="0" i="0" u="none"/>
              <a:t>Increase coverage as changes are identified</a:t>
            </a:r>
            <a:endParaRPr sz="2800" b="0" i="0">
              <a:latin typeface="Arial"/>
            </a:endParaRPr>
          </a:p>
          <a:p>
            <a:r>
              <a:rPr sz="2800" b="0" i="0" u="none"/>
              <a:t>Build trust in the suite over time</a:t>
            </a:r>
            <a:endParaRPr sz="2800" b="0" i="0">
              <a:latin typeface="Arial"/>
            </a:endParaRPr>
          </a:p>
          <a:p>
            <a:r>
              <a:rPr sz="2800" b="0" i="0" u="none"/>
              <a:t>New implementations hidden behind feature flags</a:t>
            </a:r>
            <a:endParaRPr sz="2800" b="0" i="0">
              <a:latin typeface="Arial"/>
            </a:endParaRPr>
          </a:p>
          <a:p>
            <a:r>
              <a:rPr sz="2800" b="0" i="0" u="none"/>
              <a:t>Compiled code + passing As-Is tests = high confidence</a:t>
            </a:r>
            <a:endParaRPr sz="2800" b="0" i="0">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250"/>
              <a:t>As-Is Test Suites — Critical Rules</a:t>
            </a:r>
          </a:p>
        </p:txBody>
      </p:sp>
      <p:graphicFrame>
        <p:nvGraphicFramePr>
          <p:cNvPr id="3" name="Table 2"/>
          <p:cNvGraphicFramePr>
            <a:graphicFrameLocks noGrp="1"/>
          </p:cNvGraphicFramePr>
          <p:nvPr>
            <p:extLst>
              <p:ext uri="{D42A27DB-BD31-4B8C-83A1-F6EECF244321}">
                <p14:modId xmlns:p14="http://schemas.microsoft.com/office/powerpoint/2010/main" val="3272354503"/>
              </p:ext>
            </p:extLst>
          </p:nvPr>
        </p:nvGraphicFramePr>
        <p:xfrm>
          <a:off x="457200" y="1828800"/>
          <a:ext cx="11291104" cy="1828800"/>
        </p:xfrm>
        <a:graphic>
          <a:graphicData uri="http://schemas.openxmlformats.org/drawingml/2006/table">
            <a:tbl>
              <a:tblPr firstRow="1" bandRow="1">
                <a:tableStyleId>{5C22544A-7EE6-4342-B048-85BDC9FD1C3A}</a:tableStyleId>
              </a:tblPr>
              <a:tblGrid>
                <a:gridCol w="5645552">
                  <a:extLst>
                    <a:ext uri="{9D8B030D-6E8A-4147-A177-3AD203B41FA5}">
                      <a16:colId xmlns:a16="http://schemas.microsoft.com/office/drawing/2014/main" val="20000"/>
                    </a:ext>
                  </a:extLst>
                </a:gridCol>
                <a:gridCol w="5645552">
                  <a:extLst>
                    <a:ext uri="{9D8B030D-6E8A-4147-A177-3AD203B41FA5}">
                      <a16:colId xmlns:a16="http://schemas.microsoft.com/office/drawing/2014/main" val="20001"/>
                    </a:ext>
                  </a:extLst>
                </a:gridCol>
              </a:tblGrid>
              <a:tr h="457200">
                <a:tc>
                  <a:txBody>
                    <a:bodyPr/>
                    <a:lstStyle/>
                    <a:p>
                      <a:pPr>
                        <a:buNone/>
                        <a:defRPr sz="1600" b="1">
                          <a:solidFill>
                            <a:schemeClr val="bg1"/>
                          </a:solidFill>
                        </a:defRPr>
                      </a:pPr>
                      <a:r>
                        <a:rPr sz="1600" b="0" i="0" u="none"/>
                        <a:t>Rule</a:t>
                      </a:r>
                    </a:p>
                  </a:txBody>
                  <a:tcPr>
                    <a:solidFill>
                      <a:schemeClr val="accent4"/>
                    </a:solidFill>
                  </a:tcPr>
                </a:tc>
                <a:tc>
                  <a:txBody>
                    <a:bodyPr/>
                    <a:lstStyle/>
                    <a:p>
                      <a:pPr>
                        <a:buNone/>
                        <a:defRPr sz="1600" b="1">
                          <a:solidFill>
                            <a:schemeClr val="bg1"/>
                          </a:solidFill>
                        </a:defRPr>
                      </a:pPr>
                      <a:r>
                        <a:rPr sz="1600" b="0" i="0" u="none"/>
                        <a:t>Details</a:t>
                      </a:r>
                    </a:p>
                  </a:txBody>
                  <a:tcPr>
                    <a:solidFill>
                      <a:schemeClr val="accent4"/>
                    </a:solidFill>
                  </a:tcPr>
                </a:tc>
                <a:extLst>
                  <a:ext uri="{0D108BD9-81ED-4DB2-BD59-A6C34878D82A}">
                    <a16:rowId xmlns:a16="http://schemas.microsoft.com/office/drawing/2014/main" val="10000"/>
                  </a:ext>
                </a:extLst>
              </a:tr>
              <a:tr h="457200">
                <a:tc>
                  <a:txBody>
                    <a:bodyPr/>
                    <a:lstStyle/>
                    <a:p>
                      <a:pPr>
                        <a:buNone/>
                        <a:defRPr sz="1600" b="0">
                          <a:solidFill>
                            <a:schemeClr val="tx1"/>
                          </a:solidFill>
                        </a:defRPr>
                      </a:pPr>
                      <a:r>
                        <a:rPr sz="1600" b="1" i="0" u="none"/>
                        <a:t>Feature flag discipline</a:t>
                      </a:r>
                    </a:p>
                  </a:txBody>
                  <a:tcPr>
                    <a:solidFill>
                      <a:schemeClr val="accent4">
                        <a:lumMod val="20000"/>
                        <a:lumOff val="80000"/>
                      </a:schemeClr>
                    </a:solidFill>
                  </a:tcPr>
                </a:tc>
                <a:tc>
                  <a:txBody>
                    <a:bodyPr/>
                    <a:lstStyle/>
                    <a:p>
                      <a:pPr>
                        <a:buNone/>
                        <a:defRPr sz="1600" b="0">
                          <a:solidFill>
                            <a:schemeClr val="tx1"/>
                          </a:solidFill>
                        </a:defRPr>
                      </a:pPr>
                      <a:r>
                        <a:rPr sz="1600" b="0" i="0" u="none"/>
                        <a:t>All new code MUST be wrapped by flags</a:t>
                      </a:r>
                    </a:p>
                  </a:txBody>
                  <a:tcPr>
                    <a:solidFill>
                      <a:schemeClr val="accent4">
                        <a:lumMod val="20000"/>
                        <a:lumOff val="80000"/>
                      </a:schemeClr>
                    </a:solidFill>
                  </a:tcPr>
                </a:tc>
                <a:extLst>
                  <a:ext uri="{0D108BD9-81ED-4DB2-BD59-A6C34878D82A}">
                    <a16:rowId xmlns:a16="http://schemas.microsoft.com/office/drawing/2014/main" val="10001"/>
                  </a:ext>
                </a:extLst>
              </a:tr>
              <a:tr h="457200">
                <a:tc>
                  <a:txBody>
                    <a:bodyPr/>
                    <a:lstStyle/>
                    <a:p>
                      <a:pPr>
                        <a:buNone/>
                        <a:defRPr sz="1600" b="0">
                          <a:solidFill>
                            <a:schemeClr val="tx1"/>
                          </a:solidFill>
                        </a:defRPr>
                      </a:pPr>
                      <a:r>
                        <a:rPr sz="1600" b="1" i="0" u="none"/>
                        <a:t>Watch for bleed</a:t>
                      </a:r>
                    </a:p>
                  </a:txBody>
                  <a:tcPr>
                    <a:solidFill>
                      <a:schemeClr val="accent4">
                        <a:lumMod val="8000"/>
                        <a:lumOff val="92000"/>
                      </a:schemeClr>
                    </a:solidFill>
                  </a:tcPr>
                </a:tc>
                <a:tc>
                  <a:txBody>
                    <a:bodyPr/>
                    <a:lstStyle/>
                    <a:p>
                      <a:pPr>
                        <a:buNone/>
                        <a:defRPr sz="1600" b="0">
                          <a:solidFill>
                            <a:schemeClr val="tx1"/>
                          </a:solidFill>
                        </a:defRPr>
                      </a:pPr>
                      <a:r>
                        <a:rPr sz="1600" b="0" i="0" u="none"/>
                        <a:t>Unwrapped code goes straight to production</a:t>
                      </a:r>
                    </a:p>
                  </a:txBody>
                  <a:tcPr>
                    <a:solidFill>
                      <a:schemeClr val="accent4">
                        <a:lumMod val="8000"/>
                        <a:lumOff val="92000"/>
                      </a:schemeClr>
                    </a:solidFill>
                  </a:tcPr>
                </a:tc>
                <a:extLst>
                  <a:ext uri="{0D108BD9-81ED-4DB2-BD59-A6C34878D82A}">
                    <a16:rowId xmlns:a16="http://schemas.microsoft.com/office/drawing/2014/main" val="10002"/>
                  </a:ext>
                </a:extLst>
              </a:tr>
              <a:tr h="457200">
                <a:tc>
                  <a:txBody>
                    <a:bodyPr/>
                    <a:lstStyle/>
                    <a:p>
                      <a:pPr>
                        <a:buNone/>
                        <a:defRPr sz="1600" b="0">
                          <a:solidFill>
                            <a:schemeClr val="tx1"/>
                          </a:solidFill>
                        </a:defRPr>
                      </a:pPr>
                      <a:r>
                        <a:rPr sz="1600" b="1" i="0" u="none" dirty="0"/>
                        <a:t>As-Is tests as gate</a:t>
                      </a:r>
                    </a:p>
                  </a:txBody>
                  <a:tcPr>
                    <a:solidFill>
                      <a:schemeClr val="accent4">
                        <a:lumMod val="20000"/>
                        <a:lumOff val="80000"/>
                      </a:schemeClr>
                    </a:solidFill>
                  </a:tcPr>
                </a:tc>
                <a:tc>
                  <a:txBody>
                    <a:bodyPr/>
                    <a:lstStyle/>
                    <a:p>
                      <a:pPr>
                        <a:buNone/>
                        <a:defRPr sz="1600" b="0">
                          <a:solidFill>
                            <a:schemeClr val="tx1"/>
                          </a:solidFill>
                        </a:defRPr>
                      </a:pPr>
                      <a:r>
                        <a:rPr sz="1600" b="0" i="0" u="none" dirty="0"/>
                        <a:t>These tests define production readiness</a:t>
                      </a:r>
                    </a:p>
                  </a:txBody>
                  <a:tcPr>
                    <a:solidFill>
                      <a:schemeClr val="accent4">
                        <a:lumMod val="20000"/>
                        <a:lumOff val="80000"/>
                      </a:schemeClr>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To-Be Test Suites — Purpose</a:t>
            </a:r>
          </a:p>
        </p:txBody>
      </p:sp>
      <p:sp>
        <p:nvSpPr>
          <p:cNvPr id="3" name="Content Placeholder 2"/>
          <p:cNvSpPr>
            <a:spLocks noGrp="1"/>
          </p:cNvSpPr>
          <p:nvPr>
            <p:ph idx="1"/>
          </p:nvPr>
        </p:nvSpPr>
        <p:spPr/>
        <p:txBody>
          <a:bodyPr wrap="square">
            <a:noAutofit/>
          </a:bodyPr>
          <a:lstStyle/>
          <a:p>
            <a:pPr>
              <a:buNone/>
            </a:pPr>
            <a:r>
              <a:rPr sz="2750" b="0" i="0" u="none"/>
              <a:t>Define and track the future state</a:t>
            </a:r>
            <a:endParaRPr sz="2750" b="0" i="0">
              <a:latin typeface="Arial"/>
            </a:endParaRPr>
          </a:p>
          <a:p>
            <a:pPr>
              <a:buNone/>
            </a:pPr>
            <a:endParaRPr sz="2750" b="0" i="0">
              <a:latin typeface="Arial"/>
            </a:endParaRPr>
          </a:p>
          <a:p>
            <a:r>
              <a:rPr sz="2750" b="0" i="0" u="none"/>
              <a:t>Define future behavior — tests describe what you're building</a:t>
            </a:r>
            <a:endParaRPr sz="2750" b="0" i="0">
              <a:latin typeface="Arial"/>
            </a:endParaRPr>
          </a:p>
          <a:p>
            <a:r>
              <a:rPr sz="2750" b="0" i="0" u="none"/>
              <a:t>Validate work-in-progress — confidence during development</a:t>
            </a:r>
            <a:endParaRPr sz="2750" b="0" i="0">
              <a:latin typeface="Arial"/>
            </a:endParaRPr>
          </a:p>
          <a:p>
            <a:r>
              <a:rPr sz="2750" b="0" i="0" u="none"/>
              <a:t>Track implementation progress — know how far you've come</a:t>
            </a:r>
            <a:endParaRPr sz="2750" b="0" i="0">
              <a:latin typeface="Arial"/>
            </a:endParaRPr>
          </a:p>
          <a:p>
            <a:r>
              <a:rPr sz="2750" b="0" i="0" u="none"/>
              <a:t>Run only when feature flag is ON</a:t>
            </a:r>
            <a:endParaRPr sz="2750" b="0" i="0">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To-Be Test Suites — Workflow</a:t>
            </a:r>
          </a:p>
        </p:txBody>
      </p:sp>
      <p:sp>
        <p:nvSpPr>
          <p:cNvPr id="3" name="Content Placeholder 2"/>
          <p:cNvSpPr>
            <a:spLocks noGrp="1"/>
          </p:cNvSpPr>
          <p:nvPr>
            <p:ph idx="1"/>
          </p:nvPr>
        </p:nvSpPr>
        <p:spPr/>
        <p:txBody>
          <a:bodyPr wrap="square">
            <a:noAutofit/>
          </a:bodyPr>
          <a:lstStyle/>
          <a:p>
            <a:pPr>
              <a:buNone/>
            </a:pPr>
            <a:r>
              <a:rPr sz="1550" b="0" i="0" u="none"/>
              <a:t>Step-by-step implementation pattern</a:t>
            </a:r>
            <a:endParaRPr sz="1550" b="0" i="0">
              <a:latin typeface="Consolas"/>
            </a:endParaRPr>
          </a:p>
          <a:p>
            <a:pPr>
              <a:buNone/>
            </a:pPr>
            <a:endParaRPr sz="1550" b="0" i="0">
              <a:latin typeface="Consolas"/>
            </a:endParaRPr>
          </a:p>
          <a:p>
            <a:pPr>
              <a:buNone/>
            </a:pPr>
            <a:r>
              <a:rPr sz="1550" b="0" i="0" u="none"/>
              <a:t>1. Implement feature flag around code to modify</a:t>
            </a:r>
            <a:endParaRPr sz="1550" b="0" i="0">
              <a:latin typeface="Consolas"/>
            </a:endParaRPr>
          </a:p>
          <a:p>
            <a:pPr>
              <a:buNone/>
            </a:pPr>
            <a:r>
              <a:rPr sz="1550" b="0" i="0" u="none"/>
              <a:t>2. When flag ON → execute new behavior</a:t>
            </a:r>
            <a:endParaRPr sz="1550" b="0" i="0">
              <a:latin typeface="Consolas"/>
            </a:endParaRPr>
          </a:p>
          <a:p>
            <a:pPr>
              <a:buNone/>
            </a:pPr>
            <a:r>
              <a:rPr sz="1550" b="0" i="0" u="none"/>
              <a:t>3. Write tests that only run when flag is ON</a:t>
            </a:r>
            <a:endParaRPr sz="1550" b="0" i="0">
              <a:latin typeface="Consolas"/>
            </a:endParaRPr>
          </a:p>
          <a:p>
            <a:pPr>
              <a:buNone/>
            </a:pPr>
            <a:r>
              <a:rPr sz="1550" b="0" i="0" u="none"/>
              <a:t>4. Separate test execution strategy in CI/CD pipeline</a:t>
            </a:r>
            <a:endParaRPr sz="1550" b="0" i="0">
              <a:latin typeface="Consolas"/>
            </a:endParaRPr>
          </a:p>
          <a:p>
            <a:pPr>
              <a:buNone/>
            </a:pPr>
            <a:endParaRPr sz="1550" b="0" i="0">
              <a:latin typeface="Consolas"/>
            </a:endParaRPr>
          </a:p>
          <a:p>
            <a:pPr>
              <a:buNone/>
            </a:pPr>
            <a:r>
              <a:rPr sz="1550" b="0" i="0">
                <a:latin typeface="Consolas"/>
              </a:rPr>
              <a:t>if (featureFlag.IsEnabled("new-checkout")) {</a:t>
            </a:r>
          </a:p>
          <a:p>
            <a:pPr>
              <a:buNone/>
            </a:pPr>
            <a:r>
              <a:rPr sz="1550" b="0" i="0">
                <a:latin typeface="Consolas"/>
              </a:rPr>
              <a:t>    // new behavior — covered by To-Be tests</a:t>
            </a:r>
          </a:p>
          <a:p>
            <a:pPr>
              <a:buNone/>
            </a:pPr>
            <a:r>
              <a:rPr sz="1550" b="0" i="0">
                <a:latin typeface="Consolas"/>
              </a:rPr>
              <a:t>} else {</a:t>
            </a:r>
          </a:p>
          <a:p>
            <a:pPr>
              <a:buNone/>
            </a:pPr>
            <a:r>
              <a:rPr sz="1550" b="0" i="0">
                <a:latin typeface="Consolas"/>
              </a:rPr>
              <a:t>    // old behavior — covered by As-Is tests</a:t>
            </a:r>
          </a:p>
          <a:p>
            <a:pPr>
              <a:buNone/>
            </a:pPr>
            <a:r>
              <a:rPr sz="1550" b="0" i="0">
                <a:latin typeface="Consolas"/>
              </a:rPr>
              <a:t>}</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Automation Strategy</a:t>
            </a:r>
          </a:p>
        </p:txBody>
      </p:sp>
      <p:sp>
        <p:nvSpPr>
          <p:cNvPr id="3" name="Content Placeholder 2"/>
          <p:cNvSpPr>
            <a:spLocks noGrp="1"/>
          </p:cNvSpPr>
          <p:nvPr>
            <p:ph sz="half" idx="1"/>
          </p:nvPr>
        </p:nvSpPr>
        <p:spPr/>
        <p:txBody>
          <a:bodyPr wrap="square">
            <a:noAutofit/>
          </a:bodyPr>
          <a:lstStyle/>
          <a:p>
            <a:pPr>
              <a:buNone/>
            </a:pPr>
            <a:r>
              <a:rPr sz="2550" b="0" i="0" u="none"/>
              <a:t>Two-phase CI/CD pipeline</a:t>
            </a:r>
            <a:endParaRPr sz="2550" b="0" i="0">
              <a:latin typeface="Arial"/>
            </a:endParaRPr>
          </a:p>
          <a:p>
            <a:pPr>
              <a:buNone/>
            </a:pPr>
            <a:endParaRPr sz="2550" b="0" i="0">
              <a:latin typeface="Arial"/>
            </a:endParaRPr>
          </a:p>
          <a:p>
            <a:pPr>
              <a:buNone/>
            </a:pPr>
            <a:r>
              <a:rPr sz="2550" b="0" i="0" u="none"/>
              <a:t>Phase 1 — As-Is Tests</a:t>
            </a:r>
            <a:endParaRPr sz="2550" b="0" i="0">
              <a:latin typeface="Arial"/>
            </a:endParaRPr>
          </a:p>
          <a:p>
            <a:pPr>
              <a:buNone/>
            </a:pPr>
            <a:endParaRPr sz="2550" b="0" i="0">
              <a:latin typeface="Arial"/>
            </a:endParaRPr>
          </a:p>
          <a:p>
            <a:r>
              <a:rPr sz="2550" b="0" i="0" u="none"/>
              <a:t>Set flags to match production state</a:t>
            </a:r>
            <a:endParaRPr sz="2550" b="0" i="0">
              <a:latin typeface="Arial"/>
            </a:endParaRPr>
          </a:p>
          <a:p>
            <a:r>
              <a:rPr sz="2550" b="0" i="0" u="none"/>
              <a:t>Run regression tests</a:t>
            </a:r>
            <a:endParaRPr sz="2550" b="0" i="0">
              <a:latin typeface="Arial"/>
            </a:endParaRPr>
          </a:p>
          <a:p>
            <a:r>
              <a:rPr sz="2550" b="0" i="0" u="none"/>
              <a:t>Block merge if failures detected</a:t>
            </a:r>
            <a:endParaRPr sz="2550" b="0" i="0">
              <a:latin typeface="Arial"/>
            </a:endParaRPr>
          </a:p>
        </p:txBody>
      </p:sp>
      <p:sp>
        <p:nvSpPr>
          <p:cNvPr id="4" name="Content Placeholder 3"/>
          <p:cNvSpPr>
            <a:spLocks noGrp="1"/>
          </p:cNvSpPr>
          <p:nvPr>
            <p:ph sz="half" idx="2"/>
          </p:nvPr>
        </p:nvSpPr>
        <p:spPr/>
        <p:txBody>
          <a:bodyPr wrap="square">
            <a:normAutofit/>
          </a:bodyPr>
          <a:lstStyle/>
          <a:p>
            <a:pPr>
              <a:buNone/>
            </a:pPr>
            <a:r>
              <a:rPr sz="2800" b="0" i="0" u="none"/>
              <a:t>Phase 2 — To-Be Tests</a:t>
            </a:r>
            <a:endParaRPr sz="2800" b="0" i="0">
              <a:latin typeface="Arial"/>
            </a:endParaRPr>
          </a:p>
          <a:p>
            <a:pPr>
              <a:buNone/>
            </a:pPr>
            <a:endParaRPr sz="2800" b="0" i="0">
              <a:latin typeface="Arial"/>
            </a:endParaRPr>
          </a:p>
          <a:p>
            <a:r>
              <a:rPr sz="2800" b="0" i="0" u="none"/>
              <a:t>Turn on appropriate feature flags</a:t>
            </a:r>
            <a:endParaRPr sz="2800" b="0" i="0">
              <a:latin typeface="Arial"/>
            </a:endParaRPr>
          </a:p>
          <a:p>
            <a:r>
              <a:rPr sz="2800" b="0" i="0" u="none"/>
              <a:t>Execute To-Be test suite</a:t>
            </a:r>
            <a:endParaRPr sz="2800" b="0" i="0">
              <a:latin typeface="Arial"/>
            </a:endParaRPr>
          </a:p>
          <a:p>
            <a:r>
              <a:rPr sz="2800" b="0" i="0" u="none"/>
              <a:t>Assess progress toward completion</a:t>
            </a:r>
            <a:endParaRPr sz="2800" b="0" i="0">
              <a:latin typeface="Aria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850"/>
              <a:t>Benefits of the Dual-Suite Approach</a:t>
            </a:r>
          </a:p>
        </p:txBody>
      </p:sp>
      <p:sp>
        <p:nvSpPr>
          <p:cNvPr id="3" name="Content Placeholder 2"/>
          <p:cNvSpPr>
            <a:spLocks noGrp="1"/>
          </p:cNvSpPr>
          <p:nvPr>
            <p:ph idx="1"/>
          </p:nvPr>
        </p:nvSpPr>
        <p:spPr/>
        <p:txBody>
          <a:bodyPr wrap="square">
            <a:normAutofit/>
          </a:bodyPr>
          <a:lstStyle/>
          <a:p>
            <a:pPr>
              <a:buNone/>
            </a:pPr>
            <a:r>
              <a:rPr sz="2800" b="0" i="0" u="none"/>
              <a:t>Why this strategy pays off</a:t>
            </a:r>
            <a:endParaRPr sz="2800" b="0" i="0">
              <a:latin typeface="Arial"/>
            </a:endParaRPr>
          </a:p>
          <a:p>
            <a:pPr>
              <a:buNone/>
            </a:pPr>
            <a:endParaRPr sz="2800" b="0" i="0">
              <a:latin typeface="Arial"/>
            </a:endParaRPr>
          </a:p>
          <a:p>
            <a:pPr>
              <a:buNone/>
            </a:pPr>
            <a:r>
              <a:rPr sz="2800" b="0" i="0" u="none"/>
              <a:t>✅ Smaller To-Be suite keeps check-in procedures fast</a:t>
            </a:r>
            <a:endParaRPr sz="2800" b="0" i="0">
              <a:latin typeface="Arial"/>
            </a:endParaRPr>
          </a:p>
          <a:p>
            <a:pPr>
              <a:buNone/>
            </a:pPr>
            <a:r>
              <a:rPr sz="2800" b="0" i="0" u="none"/>
              <a:t>✅ Guides modernization efforts with clear milestones</a:t>
            </a:r>
            <a:endParaRPr sz="2800" b="0" i="0">
              <a:latin typeface="Arial"/>
            </a:endParaRPr>
          </a:p>
          <a:p>
            <a:pPr>
              <a:buNone/>
            </a:pPr>
            <a:r>
              <a:rPr sz="2800" b="0" i="0" u="none"/>
              <a:t>✅ Validates new practices and architectures incrementally</a:t>
            </a:r>
            <a:endParaRPr sz="2800" b="0" i="0">
              <a:latin typeface="Arial"/>
            </a:endParaRPr>
          </a:p>
          <a:p>
            <a:pPr>
              <a:buNone/>
            </a:pPr>
            <a:r>
              <a:rPr sz="2800" b="0" i="0" u="none"/>
              <a:t>✅ Safe continuous deployment throughout the project</a:t>
            </a:r>
            <a:endParaRPr sz="2800" b="0" i="0">
              <a:latin typeface="Arial"/>
            </a:endParaRPr>
          </a:p>
          <a:p>
            <a:pPr>
              <a:buNone/>
            </a:pPr>
            <a:r>
              <a:rPr sz="2800" b="0" i="0" u="none"/>
              <a:t>✅ Clear signal for when a feature is production-ready</a:t>
            </a:r>
            <a:endParaRPr sz="2800" b="0" i="0">
              <a:latin typeface="Arial"/>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350"/>
              <a:t>Maintenance — After Production Release</a:t>
            </a:r>
          </a:p>
        </p:txBody>
      </p:sp>
      <p:sp>
        <p:nvSpPr>
          <p:cNvPr id="3" name="Content Placeholder 2"/>
          <p:cNvSpPr>
            <a:spLocks noGrp="1"/>
          </p:cNvSpPr>
          <p:nvPr>
            <p:ph idx="1"/>
          </p:nvPr>
        </p:nvSpPr>
        <p:spPr/>
        <p:txBody>
          <a:bodyPr wrap="square">
            <a:noAutofit/>
          </a:bodyPr>
          <a:lstStyle/>
          <a:p>
            <a:pPr>
              <a:buNone/>
            </a:pPr>
            <a:r>
              <a:rPr sz="2750" b="0" i="0" u="none"/>
              <a:t>When a feature goes live:</a:t>
            </a:r>
            <a:endParaRPr sz="2750" b="0" i="0">
              <a:latin typeface="Arial"/>
            </a:endParaRPr>
          </a:p>
          <a:p>
            <a:pPr>
              <a:buNone/>
            </a:pPr>
            <a:endParaRPr sz="2750" b="0" i="0">
              <a:latin typeface="Arial"/>
            </a:endParaRPr>
          </a:p>
          <a:p>
            <a:pPr>
              <a:buNone/>
            </a:pPr>
            <a:r>
              <a:rPr sz="2750" b="0" i="0" u="none"/>
              <a:t>1. Move To-Be tests → As-Is suite</a:t>
            </a:r>
            <a:endParaRPr sz="2750" b="0" i="0">
              <a:latin typeface="Arial"/>
            </a:endParaRPr>
          </a:p>
          <a:p>
            <a:pPr>
              <a:buNone/>
            </a:pPr>
            <a:r>
              <a:rPr sz="2750" b="0" i="0" u="none"/>
              <a:t>2. Tests become part of the regression suite</a:t>
            </a:r>
            <a:endParaRPr sz="2750" b="0" i="0">
              <a:latin typeface="Arial"/>
            </a:endParaRPr>
          </a:p>
          <a:p>
            <a:pPr>
              <a:buNone/>
            </a:pPr>
            <a:r>
              <a:rPr sz="2750" b="0" i="0" u="none"/>
              <a:t>3. Maintain consistency with production state</a:t>
            </a:r>
            <a:endParaRPr sz="2750" b="0" i="0">
              <a:latin typeface="Arial"/>
            </a:endParaRPr>
          </a:p>
          <a:p>
            <a:pPr>
              <a:buNone/>
            </a:pPr>
            <a:r>
              <a:rPr sz="2750" b="0" i="0" u="none"/>
              <a:t>4. Retire the feature flag (remove dead code paths)</a:t>
            </a:r>
            <a:endParaRPr sz="2750" b="0" i="0">
              <a:latin typeface="Arial"/>
            </a:endParaRPr>
          </a:p>
          <a:p>
            <a:pPr>
              <a:buNone/>
            </a:pPr>
            <a:endParaRPr sz="2750" b="0" i="0">
              <a:latin typeface="Arial"/>
            </a:endParaRPr>
          </a:p>
          <a:p>
            <a:pPr>
              <a:buNone/>
            </a:pPr>
            <a:r>
              <a:rPr sz="2750" b="0" i="0" u="none"/>
              <a:t>The To-Be suite of today becomes the As-Is suite of tomorrow</a:t>
            </a:r>
            <a:endParaRPr sz="2750" b="0" i="0">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50"/>
              <a:t>Feature Flag Retirement — AI-Assisted</a:t>
            </a:r>
          </a:p>
        </p:txBody>
      </p:sp>
      <p:sp>
        <p:nvSpPr>
          <p:cNvPr id="3" name="Content Placeholder 2"/>
          <p:cNvSpPr>
            <a:spLocks noGrp="1"/>
          </p:cNvSpPr>
          <p:nvPr>
            <p:ph sz="half" idx="1"/>
          </p:nvPr>
        </p:nvSpPr>
        <p:spPr/>
        <p:txBody>
          <a:bodyPr wrap="square">
            <a:noAutofit/>
          </a:bodyPr>
          <a:lstStyle/>
          <a:p>
            <a:pPr>
              <a:buNone/>
            </a:pPr>
            <a:r>
              <a:rPr sz="2200" b="0" i="0" u="none"/>
              <a:t>AI dramatically simplifies flag removal</a:t>
            </a:r>
            <a:endParaRPr sz="2200" b="0" i="0">
              <a:latin typeface="Arial"/>
            </a:endParaRPr>
          </a:p>
          <a:p>
            <a:pPr>
              <a:buNone/>
            </a:pPr>
            <a:endParaRPr sz="2200" b="0" i="0">
              <a:latin typeface="Arial"/>
            </a:endParaRPr>
          </a:p>
          <a:p>
            <a:pPr>
              <a:buNone/>
            </a:pPr>
            <a:r>
              <a:rPr sz="2200" b="0" i="0" u="none"/>
              <a:t>Before AI:</a:t>
            </a:r>
            <a:endParaRPr sz="2200" b="0" i="0">
              <a:latin typeface="Arial"/>
            </a:endParaRPr>
          </a:p>
          <a:p>
            <a:pPr>
              <a:buNone/>
            </a:pPr>
            <a:endParaRPr sz="2200" b="0" i="0">
              <a:latin typeface="Arial"/>
            </a:endParaRPr>
          </a:p>
          <a:p>
            <a:pPr>
              <a:buNone/>
            </a:pPr>
            <a:r>
              <a:rPr sz="2200" b="0" i="0" u="none"/>
              <a:t>1. Create a pull request to implement the flag</a:t>
            </a:r>
            <a:endParaRPr sz="2200" b="0" i="0">
              <a:latin typeface="Arial"/>
            </a:endParaRPr>
          </a:p>
          <a:p>
            <a:pPr>
              <a:buNone/>
            </a:pPr>
            <a:r>
              <a:rPr sz="2200" b="0" i="0" u="none"/>
              <a:t>2. Merge the changes</a:t>
            </a:r>
            <a:endParaRPr sz="2200" b="0" i="0">
              <a:latin typeface="Arial"/>
            </a:endParaRPr>
          </a:p>
          <a:p>
            <a:pPr>
              <a:buNone/>
            </a:pPr>
            <a:r>
              <a:rPr sz="2200" b="0" i="0" u="none"/>
              <a:t>3. Schedule flag retirement for a later sprint</a:t>
            </a:r>
            <a:endParaRPr sz="2200" b="0" i="0">
              <a:latin typeface="Arial"/>
            </a:endParaRPr>
          </a:p>
          <a:p>
            <a:pPr>
              <a:buNone/>
            </a:pPr>
            <a:r>
              <a:rPr sz="2200" b="0" i="0" u="none"/>
              <a:t>4. Manually trace all code paths</a:t>
            </a:r>
            <a:endParaRPr sz="2200" b="0" i="0">
              <a:latin typeface="Arial"/>
            </a:endParaRPr>
          </a:p>
        </p:txBody>
      </p:sp>
      <p:sp>
        <p:nvSpPr>
          <p:cNvPr id="4" name="Content Placeholder 3"/>
          <p:cNvSpPr>
            <a:spLocks noGrp="1"/>
          </p:cNvSpPr>
          <p:nvPr>
            <p:ph sz="half" idx="2"/>
          </p:nvPr>
        </p:nvSpPr>
        <p:spPr/>
        <p:txBody>
          <a:bodyPr wrap="square">
            <a:noAutofit/>
          </a:bodyPr>
          <a:lstStyle/>
          <a:p>
            <a:pPr>
              <a:buNone/>
            </a:pPr>
            <a:r>
              <a:rPr sz="2200" b="0" i="0" u="none"/>
              <a:t>With AI:</a:t>
            </a:r>
            <a:endParaRPr sz="2200" b="0" i="0">
              <a:latin typeface="Arial"/>
            </a:endParaRPr>
          </a:p>
          <a:p>
            <a:pPr>
              <a:buNone/>
            </a:pPr>
            <a:endParaRPr sz="2200" b="0" i="0">
              <a:latin typeface="Arial"/>
            </a:endParaRPr>
          </a:p>
          <a:p>
            <a:r>
              <a:rPr sz="2200" b="0" i="0" u="none"/>
              <a:t>Prompt: "Identify all changes needed to remove this feature flag"</a:t>
            </a:r>
            <a:endParaRPr sz="2200" b="0" i="0">
              <a:latin typeface="Arial"/>
            </a:endParaRPr>
          </a:p>
          <a:p>
            <a:r>
              <a:rPr sz="2200" b="0" i="0" u="none"/>
              <a:t>AI traces every code path controlled by the flag</a:t>
            </a:r>
            <a:endParaRPr sz="2200" b="0" i="0">
              <a:latin typeface="Arial"/>
            </a:endParaRPr>
          </a:p>
          <a:p>
            <a:r>
              <a:rPr sz="2200" b="0" i="0" u="none"/>
              <a:t>AI generates the complete removal diff</a:t>
            </a:r>
            <a:endParaRPr sz="2200" b="0" i="0">
              <a:latin typeface="Arial"/>
            </a:endParaRPr>
          </a:p>
          <a:p>
            <a:r>
              <a:rPr sz="2200" b="0" i="0" u="none"/>
              <a:t>Retirement becomes a routine, low-effort task</a:t>
            </a:r>
            <a:endParaRPr sz="2200" b="0" i="0">
              <a:latin typeface="Arial"/>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Testing in Production</a:t>
            </a:r>
          </a:p>
        </p:txBody>
      </p:sp>
      <p:sp>
        <p:nvSpPr>
          <p:cNvPr id="3" name="Subtitle 2"/>
          <p:cNvSpPr>
            <a:spLocks noGrp="1"/>
          </p:cNvSpPr>
          <p:nvPr>
            <p:ph type="subTitle" idx="1"/>
          </p:nvPr>
        </p:nvSpPr>
        <p:spPr/>
        <p:txBody>
          <a:bodyPr wrap="square">
            <a:normAutofit/>
          </a:bodyPr>
          <a:lstStyle/>
          <a:p>
            <a:pPr>
              <a:buNone/>
            </a:pPr>
            <a:r>
              <a:rPr b="0" i="0" u="none"/>
              <a:t>Testing in Production: Bravery or Strategy?</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Testing in Production</a:t>
            </a:r>
          </a:p>
        </p:txBody>
      </p:sp>
      <p:sp>
        <p:nvSpPr>
          <p:cNvPr id="3" name="Content Placeholder 2"/>
          <p:cNvSpPr>
            <a:spLocks noGrp="1"/>
          </p:cNvSpPr>
          <p:nvPr>
            <p:ph idx="1"/>
          </p:nvPr>
        </p:nvSpPr>
        <p:spPr/>
        <p:txBody>
          <a:bodyPr wrap="square">
            <a:normAutofit/>
          </a:bodyPr>
          <a:lstStyle/>
          <a:p>
            <a:r>
              <a:rPr sz="2800" b="0" i="0" u="none"/>
              <a:t>Safe production testing strategies</a:t>
            </a:r>
            <a:endParaRPr sz="2800" b="0" i="0">
              <a:latin typeface="Arial"/>
            </a:endParaRPr>
          </a:p>
          <a:p>
            <a:r>
              <a:rPr sz="2800" b="0" i="0" u="none"/>
              <a:t>Shadow traffic and canary releases</a:t>
            </a:r>
            <a:endParaRPr sz="2800" b="0" i="0">
              <a:latin typeface="Arial"/>
            </a:endParaRPr>
          </a:p>
          <a:p>
            <a:r>
              <a:rPr sz="2800" b="0" i="0" u="none"/>
              <a:t>Observability and automated rollback</a:t>
            </a:r>
            <a:endParaRPr sz="2800" b="0" i="0">
              <a:latin typeface="Arial"/>
            </a:endParaRPr>
          </a:p>
          <a:p>
            <a:r>
              <a:rPr sz="2800" b="0" i="0" u="none"/>
              <a:t>Beta testing groups</a:t>
            </a:r>
            <a:endParaRPr sz="2800" b="0" i="0">
              <a:latin typeface="Arial"/>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Why Test in Production?</a:t>
            </a:r>
          </a:p>
        </p:txBody>
      </p:sp>
      <p:sp>
        <p:nvSpPr>
          <p:cNvPr id="3" name="Content Placeholder 2"/>
          <p:cNvSpPr>
            <a:spLocks noGrp="1"/>
          </p:cNvSpPr>
          <p:nvPr>
            <p:ph sz="half" idx="1"/>
          </p:nvPr>
        </p:nvSpPr>
        <p:spPr/>
        <p:txBody>
          <a:bodyPr wrap="square">
            <a:noAutofit/>
          </a:bodyPr>
          <a:lstStyle/>
          <a:p>
            <a:pPr>
              <a:buNone/>
            </a:pPr>
            <a:r>
              <a:rPr sz="2350" b="0" i="0" u="none"/>
              <a:t>The Reality Gap</a:t>
            </a:r>
            <a:endParaRPr sz="2350" b="0" i="0">
              <a:latin typeface="Arial"/>
            </a:endParaRPr>
          </a:p>
          <a:p>
            <a:pPr>
              <a:buNone/>
            </a:pPr>
            <a:endParaRPr sz="2350" b="0" i="0">
              <a:latin typeface="Arial"/>
            </a:endParaRPr>
          </a:p>
          <a:p>
            <a:r>
              <a:rPr sz="2350" b="0" i="0" u="none"/>
              <a:t>Staging can't replicate production scale</a:t>
            </a:r>
            <a:endParaRPr sz="2350" b="0" i="0">
              <a:latin typeface="Arial"/>
            </a:endParaRPr>
          </a:p>
          <a:p>
            <a:r>
              <a:rPr sz="2350" b="0" i="0" u="none"/>
              <a:t>Real user behavior is unpredictable</a:t>
            </a:r>
            <a:endParaRPr sz="2350" b="0" i="0">
              <a:latin typeface="Arial"/>
            </a:endParaRPr>
          </a:p>
          <a:p>
            <a:r>
              <a:rPr sz="2350" b="0" i="0" u="none"/>
              <a:t>Production data reveals edge cases</a:t>
            </a:r>
            <a:endParaRPr sz="2350" b="0" i="0">
              <a:latin typeface="Arial"/>
            </a:endParaRPr>
          </a:p>
          <a:p>
            <a:r>
              <a:rPr sz="2350" b="0" i="0" u="none"/>
              <a:t>Load patterns differ between environments</a:t>
            </a:r>
            <a:endParaRPr sz="2350" b="0" i="0">
              <a:latin typeface="Arial"/>
            </a:endParaRPr>
          </a:p>
        </p:txBody>
      </p:sp>
      <p:sp>
        <p:nvSpPr>
          <p:cNvPr id="4" name="Content Placeholder 3"/>
          <p:cNvSpPr>
            <a:spLocks noGrp="1"/>
          </p:cNvSpPr>
          <p:nvPr>
            <p:ph sz="half" idx="2"/>
          </p:nvPr>
        </p:nvSpPr>
        <p:spPr/>
        <p:txBody>
          <a:bodyPr wrap="square">
            <a:normAutofit/>
          </a:bodyPr>
          <a:lstStyle/>
          <a:p>
            <a:pPr>
              <a:buNone/>
            </a:pPr>
            <a:r>
              <a:rPr sz="2800" b="0" i="0" u="none"/>
              <a:t>The Risk Without It</a:t>
            </a:r>
            <a:endParaRPr sz="2800" b="0" i="0">
              <a:latin typeface="Arial"/>
            </a:endParaRPr>
          </a:p>
          <a:p>
            <a:pPr>
              <a:buNone/>
            </a:pPr>
            <a:endParaRPr sz="2800" b="0" i="0">
              <a:latin typeface="Arial"/>
            </a:endParaRPr>
          </a:p>
          <a:p>
            <a:r>
              <a:rPr sz="2800" b="0" i="0" u="none"/>
              <a:t>Mass failures on release day</a:t>
            </a:r>
            <a:endParaRPr sz="2800" b="0" i="0">
              <a:latin typeface="Arial"/>
            </a:endParaRPr>
          </a:p>
          <a:p>
            <a:r>
              <a:rPr sz="2800" b="0" i="0" u="none"/>
              <a:t>No rollback strategy</a:t>
            </a:r>
            <a:endParaRPr sz="2800" b="0" i="0">
              <a:latin typeface="Arial"/>
            </a:endParaRPr>
          </a:p>
          <a:p>
            <a:r>
              <a:rPr sz="2800" b="0" i="0" u="none"/>
              <a:t>Customer-facing incidents</a:t>
            </a:r>
            <a:endParaRPr sz="2800" b="0" i="0">
              <a:latin typeface="Arial"/>
            </a:endParaRPr>
          </a:p>
          <a:p>
            <a:r>
              <a:rPr sz="2800" b="0" i="0" u="none"/>
              <a:t>Extended downtime</a:t>
            </a:r>
            <a:endParaRPr sz="2800" b="0" i="0">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Core Principle</a:t>
            </a:r>
          </a:p>
        </p:txBody>
      </p:sp>
      <p:sp>
        <p:nvSpPr>
          <p:cNvPr id="3" name="Content Placeholder 2"/>
          <p:cNvSpPr>
            <a:spLocks noGrp="1"/>
          </p:cNvSpPr>
          <p:nvPr>
            <p:ph sz="half" idx="1"/>
          </p:nvPr>
        </p:nvSpPr>
        <p:spPr/>
        <p:txBody>
          <a:bodyPr wrap="square">
            <a:noAutofit/>
          </a:bodyPr>
          <a:lstStyle/>
          <a:p>
            <a:pPr>
              <a:buNone/>
            </a:pPr>
            <a:r>
              <a:rPr sz="2350" b="0" i="0" u="none"/>
              <a:t>Hide features behind flags until ready</a:t>
            </a:r>
            <a:endParaRPr sz="2350" b="0" i="0">
              <a:latin typeface="Arial"/>
            </a:endParaRPr>
          </a:p>
          <a:p>
            <a:pPr>
              <a:buNone/>
            </a:pPr>
            <a:endParaRPr sz="2350" b="0" i="0">
              <a:latin typeface="Arial"/>
            </a:endParaRPr>
          </a:p>
          <a:p>
            <a:r>
              <a:rPr sz="2350" b="0" i="0" u="none"/>
              <a:t>Deploy code without activating behavior</a:t>
            </a:r>
            <a:endParaRPr sz="2350" b="0" i="0">
              <a:latin typeface="Arial"/>
            </a:endParaRPr>
          </a:p>
          <a:p>
            <a:r>
              <a:rPr sz="2350" b="0" i="0" u="none"/>
              <a:t>Control exposure programmatically</a:t>
            </a:r>
            <a:endParaRPr sz="2350" b="0" i="0">
              <a:latin typeface="Arial"/>
            </a:endParaRPr>
          </a:p>
          <a:p>
            <a:r>
              <a:rPr sz="2350" b="0" i="0" u="none"/>
              <a:t>Enable instant rollback</a:t>
            </a:r>
            <a:endParaRPr sz="2350" b="0" i="0">
              <a:latin typeface="Arial"/>
            </a:endParaRPr>
          </a:p>
          <a:p>
            <a:r>
              <a:rPr sz="2350" b="0" i="0" u="none"/>
              <a:t>Test incrementally with real infrastructure</a:t>
            </a:r>
            <a:endParaRPr sz="2350" b="0" i="0">
              <a:latin typeface="Arial"/>
            </a:endParaRPr>
          </a:p>
        </p:txBody>
      </p:sp>
      <p:sp>
        <p:nvSpPr>
          <p:cNvPr id="4" name="Content Placeholder 3"/>
          <p:cNvSpPr>
            <a:spLocks noGrp="1"/>
          </p:cNvSpPr>
          <p:nvPr>
            <p:ph sz="half" idx="2"/>
          </p:nvPr>
        </p:nvSpPr>
        <p:spPr/>
        <p:txBody>
          <a:bodyPr wrap="square">
            <a:noAutofit/>
          </a:bodyPr>
          <a:lstStyle/>
          <a:p>
            <a:pPr>
              <a:buNone/>
            </a:pPr>
            <a:r>
              <a:rPr sz="2350" b="0" i="0" u="none"/>
              <a:t>Test in real environment with real loads</a:t>
            </a:r>
            <a:endParaRPr sz="2350" b="0" i="0">
              <a:latin typeface="Arial"/>
            </a:endParaRPr>
          </a:p>
          <a:p>
            <a:pPr>
              <a:buNone/>
            </a:pPr>
            <a:endParaRPr sz="2350" b="0" i="0">
              <a:latin typeface="Arial"/>
            </a:endParaRPr>
          </a:p>
          <a:p>
            <a:r>
              <a:rPr sz="2350" b="0" i="0" u="none"/>
              <a:t>Production data and integration points</a:t>
            </a:r>
            <a:endParaRPr sz="2350" b="0" i="0">
              <a:latin typeface="Arial"/>
            </a:endParaRPr>
          </a:p>
          <a:p>
            <a:r>
              <a:rPr sz="2350" b="0" i="0" u="none"/>
              <a:t>Actual traffic patterns and volumes</a:t>
            </a:r>
            <a:endParaRPr sz="2350" b="0" i="0">
              <a:latin typeface="Arial"/>
            </a:endParaRPr>
          </a:p>
          <a:p>
            <a:r>
              <a:rPr sz="2350" b="0" i="0" u="none"/>
              <a:t>Real-world latency and failure modes</a:t>
            </a:r>
            <a:endParaRPr sz="2350" b="0" i="0">
              <a:latin typeface="Arial"/>
            </a:endParaRPr>
          </a:p>
          <a:p>
            <a:r>
              <a:rPr sz="2350" b="0" i="0" u="none"/>
              <a:t>Genuine user behavior</a:t>
            </a:r>
            <a:endParaRPr sz="2350" b="0" i="0">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Technique 1: Shadow Traffic</a:t>
            </a:r>
          </a:p>
        </p:txBody>
      </p:sp>
      <p:sp>
        <p:nvSpPr>
          <p:cNvPr id="3" name="Content Placeholder 2"/>
          <p:cNvSpPr>
            <a:spLocks noGrp="1"/>
          </p:cNvSpPr>
          <p:nvPr>
            <p:ph sz="half" idx="1"/>
          </p:nvPr>
        </p:nvSpPr>
        <p:spPr/>
        <p:txBody>
          <a:bodyPr wrap="square">
            <a:noAutofit/>
          </a:bodyPr>
          <a:lstStyle/>
          <a:p>
            <a:pPr>
              <a:buNone/>
            </a:pPr>
            <a:r>
              <a:rPr sz="1750" b="0" i="0" u="none"/>
              <a:t>Concept</a:t>
            </a:r>
            <a:endParaRPr sz="1750" b="0" i="0">
              <a:latin typeface="Arial"/>
            </a:endParaRPr>
          </a:p>
          <a:p>
            <a:pPr lvl="1"/>
            <a:r>
              <a:rPr sz="1750" b="0" i="0" u="none"/>
              <a:t>Route a copy of production traffic to new code path</a:t>
            </a:r>
            <a:endParaRPr sz="1750" b="0" i="0">
              <a:latin typeface="Arial"/>
            </a:endParaRPr>
          </a:p>
          <a:p>
            <a:pPr lvl="1"/>
            <a:r>
              <a:rPr sz="1750" b="0" i="0" u="none"/>
              <a:t>Original code serves the actual response</a:t>
            </a:r>
            <a:endParaRPr sz="1750" b="0" i="0">
              <a:latin typeface="Arial"/>
            </a:endParaRPr>
          </a:p>
          <a:p>
            <a:pPr lvl="1"/>
            <a:r>
              <a:rPr sz="1750" b="0" i="0" u="none"/>
              <a:t>No user impact—shadow results are discarded</a:t>
            </a:r>
            <a:endParaRPr sz="1750" b="0" i="0">
              <a:latin typeface="Arial"/>
            </a:endParaRPr>
          </a:p>
          <a:p>
            <a:pPr>
              <a:buNone/>
            </a:pPr>
            <a:endParaRPr sz="1750" b="0" i="0">
              <a:latin typeface="Arial"/>
            </a:endParaRPr>
          </a:p>
          <a:p>
            <a:pPr>
              <a:buNone/>
            </a:pPr>
            <a:r>
              <a:rPr sz="1750" b="0" i="0" u="none"/>
              <a:t>Benefits</a:t>
            </a:r>
            <a:endParaRPr sz="1750" b="0" i="0">
              <a:latin typeface="Arial"/>
            </a:endParaRPr>
          </a:p>
          <a:p>
            <a:pPr lvl="1"/>
            <a:r>
              <a:rPr sz="1750" b="0" i="0" u="none"/>
              <a:t>Zero risk to users</a:t>
            </a:r>
            <a:endParaRPr sz="1750" b="0" i="0">
              <a:latin typeface="Arial"/>
            </a:endParaRPr>
          </a:p>
          <a:p>
            <a:pPr lvl="1"/>
            <a:r>
              <a:rPr sz="1750" b="0" i="0" u="none"/>
              <a:t>Production-scale load testing</a:t>
            </a:r>
            <a:endParaRPr sz="1750" b="0" i="0">
              <a:latin typeface="Arial"/>
            </a:endParaRPr>
          </a:p>
          <a:p>
            <a:pPr lvl="1"/>
            <a:r>
              <a:rPr sz="1750" b="0" i="0" u="none"/>
              <a:t>Compare old vs. new behavior</a:t>
            </a:r>
            <a:endParaRPr sz="1750" b="0" i="0">
              <a:latin typeface="Arial"/>
            </a:endParaRPr>
          </a:p>
          <a:p>
            <a:pPr lvl="1"/>
            <a:r>
              <a:rPr sz="1750" b="0" i="0" u="none"/>
              <a:t>Identify performance regressions</a:t>
            </a:r>
            <a:endParaRPr sz="1750" b="0" i="0">
              <a:latin typeface="Arial"/>
            </a:endParaRPr>
          </a:p>
        </p:txBody>
      </p:sp>
      <p:sp>
        <p:nvSpPr>
          <p:cNvPr id="4" name="Content Placeholder 3"/>
          <p:cNvSpPr>
            <a:spLocks noGrp="1"/>
          </p:cNvSpPr>
          <p:nvPr>
            <p:ph sz="half" idx="2"/>
          </p:nvPr>
        </p:nvSpPr>
        <p:spPr/>
        <p:txBody>
          <a:bodyPr wrap="square">
            <a:normAutofit/>
          </a:bodyPr>
          <a:lstStyle/>
          <a:p>
            <a:pPr>
              <a:buNone/>
            </a:pPr>
            <a:r>
              <a:rPr sz="1800" b="0" i="0" u="none"/>
              <a:t>Implementation</a:t>
            </a:r>
            <a:endParaRPr sz="1800" b="0" i="0">
              <a:latin typeface="Consolas"/>
            </a:endParaRPr>
          </a:p>
          <a:p>
            <a:pPr>
              <a:buNone/>
            </a:pPr>
            <a:endParaRPr sz="1800" b="0" i="0">
              <a:latin typeface="Consolas"/>
            </a:endParaRPr>
          </a:p>
          <a:p>
            <a:pPr>
              <a:buNone/>
            </a:pPr>
            <a:r>
              <a:rPr sz="1800" b="0" i="0">
                <a:latin typeface="Consolas"/>
              </a:rPr>
              <a:t>Incoming Request</a:t>
            </a:r>
          </a:p>
          <a:p>
            <a:pPr>
              <a:buNone/>
            </a:pPr>
            <a:r>
              <a:rPr sz="1800" b="0" i="0">
                <a:latin typeface="Consolas"/>
              </a:rPr>
              <a:t>  ├─&gt; Old Code (serves response)</a:t>
            </a:r>
          </a:p>
          <a:p>
            <a:pPr>
              <a:buNone/>
            </a:pPr>
            <a:r>
              <a:rPr sz="1800" b="0" i="0">
                <a:latin typeface="Consolas"/>
              </a:rPr>
              <a:t>  └─&gt; New Code (logged/monitored, discarded)</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r>
              <a:t>Technique 2: Canary Releases</a:t>
            </a:r>
          </a:p>
        </p:txBody>
      </p:sp>
      <p:sp>
        <p:nvSpPr>
          <p:cNvPr id="3" name="Content Placeholder 2"/>
          <p:cNvSpPr>
            <a:spLocks noGrp="1"/>
          </p:cNvSpPr>
          <p:nvPr>
            <p:ph sz="half" idx="1"/>
          </p:nvPr>
        </p:nvSpPr>
        <p:spPr/>
        <p:txBody>
          <a:bodyPr wrap="square">
            <a:noAutofit/>
          </a:bodyPr>
          <a:lstStyle/>
          <a:p>
            <a:pPr>
              <a:buNone/>
            </a:pPr>
            <a:r>
              <a:rPr sz="1900" b="0" i="0" u="none"/>
              <a:t>Concept</a:t>
            </a:r>
            <a:endParaRPr sz="1900" b="0" i="0">
              <a:latin typeface="Arial"/>
            </a:endParaRPr>
          </a:p>
          <a:p>
            <a:pPr lvl="1"/>
            <a:r>
              <a:rPr sz="1900" b="0" i="0" u="none"/>
              <a:t>Gradual rollout to increasing percentage of users</a:t>
            </a:r>
            <a:endParaRPr sz="1900" b="0" i="0">
              <a:latin typeface="Arial"/>
            </a:endParaRPr>
          </a:p>
          <a:p>
            <a:pPr lvl="1"/>
            <a:r>
              <a:rPr sz="1900" b="0" i="0" u="none"/>
              <a:t>Monitor health metrics at each stage</a:t>
            </a:r>
            <a:endParaRPr sz="1900" b="0" i="0">
              <a:latin typeface="Arial"/>
            </a:endParaRPr>
          </a:p>
          <a:p>
            <a:pPr lvl="1"/>
            <a:r>
              <a:rPr sz="1900" b="0" i="0" u="none"/>
              <a:t>Expand exposure only if metrics are healthy</a:t>
            </a:r>
            <a:endParaRPr sz="1900" b="0" i="0">
              <a:latin typeface="Arial"/>
            </a:endParaRPr>
          </a:p>
          <a:p>
            <a:pPr>
              <a:buNone/>
            </a:pPr>
            <a:endParaRPr sz="1900" b="0" i="0">
              <a:latin typeface="Arial"/>
            </a:endParaRPr>
          </a:p>
          <a:p>
            <a:pPr>
              <a:buNone/>
            </a:pPr>
            <a:r>
              <a:rPr sz="1900" b="0" i="0" u="none"/>
              <a:t>Rollout Stages</a:t>
            </a:r>
            <a:endParaRPr sz="1900" b="0" i="0">
              <a:latin typeface="Arial"/>
            </a:endParaRPr>
          </a:p>
          <a:p>
            <a:pPr lvl="1"/>
            <a:r>
              <a:rPr sz="1900" b="0" i="0" u="none"/>
              <a:t>1%: Internal employees, beta users</a:t>
            </a:r>
            <a:endParaRPr sz="1900" b="0" i="0">
              <a:latin typeface="Arial"/>
            </a:endParaRPr>
          </a:p>
          <a:p>
            <a:pPr lvl="1"/>
            <a:r>
              <a:rPr sz="1900" b="0" i="0" u="none"/>
              <a:t>5%: Expand to low-risk segments</a:t>
            </a:r>
            <a:endParaRPr sz="1900" b="0" i="0">
              <a:latin typeface="Arial"/>
            </a:endParaRPr>
          </a:p>
          <a:p>
            <a:pPr lvl="1"/>
            <a:r>
              <a:rPr sz="1900" b="0" i="0" u="none"/>
              <a:t>25%: Quarter of production traffic</a:t>
            </a:r>
            <a:endParaRPr sz="1900" b="0" i="0">
              <a:latin typeface="Arial"/>
            </a:endParaRPr>
          </a:p>
          <a:p>
            <a:pPr lvl="1"/>
            <a:r>
              <a:rPr sz="1900" b="0" i="0" u="none"/>
              <a:t>100%: Full rollout after validation</a:t>
            </a:r>
            <a:endParaRPr sz="1900" b="0" i="0">
              <a:latin typeface="Arial"/>
            </a:endParaRPr>
          </a:p>
        </p:txBody>
      </p:sp>
      <p:sp>
        <p:nvSpPr>
          <p:cNvPr id="4" name="Content Placeholder 3"/>
          <p:cNvSpPr>
            <a:spLocks noGrp="1"/>
          </p:cNvSpPr>
          <p:nvPr>
            <p:ph sz="half" idx="2"/>
          </p:nvPr>
        </p:nvSpPr>
        <p:spPr/>
        <p:txBody>
          <a:bodyPr wrap="square">
            <a:normAutofit/>
          </a:bodyPr>
          <a:lstStyle/>
          <a:p>
            <a:pPr>
              <a:buNone/>
            </a:pPr>
            <a:r>
              <a:rPr sz="2800" b="0" i="0" u="none"/>
              <a:t>Health Checks</a:t>
            </a:r>
            <a:endParaRPr sz="2800" b="0" i="0">
              <a:latin typeface="Arial"/>
            </a:endParaRPr>
          </a:p>
          <a:p>
            <a:pPr lvl="1"/>
            <a:r>
              <a:rPr sz="2800" b="0" i="0" u="none"/>
              <a:t>Error rate within budget</a:t>
            </a:r>
            <a:endParaRPr sz="2800" b="0" i="0">
              <a:latin typeface="Arial"/>
            </a:endParaRPr>
          </a:p>
          <a:p>
            <a:pPr lvl="1"/>
            <a:r>
              <a:rPr sz="2800" b="0" i="0" u="none"/>
              <a:t>Latency acceptable</a:t>
            </a:r>
            <a:endParaRPr sz="2800" b="0" i="0">
              <a:latin typeface="Arial"/>
            </a:endParaRPr>
          </a:p>
          <a:p>
            <a:pPr lvl="1"/>
            <a:r>
              <a:rPr sz="2800" b="0" i="0" u="none"/>
              <a:t>No spike in support tickets</a:t>
            </a:r>
            <a:endParaRPr sz="2800" b="0" i="0">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3500"/>
              <a:t>Technique 3: Observability Dashboards</a:t>
            </a:r>
          </a:p>
        </p:txBody>
      </p:sp>
      <p:sp>
        <p:nvSpPr>
          <p:cNvPr id="3" name="Content Placeholder 2"/>
          <p:cNvSpPr>
            <a:spLocks noGrp="1"/>
          </p:cNvSpPr>
          <p:nvPr>
            <p:ph sz="half" idx="1"/>
          </p:nvPr>
        </p:nvSpPr>
        <p:spPr/>
        <p:txBody>
          <a:bodyPr wrap="square">
            <a:noAutofit/>
          </a:bodyPr>
          <a:lstStyle/>
          <a:p>
            <a:pPr>
              <a:buNone/>
            </a:pPr>
            <a:r>
              <a:rPr sz="1750" b="0" i="0" u="none"/>
              <a:t>Real-time monitoring</a:t>
            </a:r>
            <a:endParaRPr sz="1750" b="0" i="0">
              <a:latin typeface="Arial"/>
            </a:endParaRPr>
          </a:p>
          <a:p>
            <a:pPr lvl="1"/>
            <a:r>
              <a:rPr sz="1750" b="0" i="0" u="none"/>
              <a:t>Feature-specific error rates</a:t>
            </a:r>
            <a:endParaRPr sz="1750" b="0" i="0">
              <a:latin typeface="Arial"/>
            </a:endParaRPr>
          </a:p>
          <a:p>
            <a:pPr lvl="1"/>
            <a:r>
              <a:rPr sz="1750" b="0" i="0" u="none"/>
              <a:t>Latency percentiles such as p50, p95, p99</a:t>
            </a:r>
            <a:endParaRPr sz="1750" b="0" i="0">
              <a:latin typeface="Arial"/>
            </a:endParaRPr>
          </a:p>
          <a:p>
            <a:pPr lvl="1"/>
            <a:r>
              <a:rPr sz="1750" b="0" i="0" u="none"/>
              <a:t>Resource utilization including CPU and memory</a:t>
            </a:r>
            <a:endParaRPr sz="1750" b="0" i="0">
              <a:latin typeface="Arial"/>
            </a:endParaRPr>
          </a:p>
          <a:p>
            <a:pPr lvl="1"/>
            <a:r>
              <a:rPr sz="1750" b="0" i="0" u="none"/>
              <a:t>User impact metrics such as conversion and engagement</a:t>
            </a:r>
            <a:endParaRPr sz="1750" b="0" i="0">
              <a:latin typeface="Arial"/>
            </a:endParaRPr>
          </a:p>
          <a:p>
            <a:pPr>
              <a:buNone/>
            </a:pPr>
            <a:endParaRPr sz="1750" b="0" i="0">
              <a:latin typeface="Arial"/>
            </a:endParaRPr>
          </a:p>
          <a:p>
            <a:pPr>
              <a:buNone/>
            </a:pPr>
            <a:r>
              <a:rPr sz="1750" b="0" i="0" u="none"/>
              <a:t>Essential alerts</a:t>
            </a:r>
            <a:endParaRPr sz="1750" b="0" i="0">
              <a:latin typeface="Arial"/>
            </a:endParaRPr>
          </a:p>
          <a:p>
            <a:pPr lvl="1"/>
            <a:r>
              <a:rPr sz="1750" b="0" i="0" u="none"/>
              <a:t>Threshold violations</a:t>
            </a:r>
            <a:endParaRPr sz="1750" b="0" i="0">
              <a:latin typeface="Arial"/>
            </a:endParaRPr>
          </a:p>
          <a:p>
            <a:pPr lvl="1"/>
            <a:r>
              <a:rPr sz="1750" b="0" i="0" u="none"/>
              <a:t>Anomaly detection</a:t>
            </a:r>
            <a:endParaRPr sz="1750" b="0" i="0">
              <a:latin typeface="Arial"/>
            </a:endParaRPr>
          </a:p>
          <a:p>
            <a:pPr lvl="1"/>
            <a:r>
              <a:rPr sz="1750" b="0" i="0" u="none"/>
              <a:t>Baseline comparisons</a:t>
            </a:r>
            <a:endParaRPr sz="1750" b="0" i="0">
              <a:latin typeface="Arial"/>
            </a:endParaRPr>
          </a:p>
          <a:p>
            <a:pPr lvl="1"/>
            <a:r>
              <a:rPr sz="1750" b="0" i="0" u="none"/>
              <a:t>Correlated multi-signal alerts</a:t>
            </a:r>
            <a:endParaRPr sz="1750" b="0" i="0">
              <a:latin typeface="Arial"/>
            </a:endParaRPr>
          </a:p>
        </p:txBody>
      </p:sp>
      <p:sp>
        <p:nvSpPr>
          <p:cNvPr id="4" name="Content Placeholder 3"/>
          <p:cNvSpPr>
            <a:spLocks noGrp="1"/>
          </p:cNvSpPr>
          <p:nvPr>
            <p:ph sz="half" idx="2"/>
          </p:nvPr>
        </p:nvSpPr>
        <p:spPr/>
        <p:txBody>
          <a:bodyPr wrap="square">
            <a:normAutofit/>
          </a:bodyPr>
          <a:lstStyle/>
          <a:p>
            <a:pPr>
              <a:buNone/>
            </a:pPr>
            <a:r>
              <a:rPr sz="1800" b="0" i="0" u="none"/>
              <a:t>Dashboard example</a:t>
            </a:r>
            <a:endParaRPr sz="1800" b="0" i="0">
              <a:latin typeface="Consolas"/>
            </a:endParaRPr>
          </a:p>
          <a:p>
            <a:pPr>
              <a:buNone/>
            </a:pPr>
            <a:endParaRPr sz="1800" b="0" i="0">
              <a:latin typeface="Consolas"/>
            </a:endParaRPr>
          </a:p>
          <a:p>
            <a:pPr>
              <a:buNone/>
            </a:pPr>
            <a:r>
              <a:rPr sz="1800" b="0" i="0">
                <a:latin typeface="Consolas"/>
              </a:rPr>
              <a:t>Feature: Payment Processing v2</a:t>
            </a:r>
          </a:p>
          <a:p>
            <a:pPr>
              <a:buNone/>
            </a:pPr>
            <a:r>
              <a:rPr sz="1800" b="0" i="0">
                <a:latin typeface="Consolas"/>
              </a:rPr>
              <a:t>├─ Error Rate: 0.8% (baseline: 0.5%) ⚠️</a:t>
            </a:r>
          </a:p>
          <a:p>
            <a:pPr>
              <a:buNone/>
            </a:pPr>
            <a:r>
              <a:rPr sz="1800" b="0" i="0">
                <a:latin typeface="Consolas"/>
              </a:rPr>
              <a:t>├─ p95 Latency: 320ms (baseline: 280ms) ⚠️</a:t>
            </a:r>
          </a:p>
          <a:p>
            <a:pPr>
              <a:buNone/>
            </a:pPr>
            <a:r>
              <a:rPr sz="1800" b="0" i="0">
                <a:latin typeface="Consolas"/>
              </a:rPr>
              <a:t>├─ Canary Coverage: 5%</a:t>
            </a:r>
          </a:p>
          <a:p>
            <a:pPr>
              <a:buNone/>
            </a:pPr>
            <a:r>
              <a:rPr sz="1800" b="0" i="0">
                <a:latin typeface="Consolas"/>
              </a:rPr>
              <a:t>└─ Auto-rollback: ARMED</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Autofit/>
          </a:bodyPr>
          <a:lstStyle/>
          <a:p>
            <a:r>
              <a:rPr sz="4100"/>
              <a:t>Technique 4: Automated Rollback</a:t>
            </a:r>
          </a:p>
        </p:txBody>
      </p:sp>
      <p:sp>
        <p:nvSpPr>
          <p:cNvPr id="3" name="Content Placeholder 2"/>
          <p:cNvSpPr>
            <a:spLocks noGrp="1"/>
          </p:cNvSpPr>
          <p:nvPr>
            <p:ph sz="half" idx="1"/>
          </p:nvPr>
        </p:nvSpPr>
        <p:spPr/>
        <p:txBody>
          <a:bodyPr wrap="square">
            <a:noAutofit/>
          </a:bodyPr>
          <a:lstStyle/>
          <a:p>
            <a:pPr>
              <a:buNone/>
            </a:pPr>
            <a:r>
              <a:rPr sz="1900" b="0" i="0" u="none"/>
              <a:t>Automated response to failures</a:t>
            </a:r>
            <a:endParaRPr sz="1900" b="0" i="0">
              <a:latin typeface="Arial"/>
            </a:endParaRPr>
          </a:p>
          <a:p>
            <a:pPr lvl="1"/>
            <a:r>
              <a:rPr sz="1900" b="0" i="0" u="none"/>
              <a:t>Define error budgets per feature</a:t>
            </a:r>
            <a:endParaRPr sz="1900" b="0" i="0">
              <a:latin typeface="Arial"/>
            </a:endParaRPr>
          </a:p>
          <a:p>
            <a:pPr lvl="1"/>
            <a:r>
              <a:rPr sz="1900" b="0" i="0" u="none"/>
              <a:t>Monitor continuously in real time</a:t>
            </a:r>
            <a:endParaRPr sz="1900" b="0" i="0">
              <a:latin typeface="Arial"/>
            </a:endParaRPr>
          </a:p>
          <a:p>
            <a:pPr lvl="1"/>
            <a:r>
              <a:rPr sz="1900" b="0" i="0" u="none"/>
              <a:t>Auto-disable a feature if the budget is exceeded</a:t>
            </a:r>
            <a:endParaRPr sz="1900" b="0" i="0">
              <a:latin typeface="Arial"/>
            </a:endParaRPr>
          </a:p>
          <a:p>
            <a:pPr lvl="1"/>
            <a:r>
              <a:rPr sz="1900" b="0" i="0" u="none"/>
              <a:t>Alert the team for investigation</a:t>
            </a:r>
            <a:endParaRPr sz="1900" b="0" i="0">
              <a:latin typeface="Arial"/>
            </a:endParaRPr>
          </a:p>
          <a:p>
            <a:pPr>
              <a:buNone/>
            </a:pPr>
            <a:endParaRPr sz="1900" b="0" i="0">
              <a:latin typeface="Arial"/>
            </a:endParaRPr>
          </a:p>
          <a:p>
            <a:pPr>
              <a:buNone/>
            </a:pPr>
            <a:r>
              <a:rPr sz="1900" b="0" i="0" u="none"/>
              <a:t>Why automation matters</a:t>
            </a:r>
            <a:endParaRPr sz="1900" b="0" i="0">
              <a:latin typeface="Arial"/>
            </a:endParaRPr>
          </a:p>
          <a:p>
            <a:pPr lvl="1"/>
            <a:r>
              <a:rPr sz="1900" b="0" i="0" u="none"/>
              <a:t>Humans are too slow</a:t>
            </a:r>
            <a:endParaRPr sz="1900" b="0" i="0">
              <a:latin typeface="Arial"/>
            </a:endParaRPr>
          </a:p>
          <a:p>
            <a:pPr lvl="1"/>
            <a:r>
              <a:rPr sz="1900" b="0" i="0" u="none"/>
              <a:t>Response stays consistent</a:t>
            </a:r>
            <a:endParaRPr sz="1900" b="0" i="0">
              <a:latin typeface="Arial"/>
            </a:endParaRPr>
          </a:p>
          <a:p>
            <a:pPr lvl="1"/>
            <a:r>
              <a:rPr sz="1900" b="0" i="0" u="none"/>
              <a:t>Blast radius stays smaller</a:t>
            </a:r>
            <a:endParaRPr sz="1900" b="0" i="0">
              <a:latin typeface="Arial"/>
            </a:endParaRPr>
          </a:p>
          <a:p>
            <a:pPr lvl="1"/>
            <a:r>
              <a:rPr sz="1900" b="0" i="0" u="none"/>
              <a:t>MTTR drops quickly</a:t>
            </a:r>
            <a:endParaRPr sz="1900" b="0" i="0">
              <a:latin typeface="Arial"/>
            </a:endParaRPr>
          </a:p>
        </p:txBody>
      </p:sp>
      <p:sp>
        <p:nvSpPr>
          <p:cNvPr id="4" name="Content Placeholder 3"/>
          <p:cNvSpPr>
            <a:spLocks noGrp="1"/>
          </p:cNvSpPr>
          <p:nvPr>
            <p:ph sz="half" idx="2"/>
          </p:nvPr>
        </p:nvSpPr>
        <p:spPr/>
        <p:txBody>
          <a:bodyPr wrap="square">
            <a:normAutofit/>
          </a:bodyPr>
          <a:lstStyle/>
          <a:p>
            <a:pPr>
              <a:buNone/>
            </a:pPr>
            <a:r>
              <a:rPr sz="1800" b="0" i="0" u="none"/>
              <a:t>Rollback conditions</a:t>
            </a:r>
            <a:endParaRPr sz="1800" b="0" i="0">
              <a:latin typeface="Consolas"/>
            </a:endParaRPr>
          </a:p>
          <a:p>
            <a:pPr>
              <a:buNone/>
            </a:pPr>
            <a:endParaRPr sz="1800" b="0" i="0">
              <a:latin typeface="Consolas"/>
            </a:endParaRPr>
          </a:p>
          <a:p>
            <a:pPr>
              <a:buNone/>
            </a:pPr>
            <a:r>
              <a:rPr sz="1800" b="0" i="0">
                <a:latin typeface="Consolas"/>
              </a:rPr>
              <a:t>feature: payment_processing_v2</a:t>
            </a:r>
          </a:p>
          <a:p>
            <a:pPr>
              <a:buNone/>
            </a:pPr>
            <a:r>
              <a:rPr sz="1800" b="0" i="0">
                <a:latin typeface="Consolas"/>
              </a:rPr>
              <a:t>error_budget:</a:t>
            </a:r>
          </a:p>
          <a:p>
            <a:pPr>
              <a:buNone/>
            </a:pPr>
            <a:r>
              <a:rPr sz="1800" b="0" i="0">
                <a:latin typeface="Consolas"/>
              </a:rPr>
              <a:t>  threshold: 1.0% # max allowed error rate</a:t>
            </a:r>
          </a:p>
          <a:p>
            <a:pPr>
              <a:buNone/>
            </a:pPr>
            <a:r>
              <a:rPr sz="1800" b="0" i="0">
                <a:latin typeface="Consolas"/>
              </a:rPr>
              <a:t>  window: 5min # measurement period</a:t>
            </a:r>
          </a:p>
          <a:p>
            <a:pPr>
              <a:buNone/>
            </a:pPr>
            <a:r>
              <a:rPr sz="1800" b="0" i="0">
                <a:latin typeface="Consolas"/>
              </a:rPr>
              <a:t>  action: disable # auto-disable if exceeded</a:t>
            </a:r>
          </a:p>
          <a:p>
            <a:pPr>
              <a:buNone/>
            </a:pPr>
            <a:r>
              <a:rPr sz="1800" b="0" i="0">
                <a:latin typeface="Consolas"/>
              </a:rPr>
              <a:t>  notify: [oncall-team, slack-alerts]</a:t>
            </a:r>
          </a:p>
        </p:txBody>
      </p:sp>
    </p:spTree>
  </p:cSld>
  <p:clrMapOvr>
    <a:masterClrMapping/>
  </p:clrMapOvr>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MM CODE Training Slide Template.potx" id="{C235AF94-6470-4DC8-ADA1-D5CA24C263BE}" vid="{E23727E8-263B-4C98-B166-009CDF69EE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58</TotalTime>
  <Words>14899</Words>
  <Application>Microsoft Office PowerPoint</Application>
  <PresentationFormat>Widescreen</PresentationFormat>
  <Paragraphs>2174</Paragraphs>
  <Slides>126</Slides>
  <Notes>126</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126</vt:i4>
      </vt:variant>
    </vt:vector>
  </HeadingPairs>
  <TitlesOfParts>
    <vt:vector size="132" baseType="lpstr">
      <vt:lpstr>Arial</vt:lpstr>
      <vt:lpstr>Calibri</vt:lpstr>
      <vt:lpstr>Consolas</vt:lpstr>
      <vt:lpstr>Noto Sans</vt:lpstr>
      <vt:lpstr>Victor Mono</vt:lpstr>
      <vt:lpstr>CODE Training</vt:lpstr>
      <vt:lpstr>The Return of the Prompter</vt:lpstr>
      <vt:lpstr>How Much Does an AI Pair Programmer Cost?</vt:lpstr>
      <vt:lpstr>Copilot Plan Overview</vt:lpstr>
      <vt:lpstr>Business vs. Enterprise</vt:lpstr>
      <vt:lpstr>Organization-Level Instruction Files</vt:lpstr>
      <vt:lpstr>Course Modules</vt:lpstr>
      <vt:lpstr>Large Language Models</vt:lpstr>
      <vt:lpstr>What Is a Large Language Model?</vt:lpstr>
      <vt:lpstr>Tokenization — Breaking Text Apart</vt:lpstr>
      <vt:lpstr>The Transformer Architecture</vt:lpstr>
      <vt:lpstr>Self-Attention — The Core Idea</vt:lpstr>
      <vt:lpstr>The Training Process</vt:lpstr>
      <vt:lpstr>The Training Process</vt:lpstr>
      <vt:lpstr>Context Window — The Model's Working Memory</vt:lpstr>
      <vt:lpstr>Temperature &amp; Sampling</vt:lpstr>
      <vt:lpstr>Key Takeaways</vt:lpstr>
      <vt:lpstr>Course Modules</vt:lpstr>
      <vt:lpstr>GitHub Copilot for Teams</vt:lpstr>
      <vt:lpstr>GitHub Copilot for Teams</vt:lpstr>
      <vt:lpstr>Risks to Consider</vt:lpstr>
      <vt:lpstr>Governance and Compliance Risks</vt:lpstr>
      <vt:lpstr>IP and Data Protection</vt:lpstr>
      <vt:lpstr>Licensing and Legal Considerations</vt:lpstr>
      <vt:lpstr>Deployment Options</vt:lpstr>
      <vt:lpstr>Resources</vt:lpstr>
      <vt:lpstr>Course Modules</vt:lpstr>
      <vt:lpstr>Safety Measures and Best Practices</vt:lpstr>
      <vt:lpstr>Safety Measures &amp; Best Practices</vt:lpstr>
      <vt:lpstr>Treat AI Like an Eager Knowledgeable Junior Developer</vt:lpstr>
      <vt:lpstr>Coverage Is a Floor, Not the Goal</vt:lpstr>
      <vt:lpstr>Keep Change Sets Small and Reviewable</vt:lpstr>
      <vt:lpstr>Human Review + Automated Review Workflow</vt:lpstr>
      <vt:lpstr>Practical Safety Checklist for AI-Assisted Changes</vt:lpstr>
      <vt:lpstr>Course Modules</vt:lpstr>
      <vt:lpstr>Model Selection and Comparison</vt:lpstr>
      <vt:lpstr>Public Leaderboards</vt:lpstr>
      <vt:lpstr>Core Benchmarks</vt:lpstr>
      <vt:lpstr>Surveys &amp; Deep-Dive Research</vt:lpstr>
      <vt:lpstr>Evaluation Frameworks</vt:lpstr>
      <vt:lpstr>Selecting Models</vt:lpstr>
      <vt:lpstr>Advanced Context Techniques</vt:lpstr>
      <vt:lpstr>Advanced Context Techniques</vt:lpstr>
      <vt:lpstr>File &amp; Folder Mentions (# Syntax)</vt:lpstr>
      <vt:lpstr>Spaces &amp; Knowledge Bases Integration</vt:lpstr>
      <vt:lpstr>Premium Usage Monitoring</vt:lpstr>
      <vt:lpstr>Token Estimation &amp; Overflow Detection</vt:lpstr>
      <vt:lpstr>Why Token Limits Matter</vt:lpstr>
      <vt:lpstr>Technique: Summaries</vt:lpstr>
      <vt:lpstr>Technique: Chunking</vt:lpstr>
      <vt:lpstr>Technique: Scoped Prompts</vt:lpstr>
      <vt:lpstr>Technique: Instruction Files</vt:lpstr>
      <vt:lpstr>Course Modules</vt:lpstr>
      <vt:lpstr>Scoped vs Non‑Scoped Instructions</vt:lpstr>
      <vt:lpstr>Scoped `&lt;name&gt;.instructions.md` files</vt:lpstr>
      <vt:lpstr>Repo‑level `.md` files</vt:lpstr>
      <vt:lpstr>Decision Rule</vt:lpstr>
      <vt:lpstr>`exclude:` in Practice</vt:lpstr>
      <vt:lpstr>Prompt Files</vt:lpstr>
      <vt:lpstr>What Are Prompt Files?</vt:lpstr>
      <vt:lpstr>Prompt Files: Use Cases</vt:lpstr>
      <vt:lpstr>Prompt Files Best Practices</vt:lpstr>
      <vt:lpstr>Exercise: Creating Prompt Files</vt:lpstr>
      <vt:lpstr>Exercise: Creating Prompt Files</vt:lpstr>
      <vt:lpstr>Creating Instruction Files from Prompts</vt:lpstr>
      <vt:lpstr>Creating Instruction Files from Prompts</vt:lpstr>
      <vt:lpstr>Prompt to Instruction Workflow</vt:lpstr>
      <vt:lpstr>Inference Is Your Friend</vt:lpstr>
      <vt:lpstr>Inference Is Not Your Friend</vt:lpstr>
      <vt:lpstr>Why Start with a Prompt-First Approach?</vt:lpstr>
      <vt:lpstr>Two Ways to Refine the Result</vt:lpstr>
      <vt:lpstr>Why Prompt Files Beat Simple Directives</vt:lpstr>
      <vt:lpstr>Course Modules</vt:lpstr>
      <vt:lpstr>Documentation Generation and Code Analysis</vt:lpstr>
      <vt:lpstr>Documentation Generation &amp; Code Analysis</vt:lpstr>
      <vt:lpstr>Automated README &amp; Documentation Updates</vt:lpstr>
      <vt:lpstr>Create Architecture Diagrams</vt:lpstr>
      <vt:lpstr>Architecture Diagram Generation</vt:lpstr>
      <vt:lpstr>Complex Code Explanation &amp; Mapping</vt:lpstr>
      <vt:lpstr>Identifying Technical Debt Hot-spots</vt:lpstr>
      <vt:lpstr>Generate Development &amp; Deployment Guides</vt:lpstr>
      <vt:lpstr>Update Project Documentation</vt:lpstr>
      <vt:lpstr>Cross-Validate With Multiple AI Models</vt:lpstr>
      <vt:lpstr>Exercise: Brownfield Code Documentation</vt:lpstr>
      <vt:lpstr>Exercise: Create a Prompt File</vt:lpstr>
      <vt:lpstr>Code Explanation and Analysis</vt:lpstr>
      <vt:lpstr>Code Explanation with Copilot</vt:lpstr>
      <vt:lpstr>Understanding Test Code</vt:lpstr>
      <vt:lpstr>Coverage Gap Analysis</vt:lpstr>
      <vt:lpstr>Generating a Coverage Report</vt:lpstr>
      <vt:lpstr>Identifying Missing Coverage Areas</vt:lpstr>
      <vt:lpstr>Recommended Test Implementation Plan</vt:lpstr>
      <vt:lpstr>Implementing Tests from Recommendations</vt:lpstr>
      <vt:lpstr>Course Modules</vt:lpstr>
      <vt:lpstr>Test Automation and Code Quality</vt:lpstr>
      <vt:lpstr>Test Automation &amp; Code Quality</vt:lpstr>
      <vt:lpstr>AI-Assisted Test Generation</vt:lpstr>
      <vt:lpstr>Intelligent Linting</vt:lpstr>
      <vt:lpstr>Coverage Analysis</vt:lpstr>
      <vt:lpstr>Automated Quality Gates</vt:lpstr>
      <vt:lpstr>Exercise: Test Automation and Quality</vt:lpstr>
      <vt:lpstr>Exercise: Strengthening Test Automation &amp; Code Quality</vt:lpstr>
      <vt:lpstr>Creating Robust Testing Frameworks</vt:lpstr>
      <vt:lpstr>Generating Comprehensive Test Suites</vt:lpstr>
      <vt:lpstr>Managing Test Suites Over Time</vt:lpstr>
      <vt:lpstr>Test Review &amp; Validation Strategies</vt:lpstr>
      <vt:lpstr>Balancing Test Coverage with Maintainability</vt:lpstr>
      <vt:lpstr>Exercise: Strengthening Your Testing Framework</vt:lpstr>
      <vt:lpstr>Feature Flags and Test Suites</vt:lpstr>
      <vt:lpstr>Feature Flags &amp; Test Suites</vt:lpstr>
      <vt:lpstr>As-Is Test Suites — Purpose</vt:lpstr>
      <vt:lpstr>As-Is Test Suites — Building Confidence</vt:lpstr>
      <vt:lpstr>As-Is Test Suites — Critical Rules</vt:lpstr>
      <vt:lpstr>To-Be Test Suites — Purpose</vt:lpstr>
      <vt:lpstr>To-Be Test Suites — Workflow</vt:lpstr>
      <vt:lpstr>Automation Strategy</vt:lpstr>
      <vt:lpstr>Benefits of the Dual-Suite Approach</vt:lpstr>
      <vt:lpstr>Maintenance — After Production Release</vt:lpstr>
      <vt:lpstr>Feature Flag Retirement — AI-Assisted</vt:lpstr>
      <vt:lpstr>Testing in Production</vt:lpstr>
      <vt:lpstr>Testing in Production</vt:lpstr>
      <vt:lpstr>Why Test in Production?</vt:lpstr>
      <vt:lpstr>Core Principle</vt:lpstr>
      <vt:lpstr>Technique 1: Shadow Traffic</vt:lpstr>
      <vt:lpstr>Technique 2: Canary Releases</vt:lpstr>
      <vt:lpstr>Technique 3: Observability Dashboards</vt:lpstr>
      <vt:lpstr>Technique 4: Automated Rollback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lastModifiedBy>John Miller</cp:lastModifiedBy>
  <cp:revision>6</cp:revision>
  <dcterms:created xsi:type="dcterms:W3CDTF">2025-10-19T18:09:53Z</dcterms:created>
  <dcterms:modified xsi:type="dcterms:W3CDTF">2026-04-07T16:36:02Z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0x010100587004330F6D8B418A43481AAFC77453</vt:lpwstr>
  </property>
</Properties>
</file>