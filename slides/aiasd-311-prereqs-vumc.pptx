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31"/>
  </p:notesMasterIdLst>
  <p:sldIdLst>
    <p:sldId id="256" r:id="rId2"/>
    <p:sldId id="2141411852"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96A37C-7B06-455D-9432-8055670BA760}" v="3" dt="2026-03-30T01:34:39.5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7" autoAdjust="0"/>
    <p:restoredTop sz="63597" autoAdjust="0"/>
  </p:normalViewPr>
  <p:slideViewPr>
    <p:cSldViewPr snapToGrid="0" showGuides="1">
      <p:cViewPr varScale="1">
        <p:scale>
          <a:sx n="109" d="100"/>
          <a:sy n="109" d="100"/>
        </p:scale>
        <p:origin x="600" y="114"/>
      </p:cViewPr>
      <p:guideLst/>
    </p:cSldViewPr>
  </p:slideViewPr>
  <p:outlineViewPr>
    <p:cViewPr>
      <p:scale>
        <a:sx n="33" d="100"/>
        <a:sy n="33" d="100"/>
      </p:scale>
      <p:origin x="0" y="-16152"/>
    </p:cViewPr>
  </p:outlineViewPr>
  <p:notesTextViewPr>
    <p:cViewPr>
      <p:scale>
        <a:sx n="1" d="1"/>
        <a:sy n="1" d="1"/>
      </p:scale>
      <p:origin x="0" y="-282"/>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Miller" userId="70e70d2d-fa72-4952-98cf-67858fa4ef7a" providerId="ADAL" clId="{3C0F8D48-B805-4732-975A-89F26263F015}"/>
    <pc:docChg chg="undo custSel addSld delSld modSld">
      <pc:chgData name="John Miller" userId="70e70d2d-fa72-4952-98cf-67858fa4ef7a" providerId="ADAL" clId="{3C0F8D48-B805-4732-975A-89F26263F015}" dt="2026-03-30T01:34:38.504" v="116" actId="20577"/>
      <pc:docMkLst>
        <pc:docMk/>
      </pc:docMkLst>
      <pc:sldChg chg="add del mod modShow">
        <pc:chgData name="John Miller" userId="70e70d2d-fa72-4952-98cf-67858fa4ef7a" providerId="ADAL" clId="{3C0F8D48-B805-4732-975A-89F26263F015}" dt="2026-03-30T01:25:02.113" v="6" actId="729"/>
        <pc:sldMkLst>
          <pc:docMk/>
          <pc:sldMk cId="0" sldId="257"/>
        </pc:sldMkLst>
      </pc:sldChg>
      <pc:sldChg chg="mod modShow">
        <pc:chgData name="John Miller" userId="70e70d2d-fa72-4952-98cf-67858fa4ef7a" providerId="ADAL" clId="{3C0F8D48-B805-4732-975A-89F26263F015}" dt="2026-03-30T01:25:04.355" v="7" actId="729"/>
        <pc:sldMkLst>
          <pc:docMk/>
          <pc:sldMk cId="0" sldId="258"/>
        </pc:sldMkLst>
      </pc:sldChg>
      <pc:sldChg chg="modSp mod modNotes">
        <pc:chgData name="John Miller" userId="70e70d2d-fa72-4952-98cf-67858fa4ef7a" providerId="ADAL" clId="{3C0F8D48-B805-4732-975A-89F26263F015}" dt="2026-03-30T01:31:09.063" v="78"/>
        <pc:sldMkLst>
          <pc:docMk/>
          <pc:sldMk cId="0" sldId="259"/>
        </pc:sldMkLst>
        <pc:spChg chg="mod">
          <ac:chgData name="John Miller" userId="70e70d2d-fa72-4952-98cf-67858fa4ef7a" providerId="ADAL" clId="{3C0F8D48-B805-4732-975A-89F26263F015}" dt="2026-03-30T01:25:11.241" v="8" actId="5793"/>
          <ac:spMkLst>
            <pc:docMk/>
            <pc:sldMk cId="0" sldId="259"/>
            <ac:spMk id="3" creationId="{00000000-0000-0000-0000-000000000000}"/>
          </ac:spMkLst>
        </pc:spChg>
      </pc:sldChg>
      <pc:sldChg chg="modSp mod modClrScheme chgLayout modNotes">
        <pc:chgData name="John Miller" userId="70e70d2d-fa72-4952-98cf-67858fa4ef7a" providerId="ADAL" clId="{3C0F8D48-B805-4732-975A-89F26263F015}" dt="2026-03-30T01:31:09.063" v="78"/>
        <pc:sldMkLst>
          <pc:docMk/>
          <pc:sldMk cId="0" sldId="260"/>
        </pc:sldMkLst>
        <pc:spChg chg="mod ord">
          <ac:chgData name="John Miller" userId="70e70d2d-fa72-4952-98cf-67858fa4ef7a" providerId="ADAL" clId="{3C0F8D48-B805-4732-975A-89F26263F015}" dt="2026-03-30T01:25:28.359" v="13" actId="700"/>
          <ac:spMkLst>
            <pc:docMk/>
            <pc:sldMk cId="0" sldId="260"/>
            <ac:spMk id="2" creationId="{00000000-0000-0000-0000-000000000000}"/>
          </ac:spMkLst>
        </pc:spChg>
        <pc:spChg chg="mod ord">
          <ac:chgData name="John Miller" userId="70e70d2d-fa72-4952-98cf-67858fa4ef7a" providerId="ADAL" clId="{3C0F8D48-B805-4732-975A-89F26263F015}" dt="2026-03-30T01:25:28.359" v="13" actId="700"/>
          <ac:spMkLst>
            <pc:docMk/>
            <pc:sldMk cId="0" sldId="260"/>
            <ac:spMk id="3" creationId="{00000000-0000-0000-0000-000000000000}"/>
          </ac:spMkLst>
        </pc:spChg>
      </pc:sldChg>
      <pc:sldChg chg="modSp mod modNotes">
        <pc:chgData name="John Miller" userId="70e70d2d-fa72-4952-98cf-67858fa4ef7a" providerId="ADAL" clId="{3C0F8D48-B805-4732-975A-89F26263F015}" dt="2026-03-30T01:31:09.063" v="78"/>
        <pc:sldMkLst>
          <pc:docMk/>
          <pc:sldMk cId="0" sldId="261"/>
        </pc:sldMkLst>
        <pc:spChg chg="mod">
          <ac:chgData name="John Miller" userId="70e70d2d-fa72-4952-98cf-67858fa4ef7a" providerId="ADAL" clId="{3C0F8D48-B805-4732-975A-89F26263F015}" dt="2026-03-30T01:25:52.961" v="18" actId="5793"/>
          <ac:spMkLst>
            <pc:docMk/>
            <pc:sldMk cId="0" sldId="261"/>
            <ac:spMk id="3" creationId="{00000000-0000-0000-0000-000000000000}"/>
          </ac:spMkLst>
        </pc:spChg>
        <pc:spChg chg="mod">
          <ac:chgData name="John Miller" userId="70e70d2d-fa72-4952-98cf-67858fa4ef7a" providerId="ADAL" clId="{3C0F8D48-B805-4732-975A-89F26263F015}" dt="2026-03-30T01:26:00.940" v="21" actId="5793"/>
          <ac:spMkLst>
            <pc:docMk/>
            <pc:sldMk cId="0" sldId="261"/>
            <ac:spMk id="4" creationId="{00000000-0000-0000-0000-000000000000}"/>
          </ac:spMkLst>
        </pc:spChg>
      </pc:sldChg>
      <pc:sldChg chg="modSp mod modNotes">
        <pc:chgData name="John Miller" userId="70e70d2d-fa72-4952-98cf-67858fa4ef7a" providerId="ADAL" clId="{3C0F8D48-B805-4732-975A-89F26263F015}" dt="2026-03-30T01:31:09.063" v="78"/>
        <pc:sldMkLst>
          <pc:docMk/>
          <pc:sldMk cId="0" sldId="262"/>
        </pc:sldMkLst>
        <pc:spChg chg="mod">
          <ac:chgData name="John Miller" userId="70e70d2d-fa72-4952-98cf-67858fa4ef7a" providerId="ADAL" clId="{3C0F8D48-B805-4732-975A-89F26263F015}" dt="2026-03-30T01:26:25.316" v="27" actId="20577"/>
          <ac:spMkLst>
            <pc:docMk/>
            <pc:sldMk cId="0" sldId="262"/>
            <ac:spMk id="3" creationId="{00000000-0000-0000-0000-000000000000}"/>
          </ac:spMkLst>
        </pc:spChg>
      </pc:sldChg>
      <pc:sldChg chg="modSp mod modNotes">
        <pc:chgData name="John Miller" userId="70e70d2d-fa72-4952-98cf-67858fa4ef7a" providerId="ADAL" clId="{3C0F8D48-B805-4732-975A-89F26263F015}" dt="2026-03-30T01:31:09.063" v="78"/>
        <pc:sldMkLst>
          <pc:docMk/>
          <pc:sldMk cId="0" sldId="263"/>
        </pc:sldMkLst>
        <pc:spChg chg="mod">
          <ac:chgData name="John Miller" userId="70e70d2d-fa72-4952-98cf-67858fa4ef7a" providerId="ADAL" clId="{3C0F8D48-B805-4732-975A-89F26263F015}" dt="2026-03-30T01:26:38.016" v="31" actId="6549"/>
          <ac:spMkLst>
            <pc:docMk/>
            <pc:sldMk cId="0" sldId="263"/>
            <ac:spMk id="3" creationId="{00000000-0000-0000-0000-000000000000}"/>
          </ac:spMkLst>
        </pc:spChg>
      </pc:sldChg>
      <pc:sldChg chg="modSp mod modNotes">
        <pc:chgData name="John Miller" userId="70e70d2d-fa72-4952-98cf-67858fa4ef7a" providerId="ADAL" clId="{3C0F8D48-B805-4732-975A-89F26263F015}" dt="2026-03-30T01:31:09.063" v="78"/>
        <pc:sldMkLst>
          <pc:docMk/>
          <pc:sldMk cId="0" sldId="264"/>
        </pc:sldMkLst>
        <pc:spChg chg="mod">
          <ac:chgData name="John Miller" userId="70e70d2d-fa72-4952-98cf-67858fa4ef7a" providerId="ADAL" clId="{3C0F8D48-B805-4732-975A-89F26263F015}" dt="2026-03-30T01:26:48.554" v="35" actId="20577"/>
          <ac:spMkLst>
            <pc:docMk/>
            <pc:sldMk cId="0" sldId="264"/>
            <ac:spMk id="3" creationId="{00000000-0000-0000-0000-000000000000}"/>
          </ac:spMkLst>
        </pc:spChg>
      </pc:sldChg>
      <pc:sldChg chg="modSp mod modNotes">
        <pc:chgData name="John Miller" userId="70e70d2d-fa72-4952-98cf-67858fa4ef7a" providerId="ADAL" clId="{3C0F8D48-B805-4732-975A-89F26263F015}" dt="2026-03-30T01:31:09.063" v="78"/>
        <pc:sldMkLst>
          <pc:docMk/>
          <pc:sldMk cId="0" sldId="265"/>
        </pc:sldMkLst>
        <pc:spChg chg="mod">
          <ac:chgData name="John Miller" userId="70e70d2d-fa72-4952-98cf-67858fa4ef7a" providerId="ADAL" clId="{3C0F8D48-B805-4732-975A-89F26263F015}" dt="2026-03-30T01:26:59.085" v="39" actId="6549"/>
          <ac:spMkLst>
            <pc:docMk/>
            <pc:sldMk cId="0" sldId="265"/>
            <ac:spMk id="3" creationId="{00000000-0000-0000-0000-000000000000}"/>
          </ac:spMkLst>
        </pc:spChg>
      </pc:sldChg>
      <pc:sldChg chg="modNotes">
        <pc:chgData name="John Miller" userId="70e70d2d-fa72-4952-98cf-67858fa4ef7a" providerId="ADAL" clId="{3C0F8D48-B805-4732-975A-89F26263F015}" dt="2026-03-30T01:31:09.063" v="78"/>
        <pc:sldMkLst>
          <pc:docMk/>
          <pc:sldMk cId="0" sldId="266"/>
        </pc:sldMkLst>
      </pc:sldChg>
      <pc:sldChg chg="modSp mod modNotes">
        <pc:chgData name="John Miller" userId="70e70d2d-fa72-4952-98cf-67858fa4ef7a" providerId="ADAL" clId="{3C0F8D48-B805-4732-975A-89F26263F015}" dt="2026-03-30T01:31:09.063" v="78"/>
        <pc:sldMkLst>
          <pc:docMk/>
          <pc:sldMk cId="0" sldId="267"/>
        </pc:sldMkLst>
        <pc:spChg chg="mod">
          <ac:chgData name="John Miller" userId="70e70d2d-fa72-4952-98cf-67858fa4ef7a" providerId="ADAL" clId="{3C0F8D48-B805-4732-975A-89F26263F015}" dt="2026-03-30T01:27:34.823" v="44" actId="27636"/>
          <ac:spMkLst>
            <pc:docMk/>
            <pc:sldMk cId="0" sldId="267"/>
            <ac:spMk id="3" creationId="{00000000-0000-0000-0000-000000000000}"/>
          </ac:spMkLst>
        </pc:spChg>
      </pc:sldChg>
      <pc:sldChg chg="modNotes">
        <pc:chgData name="John Miller" userId="70e70d2d-fa72-4952-98cf-67858fa4ef7a" providerId="ADAL" clId="{3C0F8D48-B805-4732-975A-89F26263F015}" dt="2026-03-30T01:31:09.063" v="78"/>
        <pc:sldMkLst>
          <pc:docMk/>
          <pc:sldMk cId="0" sldId="268"/>
        </pc:sldMkLst>
      </pc:sldChg>
      <pc:sldChg chg="modNotes">
        <pc:chgData name="John Miller" userId="70e70d2d-fa72-4952-98cf-67858fa4ef7a" providerId="ADAL" clId="{3C0F8D48-B805-4732-975A-89F26263F015}" dt="2026-03-30T01:31:09.063" v="78"/>
        <pc:sldMkLst>
          <pc:docMk/>
          <pc:sldMk cId="0" sldId="269"/>
        </pc:sldMkLst>
      </pc:sldChg>
      <pc:sldChg chg="modSp mod modNotes">
        <pc:chgData name="John Miller" userId="70e70d2d-fa72-4952-98cf-67858fa4ef7a" providerId="ADAL" clId="{3C0F8D48-B805-4732-975A-89F26263F015}" dt="2026-03-30T01:31:09.063" v="78"/>
        <pc:sldMkLst>
          <pc:docMk/>
          <pc:sldMk cId="0" sldId="270"/>
        </pc:sldMkLst>
        <pc:spChg chg="mod">
          <ac:chgData name="John Miller" userId="70e70d2d-fa72-4952-98cf-67858fa4ef7a" providerId="ADAL" clId="{3C0F8D48-B805-4732-975A-89F26263F015}" dt="2026-03-30T01:27:57.651" v="49" actId="27636"/>
          <ac:spMkLst>
            <pc:docMk/>
            <pc:sldMk cId="0" sldId="270"/>
            <ac:spMk id="3" creationId="{00000000-0000-0000-0000-000000000000}"/>
          </ac:spMkLst>
        </pc:spChg>
      </pc:sldChg>
      <pc:sldChg chg="modSp mod modNotes">
        <pc:chgData name="John Miller" userId="70e70d2d-fa72-4952-98cf-67858fa4ef7a" providerId="ADAL" clId="{3C0F8D48-B805-4732-975A-89F26263F015}" dt="2026-03-30T01:31:09.063" v="78"/>
        <pc:sldMkLst>
          <pc:docMk/>
          <pc:sldMk cId="0" sldId="271"/>
        </pc:sldMkLst>
        <pc:spChg chg="mod">
          <ac:chgData name="John Miller" userId="70e70d2d-fa72-4952-98cf-67858fa4ef7a" providerId="ADAL" clId="{3C0F8D48-B805-4732-975A-89F26263F015}" dt="2026-03-30T01:28:13.920" v="54" actId="20577"/>
          <ac:spMkLst>
            <pc:docMk/>
            <pc:sldMk cId="0" sldId="271"/>
            <ac:spMk id="3" creationId="{00000000-0000-0000-0000-000000000000}"/>
          </ac:spMkLst>
        </pc:spChg>
      </pc:sldChg>
      <pc:sldChg chg="modSp mod modNotes">
        <pc:chgData name="John Miller" userId="70e70d2d-fa72-4952-98cf-67858fa4ef7a" providerId="ADAL" clId="{3C0F8D48-B805-4732-975A-89F26263F015}" dt="2026-03-30T01:31:09.063" v="78"/>
        <pc:sldMkLst>
          <pc:docMk/>
          <pc:sldMk cId="0" sldId="272"/>
        </pc:sldMkLst>
        <pc:spChg chg="mod">
          <ac:chgData name="John Miller" userId="70e70d2d-fa72-4952-98cf-67858fa4ef7a" providerId="ADAL" clId="{3C0F8D48-B805-4732-975A-89F26263F015}" dt="2026-03-30T01:28:53.075" v="60" actId="6549"/>
          <ac:spMkLst>
            <pc:docMk/>
            <pc:sldMk cId="0" sldId="272"/>
            <ac:spMk id="3" creationId="{00000000-0000-0000-0000-000000000000}"/>
          </ac:spMkLst>
        </pc:spChg>
      </pc:sldChg>
      <pc:sldChg chg="modSp mod modNotes">
        <pc:chgData name="John Miller" userId="70e70d2d-fa72-4952-98cf-67858fa4ef7a" providerId="ADAL" clId="{3C0F8D48-B805-4732-975A-89F26263F015}" dt="2026-03-30T01:31:09.063" v="78"/>
        <pc:sldMkLst>
          <pc:docMk/>
          <pc:sldMk cId="0" sldId="273"/>
        </pc:sldMkLst>
        <pc:spChg chg="mod">
          <ac:chgData name="John Miller" userId="70e70d2d-fa72-4952-98cf-67858fa4ef7a" providerId="ADAL" clId="{3C0F8D48-B805-4732-975A-89F26263F015}" dt="2026-03-30T01:31:09.063" v="78"/>
          <ac:spMkLst>
            <pc:docMk/>
            <pc:sldMk cId="0" sldId="273"/>
            <ac:spMk id="3" creationId="{00000000-0000-0000-0000-000000000000}"/>
          </ac:spMkLst>
        </pc:spChg>
      </pc:sldChg>
      <pc:sldChg chg="modSp mod modNotes">
        <pc:chgData name="John Miller" userId="70e70d2d-fa72-4952-98cf-67858fa4ef7a" providerId="ADAL" clId="{3C0F8D48-B805-4732-975A-89F26263F015}" dt="2026-03-30T01:31:24.207" v="83" actId="27636"/>
        <pc:sldMkLst>
          <pc:docMk/>
          <pc:sldMk cId="0" sldId="274"/>
        </pc:sldMkLst>
        <pc:spChg chg="mod">
          <ac:chgData name="John Miller" userId="70e70d2d-fa72-4952-98cf-67858fa4ef7a" providerId="ADAL" clId="{3C0F8D48-B805-4732-975A-89F26263F015}" dt="2026-03-30T01:31:09.063" v="78"/>
          <ac:spMkLst>
            <pc:docMk/>
            <pc:sldMk cId="0" sldId="274"/>
            <ac:spMk id="2" creationId="{00000000-0000-0000-0000-000000000000}"/>
          </ac:spMkLst>
        </pc:spChg>
        <pc:spChg chg="mod">
          <ac:chgData name="John Miller" userId="70e70d2d-fa72-4952-98cf-67858fa4ef7a" providerId="ADAL" clId="{3C0F8D48-B805-4732-975A-89F26263F015}" dt="2026-03-30T01:31:24.207" v="83" actId="27636"/>
          <ac:spMkLst>
            <pc:docMk/>
            <pc:sldMk cId="0" sldId="274"/>
            <ac:spMk id="3" creationId="{00000000-0000-0000-0000-000000000000}"/>
          </ac:spMkLst>
        </pc:spChg>
      </pc:sldChg>
      <pc:sldChg chg="modSp mod modNotes">
        <pc:chgData name="John Miller" userId="70e70d2d-fa72-4952-98cf-67858fa4ef7a" providerId="ADAL" clId="{3C0F8D48-B805-4732-975A-89F26263F015}" dt="2026-03-30T01:31:29.780" v="84" actId="6549"/>
        <pc:sldMkLst>
          <pc:docMk/>
          <pc:sldMk cId="0" sldId="275"/>
        </pc:sldMkLst>
        <pc:spChg chg="mod">
          <ac:chgData name="John Miller" userId="70e70d2d-fa72-4952-98cf-67858fa4ef7a" providerId="ADAL" clId="{3C0F8D48-B805-4732-975A-89F26263F015}" dt="2026-03-30T01:31:29.780" v="84" actId="6549"/>
          <ac:spMkLst>
            <pc:docMk/>
            <pc:sldMk cId="0" sldId="275"/>
            <ac:spMk id="3" creationId="{00000000-0000-0000-0000-000000000000}"/>
          </ac:spMkLst>
        </pc:spChg>
      </pc:sldChg>
      <pc:sldChg chg="modSp mod modNotes">
        <pc:chgData name="John Miller" userId="70e70d2d-fa72-4952-98cf-67858fa4ef7a" providerId="ADAL" clId="{3C0F8D48-B805-4732-975A-89F26263F015}" dt="2026-03-30T01:31:40.115" v="85" actId="6549"/>
        <pc:sldMkLst>
          <pc:docMk/>
          <pc:sldMk cId="0" sldId="276"/>
        </pc:sldMkLst>
        <pc:spChg chg="mod">
          <ac:chgData name="John Miller" userId="70e70d2d-fa72-4952-98cf-67858fa4ef7a" providerId="ADAL" clId="{3C0F8D48-B805-4732-975A-89F26263F015}" dt="2026-03-30T01:31:40.115" v="85" actId="6549"/>
          <ac:spMkLst>
            <pc:docMk/>
            <pc:sldMk cId="0" sldId="276"/>
            <ac:spMk id="3" creationId="{00000000-0000-0000-0000-000000000000}"/>
          </ac:spMkLst>
        </pc:spChg>
      </pc:sldChg>
      <pc:sldChg chg="modSp mod modShow modNotes">
        <pc:chgData name="John Miller" userId="70e70d2d-fa72-4952-98cf-67858fa4ef7a" providerId="ADAL" clId="{3C0F8D48-B805-4732-975A-89F26263F015}" dt="2026-03-30T01:31:56.223" v="86" actId="729"/>
        <pc:sldMkLst>
          <pc:docMk/>
          <pc:sldMk cId="0" sldId="277"/>
        </pc:sldMkLst>
        <pc:spChg chg="mod">
          <ac:chgData name="John Miller" userId="70e70d2d-fa72-4952-98cf-67858fa4ef7a" providerId="ADAL" clId="{3C0F8D48-B805-4732-975A-89F26263F015}" dt="2026-03-30T01:31:09.063" v="78"/>
          <ac:spMkLst>
            <pc:docMk/>
            <pc:sldMk cId="0" sldId="277"/>
            <ac:spMk id="4" creationId="{00000000-0000-0000-0000-000000000000}"/>
          </ac:spMkLst>
        </pc:spChg>
      </pc:sldChg>
      <pc:sldChg chg="mod modShow">
        <pc:chgData name="John Miller" userId="70e70d2d-fa72-4952-98cf-67858fa4ef7a" providerId="ADAL" clId="{3C0F8D48-B805-4732-975A-89F26263F015}" dt="2026-03-30T01:32:00.571" v="87" actId="729"/>
        <pc:sldMkLst>
          <pc:docMk/>
          <pc:sldMk cId="0" sldId="278"/>
        </pc:sldMkLst>
      </pc:sldChg>
      <pc:sldChg chg="modSp mod">
        <pc:chgData name="John Miller" userId="70e70d2d-fa72-4952-98cf-67858fa4ef7a" providerId="ADAL" clId="{3C0F8D48-B805-4732-975A-89F26263F015}" dt="2026-03-30T01:32:23.376" v="92" actId="27636"/>
        <pc:sldMkLst>
          <pc:docMk/>
          <pc:sldMk cId="0" sldId="279"/>
        </pc:sldMkLst>
        <pc:spChg chg="mod">
          <ac:chgData name="John Miller" userId="70e70d2d-fa72-4952-98cf-67858fa4ef7a" providerId="ADAL" clId="{3C0F8D48-B805-4732-975A-89F26263F015}" dt="2026-03-30T01:32:23.375" v="91" actId="27636"/>
          <ac:spMkLst>
            <pc:docMk/>
            <pc:sldMk cId="0" sldId="279"/>
            <ac:spMk id="3" creationId="{00000000-0000-0000-0000-000000000000}"/>
          </ac:spMkLst>
        </pc:spChg>
        <pc:spChg chg="mod">
          <ac:chgData name="John Miller" userId="70e70d2d-fa72-4952-98cf-67858fa4ef7a" providerId="ADAL" clId="{3C0F8D48-B805-4732-975A-89F26263F015}" dt="2026-03-30T01:32:23.376" v="92" actId="27636"/>
          <ac:spMkLst>
            <pc:docMk/>
            <pc:sldMk cId="0" sldId="279"/>
            <ac:spMk id="4" creationId="{00000000-0000-0000-0000-000000000000}"/>
          </ac:spMkLst>
        </pc:spChg>
      </pc:sldChg>
      <pc:sldChg chg="modSp mod">
        <pc:chgData name="John Miller" userId="70e70d2d-fa72-4952-98cf-67858fa4ef7a" providerId="ADAL" clId="{3C0F8D48-B805-4732-975A-89F26263F015}" dt="2026-03-30T01:32:54.298" v="99" actId="27636"/>
        <pc:sldMkLst>
          <pc:docMk/>
          <pc:sldMk cId="0" sldId="280"/>
        </pc:sldMkLst>
        <pc:spChg chg="mod">
          <ac:chgData name="John Miller" userId="70e70d2d-fa72-4952-98cf-67858fa4ef7a" providerId="ADAL" clId="{3C0F8D48-B805-4732-975A-89F26263F015}" dt="2026-03-30T01:32:54.294" v="98" actId="27636"/>
          <ac:spMkLst>
            <pc:docMk/>
            <pc:sldMk cId="0" sldId="280"/>
            <ac:spMk id="3" creationId="{00000000-0000-0000-0000-000000000000}"/>
          </ac:spMkLst>
        </pc:spChg>
        <pc:spChg chg="mod">
          <ac:chgData name="John Miller" userId="70e70d2d-fa72-4952-98cf-67858fa4ef7a" providerId="ADAL" clId="{3C0F8D48-B805-4732-975A-89F26263F015}" dt="2026-03-30T01:32:54.298" v="99" actId="27636"/>
          <ac:spMkLst>
            <pc:docMk/>
            <pc:sldMk cId="0" sldId="280"/>
            <ac:spMk id="4" creationId="{00000000-0000-0000-0000-000000000000}"/>
          </ac:spMkLst>
        </pc:spChg>
      </pc:sldChg>
      <pc:sldChg chg="modSp mod">
        <pc:chgData name="John Miller" userId="70e70d2d-fa72-4952-98cf-67858fa4ef7a" providerId="ADAL" clId="{3C0F8D48-B805-4732-975A-89F26263F015}" dt="2026-03-30T01:33:12.678" v="104" actId="27636"/>
        <pc:sldMkLst>
          <pc:docMk/>
          <pc:sldMk cId="0" sldId="281"/>
        </pc:sldMkLst>
        <pc:spChg chg="mod">
          <ac:chgData name="John Miller" userId="70e70d2d-fa72-4952-98cf-67858fa4ef7a" providerId="ADAL" clId="{3C0F8D48-B805-4732-975A-89F26263F015}" dt="2026-03-30T01:33:12.678" v="103" actId="27636"/>
          <ac:spMkLst>
            <pc:docMk/>
            <pc:sldMk cId="0" sldId="281"/>
            <ac:spMk id="3" creationId="{00000000-0000-0000-0000-000000000000}"/>
          </ac:spMkLst>
        </pc:spChg>
        <pc:spChg chg="mod">
          <ac:chgData name="John Miller" userId="70e70d2d-fa72-4952-98cf-67858fa4ef7a" providerId="ADAL" clId="{3C0F8D48-B805-4732-975A-89F26263F015}" dt="2026-03-30T01:33:12.678" v="104" actId="27636"/>
          <ac:spMkLst>
            <pc:docMk/>
            <pc:sldMk cId="0" sldId="281"/>
            <ac:spMk id="4" creationId="{00000000-0000-0000-0000-000000000000}"/>
          </ac:spMkLst>
        </pc:spChg>
      </pc:sldChg>
      <pc:sldChg chg="modSp mod">
        <pc:chgData name="John Miller" userId="70e70d2d-fa72-4952-98cf-67858fa4ef7a" providerId="ADAL" clId="{3C0F8D48-B805-4732-975A-89F26263F015}" dt="2026-03-30T01:33:31.412" v="109" actId="27636"/>
        <pc:sldMkLst>
          <pc:docMk/>
          <pc:sldMk cId="0" sldId="282"/>
        </pc:sldMkLst>
        <pc:spChg chg="mod">
          <ac:chgData name="John Miller" userId="70e70d2d-fa72-4952-98cf-67858fa4ef7a" providerId="ADAL" clId="{3C0F8D48-B805-4732-975A-89F26263F015}" dt="2026-03-30T01:33:31.409" v="108" actId="27636"/>
          <ac:spMkLst>
            <pc:docMk/>
            <pc:sldMk cId="0" sldId="282"/>
            <ac:spMk id="3" creationId="{00000000-0000-0000-0000-000000000000}"/>
          </ac:spMkLst>
        </pc:spChg>
        <pc:spChg chg="mod">
          <ac:chgData name="John Miller" userId="70e70d2d-fa72-4952-98cf-67858fa4ef7a" providerId="ADAL" clId="{3C0F8D48-B805-4732-975A-89F26263F015}" dt="2026-03-30T01:33:31.412" v="109" actId="27636"/>
          <ac:spMkLst>
            <pc:docMk/>
            <pc:sldMk cId="0" sldId="282"/>
            <ac:spMk id="4" creationId="{00000000-0000-0000-0000-000000000000}"/>
          </ac:spMkLst>
        </pc:spChg>
      </pc:sldChg>
      <pc:sldChg chg="modSp mod modNotesTx">
        <pc:chgData name="John Miller" userId="70e70d2d-fa72-4952-98cf-67858fa4ef7a" providerId="ADAL" clId="{3C0F8D48-B805-4732-975A-89F26263F015}" dt="2026-03-30T01:34:38.504" v="116" actId="20577"/>
        <pc:sldMkLst>
          <pc:docMk/>
          <pc:sldMk cId="0" sldId="283"/>
        </pc:sldMkLst>
        <pc:spChg chg="mod">
          <ac:chgData name="John Miller" userId="70e70d2d-fa72-4952-98cf-67858fa4ef7a" providerId="ADAL" clId="{3C0F8D48-B805-4732-975A-89F26263F015}" dt="2026-03-30T01:34:19.284" v="114" actId="27636"/>
          <ac:spMkLst>
            <pc:docMk/>
            <pc:sldMk cId="0" sldId="283"/>
            <ac:spMk id="3" creationId="{00000000-0000-0000-0000-000000000000}"/>
          </ac:spMkLst>
        </pc:spChg>
        <pc:spChg chg="mod">
          <ac:chgData name="John Miller" userId="70e70d2d-fa72-4952-98cf-67858fa4ef7a" providerId="ADAL" clId="{3C0F8D48-B805-4732-975A-89F26263F015}" dt="2026-03-30T01:34:19.284" v="115" actId="27636"/>
          <ac:spMkLst>
            <pc:docMk/>
            <pc:sldMk cId="0" sldId="283"/>
            <ac:spMk id="4" creationId="{00000000-0000-0000-0000-000000000000}"/>
          </ac:spMkLst>
        </pc:spChg>
      </pc:sldChg>
      <pc:sldChg chg="add">
        <pc:chgData name="John Miller" userId="70e70d2d-fa72-4952-98cf-67858fa4ef7a" providerId="ADAL" clId="{3C0F8D48-B805-4732-975A-89F26263F015}" dt="2026-03-30T01:24:44.074" v="0"/>
        <pc:sldMkLst>
          <pc:docMk/>
          <pc:sldMk cId="3914607603" sldId="214141185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3/29/2026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codemag.com/"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Welcome participants to the AI Assisted Software Development course. This is your opening slide, so set a positive and engaging tone. Introduce the course name and tagline "From Code to Copilot" which emphasizes the journey from traditional software development to AI-augmented practices.</a:t>
            </a:r>
          </a:p>
          <a:p>
            <a:endParaRPr/>
          </a:p>
          <a:p>
            <a:r>
              <a:t>Key talking points:</a:t>
            </a:r>
          </a:p>
          <a:p>
            <a:endParaRPr/>
          </a:p>
          <a:p>
            <a:r>
              <a:t>- Express enthusiasm about the learning journey ahead</a:t>
            </a:r>
          </a:p>
          <a:p>
            <a:r>
              <a:t>- Acknowledge the transformative nature of AI in software development</a:t>
            </a:r>
          </a:p>
          <a:p>
            <a:r>
              <a:t>- Set expectations that this will be hands-on and practical</a:t>
            </a:r>
          </a:p>
          <a:p>
            <a:r>
              <a:t>- Encourage questions and participation throughout</a:t>
            </a:r>
          </a:p>
          <a:p>
            <a:endParaRPr/>
          </a:p>
          <a:p>
            <a:r>
              <a:t>Transition: "Let's start by introducing ourselves..."</a:t>
            </a:r>
          </a:p>
          <a:p>
            <a:endParaRPr/>
          </a:p>
          <a:p>
            <a:r>
              <a:t>---</a:t>
            </a:r>
          </a:p>
          <a:p>
            <a:endParaRPr/>
          </a:p>
          <a:p>
            <a:r>
              <a:t>Source: slides\marp\welcome-to-aiasd.deck.md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is a custom software company, a staff augmentation company, CODE Magazine for software developers, and training like this webinar. We've been in business for 30 years and the magazine just hit its 25th anniversary. Visit the website at </a:t>
            </a:r>
            <a:r>
              <a:rPr lang="en-US" dirty="0">
                <a:hlinkClick r:id="rId3"/>
              </a:rPr>
              <a:t>https://www.codemag.com/</a:t>
            </a:r>
            <a:r>
              <a:rPr lang="en-US" dirty="0"/>
              <a:t> for more details.</a:t>
            </a:r>
          </a:p>
        </p:txBody>
      </p:sp>
      <p:sp>
        <p:nvSpPr>
          <p:cNvPr id="4" name="Slide Number Placeholder 3"/>
          <p:cNvSpPr>
            <a:spLocks noGrp="1"/>
          </p:cNvSpPr>
          <p:nvPr>
            <p:ph type="sldNum" sz="quarter" idx="5"/>
          </p:nvPr>
        </p:nvSpPr>
        <p:spPr/>
        <p:txBody>
          <a:bodyPr/>
          <a:lstStyle/>
          <a:p>
            <a:fld id="{DA455780-D264-4D52-A390-D35F9E51885A}" type="slidenum">
              <a:rPr lang="en-US" smtClean="0"/>
              <a:t>2</a:t>
            </a:fld>
            <a:endParaRPr lang="en-US"/>
          </a:p>
        </p:txBody>
      </p:sp>
    </p:spTree>
    <p:extLst>
      <p:ext uri="{BB962C8B-B14F-4D97-AF65-F5344CB8AC3E}">
        <p14:creationId xmlns:p14="http://schemas.microsoft.com/office/powerpoint/2010/main" val="19056761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CODE is a custom software company, a staff augmentation company, CODE Magazine for software developers, and training like this webinar. We've been in business for 30 years and the magazine just hit its 25th anniversary. Visit the website at https://www.codemag.com/ for more details.</a:t>
            </a:r>
          </a:p>
          <a:p>
            <a:endParaRPr/>
          </a:p>
          <a:p>
            <a:r>
              <a:t>---</a:t>
            </a:r>
          </a:p>
          <a:p>
            <a:endParaRPr/>
          </a:p>
          <a:p>
            <a:r>
              <a:t>Source: slides\marp\about-code.deck.md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a:t>
            </a:r>
            <a:r>
              <a:rPr lang="en-US" dirty="0"/>
              <a:t>20260330-aiasd-ge</a:t>
            </a:r>
            <a:r>
              <a:rPr dirty="0"/>
              <a:t>-repos.deck.md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~00:01</a:t>
            </a:r>
          </a:p>
          <a:p>
            <a:endParaRPr dirty="0"/>
          </a:p>
          <a:p>
            <a:r>
              <a:rPr dirty="0"/>
              <a:t>This slide introduces the concept of forking the AIASD Brownfield Example repository. Forking creates a personal copy of the repository under your GitHub account, allowing you to experiment and make changes without affecting the original.</a:t>
            </a:r>
          </a:p>
          <a:p>
            <a:endParaRPr dirty="0"/>
          </a:p>
          <a:p>
            <a:r>
              <a:rPr dirty="0"/>
              <a:t>**Key Points**</a:t>
            </a:r>
          </a:p>
          <a:p>
            <a:r>
              <a:rPr dirty="0"/>
              <a:t>  - Forking is essential for hands-on practice</a:t>
            </a:r>
          </a:p>
          <a:p>
            <a:r>
              <a:rPr dirty="0"/>
              <a:t>  - Creates an independent copy you can modify</a:t>
            </a:r>
          </a:p>
          <a:p>
            <a:r>
              <a:rPr dirty="0"/>
              <a:t>  - Maintains connection to the original repository for updates</a:t>
            </a:r>
          </a:p>
          <a:p>
            <a:endParaRPr dirty="0"/>
          </a:p>
          <a:p>
            <a:r>
              <a:rPr dirty="0"/>
              <a:t>**Delivery**</a:t>
            </a:r>
          </a:p>
          <a:p>
            <a:r>
              <a:rPr dirty="0"/>
              <a:t>  - Emphasize that forking is a one-time setup step that enables all subsequent exercises.</a:t>
            </a:r>
          </a:p>
          <a:p>
            <a:endParaRPr dirty="0"/>
          </a:p>
          <a:p>
            <a:r>
              <a:rPr dirty="0"/>
              <a:t>**Transition**</a:t>
            </a:r>
          </a:p>
          <a:p>
            <a:r>
              <a:rPr dirty="0"/>
              <a:t>"Let's understand why we fork instead of just cloning."</a:t>
            </a:r>
          </a:p>
          <a:p>
            <a:endParaRPr dirty="0"/>
          </a:p>
          <a:p>
            <a:r>
              <a:rPr dirty="0"/>
              <a:t>---</a:t>
            </a:r>
          </a:p>
          <a:p>
            <a:endParaRPr dirty="0"/>
          </a:p>
          <a:p>
            <a:r>
              <a:rPr dirty="0"/>
              <a:t>Source: slides\marp\</a:t>
            </a:r>
            <a:r>
              <a:rPr lang="en-US" dirty="0"/>
              <a:t>20260330-aiasd-ge</a:t>
            </a:r>
            <a:r>
              <a:rPr dirty="0"/>
              <a:t>-repos.deck.md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~00:02</a:t>
            </a:r>
          </a:p>
          <a:p>
            <a:r>
              <a:rPr dirty="0"/>
              <a:t>**Key Points**</a:t>
            </a:r>
          </a:p>
          <a:p>
            <a:r>
              <a:rPr dirty="0"/>
              <a:t>  - Forking creates a full copy on GitHub under your account</a:t>
            </a:r>
          </a:p>
          <a:p>
            <a:r>
              <a:rPr dirty="0"/>
              <a:t>  - You have full control over your fork</a:t>
            </a:r>
          </a:p>
          <a:p>
            <a:r>
              <a:rPr dirty="0"/>
              <a:t>  - Can sync changes from the original (upstream) repository</a:t>
            </a:r>
          </a:p>
          <a:p>
            <a:r>
              <a:rPr dirty="0"/>
              <a:t>  - Essential for contributing back via pull requests</a:t>
            </a:r>
          </a:p>
          <a:p>
            <a:endParaRPr dirty="0"/>
          </a:p>
          <a:p>
            <a:r>
              <a:rPr dirty="0"/>
              <a:t>**Demo Notes**</a:t>
            </a:r>
          </a:p>
          <a:p>
            <a:r>
              <a:rPr dirty="0"/>
              <a:t>  - If showing live, navigate to GitHub and show the fork button.</a:t>
            </a:r>
          </a:p>
          <a:p>
            <a:endParaRPr dirty="0"/>
          </a:p>
          <a:p>
            <a:r>
              <a:rPr dirty="0"/>
              <a:t>**Common Questions**</a:t>
            </a:r>
          </a:p>
          <a:p>
            <a:r>
              <a:rPr dirty="0"/>
              <a:t>  - "Can I just clone directly?" - Yes, but you can't push changes</a:t>
            </a:r>
          </a:p>
          <a:p>
            <a:r>
              <a:rPr dirty="0"/>
              <a:t>  - "What if the original updates?"</a:t>
            </a:r>
          </a:p>
          <a:p>
            <a:r>
              <a:rPr dirty="0"/>
              <a:t>  - We'll cover syncing forks later</a:t>
            </a:r>
          </a:p>
          <a:p>
            <a:endParaRPr dirty="0"/>
          </a:p>
          <a:p>
            <a:r>
              <a:rPr dirty="0"/>
              <a:t>**Transition**</a:t>
            </a:r>
          </a:p>
          <a:p>
            <a:r>
              <a:rPr dirty="0"/>
              <a:t>  - "Now let's walk through the forking process."</a:t>
            </a:r>
          </a:p>
          <a:p>
            <a:endParaRPr dirty="0"/>
          </a:p>
          <a:p>
            <a:r>
              <a:rPr dirty="0"/>
              <a:t>---</a:t>
            </a:r>
          </a:p>
          <a:p>
            <a:endParaRPr dirty="0"/>
          </a:p>
          <a:p>
            <a:r>
              <a:rPr dirty="0"/>
              <a:t>Source: slides\marp\</a:t>
            </a:r>
            <a:r>
              <a:rPr lang="en-US" dirty="0"/>
              <a:t>20260330-aiasd-ge</a:t>
            </a:r>
            <a:r>
              <a:rPr dirty="0"/>
              <a:t>-repos.deck.md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~00:03</a:t>
            </a:r>
          </a:p>
          <a:p>
            <a:endParaRPr dirty="0"/>
          </a:p>
          <a:p>
            <a:r>
              <a:rPr dirty="0"/>
              <a:t>**Key Points**</a:t>
            </a:r>
          </a:p>
          <a:p>
            <a:r>
              <a:rPr dirty="0"/>
              <a:t>  - Most intuitive method for beginners</a:t>
            </a:r>
          </a:p>
          <a:p>
            <a:r>
              <a:rPr dirty="0"/>
              <a:t>  - Visual confirmation of each step</a:t>
            </a:r>
          </a:p>
          <a:p>
            <a:r>
              <a:rPr dirty="0"/>
              <a:t>  - Immediate feedback in the UI</a:t>
            </a:r>
          </a:p>
          <a:p>
            <a:endParaRPr dirty="0"/>
          </a:p>
          <a:p>
            <a:r>
              <a:rPr dirty="0"/>
              <a:t>**Demo Instructions**</a:t>
            </a:r>
          </a:p>
          <a:p>
            <a:r>
              <a:rPr dirty="0"/>
              <a:t>  1. Open the repository URL in a browser</a:t>
            </a:r>
          </a:p>
          <a:p>
            <a:r>
              <a:rPr dirty="0"/>
              <a:t>  2. Point out the Fork button location</a:t>
            </a:r>
          </a:p>
          <a:p>
            <a:r>
              <a:rPr dirty="0"/>
              <a:t>  3. Show the fork creation dialog</a:t>
            </a:r>
          </a:p>
          <a:p>
            <a:r>
              <a:rPr dirty="0"/>
              <a:t>  4. Explain the options (copy all branches vs main only)</a:t>
            </a:r>
          </a:p>
          <a:p>
            <a:r>
              <a:rPr dirty="0"/>
              <a:t>  5. Show the resulting forked repository</a:t>
            </a:r>
          </a:p>
          <a:p>
            <a:endParaRPr dirty="0"/>
          </a:p>
          <a:p>
            <a:r>
              <a:rPr dirty="0"/>
              <a:t>**Common Issues**</a:t>
            </a:r>
          </a:p>
          <a:p>
            <a:r>
              <a:rPr dirty="0"/>
              <a:t>- "I don't see the Fork button" - Check if you're logged into GitHub</a:t>
            </a:r>
          </a:p>
          <a:p>
            <a:r>
              <a:rPr dirty="0"/>
              <a:t>- "It says 'already forked'" - You already have a fork; use that one</a:t>
            </a:r>
          </a:p>
          <a:p>
            <a:endParaRPr dirty="0"/>
          </a:p>
          <a:p>
            <a:r>
              <a:rPr dirty="0"/>
              <a:t>**Best Practice** Recommend copying main branch only for cleaner starting point.</a:t>
            </a:r>
          </a:p>
          <a:p>
            <a:endParaRPr dirty="0"/>
          </a:p>
          <a:p>
            <a:r>
              <a:rPr dirty="0"/>
              <a:t>**Transition** "For those comfortable with the command line, here's the CLI approach."</a:t>
            </a:r>
          </a:p>
          <a:p>
            <a:endParaRPr dirty="0"/>
          </a:p>
          <a:p>
            <a:r>
              <a:rPr dirty="0"/>
              <a:t>---</a:t>
            </a:r>
          </a:p>
          <a:p>
            <a:endParaRPr dirty="0"/>
          </a:p>
          <a:p>
            <a:r>
              <a:rPr dirty="0"/>
              <a:t>Source: slides\marp\</a:t>
            </a:r>
            <a:r>
              <a:rPr lang="en-US" dirty="0"/>
              <a:t>20260330-aiasd-ge</a:t>
            </a:r>
            <a:r>
              <a:rPr dirty="0"/>
              <a:t>-repos.deck.md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~00:03</a:t>
            </a:r>
          </a:p>
          <a:p>
            <a:endParaRPr dirty="0"/>
          </a:p>
          <a:p>
            <a:r>
              <a:rPr dirty="0"/>
              <a:t>**Key Points**</a:t>
            </a:r>
          </a:p>
          <a:p>
            <a:r>
              <a:rPr dirty="0"/>
              <a:t>  - Faster for developers comfortable with CLI</a:t>
            </a:r>
          </a:p>
          <a:p>
            <a:r>
              <a:rPr dirty="0"/>
              <a:t>  - Can combine fork and clone in single command</a:t>
            </a:r>
          </a:p>
          <a:p>
            <a:r>
              <a:rPr dirty="0"/>
              <a:t>  - Automatically sets up upstream remote</a:t>
            </a:r>
          </a:p>
          <a:p>
            <a:endParaRPr dirty="0"/>
          </a:p>
          <a:p>
            <a:r>
              <a:rPr dirty="0"/>
              <a:t>**Demo Instructions**</a:t>
            </a:r>
          </a:p>
          <a:p>
            <a:r>
              <a:rPr dirty="0"/>
              <a:t>  1. Show `</a:t>
            </a:r>
            <a:r>
              <a:rPr dirty="0" err="1"/>
              <a:t>gh</a:t>
            </a:r>
            <a:r>
              <a:rPr dirty="0"/>
              <a:t> auth status` to verify authentication</a:t>
            </a:r>
          </a:p>
          <a:p>
            <a:r>
              <a:rPr dirty="0"/>
              <a:t>  2. Run `</a:t>
            </a:r>
            <a:r>
              <a:rPr dirty="0" err="1"/>
              <a:t>gh</a:t>
            </a:r>
            <a:r>
              <a:rPr dirty="0"/>
              <a:t> repo fork j0hnnymiller/AIASD-Brownfield-Example --clone`</a:t>
            </a:r>
          </a:p>
          <a:p>
            <a:r>
              <a:rPr dirty="0"/>
              <a:t>  3. Show the resulting local directory</a:t>
            </a:r>
          </a:p>
          <a:p>
            <a:r>
              <a:rPr dirty="0"/>
              <a:t>  4. Run `git remote -v` to show origin and upstream</a:t>
            </a:r>
          </a:p>
          <a:p>
            <a:endParaRPr dirty="0"/>
          </a:p>
          <a:p>
            <a:r>
              <a:rPr dirty="0"/>
              <a:t>**Prerequisites Check**</a:t>
            </a:r>
          </a:p>
          <a:p>
            <a:r>
              <a:rPr dirty="0"/>
              <a:t>  - Verify students have GitHub CLI installed</a:t>
            </a:r>
          </a:p>
          <a:p>
            <a:r>
              <a:rPr dirty="0"/>
              <a:t>  - If not, direct them to the UI method</a:t>
            </a:r>
          </a:p>
          <a:p>
            <a:endParaRPr dirty="0"/>
          </a:p>
          <a:p>
            <a:r>
              <a:rPr dirty="0"/>
              <a:t>**CLI Benefits**</a:t>
            </a:r>
          </a:p>
          <a:p>
            <a:r>
              <a:rPr dirty="0"/>
              <a:t>  - Scriptable and repeatable</a:t>
            </a:r>
          </a:p>
          <a:p>
            <a:r>
              <a:rPr dirty="0"/>
              <a:t>  - Easier to integrate into workflows</a:t>
            </a:r>
          </a:p>
          <a:p>
            <a:r>
              <a:rPr dirty="0"/>
              <a:t>  - Automatically configures remotes properly</a:t>
            </a:r>
          </a:p>
          <a:p>
            <a:endParaRPr dirty="0"/>
          </a:p>
          <a:p>
            <a:r>
              <a:rPr dirty="0"/>
              <a:t>**Common Issues**</a:t>
            </a:r>
          </a:p>
          <a:p>
            <a:r>
              <a:rPr dirty="0"/>
              <a:t>  - "</a:t>
            </a:r>
            <a:r>
              <a:rPr dirty="0" err="1"/>
              <a:t>gh</a:t>
            </a:r>
            <a:r>
              <a:rPr dirty="0"/>
              <a:t> command not found" - Need to install GitHub CLI</a:t>
            </a:r>
          </a:p>
          <a:p>
            <a:r>
              <a:rPr dirty="0"/>
              <a:t>  - "Authentication failed" - Run `</a:t>
            </a:r>
            <a:r>
              <a:rPr dirty="0" err="1"/>
              <a:t>gh</a:t>
            </a:r>
            <a:r>
              <a:rPr dirty="0"/>
              <a:t> auth login`</a:t>
            </a:r>
          </a:p>
          <a:p>
            <a:endParaRPr dirty="0"/>
          </a:p>
          <a:p>
            <a:r>
              <a:rPr dirty="0"/>
              <a:t>**Transition** "After forking, you need to clone your fork locally."</a:t>
            </a:r>
          </a:p>
          <a:p>
            <a:endParaRPr dirty="0"/>
          </a:p>
          <a:p>
            <a:r>
              <a:rPr dirty="0"/>
              <a:t>---</a:t>
            </a:r>
          </a:p>
          <a:p>
            <a:endParaRPr dirty="0"/>
          </a:p>
          <a:p>
            <a:r>
              <a:rPr dirty="0"/>
              <a:t>Source: slides\marp\</a:t>
            </a:r>
            <a:r>
              <a:rPr lang="en-US" dirty="0"/>
              <a:t>20260330-aiasd-ge</a:t>
            </a:r>
            <a:r>
              <a:rPr dirty="0"/>
              <a:t>-repos.deck.md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~00:02</a:t>
            </a:r>
          </a:p>
          <a:p>
            <a:endParaRPr dirty="0"/>
          </a:p>
          <a:p>
            <a:r>
              <a:rPr dirty="0"/>
              <a:t>**Key Points**</a:t>
            </a:r>
          </a:p>
          <a:p>
            <a:r>
              <a:rPr dirty="0"/>
              <a:t>  - Clone creates a local working copy</a:t>
            </a:r>
          </a:p>
          <a:p>
            <a:r>
              <a:rPr dirty="0"/>
              <a:t>  - Origin points to YOUR fork</a:t>
            </a:r>
          </a:p>
          <a:p>
            <a:r>
              <a:rPr dirty="0"/>
              <a:t>  - SSH vs HTTPS depends on authentication preference</a:t>
            </a:r>
          </a:p>
          <a:p>
            <a:endParaRPr dirty="0"/>
          </a:p>
          <a:p>
            <a:r>
              <a:rPr dirty="0"/>
              <a:t>**Demo Instructions**</a:t>
            </a:r>
          </a:p>
          <a:p>
            <a:r>
              <a:rPr dirty="0"/>
              <a:t>  1. Copy the clone URL from GitHub</a:t>
            </a:r>
          </a:p>
          <a:p>
            <a:r>
              <a:rPr dirty="0"/>
              <a:t>  2. Run git clone command</a:t>
            </a:r>
          </a:p>
          <a:p>
            <a:r>
              <a:rPr dirty="0"/>
              <a:t>  3. Show `git remote -v` output</a:t>
            </a:r>
          </a:p>
          <a:p>
            <a:r>
              <a:rPr dirty="0"/>
              <a:t>  4. Show directory structure with `</a:t>
            </a:r>
            <a:r>
              <a:rPr dirty="0" err="1"/>
              <a:t>ls`</a:t>
            </a:r>
            <a:r>
              <a:rPr dirty="0"/>
              <a:t> or `</a:t>
            </a:r>
            <a:r>
              <a:rPr dirty="0" err="1"/>
              <a:t>dir</a:t>
            </a:r>
            <a:r>
              <a:rPr dirty="0"/>
              <a:t>`</a:t>
            </a:r>
          </a:p>
          <a:p>
            <a:endParaRPr dirty="0"/>
          </a:p>
          <a:p>
            <a:r>
              <a:rPr dirty="0"/>
              <a:t>**HTTPS vs SSH**</a:t>
            </a:r>
          </a:p>
          <a:p>
            <a:r>
              <a:rPr dirty="0"/>
              <a:t>  - HTTPS: Works everywhere, may require token auth</a:t>
            </a:r>
          </a:p>
          <a:p>
            <a:r>
              <a:rPr dirty="0"/>
              <a:t>  - SSH: Requires SSH key setup but more convenient long-term</a:t>
            </a:r>
          </a:p>
          <a:p>
            <a:endParaRPr dirty="0"/>
          </a:p>
          <a:p>
            <a:r>
              <a:rPr dirty="0"/>
              <a:t>**Verification Steps**</a:t>
            </a:r>
          </a:p>
          <a:p>
            <a:r>
              <a:rPr dirty="0"/>
              <a:t>  - Check that origin points to YOUR fork, not the original</a:t>
            </a:r>
          </a:p>
          <a:p>
            <a:r>
              <a:rPr dirty="0"/>
              <a:t>  - Verify you can see the files locally</a:t>
            </a:r>
          </a:p>
          <a:p>
            <a:endParaRPr dirty="0"/>
          </a:p>
          <a:p>
            <a:r>
              <a:rPr dirty="0"/>
              <a:t>**Common Issues**</a:t>
            </a:r>
          </a:p>
          <a:p>
            <a:r>
              <a:rPr dirty="0"/>
              <a:t>  - "Permission denied" - Authentication problem</a:t>
            </a:r>
          </a:p>
          <a:p>
            <a:r>
              <a:rPr dirty="0"/>
              <a:t>  - "Repository not found" - Check the URL has YOUR username</a:t>
            </a:r>
          </a:p>
          <a:p>
            <a:endParaRPr dirty="0"/>
          </a:p>
          <a:p>
            <a:r>
              <a:rPr dirty="0"/>
              <a:t>**Transition** "Next, let's set up the connection to the original repository."</a:t>
            </a:r>
          </a:p>
          <a:p>
            <a:endParaRPr dirty="0"/>
          </a:p>
          <a:p>
            <a:r>
              <a:rPr dirty="0"/>
              <a:t>---</a:t>
            </a:r>
          </a:p>
          <a:p>
            <a:endParaRPr dirty="0"/>
          </a:p>
          <a:p>
            <a:r>
              <a:rPr dirty="0"/>
              <a:t>Source: slides\marp\</a:t>
            </a:r>
            <a:r>
              <a:rPr lang="en-US" dirty="0"/>
              <a:t>20260330-aiasd-ge</a:t>
            </a:r>
            <a:r>
              <a:rPr dirty="0"/>
              <a:t>-repos.deck.md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~00:02</a:t>
            </a:r>
          </a:p>
          <a:p>
            <a:endParaRPr dirty="0"/>
          </a:p>
          <a:p>
            <a:r>
              <a:rPr dirty="0"/>
              <a:t>**Key Points**</a:t>
            </a:r>
          </a:p>
          <a:p>
            <a:r>
              <a:rPr dirty="0"/>
              <a:t>  - Upstream tracks the original repository</a:t>
            </a:r>
          </a:p>
          <a:p>
            <a:r>
              <a:rPr dirty="0"/>
              <a:t>  - Origin tracks your fork</a:t>
            </a:r>
          </a:p>
          <a:p>
            <a:r>
              <a:rPr dirty="0"/>
              <a:t>  - Standard naming convention in Git workflows</a:t>
            </a:r>
          </a:p>
          <a:p>
            <a:endParaRPr dirty="0"/>
          </a:p>
          <a:p>
            <a:r>
              <a:rPr dirty="0"/>
              <a:t>**Demo Instructions**</a:t>
            </a:r>
          </a:p>
          <a:p>
            <a:r>
              <a:rPr dirty="0"/>
              <a:t>  1. Run `git remote add upstream` command</a:t>
            </a:r>
          </a:p>
          <a:p>
            <a:r>
              <a:rPr dirty="0"/>
              <a:t>  2. Show `git remote -v` showing both remotes</a:t>
            </a:r>
          </a:p>
          <a:p>
            <a:r>
              <a:rPr dirty="0"/>
              <a:t>  3. Explain origin vs upstream terminology</a:t>
            </a:r>
          </a:p>
          <a:p>
            <a:endParaRPr dirty="0"/>
          </a:p>
          <a:p>
            <a:r>
              <a:rPr dirty="0"/>
              <a:t>**Conceptual Model**</a:t>
            </a:r>
          </a:p>
          <a:p>
            <a:endParaRPr dirty="0"/>
          </a:p>
          <a:p>
            <a:r>
              <a:rPr dirty="0"/>
              <a:t>```</a:t>
            </a:r>
          </a:p>
          <a:p>
            <a:r>
              <a:rPr dirty="0"/>
              <a:t>[Original Repo] ← upstream ← [Your Local Copy] → origin → [Your Fork]</a:t>
            </a:r>
          </a:p>
          <a:p>
            <a:r>
              <a:rPr dirty="0"/>
              <a:t>```</a:t>
            </a:r>
          </a:p>
          <a:p>
            <a:endParaRPr dirty="0"/>
          </a:p>
          <a:p>
            <a:r>
              <a:rPr dirty="0"/>
              <a:t>**When to Use Each**</a:t>
            </a:r>
          </a:p>
          <a:p>
            <a:r>
              <a:rPr dirty="0"/>
              <a:t>  - `git push origin` - Save your work to your fork</a:t>
            </a:r>
          </a:p>
          <a:p>
            <a:r>
              <a:rPr dirty="0"/>
              <a:t>  - `git pull upstream main` - Get updates from original</a:t>
            </a:r>
          </a:p>
          <a:p>
            <a:r>
              <a:rPr dirty="0"/>
              <a:t>  - `git push upstream` - Usually disabled (no permission)</a:t>
            </a:r>
          </a:p>
          <a:p>
            <a:endParaRPr dirty="0"/>
          </a:p>
          <a:p>
            <a:r>
              <a:rPr dirty="0"/>
              <a:t>**Common Issues**</a:t>
            </a:r>
          </a:p>
          <a:p>
            <a:r>
              <a:rPr dirty="0"/>
              <a:t>  - "Upstream already exists"</a:t>
            </a:r>
          </a:p>
          <a:p>
            <a:r>
              <a:rPr dirty="0"/>
              <a:t>  - Already configured, skip this step</a:t>
            </a:r>
          </a:p>
          <a:p>
            <a:r>
              <a:rPr dirty="0"/>
              <a:t>  - Name confusion</a:t>
            </a:r>
          </a:p>
          <a:p>
            <a:r>
              <a:rPr dirty="0"/>
              <a:t>  - Remind that these are just labels</a:t>
            </a:r>
          </a:p>
          <a:p>
            <a:endParaRPr dirty="0"/>
          </a:p>
          <a:p>
            <a:r>
              <a:rPr dirty="0"/>
              <a:t>**Best Practice** Always fetch from upstream before starting new work.</a:t>
            </a:r>
          </a:p>
          <a:p>
            <a:endParaRPr dirty="0"/>
          </a:p>
          <a:p>
            <a:r>
              <a:rPr dirty="0"/>
              <a:t>**Transition** "Now you're ready to work with the repository."</a:t>
            </a:r>
          </a:p>
          <a:p>
            <a:endParaRPr dirty="0"/>
          </a:p>
          <a:p>
            <a:r>
              <a:rPr dirty="0"/>
              <a:t>---</a:t>
            </a:r>
          </a:p>
          <a:p>
            <a:endParaRPr dirty="0"/>
          </a:p>
          <a:p>
            <a:r>
              <a:rPr dirty="0"/>
              <a:t>Source: slides\marp\</a:t>
            </a:r>
            <a:r>
              <a:rPr lang="en-US" dirty="0"/>
              <a:t>20260330-aiasd-ge</a:t>
            </a:r>
            <a:r>
              <a:rPr dirty="0"/>
              <a:t>-repos.deck.md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~00:03</a:t>
            </a:r>
          </a:p>
          <a:p>
            <a:endParaRPr dirty="0"/>
          </a:p>
          <a:p>
            <a:r>
              <a:rPr dirty="0"/>
              <a:t>**Key Points**</a:t>
            </a:r>
          </a:p>
          <a:p>
            <a:r>
              <a:rPr dirty="0"/>
              <a:t>  - Always start from updated main branch</a:t>
            </a:r>
          </a:p>
          <a:p>
            <a:r>
              <a:rPr dirty="0"/>
              <a:t>  - Work in feature branches, not main</a:t>
            </a:r>
          </a:p>
          <a:p>
            <a:r>
              <a:rPr dirty="0"/>
              <a:t>  - Push to origin (your fork)</a:t>
            </a:r>
          </a:p>
          <a:p>
            <a:r>
              <a:rPr dirty="0"/>
              <a:t>  - Can create PRs to practice</a:t>
            </a:r>
          </a:p>
          <a:p>
            <a:endParaRPr dirty="0"/>
          </a:p>
          <a:p>
            <a:r>
              <a:rPr dirty="0"/>
              <a:t>**Demo Instructions**</a:t>
            </a:r>
          </a:p>
          <a:p>
            <a:r>
              <a:rPr dirty="0"/>
              <a:t>  1. Show the complete workflow sequence</a:t>
            </a:r>
          </a:p>
          <a:p>
            <a:r>
              <a:rPr dirty="0"/>
              <a:t>  2. Emphasize the fetch → merge → branch pattern</a:t>
            </a:r>
          </a:p>
          <a:p>
            <a:r>
              <a:rPr dirty="0"/>
              <a:t>  3. Demonstrate creating a feature branch</a:t>
            </a:r>
          </a:p>
          <a:p>
            <a:r>
              <a:rPr dirty="0"/>
              <a:t>  4. Show a sample commit and push</a:t>
            </a:r>
          </a:p>
          <a:p>
            <a:endParaRPr dirty="0"/>
          </a:p>
          <a:p>
            <a:r>
              <a:rPr dirty="0"/>
              <a:t>**Best Practices**</a:t>
            </a:r>
          </a:p>
          <a:p>
            <a:r>
              <a:rPr dirty="0"/>
              <a:t>  - Keep main branch clean and in sync with upstream</a:t>
            </a:r>
          </a:p>
          <a:p>
            <a:r>
              <a:rPr dirty="0"/>
              <a:t>  - Use descriptive branch names</a:t>
            </a:r>
          </a:p>
          <a:p>
            <a:r>
              <a:rPr dirty="0"/>
              <a:t>  - Commit frequently with clear messages</a:t>
            </a:r>
          </a:p>
          <a:p>
            <a:endParaRPr dirty="0"/>
          </a:p>
          <a:p>
            <a:r>
              <a:rPr dirty="0"/>
              <a:t>**Fork Workflow Diagram**</a:t>
            </a:r>
          </a:p>
          <a:p>
            <a:r>
              <a:rPr dirty="0"/>
              <a:t>```</a:t>
            </a:r>
          </a:p>
          <a:p>
            <a:r>
              <a:rPr dirty="0"/>
              <a:t>upstream/main → your/main → feature-branch → commit → push → PR</a:t>
            </a:r>
          </a:p>
          <a:p>
            <a:r>
              <a:rPr dirty="0"/>
              <a:t>```</a:t>
            </a:r>
          </a:p>
          <a:p>
            <a:endParaRPr dirty="0"/>
          </a:p>
          <a:p>
            <a:r>
              <a:rPr dirty="0"/>
              <a:t>**Syncing Frequency**</a:t>
            </a:r>
          </a:p>
          <a:p>
            <a:r>
              <a:rPr dirty="0"/>
              <a:t>  - Beginning of each work session</a:t>
            </a:r>
          </a:p>
          <a:p>
            <a:r>
              <a:rPr dirty="0"/>
              <a:t>  - Before creating new branches</a:t>
            </a:r>
          </a:p>
          <a:p>
            <a:r>
              <a:rPr dirty="0"/>
              <a:t>  - After major updates announced</a:t>
            </a:r>
          </a:p>
          <a:p>
            <a:endParaRPr dirty="0"/>
          </a:p>
          <a:p>
            <a:r>
              <a:rPr dirty="0"/>
              <a:t>**Common Issues**</a:t>
            </a:r>
          </a:p>
          <a:p>
            <a:r>
              <a:rPr dirty="0"/>
              <a:t>  - "Diverged branches" - Resolve conflicts carefully</a:t>
            </a:r>
          </a:p>
          <a:p>
            <a:r>
              <a:rPr dirty="0"/>
              <a:t>  - "Push failed" - Might be pushing to wrong remote</a:t>
            </a:r>
          </a:p>
          <a:p>
            <a:endParaRPr dirty="0"/>
          </a:p>
          <a:p>
            <a:r>
              <a:rPr dirty="0"/>
              <a:t>**Transition** "Let's look at what to do when the original repository updates."</a:t>
            </a:r>
          </a:p>
          <a:p>
            <a:endParaRPr dirty="0"/>
          </a:p>
          <a:p>
            <a:r>
              <a:rPr dirty="0"/>
              <a:t>---</a:t>
            </a:r>
          </a:p>
          <a:p>
            <a:endParaRPr dirty="0"/>
          </a:p>
          <a:p>
            <a:r>
              <a:rPr dirty="0"/>
              <a:t>Source: slides\marp\</a:t>
            </a:r>
            <a:r>
              <a:rPr lang="en-US" dirty="0"/>
              <a:t>20260330-aiasd-ge</a:t>
            </a:r>
            <a:r>
              <a:rPr dirty="0"/>
              <a:t>-repos.deck.md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~00:02</a:t>
            </a:r>
          </a:p>
          <a:p>
            <a:endParaRPr dirty="0"/>
          </a:p>
          <a:p>
            <a:r>
              <a:rPr dirty="0"/>
              <a:t>**Key Points**</a:t>
            </a:r>
          </a:p>
          <a:p>
            <a:r>
              <a:rPr dirty="0"/>
              <a:t>  - Original repository may receive updates during the course</a:t>
            </a:r>
          </a:p>
          <a:p>
            <a:r>
              <a:rPr dirty="0"/>
              <a:t>  - Your fork doesn't auto-sync</a:t>
            </a:r>
          </a:p>
          <a:p>
            <a:r>
              <a:rPr dirty="0"/>
              <a:t>  - Manual sync keeps you current</a:t>
            </a:r>
          </a:p>
          <a:p>
            <a:r>
              <a:rPr dirty="0"/>
              <a:t>  - Two methods: CLI or GitHub UI</a:t>
            </a:r>
          </a:p>
          <a:p>
            <a:endParaRPr dirty="0"/>
          </a:p>
          <a:p>
            <a:r>
              <a:rPr dirty="0"/>
              <a:t>**Demo Instructions**</a:t>
            </a:r>
          </a:p>
          <a:p>
            <a:r>
              <a:rPr dirty="0"/>
              <a:t>  1. Show the command sequence</a:t>
            </a:r>
          </a:p>
          <a:p>
            <a:r>
              <a:rPr dirty="0"/>
              <a:t>  2. Navigate to fork on GitHub and show "Sync fork" button</a:t>
            </a:r>
          </a:p>
          <a:p>
            <a:r>
              <a:rPr dirty="0"/>
              <a:t>  3. Explain when this button appears (when behind upstream)</a:t>
            </a:r>
          </a:p>
          <a:p>
            <a:endParaRPr dirty="0"/>
          </a:p>
          <a:p>
            <a:r>
              <a:rPr dirty="0"/>
              <a:t>**When to Sync**</a:t>
            </a:r>
          </a:p>
          <a:p>
            <a:r>
              <a:rPr dirty="0"/>
              <a:t>  - Before starting new exercises</a:t>
            </a:r>
          </a:p>
          <a:p>
            <a:r>
              <a:rPr dirty="0"/>
              <a:t>  - When instructor announces updates</a:t>
            </a:r>
          </a:p>
          <a:p>
            <a:r>
              <a:rPr dirty="0"/>
              <a:t>  - If you see "This branch is X commits behind"</a:t>
            </a:r>
          </a:p>
          <a:p>
            <a:endParaRPr dirty="0"/>
          </a:p>
          <a:p>
            <a:r>
              <a:rPr dirty="0"/>
              <a:t>**Conflict Resolution**</a:t>
            </a:r>
          </a:p>
          <a:p>
            <a:r>
              <a:rPr dirty="0"/>
              <a:t>  - If you modified main: conflicts possible</a:t>
            </a:r>
          </a:p>
          <a:p>
            <a:r>
              <a:rPr dirty="0"/>
              <a:t>  - Best practice: never modify main directly</a:t>
            </a:r>
          </a:p>
          <a:p>
            <a:r>
              <a:rPr dirty="0"/>
              <a:t>  - If conflicts occur, may need to reset or resolve</a:t>
            </a:r>
          </a:p>
          <a:p>
            <a:endParaRPr dirty="0"/>
          </a:p>
          <a:p>
            <a:r>
              <a:rPr dirty="0"/>
              <a:t>**UI Sync Benefits**</a:t>
            </a:r>
          </a:p>
          <a:p>
            <a:r>
              <a:rPr dirty="0"/>
              <a:t>  - Visual confirmation</a:t>
            </a:r>
          </a:p>
          <a:p>
            <a:r>
              <a:rPr dirty="0"/>
              <a:t>  - No CLI needed</a:t>
            </a:r>
          </a:p>
          <a:p>
            <a:r>
              <a:rPr dirty="0"/>
              <a:t>  - Safe for simple cases</a:t>
            </a:r>
          </a:p>
          <a:p>
            <a:endParaRPr dirty="0"/>
          </a:p>
          <a:p>
            <a:r>
              <a:rPr dirty="0"/>
              <a:t>**CLI Sync Benefits**</a:t>
            </a:r>
          </a:p>
          <a:p>
            <a:r>
              <a:rPr dirty="0"/>
              <a:t>  - More control</a:t>
            </a:r>
          </a:p>
          <a:p>
            <a:r>
              <a:rPr dirty="0"/>
              <a:t>  - Can see exactly what's updating</a:t>
            </a:r>
          </a:p>
          <a:p>
            <a:r>
              <a:rPr dirty="0"/>
              <a:t>  - Better for complex scenarios</a:t>
            </a:r>
          </a:p>
          <a:p>
            <a:endParaRPr dirty="0"/>
          </a:p>
          <a:p>
            <a:r>
              <a:rPr dirty="0"/>
              <a:t>**Transition** "Now you have everything you need to work with the repository."</a:t>
            </a:r>
          </a:p>
          <a:p>
            <a:endParaRPr dirty="0"/>
          </a:p>
          <a:p>
            <a:r>
              <a:rPr dirty="0"/>
              <a:t>---</a:t>
            </a:r>
          </a:p>
          <a:p>
            <a:endParaRPr dirty="0"/>
          </a:p>
          <a:p>
            <a:r>
              <a:rPr dirty="0"/>
              <a:t>Source: slides\marp\</a:t>
            </a:r>
            <a:r>
              <a:rPr lang="en-US" dirty="0"/>
              <a:t>20260330-aiasd-ge</a:t>
            </a:r>
            <a:r>
              <a:rPr dirty="0"/>
              <a:t>-repos.deck.md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~00:02</a:t>
            </a:r>
          </a:p>
          <a:p>
            <a:endParaRPr dirty="0"/>
          </a:p>
          <a:p>
            <a:r>
              <a:rPr dirty="0"/>
              <a:t>**Key Points**</a:t>
            </a:r>
          </a:p>
          <a:p>
            <a:r>
              <a:rPr dirty="0"/>
              <a:t>  - Use this checklist to verify correct setup</a:t>
            </a:r>
          </a:p>
          <a:p>
            <a:r>
              <a:rPr dirty="0"/>
              <a:t>  - All students should complete this before moving on</a:t>
            </a:r>
          </a:p>
          <a:p>
            <a:r>
              <a:rPr dirty="0"/>
              <a:t>  - Quick command to verify remotes</a:t>
            </a:r>
          </a:p>
          <a:p>
            <a:endParaRPr dirty="0"/>
          </a:p>
          <a:p>
            <a:r>
              <a:rPr dirty="0"/>
              <a:t>**Interactive Activity**</a:t>
            </a:r>
          </a:p>
          <a:p>
            <a:r>
              <a:rPr dirty="0"/>
              <a:t>  - Have students raise hands when each item is completed</a:t>
            </a:r>
          </a:p>
          <a:p>
            <a:r>
              <a:rPr dirty="0"/>
              <a:t>  - Walk around to help anyone stuck</a:t>
            </a:r>
          </a:p>
          <a:p>
            <a:r>
              <a:rPr dirty="0"/>
              <a:t>  - Address common issues as they arise</a:t>
            </a:r>
          </a:p>
          <a:p>
            <a:endParaRPr dirty="0"/>
          </a:p>
          <a:p>
            <a:r>
              <a:rPr dirty="0"/>
              <a:t>**Troubleshooting Common Issues**</a:t>
            </a:r>
          </a:p>
          <a:p>
            <a:r>
              <a:rPr dirty="0"/>
              <a:t>  1. **Wrong origin**</a:t>
            </a:r>
          </a:p>
          <a:p>
            <a:r>
              <a:rPr dirty="0"/>
              <a:t>  ```bash</a:t>
            </a:r>
          </a:p>
          <a:p>
            <a:r>
              <a:rPr dirty="0"/>
              <a:t>  git remote set-</a:t>
            </a:r>
            <a:r>
              <a:rPr dirty="0" err="1"/>
              <a:t>url</a:t>
            </a:r>
            <a:r>
              <a:rPr dirty="0"/>
              <a:t> origin https://github.com/YOUR_USERNAME/AIASD-Brownfield-Example.git</a:t>
            </a:r>
          </a:p>
          <a:p>
            <a:r>
              <a:rPr dirty="0"/>
              <a:t>  ```</a:t>
            </a:r>
          </a:p>
          <a:p>
            <a:r>
              <a:rPr dirty="0"/>
              <a:t>  2. **Missing upstream**</a:t>
            </a:r>
          </a:p>
          <a:p>
            <a:r>
              <a:rPr dirty="0"/>
              <a:t>  ```bash</a:t>
            </a:r>
          </a:p>
          <a:p>
            <a:r>
              <a:rPr dirty="0"/>
              <a:t>  git remote add upstream https://github.com/j0hnnymiller/AIASD-Brownfield-Example.git</a:t>
            </a:r>
          </a:p>
          <a:p>
            <a:r>
              <a:rPr dirty="0"/>
              <a:t>  ```</a:t>
            </a:r>
          </a:p>
          <a:p>
            <a:r>
              <a:rPr dirty="0"/>
              <a:t>  3. **Fork not created**</a:t>
            </a:r>
          </a:p>
          <a:p>
            <a:r>
              <a:rPr dirty="0"/>
              <a:t>  - Return to fork instructions</a:t>
            </a:r>
          </a:p>
          <a:p>
            <a:r>
              <a:rPr dirty="0"/>
              <a:t>  - Verify GitHub login</a:t>
            </a:r>
          </a:p>
          <a:p>
            <a:endParaRPr dirty="0"/>
          </a:p>
          <a:p>
            <a:r>
              <a:rPr dirty="0"/>
              <a:t>**Success Criteria**</a:t>
            </a:r>
          </a:p>
          <a:p>
            <a:r>
              <a:rPr dirty="0"/>
              <a:t>  - All remotes configured correctly</a:t>
            </a:r>
          </a:p>
          <a:p>
            <a:r>
              <a:rPr dirty="0"/>
              <a:t>  - Can fetch from upstream without errors</a:t>
            </a:r>
          </a:p>
          <a:p>
            <a:r>
              <a:rPr dirty="0"/>
              <a:t>  - Local directory contains expected files</a:t>
            </a:r>
          </a:p>
          <a:p>
            <a:endParaRPr dirty="0"/>
          </a:p>
          <a:p>
            <a:r>
              <a:rPr dirty="0"/>
              <a:t>**Transition** "With your brownfield fork ready, let's set up the course materials repository."</a:t>
            </a:r>
          </a:p>
          <a:p>
            <a:endParaRPr dirty="0"/>
          </a:p>
          <a:p>
            <a:r>
              <a:rPr dirty="0"/>
              <a:t>---</a:t>
            </a:r>
          </a:p>
          <a:p>
            <a:endParaRPr dirty="0"/>
          </a:p>
          <a:p>
            <a:r>
              <a:rPr dirty="0"/>
              <a:t>Source: slides\marp\</a:t>
            </a:r>
            <a:r>
              <a:rPr lang="en-US" dirty="0"/>
              <a:t>20260330-aiasd-ge</a:t>
            </a:r>
            <a:r>
              <a:rPr dirty="0"/>
              <a:t>-repos.deck.md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~00:02</a:t>
            </a:r>
          </a:p>
          <a:p>
            <a:endParaRPr dirty="0"/>
          </a:p>
          <a:p>
            <a:r>
              <a:rPr dirty="0"/>
              <a:t>**Key Points**</a:t>
            </a:r>
          </a:p>
          <a:p>
            <a:r>
              <a:rPr dirty="0"/>
              <a:t>  - Second repository to fork</a:t>
            </a:r>
          </a:p>
          <a:p>
            <a:r>
              <a:rPr dirty="0"/>
              <a:t>  - Contains all course curriculum materials</a:t>
            </a:r>
          </a:p>
          <a:p>
            <a:r>
              <a:rPr dirty="0"/>
              <a:t>  - Your personal reference copy</a:t>
            </a:r>
          </a:p>
          <a:p>
            <a:r>
              <a:rPr dirty="0"/>
              <a:t>  - Can customize and annotate freely</a:t>
            </a:r>
          </a:p>
          <a:p>
            <a:endParaRPr dirty="0"/>
          </a:p>
          <a:p>
            <a:r>
              <a:rPr dirty="0"/>
              <a:t>**Repository Purpose**</a:t>
            </a:r>
          </a:p>
          <a:p>
            <a:r>
              <a:rPr dirty="0"/>
              <a:t>  - Master course content repository</a:t>
            </a:r>
          </a:p>
          <a:p>
            <a:r>
              <a:rPr dirty="0"/>
              <a:t>  - Slides, labs, and documentation</a:t>
            </a:r>
          </a:p>
          <a:p>
            <a:r>
              <a:rPr dirty="0"/>
              <a:t>  - Instruction files for AI assistants</a:t>
            </a:r>
          </a:p>
          <a:p>
            <a:r>
              <a:rPr dirty="0"/>
              <a:t>  - Templates and examples</a:t>
            </a:r>
          </a:p>
          <a:p>
            <a:endParaRPr dirty="0"/>
          </a:p>
          <a:p>
            <a:r>
              <a:rPr dirty="0"/>
              <a:t>**Benefits of Forking**</a:t>
            </a:r>
          </a:p>
          <a:p>
            <a:r>
              <a:rPr dirty="0"/>
              <a:t>  - Personalize the content with your notes</a:t>
            </a:r>
          </a:p>
          <a:p>
            <a:r>
              <a:rPr dirty="0"/>
              <a:t>  - Keep access to materials long-term</a:t>
            </a:r>
          </a:p>
          <a:p>
            <a:r>
              <a:rPr dirty="0"/>
              <a:t>  - Practice forking workflow again</a:t>
            </a:r>
          </a:p>
          <a:p>
            <a:r>
              <a:rPr dirty="0"/>
              <a:t>  - Can contribute improvements back</a:t>
            </a:r>
          </a:p>
          <a:p>
            <a:endParaRPr dirty="0"/>
          </a:p>
          <a:p>
            <a:r>
              <a:rPr dirty="0"/>
              <a:t>**Differentiation**</a:t>
            </a:r>
          </a:p>
          <a:p>
            <a:r>
              <a:rPr dirty="0"/>
              <a:t>  - Brownfield Example = Practice codebase</a:t>
            </a:r>
          </a:p>
          <a:p>
            <a:r>
              <a:rPr dirty="0"/>
              <a:t>  - AI-Assisted-Software-Development = Course materials</a:t>
            </a:r>
          </a:p>
          <a:p>
            <a:r>
              <a:rPr dirty="0"/>
              <a:t>  - Both are forked for full control</a:t>
            </a:r>
          </a:p>
          <a:p>
            <a:endParaRPr dirty="0"/>
          </a:p>
          <a:p>
            <a:r>
              <a:rPr dirty="0"/>
              <a:t>**Transition** "Let's fork this repository using the same methods we learned."</a:t>
            </a:r>
          </a:p>
          <a:p>
            <a:endParaRPr dirty="0"/>
          </a:p>
          <a:p>
            <a:r>
              <a:rPr dirty="0"/>
              <a:t>---</a:t>
            </a:r>
          </a:p>
          <a:p>
            <a:endParaRPr dirty="0"/>
          </a:p>
          <a:p>
            <a:r>
              <a:rPr dirty="0"/>
              <a:t>Source: slides\marp\</a:t>
            </a:r>
            <a:r>
              <a:rPr lang="en-US" dirty="0"/>
              <a:t>20260330-aiasd-ge</a:t>
            </a:r>
            <a:r>
              <a:rPr dirty="0"/>
              <a:t>-repos.deck.md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~00:02</a:t>
            </a:r>
          </a:p>
          <a:p>
            <a:endParaRPr dirty="0"/>
          </a:p>
          <a:p>
            <a:r>
              <a:rPr dirty="0"/>
              <a:t>**Key Points**</a:t>
            </a:r>
          </a:p>
          <a:p>
            <a:r>
              <a:rPr dirty="0"/>
              <a:t>  - Same forking process as brownfield</a:t>
            </a:r>
          </a:p>
          <a:p>
            <a:r>
              <a:rPr dirty="0"/>
              <a:t>  - Students should be familiar with steps now</a:t>
            </a:r>
          </a:p>
          <a:p>
            <a:r>
              <a:rPr dirty="0"/>
              <a:t>  - Can go faster since it's the second fork</a:t>
            </a:r>
          </a:p>
          <a:p>
            <a:endParaRPr dirty="0"/>
          </a:p>
          <a:p>
            <a:r>
              <a:rPr dirty="0"/>
              <a:t>**Demo Instructions**</a:t>
            </a:r>
          </a:p>
          <a:p>
            <a:r>
              <a:rPr dirty="0"/>
              <a:t>  1. Open repository URL</a:t>
            </a:r>
          </a:p>
          <a:p>
            <a:r>
              <a:rPr dirty="0"/>
              <a:t>  2. Quick demonstration of fork button</a:t>
            </a:r>
          </a:p>
          <a:p>
            <a:r>
              <a:rPr dirty="0"/>
              <a:t>  3. Show CLI alternative for speed</a:t>
            </a:r>
          </a:p>
          <a:p>
            <a:r>
              <a:rPr dirty="0"/>
              <a:t>  4. Emphasize this is repetition for practice</a:t>
            </a:r>
          </a:p>
          <a:p>
            <a:endParaRPr dirty="0"/>
          </a:p>
          <a:p>
            <a:r>
              <a:rPr dirty="0"/>
              <a:t>**Name Considerations**</a:t>
            </a:r>
          </a:p>
          <a:p>
            <a:r>
              <a:rPr dirty="0"/>
              <a:t>  - Can keep default name</a:t>
            </a:r>
          </a:p>
          <a:p>
            <a:r>
              <a:rPr dirty="0"/>
              <a:t>  - Or rename to something memorable</a:t>
            </a:r>
          </a:p>
          <a:p>
            <a:r>
              <a:rPr dirty="0"/>
              <a:t>  - Example: `my-aiasd-course-2026-03`</a:t>
            </a:r>
          </a:p>
          <a:p>
            <a:endParaRPr dirty="0"/>
          </a:p>
          <a:p>
            <a:r>
              <a:rPr dirty="0"/>
              <a:t>**CLI Advantage**</a:t>
            </a:r>
          </a:p>
          <a:p>
            <a:r>
              <a:rPr dirty="0"/>
              <a:t>  - If you did brownfield via CLI, this is even faster</a:t>
            </a:r>
          </a:p>
          <a:p>
            <a:r>
              <a:rPr dirty="0"/>
              <a:t>  - One command to fork and clone</a:t>
            </a:r>
          </a:p>
          <a:p>
            <a:r>
              <a:rPr dirty="0"/>
              <a:t>  - Automatic remote configuration</a:t>
            </a:r>
          </a:p>
          <a:p>
            <a:endParaRPr dirty="0"/>
          </a:p>
          <a:p>
            <a:r>
              <a:rPr dirty="0"/>
              <a:t>**Common Questions**</a:t>
            </a:r>
          </a:p>
          <a:p>
            <a:r>
              <a:rPr dirty="0"/>
              <a:t>  - "Do I need both forks?" - Yes, different purposes</a:t>
            </a:r>
          </a:p>
          <a:p>
            <a:r>
              <a:rPr dirty="0"/>
              <a:t>  - "Can I just use one?" - Each serves different role</a:t>
            </a:r>
          </a:p>
          <a:p>
            <a:r>
              <a:rPr dirty="0"/>
              <a:t>  - "Why not just share access?" - Forking gives you control</a:t>
            </a:r>
          </a:p>
          <a:p>
            <a:endParaRPr dirty="0"/>
          </a:p>
          <a:p>
            <a:r>
              <a:rPr dirty="0"/>
              <a:t>**Transition** "Now let's clone and set up this repository."</a:t>
            </a:r>
          </a:p>
          <a:p>
            <a:endParaRPr dirty="0"/>
          </a:p>
          <a:p>
            <a:r>
              <a:rPr dirty="0"/>
              <a:t>---</a:t>
            </a:r>
          </a:p>
          <a:p>
            <a:endParaRPr dirty="0"/>
          </a:p>
          <a:p>
            <a:r>
              <a:rPr dirty="0"/>
              <a:t>Source: slides\marp\</a:t>
            </a:r>
            <a:r>
              <a:rPr lang="en-US" dirty="0"/>
              <a:t>20260330-aiasd-ge</a:t>
            </a:r>
            <a:r>
              <a:rPr dirty="0"/>
              <a:t>-repos.deck.md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~00:02</a:t>
            </a:r>
          </a:p>
          <a:p>
            <a:endParaRPr dirty="0"/>
          </a:p>
          <a:p>
            <a:r>
              <a:rPr dirty="0"/>
              <a:t>**Key Points**</a:t>
            </a:r>
          </a:p>
          <a:p>
            <a:r>
              <a:rPr dirty="0"/>
              <a:t>  - Standard fork workflow</a:t>
            </a:r>
          </a:p>
          <a:p>
            <a:r>
              <a:rPr dirty="0"/>
              <a:t>  - Same steps as brownfield repository</a:t>
            </a:r>
          </a:p>
          <a:p>
            <a:r>
              <a:rPr dirty="0"/>
              <a:t>  - Students should be comfortable with this now</a:t>
            </a:r>
          </a:p>
          <a:p>
            <a:endParaRPr dirty="0"/>
          </a:p>
          <a:p>
            <a:r>
              <a:rPr dirty="0"/>
              <a:t>**Demo Instructions**</a:t>
            </a:r>
          </a:p>
          <a:p>
            <a:r>
              <a:rPr dirty="0"/>
              <a:t>  1. Run clone command</a:t>
            </a:r>
          </a:p>
          <a:p>
            <a:r>
              <a:rPr dirty="0"/>
              <a:t>  2. Navigate into directory</a:t>
            </a:r>
          </a:p>
          <a:p>
            <a:r>
              <a:rPr dirty="0"/>
              <a:t>  3. Add upstream remote</a:t>
            </a:r>
          </a:p>
          <a:p>
            <a:r>
              <a:rPr dirty="0"/>
              <a:t>  4. Verify with `git remote -v`</a:t>
            </a:r>
          </a:p>
          <a:p>
            <a:endParaRPr dirty="0"/>
          </a:p>
          <a:p>
            <a:r>
              <a:rPr dirty="0"/>
              <a:t>**Directory Structure**</a:t>
            </a:r>
          </a:p>
          <a:p>
            <a:r>
              <a:rPr dirty="0"/>
              <a:t>  - Show key folders: slides/, Labs/, CODE/</a:t>
            </a:r>
          </a:p>
          <a:p>
            <a:r>
              <a:rPr dirty="0"/>
              <a:t>  - Point out .</a:t>
            </a:r>
            <a:r>
              <a:rPr dirty="0" err="1"/>
              <a:t>github</a:t>
            </a:r>
            <a:r>
              <a:rPr dirty="0"/>
              <a:t>/instructions/ folder</a:t>
            </a:r>
          </a:p>
          <a:p>
            <a:r>
              <a:rPr dirty="0"/>
              <a:t>  - Mention ai-logs/ for provenance tracking</a:t>
            </a:r>
          </a:p>
          <a:p>
            <a:endParaRPr dirty="0"/>
          </a:p>
          <a:p>
            <a:r>
              <a:rPr dirty="0"/>
              <a:t>**Remote Configuration**</a:t>
            </a:r>
          </a:p>
          <a:p>
            <a:r>
              <a:rPr dirty="0"/>
              <a:t>  - Origin = Your fork (for your changes)</a:t>
            </a:r>
          </a:p>
          <a:p>
            <a:r>
              <a:rPr dirty="0"/>
              <a:t>  - Upstream = Original (for course updates)</a:t>
            </a:r>
          </a:p>
          <a:p>
            <a:r>
              <a:rPr dirty="0"/>
              <a:t>  - Same pattern as brownfield repo</a:t>
            </a:r>
          </a:p>
          <a:p>
            <a:endParaRPr dirty="0"/>
          </a:p>
          <a:p>
            <a:r>
              <a:rPr dirty="0"/>
              <a:t>**Syncing Strategy**</a:t>
            </a:r>
          </a:p>
          <a:p>
            <a:r>
              <a:rPr dirty="0"/>
              <a:t>  - Pull updates from upstream when instructor announces</a:t>
            </a:r>
          </a:p>
          <a:p>
            <a:r>
              <a:rPr dirty="0"/>
              <a:t>  - Push your notes/changes to origin</a:t>
            </a:r>
          </a:p>
          <a:p>
            <a:r>
              <a:rPr dirty="0"/>
              <a:t>  - Keep your fork current with course</a:t>
            </a:r>
          </a:p>
          <a:p>
            <a:endParaRPr dirty="0"/>
          </a:p>
          <a:p>
            <a:r>
              <a:rPr dirty="0"/>
              <a:t>**Common Issues**</a:t>
            </a:r>
          </a:p>
          <a:p>
            <a:r>
              <a:rPr dirty="0"/>
              <a:t>  - "Authentication failed" - Check GitHub credentials</a:t>
            </a:r>
          </a:p>
          <a:p>
            <a:r>
              <a:rPr dirty="0"/>
              <a:t>  - "Directory exists" - Already cloned, just cd into it</a:t>
            </a:r>
          </a:p>
          <a:p>
            <a:r>
              <a:rPr dirty="0"/>
              <a:t>  - "Permission denied" - Verify fork was created</a:t>
            </a:r>
          </a:p>
          <a:p>
            <a:endParaRPr dirty="0"/>
          </a:p>
          <a:p>
            <a:r>
              <a:rPr dirty="0"/>
              <a:t>**Transition** "Now you have access to all course materials in your own fork."</a:t>
            </a:r>
          </a:p>
          <a:p>
            <a:endParaRPr dirty="0"/>
          </a:p>
          <a:p>
            <a:r>
              <a:rPr dirty="0"/>
              <a:t>---</a:t>
            </a:r>
          </a:p>
          <a:p>
            <a:endParaRPr dirty="0"/>
          </a:p>
          <a:p>
            <a:r>
              <a:rPr dirty="0"/>
              <a:t>Source: slides\marp\</a:t>
            </a:r>
            <a:r>
              <a:rPr lang="en-US" dirty="0"/>
              <a:t>20260330-aiasd-ge</a:t>
            </a:r>
            <a:r>
              <a:rPr dirty="0"/>
              <a:t>-repos.deck.md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~00:02</a:t>
            </a:r>
          </a:p>
          <a:p>
            <a:endParaRPr dirty="0"/>
          </a:p>
          <a:p>
            <a:r>
              <a:rPr dirty="0"/>
              <a:t>**Key Points**</a:t>
            </a:r>
          </a:p>
          <a:p>
            <a:r>
              <a:rPr dirty="0"/>
              <a:t>  - Overview of repository structure</a:t>
            </a:r>
          </a:p>
          <a:p>
            <a:r>
              <a:rPr dirty="0"/>
              <a:t>  - Where to find specific materials</a:t>
            </a:r>
          </a:p>
          <a:p>
            <a:r>
              <a:rPr dirty="0"/>
              <a:t>  - Understanding organization system</a:t>
            </a:r>
          </a:p>
          <a:p>
            <a:endParaRPr dirty="0"/>
          </a:p>
          <a:p>
            <a:r>
              <a:rPr dirty="0"/>
              <a:t>**Directory Details**</a:t>
            </a:r>
          </a:p>
          <a:p>
            <a:r>
              <a:rPr dirty="0"/>
              <a:t>  1. **.</a:t>
            </a:r>
            <a:r>
              <a:rPr dirty="0" err="1"/>
              <a:t>github</a:t>
            </a:r>
            <a:r>
              <a:rPr dirty="0"/>
              <a:t>/instructions/**</a:t>
            </a:r>
          </a:p>
          <a:p>
            <a:r>
              <a:rPr dirty="0"/>
              <a:t>    - Instructions for GitHub Copilot</a:t>
            </a:r>
          </a:p>
          <a:p>
            <a:r>
              <a:rPr dirty="0"/>
              <a:t>    - Coding standards and conventions</a:t>
            </a:r>
          </a:p>
          <a:p>
            <a:r>
              <a:rPr dirty="0"/>
              <a:t>    - AI-assisted development rules</a:t>
            </a:r>
          </a:p>
          <a:p>
            <a:r>
              <a:rPr dirty="0"/>
              <a:t>  2. **ai-logs/**</a:t>
            </a:r>
          </a:p>
          <a:p>
            <a:r>
              <a:rPr dirty="0"/>
              <a:t>  - Conversation history</a:t>
            </a:r>
          </a:p>
          <a:p>
            <a:r>
              <a:rPr dirty="0"/>
              <a:t>  - Provenance tracking</a:t>
            </a:r>
          </a:p>
          <a:p>
            <a:r>
              <a:rPr dirty="0"/>
              <a:t>  - Example AI interactions</a:t>
            </a:r>
          </a:p>
          <a:p>
            <a:endParaRPr dirty="0"/>
          </a:p>
          <a:p>
            <a:r>
              <a:rPr dirty="0"/>
              <a:t>**Customization Ideas**</a:t>
            </a:r>
          </a:p>
          <a:p>
            <a:r>
              <a:rPr dirty="0"/>
              <a:t>  - Add your own notes in a `notes/` folder</a:t>
            </a:r>
          </a:p>
          <a:p>
            <a:r>
              <a:rPr dirty="0"/>
              <a:t>  - Annotate slides with insights</a:t>
            </a:r>
          </a:p>
          <a:p>
            <a:r>
              <a:rPr dirty="0"/>
              <a:t>  - Track your progress in a journal</a:t>
            </a:r>
          </a:p>
          <a:p>
            <a:r>
              <a:rPr dirty="0"/>
              <a:t>  - Document questions and answers</a:t>
            </a:r>
          </a:p>
          <a:p>
            <a:endParaRPr dirty="0"/>
          </a:p>
          <a:p>
            <a:r>
              <a:rPr dirty="0"/>
              <a:t>**Best Practices**</a:t>
            </a:r>
          </a:p>
          <a:p>
            <a:r>
              <a:rPr dirty="0"/>
              <a:t>  - Don't modify original content directly</a:t>
            </a:r>
          </a:p>
          <a:p>
            <a:r>
              <a:rPr dirty="0"/>
              <a:t>  - Create a `custom/` or `my-notes/` folder</a:t>
            </a:r>
          </a:p>
          <a:p>
            <a:r>
              <a:rPr dirty="0"/>
              <a:t>  - Use branches for experiments</a:t>
            </a:r>
          </a:p>
          <a:p>
            <a:r>
              <a:rPr dirty="0"/>
              <a:t>  - Keep main branch clean for syncing</a:t>
            </a:r>
          </a:p>
          <a:p>
            <a:endParaRPr dirty="0"/>
          </a:p>
          <a:p>
            <a:r>
              <a:rPr dirty="0"/>
              <a:t>**Transition** "Let's move on to setting up the collaborative session repository."</a:t>
            </a:r>
          </a:p>
          <a:p>
            <a:endParaRPr dirty="0"/>
          </a:p>
          <a:p>
            <a:r>
              <a:rPr dirty="0"/>
              <a:t>---</a:t>
            </a:r>
          </a:p>
          <a:p>
            <a:endParaRPr dirty="0"/>
          </a:p>
          <a:p>
            <a:r>
              <a:rPr dirty="0"/>
              <a:t>Source: slides\marp\</a:t>
            </a:r>
            <a:r>
              <a:rPr lang="en-US" dirty="0"/>
              <a:t>20260330-aiasd-ge</a:t>
            </a:r>
            <a:r>
              <a:rPr dirty="0"/>
              <a:t>-repos.deck.md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~00:02</a:t>
            </a:r>
          </a:p>
          <a:p>
            <a:endParaRPr dirty="0"/>
          </a:p>
          <a:p>
            <a:r>
              <a:rPr dirty="0"/>
              <a:t>**Key Points**</a:t>
            </a:r>
          </a:p>
          <a:p>
            <a:r>
              <a:rPr dirty="0"/>
              <a:t>  - This is a different workflow from forking</a:t>
            </a:r>
          </a:p>
          <a:p>
            <a:r>
              <a:rPr dirty="0"/>
              <a:t>  - Direct clone with personal branches</a:t>
            </a:r>
          </a:p>
          <a:p>
            <a:r>
              <a:rPr dirty="0"/>
              <a:t>  - Used for collaborative course work</a:t>
            </a:r>
          </a:p>
          <a:p>
            <a:r>
              <a:rPr dirty="0"/>
              <a:t>  - Each student works on their own branch</a:t>
            </a:r>
          </a:p>
          <a:p>
            <a:endParaRPr dirty="0"/>
          </a:p>
          <a:p>
            <a:r>
              <a:rPr dirty="0"/>
              <a:t>**Differentiation**</a:t>
            </a:r>
          </a:p>
          <a:p>
            <a:r>
              <a:rPr dirty="0"/>
              <a:t>  - Brownfield Example = Your fork (full control)</a:t>
            </a:r>
          </a:p>
          <a:p>
            <a:r>
              <a:rPr dirty="0"/>
              <a:t>  - </a:t>
            </a:r>
            <a:r>
              <a:rPr lang="en-US" dirty="0"/>
              <a:t>20260330-aiasd-ge</a:t>
            </a:r>
            <a:r>
              <a:rPr dirty="0"/>
              <a:t> = Shared repo (personal branches)</a:t>
            </a:r>
          </a:p>
          <a:p>
            <a:endParaRPr dirty="0"/>
          </a:p>
          <a:p>
            <a:r>
              <a:rPr dirty="0"/>
              <a:t>**When to Use Each**</a:t>
            </a:r>
          </a:p>
          <a:p>
            <a:r>
              <a:rPr dirty="0"/>
              <a:t>  - Fork: Long-term projects, portfolio work</a:t>
            </a:r>
          </a:p>
          <a:p>
            <a:r>
              <a:rPr dirty="0"/>
              <a:t>  - Clone + Branch: Team environments, courses, shared projects</a:t>
            </a:r>
          </a:p>
          <a:p>
            <a:endParaRPr dirty="0"/>
          </a:p>
          <a:p>
            <a:r>
              <a:rPr dirty="0"/>
              <a:t>**Transition** "Let's clone this repository and set up your personal workspace."</a:t>
            </a:r>
          </a:p>
          <a:p>
            <a:endParaRPr dirty="0"/>
          </a:p>
          <a:p>
            <a:r>
              <a:rPr dirty="0"/>
              <a:t>---</a:t>
            </a:r>
          </a:p>
          <a:p>
            <a:endParaRPr dirty="0"/>
          </a:p>
          <a:p>
            <a:r>
              <a:rPr dirty="0"/>
              <a:t>Source: slides\marp\</a:t>
            </a:r>
            <a:r>
              <a:rPr lang="en-US" dirty="0"/>
              <a:t>20260330-aiasd-ge</a:t>
            </a:r>
            <a:r>
              <a:rPr dirty="0"/>
              <a:t>-repos.deck.md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~00:02</a:t>
            </a:r>
          </a:p>
          <a:p>
            <a:endParaRPr dirty="0"/>
          </a:p>
          <a:p>
            <a:r>
              <a:rPr dirty="0"/>
              <a:t>**Key Points**</a:t>
            </a:r>
          </a:p>
          <a:p>
            <a:r>
              <a:rPr dirty="0"/>
              <a:t>  - Standard git clone operation</a:t>
            </a:r>
          </a:p>
          <a:p>
            <a:r>
              <a:rPr dirty="0"/>
              <a:t>  - No forking needed for this repository</a:t>
            </a:r>
          </a:p>
          <a:p>
            <a:r>
              <a:rPr dirty="0"/>
              <a:t>  - Origin points directly to the shared repository</a:t>
            </a:r>
          </a:p>
          <a:p>
            <a:r>
              <a:rPr dirty="0"/>
              <a:t>  - All students clone the same repository</a:t>
            </a:r>
          </a:p>
          <a:p>
            <a:endParaRPr dirty="0"/>
          </a:p>
          <a:p>
            <a:r>
              <a:rPr dirty="0"/>
              <a:t>**Demo Instructions**</a:t>
            </a:r>
          </a:p>
          <a:p>
            <a:r>
              <a:rPr dirty="0"/>
              <a:t>  1. Copy repository URL from GitHub</a:t>
            </a:r>
          </a:p>
          <a:p>
            <a:r>
              <a:rPr dirty="0"/>
              <a:t>  2. Run git clone command in your workspace directory</a:t>
            </a:r>
          </a:p>
          <a:p>
            <a:r>
              <a:rPr dirty="0"/>
              <a:t>  3. Navigate into the cloned directory</a:t>
            </a:r>
          </a:p>
          <a:p>
            <a:r>
              <a:rPr dirty="0"/>
              <a:t>  4. Verify with `git remote -v`</a:t>
            </a:r>
          </a:p>
          <a:p>
            <a:endParaRPr dirty="0"/>
          </a:p>
          <a:p>
            <a:r>
              <a:rPr dirty="0"/>
              <a:t>**Directory Organization**</a:t>
            </a:r>
          </a:p>
          <a:p>
            <a:r>
              <a:rPr dirty="0"/>
              <a:t>  - Suggest cloning in a dedicated course workspace</a:t>
            </a:r>
          </a:p>
          <a:p>
            <a:r>
              <a:rPr dirty="0"/>
              <a:t>  - Example: `C:\git\courses\</a:t>
            </a:r>
            <a:r>
              <a:rPr dirty="0" err="1"/>
              <a:t>aiasd</a:t>
            </a:r>
            <a:r>
              <a:rPr dirty="0"/>
              <a:t>\` or `~/courses/</a:t>
            </a:r>
            <a:r>
              <a:rPr dirty="0" err="1"/>
              <a:t>aiasd</a:t>
            </a:r>
            <a:r>
              <a:rPr dirty="0"/>
              <a:t>/`</a:t>
            </a:r>
          </a:p>
          <a:p>
            <a:endParaRPr dirty="0"/>
          </a:p>
          <a:p>
            <a:r>
              <a:rPr dirty="0"/>
              <a:t>**HTTPS vs SSH**</a:t>
            </a:r>
          </a:p>
          <a:p>
            <a:r>
              <a:rPr dirty="0"/>
              <a:t>  - HTTPS: Works immediately, may prompt for credentials</a:t>
            </a:r>
          </a:p>
          <a:p>
            <a:r>
              <a:rPr dirty="0"/>
              <a:t>  - SSH: Requires SSH key setup but smoother for multiple operations</a:t>
            </a:r>
          </a:p>
          <a:p>
            <a:endParaRPr dirty="0"/>
          </a:p>
          <a:p>
            <a:r>
              <a:rPr dirty="0"/>
              <a:t>**Common Issues**</a:t>
            </a:r>
          </a:p>
          <a:p>
            <a:r>
              <a:rPr dirty="0"/>
              <a:t>  - "Authentication failed": Need GitHub credentials or token</a:t>
            </a:r>
          </a:p>
          <a:p>
            <a:r>
              <a:rPr dirty="0"/>
              <a:t>  - "Already exists": Directory name conflict, clone elsewhere or rename</a:t>
            </a:r>
          </a:p>
          <a:p>
            <a:endParaRPr dirty="0"/>
          </a:p>
          <a:p>
            <a:r>
              <a:rPr dirty="0"/>
              <a:t>**Transition** "Now let's create your personal branch."</a:t>
            </a:r>
          </a:p>
          <a:p>
            <a:endParaRPr dirty="0"/>
          </a:p>
          <a:p>
            <a:r>
              <a:rPr dirty="0"/>
              <a:t>---</a:t>
            </a:r>
          </a:p>
          <a:p>
            <a:endParaRPr dirty="0"/>
          </a:p>
          <a:p>
            <a:r>
              <a:rPr dirty="0"/>
              <a:t>Source: slides\marp\</a:t>
            </a:r>
            <a:r>
              <a:rPr lang="en-US" dirty="0"/>
              <a:t>20260330-aiasd-ge</a:t>
            </a:r>
            <a:r>
              <a:rPr dirty="0"/>
              <a:t>-repos.deck.md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~00:02</a:t>
            </a:r>
          </a:p>
          <a:p>
            <a:endParaRPr dirty="0"/>
          </a:p>
          <a:p>
            <a:r>
              <a:rPr dirty="0"/>
              <a:t>**Key Points**</a:t>
            </a:r>
          </a:p>
          <a:p>
            <a:r>
              <a:rPr dirty="0"/>
              <a:t>  - Each student creates their own named branch</a:t>
            </a:r>
          </a:p>
          <a:p>
            <a:r>
              <a:rPr dirty="0"/>
              <a:t>  - Branch names should be unique and identifiable</a:t>
            </a:r>
          </a:p>
          <a:p>
            <a:r>
              <a:rPr dirty="0"/>
              <a:t>  - This prevents conflicts between students</a:t>
            </a:r>
          </a:p>
          <a:p>
            <a:r>
              <a:rPr dirty="0"/>
              <a:t>  - All work happens in personal branches</a:t>
            </a:r>
          </a:p>
          <a:p>
            <a:endParaRPr dirty="0"/>
          </a:p>
          <a:p>
            <a:r>
              <a:rPr dirty="0"/>
              <a:t>**Naming Convention**</a:t>
            </a:r>
          </a:p>
          <a:p>
            <a:r>
              <a:rPr dirty="0"/>
              <a:t>  - Use lowercase with hyphens</a:t>
            </a:r>
          </a:p>
          <a:p>
            <a:r>
              <a:rPr dirty="0"/>
              <a:t>  - Include "workspace" or "dev" suffix</a:t>
            </a:r>
          </a:p>
          <a:p>
            <a:r>
              <a:rPr dirty="0"/>
              <a:t>  - Examples: `john-smith-workspace`, `jane-doe-dev`</a:t>
            </a:r>
          </a:p>
          <a:p>
            <a:r>
              <a:rPr dirty="0"/>
              <a:t>  - Avoid special characters except hyphens</a:t>
            </a:r>
          </a:p>
          <a:p>
            <a:endParaRPr dirty="0"/>
          </a:p>
          <a:p>
            <a:r>
              <a:rPr dirty="0"/>
              <a:t>**Demo Instructions**</a:t>
            </a:r>
          </a:p>
          <a:p>
            <a:r>
              <a:rPr dirty="0"/>
              <a:t>  1. Show creating a branch with example name</a:t>
            </a:r>
          </a:p>
          <a:p>
            <a:r>
              <a:rPr dirty="0"/>
              <a:t>  2. Show `git branch` output highlighting active branch</a:t>
            </a:r>
          </a:p>
          <a:p>
            <a:r>
              <a:rPr dirty="0"/>
              <a:t>  3. Explain the asterisk (\*) indicates current branch</a:t>
            </a:r>
          </a:p>
          <a:p>
            <a:endParaRPr dirty="0"/>
          </a:p>
          <a:p>
            <a:r>
              <a:rPr dirty="0"/>
              <a:t>**Why Personal Branches?**</a:t>
            </a:r>
          </a:p>
          <a:p>
            <a:r>
              <a:rPr dirty="0"/>
              <a:t>  - Isolates your work from others</a:t>
            </a:r>
          </a:p>
          <a:p>
            <a:r>
              <a:rPr dirty="0"/>
              <a:t>  - Safe to experiment</a:t>
            </a:r>
          </a:p>
          <a:p>
            <a:r>
              <a:rPr dirty="0"/>
              <a:t>  - Easy to reset if needed</a:t>
            </a:r>
          </a:p>
          <a:p>
            <a:r>
              <a:rPr dirty="0"/>
              <a:t>  - Can be pushed for instructor review</a:t>
            </a:r>
          </a:p>
          <a:p>
            <a:endParaRPr dirty="0"/>
          </a:p>
          <a:p>
            <a:r>
              <a:rPr dirty="0"/>
              <a:t>**Branch Strategy**</a:t>
            </a:r>
          </a:p>
          <a:p>
            <a:r>
              <a:rPr dirty="0"/>
              <a:t>  - One main personal branch for the session</a:t>
            </a:r>
          </a:p>
          <a:p>
            <a:r>
              <a:rPr dirty="0"/>
              <a:t>  - Can create feature branches off your personal branch if needed</a:t>
            </a:r>
          </a:p>
          <a:p>
            <a:endParaRPr dirty="0"/>
          </a:p>
          <a:p>
            <a:r>
              <a:rPr dirty="0"/>
              <a:t>**Transition** "Let's push your branch and verify the setup."</a:t>
            </a:r>
          </a:p>
          <a:p>
            <a:endParaRPr dirty="0"/>
          </a:p>
          <a:p>
            <a:r>
              <a:rPr dirty="0"/>
              <a:t>---</a:t>
            </a:r>
          </a:p>
          <a:p>
            <a:endParaRPr dirty="0"/>
          </a:p>
          <a:p>
            <a:r>
              <a:rPr dirty="0"/>
              <a:t>Source: slides\marp\</a:t>
            </a:r>
            <a:r>
              <a:rPr lang="en-US" dirty="0"/>
              <a:t>20260330-aiasd-ge</a:t>
            </a:r>
            <a:r>
              <a:rPr dirty="0"/>
              <a:t>-repos.deck.md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~00:02</a:t>
            </a:r>
          </a:p>
          <a:p>
            <a:endParaRPr dirty="0"/>
          </a:p>
          <a:p>
            <a:r>
              <a:rPr dirty="0"/>
              <a:t>**Key Points**</a:t>
            </a:r>
          </a:p>
          <a:p>
            <a:r>
              <a:rPr dirty="0"/>
              <a:t>  - Push creates your branch on the remote</a:t>
            </a:r>
          </a:p>
          <a:p>
            <a:r>
              <a:rPr dirty="0"/>
              <a:t>  - `-u` flag sets up tracking for easier future pushes</a:t>
            </a:r>
          </a:p>
          <a:p>
            <a:r>
              <a:rPr dirty="0"/>
              <a:t>  - Verify with a test commit</a:t>
            </a:r>
          </a:p>
          <a:p>
            <a:r>
              <a:rPr dirty="0"/>
              <a:t>  - Confirms you have push access</a:t>
            </a:r>
          </a:p>
          <a:p>
            <a:endParaRPr dirty="0"/>
          </a:p>
          <a:p>
            <a:r>
              <a:rPr dirty="0"/>
              <a:t>**Demo Instructions**</a:t>
            </a:r>
          </a:p>
          <a:p>
            <a:r>
              <a:rPr dirty="0"/>
              <a:t>  1. Push the branch with `-u` flag</a:t>
            </a:r>
          </a:p>
          <a:p>
            <a:r>
              <a:rPr dirty="0"/>
              <a:t>  2. Show the tracking information with `git branch -</a:t>
            </a:r>
            <a:r>
              <a:rPr dirty="0" err="1"/>
              <a:t>vv</a:t>
            </a:r>
            <a:r>
              <a:rPr dirty="0"/>
              <a:t>`</a:t>
            </a:r>
          </a:p>
          <a:p>
            <a:r>
              <a:rPr dirty="0"/>
              <a:t>  3. Create a test commit and push</a:t>
            </a:r>
          </a:p>
          <a:p>
            <a:r>
              <a:rPr dirty="0"/>
              <a:t>  4. Show the branch on GitHub</a:t>
            </a:r>
          </a:p>
          <a:p>
            <a:endParaRPr dirty="0"/>
          </a:p>
          <a:p>
            <a:r>
              <a:rPr dirty="0"/>
              <a:t>**Upstream Tracking Benefits**</a:t>
            </a:r>
          </a:p>
          <a:p>
            <a:r>
              <a:rPr dirty="0"/>
              <a:t>  - Can use `git push` without specifying branch name</a:t>
            </a:r>
          </a:p>
          <a:p>
            <a:r>
              <a:rPr dirty="0"/>
              <a:t>  - `git pull` automatically knows where to pull from</a:t>
            </a:r>
          </a:p>
          <a:p>
            <a:r>
              <a:rPr dirty="0"/>
              <a:t>  - `git status` shows ahead/behind information</a:t>
            </a:r>
          </a:p>
          <a:p>
            <a:endParaRPr dirty="0"/>
          </a:p>
          <a:p>
            <a:r>
              <a:rPr dirty="0"/>
              <a:t>**Permissions Check**</a:t>
            </a:r>
          </a:p>
          <a:p>
            <a:r>
              <a:rPr dirty="0"/>
              <a:t>  - If push fails, may not have repository access</a:t>
            </a:r>
          </a:p>
          <a:p>
            <a:r>
              <a:rPr dirty="0"/>
              <a:t>  - Instructor needs to add you as collaborator</a:t>
            </a:r>
          </a:p>
          <a:p>
            <a:r>
              <a:rPr dirty="0"/>
              <a:t>  - Provide your GitHub username</a:t>
            </a:r>
          </a:p>
          <a:p>
            <a:endParaRPr dirty="0"/>
          </a:p>
          <a:p>
            <a:r>
              <a:rPr dirty="0"/>
              <a:t>**Best Practice**</a:t>
            </a:r>
          </a:p>
          <a:p>
            <a:r>
              <a:rPr dirty="0"/>
              <a:t>  - Push your branch early to claim the name</a:t>
            </a:r>
          </a:p>
          <a:p>
            <a:r>
              <a:rPr dirty="0"/>
              <a:t>  - Commit and push regularly during exercises</a:t>
            </a:r>
          </a:p>
          <a:p>
            <a:r>
              <a:rPr dirty="0"/>
              <a:t>  - Allows instructor to review your progress</a:t>
            </a:r>
          </a:p>
          <a:p>
            <a:endParaRPr dirty="0"/>
          </a:p>
          <a:p>
            <a:r>
              <a:rPr dirty="0"/>
              <a:t>**Common Issues**</a:t>
            </a:r>
          </a:p>
          <a:p>
            <a:r>
              <a:rPr dirty="0"/>
              <a:t>  - "Permission denied": Need to be added as collaborator</a:t>
            </a:r>
          </a:p>
          <a:p>
            <a:r>
              <a:rPr dirty="0"/>
              <a:t>  - "Branch already exists": Someone else used that name, choose another</a:t>
            </a:r>
          </a:p>
          <a:p>
            <a:endParaRPr dirty="0"/>
          </a:p>
          <a:p>
            <a:r>
              <a:rPr dirty="0"/>
              <a:t>**Transition** "Now you have all three repositories set up - let's review the workflow."</a:t>
            </a:r>
          </a:p>
          <a:p>
            <a:endParaRPr dirty="0"/>
          </a:p>
          <a:p>
            <a:r>
              <a:rPr dirty="0"/>
              <a:t>---</a:t>
            </a:r>
          </a:p>
          <a:p>
            <a:endParaRPr dirty="0"/>
          </a:p>
          <a:p>
            <a:r>
              <a:rPr dirty="0"/>
              <a:t>Source: slides\marp\</a:t>
            </a:r>
            <a:r>
              <a:rPr lang="en-US" dirty="0"/>
              <a:t>20260330-aiasd-ge</a:t>
            </a:r>
            <a:r>
              <a:rPr dirty="0"/>
              <a:t>-repos.deck.md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~00:02</a:t>
            </a:r>
          </a:p>
          <a:p>
            <a:endParaRPr dirty="0"/>
          </a:p>
          <a:p>
            <a:r>
              <a:rPr dirty="0"/>
              <a:t>**Key Points**</a:t>
            </a:r>
          </a:p>
          <a:p>
            <a:r>
              <a:rPr dirty="0"/>
              <a:t>  - Three different repositories, three different workflows</a:t>
            </a:r>
          </a:p>
          <a:p>
            <a:r>
              <a:rPr dirty="0"/>
              <a:t>  - Each serves a distinct purpose</a:t>
            </a:r>
          </a:p>
          <a:p>
            <a:r>
              <a:rPr dirty="0"/>
              <a:t>  - Know which repository you're working in</a:t>
            </a:r>
          </a:p>
          <a:p>
            <a:r>
              <a:rPr dirty="0"/>
              <a:t>  - Different push/pull strategies for each</a:t>
            </a:r>
          </a:p>
          <a:p>
            <a:endParaRPr dirty="0"/>
          </a:p>
          <a:p>
            <a:r>
              <a:rPr dirty="0"/>
              <a:t>**Repository Purposes**</a:t>
            </a:r>
          </a:p>
          <a:p>
            <a:endParaRPr dirty="0"/>
          </a:p>
          <a:p>
            <a:r>
              <a:rPr dirty="0"/>
              <a:t>1. **Brownfield Example**</a:t>
            </a:r>
          </a:p>
          <a:p>
            <a:r>
              <a:rPr dirty="0"/>
              <a:t>  - Real-world codebase from GitHub (not a toy example)</a:t>
            </a:r>
          </a:p>
          <a:p>
            <a:r>
              <a:rPr dirty="0"/>
              <a:t>  - Contains authentic technical debt and legacy code</a:t>
            </a:r>
          </a:p>
          <a:p>
            <a:r>
              <a:rPr dirty="0"/>
              <a:t>  - Practice ground for AI-assisted refactoring</a:t>
            </a:r>
          </a:p>
          <a:p>
            <a:r>
              <a:rPr dirty="0"/>
              <a:t>  - Long-term reference</a:t>
            </a:r>
          </a:p>
          <a:p>
            <a:r>
              <a:rPr dirty="0"/>
              <a:t>  - Your portfolio piece</a:t>
            </a:r>
          </a:p>
          <a:p>
            <a:r>
              <a:rPr dirty="0"/>
              <a:t>  - Experimentation sandbox</a:t>
            </a:r>
          </a:p>
          <a:p>
            <a:r>
              <a:rPr dirty="0"/>
              <a:t>  - Can keep after course</a:t>
            </a:r>
          </a:p>
          <a:p>
            <a:endParaRPr dirty="0"/>
          </a:p>
          <a:p>
            <a:r>
              <a:rPr dirty="0"/>
              <a:t>2. **AI-Assisted-Software-Development**</a:t>
            </a:r>
          </a:p>
          <a:p>
            <a:r>
              <a:rPr dirty="0"/>
              <a:t>  - Complete AI development toolkit</a:t>
            </a:r>
          </a:p>
          <a:p>
            <a:r>
              <a:rPr dirty="0"/>
              <a:t>  - Example .instructions.md files for AI configuration</a:t>
            </a:r>
          </a:p>
          <a:p>
            <a:r>
              <a:rPr dirty="0"/>
              <a:t>  - Reusable .prompt.md templates</a:t>
            </a:r>
          </a:p>
          <a:p>
            <a:r>
              <a:rPr dirty="0"/>
              <a:t>  - .agent.md configurations</a:t>
            </a:r>
          </a:p>
          <a:p>
            <a:r>
              <a:rPr dirty="0"/>
              <a:t>  - Reference code samples</a:t>
            </a:r>
          </a:p>
          <a:p>
            <a:r>
              <a:rPr dirty="0"/>
              <a:t>  - Course curriculum materials</a:t>
            </a:r>
          </a:p>
          <a:p>
            <a:r>
              <a:rPr dirty="0"/>
              <a:t>  - Long-term reference documentation</a:t>
            </a:r>
          </a:p>
          <a:p>
            <a:r>
              <a:rPr dirty="0"/>
              <a:t>  - Your annotated study guide</a:t>
            </a:r>
          </a:p>
          <a:p>
            <a:r>
              <a:rPr dirty="0"/>
              <a:t>  - Copy patterns into your projects</a:t>
            </a:r>
          </a:p>
          <a:p>
            <a:r>
              <a:rPr dirty="0"/>
              <a:t>  - Keep indefinitely</a:t>
            </a:r>
          </a:p>
          <a:p>
            <a:endParaRPr dirty="0"/>
          </a:p>
          <a:p>
            <a:r>
              <a:rPr dirty="0"/>
              <a:t>3. **</a:t>
            </a:r>
            <a:r>
              <a:rPr lang="en-US" dirty="0"/>
              <a:t>20260330-aiasd-ge</a:t>
            </a:r>
            <a:r>
              <a:rPr dirty="0"/>
              <a:t>**</a:t>
            </a:r>
          </a:p>
          <a:p>
            <a:r>
              <a:rPr dirty="0"/>
              <a:t>  - Collaborative workspace for course session</a:t>
            </a:r>
          </a:p>
          <a:p>
            <a:r>
              <a:rPr dirty="0"/>
              <a:t>  - All exercise solutions pushed here</a:t>
            </a:r>
          </a:p>
          <a:p>
            <a:r>
              <a:rPr dirty="0"/>
              <a:t>  - Live coding and practice artifacts</a:t>
            </a:r>
          </a:p>
          <a:p>
            <a:r>
              <a:rPr dirty="0"/>
              <a:t>  - Session-specific work</a:t>
            </a:r>
          </a:p>
          <a:p>
            <a:r>
              <a:rPr dirty="0"/>
              <a:t>  - Shared exercises</a:t>
            </a:r>
          </a:p>
          <a:p>
            <a:r>
              <a:rPr dirty="0"/>
              <a:t>  - Instructor can review your branch</a:t>
            </a:r>
          </a:p>
          <a:p>
            <a:r>
              <a:rPr dirty="0"/>
              <a:t>  - Course coordination</a:t>
            </a:r>
          </a:p>
          <a:p>
            <a:r>
              <a:rPr dirty="0"/>
              <a:t>  - Immediate feedback on your work</a:t>
            </a:r>
          </a:p>
          <a:p>
            <a:endParaRPr dirty="0"/>
          </a:p>
          <a:p>
            <a:r>
              <a:rPr dirty="0"/>
              <a:t>**Workflow Comparison**</a:t>
            </a:r>
          </a:p>
          <a:p>
            <a:r>
              <a:rPr dirty="0"/>
              <a:t>| Action | Brownfield (Fork) | Course Materials (Fork) | </a:t>
            </a:r>
            <a:r>
              <a:rPr lang="en-US" dirty="0"/>
              <a:t>20260330-aiasd-ge</a:t>
            </a:r>
            <a:r>
              <a:rPr dirty="0"/>
              <a:t> (Branch) |</a:t>
            </a:r>
          </a:p>
          <a:p>
            <a:r>
              <a:rPr dirty="0"/>
              <a:t>| --------- | ----------------------- | ----------------------- | ----------------------- |</a:t>
            </a:r>
          </a:p>
          <a:p>
            <a:r>
              <a:rPr dirty="0"/>
              <a:t>| Updates | Sync from upstream | Sync from upstream | Pull from origin/main |</a:t>
            </a:r>
          </a:p>
          <a:p>
            <a:r>
              <a:rPr dirty="0"/>
              <a:t>| Your work | Any branch in your fork | Any branch in your fork | Your personal branch |</a:t>
            </a:r>
          </a:p>
          <a:p>
            <a:r>
              <a:rPr dirty="0"/>
              <a:t>| Share | Create PR to upstream | Create PR to upstream | Push to your branch |</a:t>
            </a:r>
          </a:p>
          <a:p>
            <a:r>
              <a:rPr dirty="0"/>
              <a:t>| Access | Full control | Full control | Shared collaboration |</a:t>
            </a:r>
          </a:p>
          <a:p>
            <a:endParaRPr dirty="0"/>
          </a:p>
          <a:p>
            <a:r>
              <a:rPr dirty="0"/>
              <a:t>**Directory Organization**</a:t>
            </a:r>
          </a:p>
          <a:p>
            <a:r>
              <a:rPr dirty="0"/>
              <a:t>```</a:t>
            </a:r>
          </a:p>
          <a:p>
            <a:r>
              <a:rPr dirty="0"/>
              <a:t>workspace/</a:t>
            </a:r>
          </a:p>
          <a:p>
            <a:r>
              <a:rPr dirty="0"/>
              <a:t>├── AIASD-Brownfield-Example/ (your fork - practice code)</a:t>
            </a:r>
          </a:p>
          <a:p>
            <a:r>
              <a:rPr dirty="0"/>
              <a:t>├── AI-Assisted-Software-Development/ (your fork - course materials)</a:t>
            </a:r>
          </a:p>
          <a:p>
            <a:r>
              <a:rPr dirty="0"/>
              <a:t>└── </a:t>
            </a:r>
            <a:r>
              <a:rPr lang="en-US" dirty="0"/>
              <a:t>20260330-aiasd-ge</a:t>
            </a:r>
            <a:r>
              <a:rPr dirty="0"/>
              <a:t>/ (shared repo - session work)</a:t>
            </a:r>
          </a:p>
          <a:p>
            <a:r>
              <a:rPr dirty="0"/>
              <a:t>```</a:t>
            </a:r>
          </a:p>
          <a:p>
            <a:endParaRPr dirty="0"/>
          </a:p>
          <a:p>
            <a:r>
              <a:rPr dirty="0"/>
              <a:t>**Common Confusion**</a:t>
            </a:r>
          </a:p>
          <a:p>
            <a:r>
              <a:rPr dirty="0"/>
              <a:t>  - "Which repo should I use?" - Instructor will specify per exercise</a:t>
            </a:r>
          </a:p>
          <a:p>
            <a:r>
              <a:rPr dirty="0"/>
              <a:t>  - "Can I push to main?" - No, always work in branches</a:t>
            </a:r>
          </a:p>
          <a:p>
            <a:r>
              <a:rPr dirty="0"/>
              <a:t>  - "Do I need all three?" - Yes, each serves a specific purpose</a:t>
            </a:r>
          </a:p>
          <a:p>
            <a:endParaRPr dirty="0"/>
          </a:p>
          <a:p>
            <a:r>
              <a:rPr dirty="0"/>
              <a:t>**Transition** "Let's create a checklist to verify all three repositories are ready."</a:t>
            </a:r>
          </a:p>
          <a:p>
            <a:endParaRPr dirty="0"/>
          </a:p>
          <a:p>
            <a:r>
              <a:rPr dirty="0"/>
              <a:t>---</a:t>
            </a:r>
          </a:p>
          <a:p>
            <a:endParaRPr dirty="0"/>
          </a:p>
          <a:p>
            <a:r>
              <a:rPr dirty="0"/>
              <a:t>Source: slides\marp\</a:t>
            </a:r>
            <a:r>
              <a:rPr lang="en-US" dirty="0"/>
              <a:t>20260330-aiasd-ge</a:t>
            </a:r>
            <a:r>
              <a:rPr dirty="0"/>
              <a:t>-repos.deck.md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a:t>
            </a:r>
          </a:p>
          <a:p>
            <a:endParaRPr/>
          </a:p>
          <a:p>
            <a:r>
              <a:t>Start by framing Git as the first hard dependency in the toolchain, not just a nice-to-have utility. Encourage students to pick one install method only so they do not create PATH confusion by mixing direct installers and package managers on the same machine. When learners hit `command not found`, have them fully restart the terminal first because that resolves many setup issues without deeper debugging. Close by asking for a quick verbal check that everyone can see a Git version before moving to account and GitHub work.</a:t>
            </a:r>
          </a:p>
          <a:p>
            <a:endParaRPr/>
          </a:p>
          <a:p>
            <a:r>
              <a:t>---</a:t>
            </a:r>
          </a:p>
          <a:p>
            <a:endParaRPr/>
          </a:p>
          <a:p>
            <a:r>
              <a:t>Source: slides\marp\exercise-tool-installation.deck.md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r>
              <a:t>Explain that this step converts GitHub from a browser-only experience into a workflow tool students can automate from the terminal. During the hands-on portion, watch for confusion between Git authentication and GitHub CLI authentication because learners often assume one automatically sets up the other. If anyone is blocked in the browser flow, have them retry with `gh auth logout` followed by `gh auth login` rather than improvising token storage mid-exercise. End by confirming that everyone can run a harmless `gh` command successfully before proceeding.</a:t>
            </a:r>
          </a:p>
          <a:p>
            <a:endParaRPr/>
          </a:p>
          <a:p>
            <a:r>
              <a:t>---</a:t>
            </a:r>
          </a:p>
          <a:p>
            <a:endParaRPr/>
          </a:p>
          <a:p>
            <a:r>
              <a:t>Source: slides\marp\exercise-tool-installation.deck.md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r>
              <a:t>Frame VS Code as the primary lab environment rather than just another editor choice. The main thing to validate here is not only installation, but that the `code` shell command works, because later workflows depend on opening repos and files from the terminal. If extension installation is slow, reassure learners that marketplace delays are normal and have them verify extension IDs carefully instead of repeatedly clicking install. Transition by noting that the next step is to make the AI features operational, not merely installed.</a:t>
            </a:r>
          </a:p>
          <a:p>
            <a:endParaRPr/>
          </a:p>
          <a:p>
            <a:r>
              <a:t>---</a:t>
            </a:r>
          </a:p>
          <a:p>
            <a:endParaRPr/>
          </a:p>
          <a:p>
            <a:r>
              <a:t>Source: slides\marp\exercise-tool-installation.deck.md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a:t>
            </a:r>
          </a:p>
          <a:p>
            <a:endParaRPr/>
          </a:p>
          <a:p>
            <a:r>
              <a:t>This slide is where students first see the course AI workflow become tangible, so keep the validation lightweight and immediate. Encourage them to test Copilot with a tiny prompt or comment instead of jumping into a large coding task, because fast feedback here builds confidence and exposes account or licensing issues early. If they do not see suggestions, check sign-in state and subscription status before debugging editor behavior. Close by contrasting editor-based Copilot help with terminal-based Copilot CLI help so both modes are clearly understood.</a:t>
            </a:r>
          </a:p>
          <a:p>
            <a:endParaRPr/>
          </a:p>
          <a:p>
            <a:r>
              <a:t>---</a:t>
            </a:r>
          </a:p>
          <a:p>
            <a:endParaRPr/>
          </a:p>
          <a:p>
            <a:r>
              <a:t>Source: slides\marp\exercise-tool-installation.deck.md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~00:10</a:t>
            </a:r>
          </a:p>
          <a:p>
            <a:endParaRPr dirty="0"/>
          </a:p>
          <a:p>
            <a:r>
              <a:rPr dirty="0"/>
              <a:t>Use this as the capstone setup lab that turns a list of installed tools into a working authoring environment. Students often complete installs without validating workflows, so emphasize that previewing Mermaid and testing the multi-command shortcut are proof that the environment is actually usable. If the shortcut does not fire, inspect both settings and </a:t>
            </a:r>
            <a:r>
              <a:rPr dirty="0" err="1"/>
              <a:t>keybindings</a:t>
            </a:r>
            <a:r>
              <a:rPr dirty="0"/>
              <a:t> for JSON syntax issues before assuming the extension is broken. Wrap up by having learners self-assess whether they can now clone repos, open them in VS Code, use Copilot, and preview markdown-based assets without help.</a:t>
            </a:r>
          </a:p>
          <a:p>
            <a:pPr>
              <a:buNone/>
            </a:pPr>
            <a:br>
              <a:rPr lang="en-US" dirty="0"/>
            </a:br>
            <a:r>
              <a:rPr lang="en-US" sz="1600" dirty="0">
                <a:latin typeface="Consolas"/>
              </a:rPr>
              <a:t>"</a:t>
            </a:r>
            <a:r>
              <a:rPr lang="en-US" sz="1600" dirty="0" err="1">
                <a:latin typeface="Consolas"/>
              </a:rPr>
              <a:t>multiCommand.commands</a:t>
            </a:r>
            <a:r>
              <a:rPr lang="en-US" sz="1600" dirty="0">
                <a:latin typeface="Consolas"/>
              </a:rPr>
              <a:t>": [</a:t>
            </a:r>
          </a:p>
          <a:p>
            <a:pPr>
              <a:buNone/>
            </a:pPr>
            <a:r>
              <a:rPr lang="en-US" sz="1600" dirty="0">
                <a:latin typeface="Consolas"/>
              </a:rPr>
              <a:t>  {</a:t>
            </a:r>
          </a:p>
          <a:p>
            <a:pPr>
              <a:buNone/>
            </a:pPr>
            <a:r>
              <a:rPr lang="en-US" sz="1600" dirty="0">
                <a:latin typeface="Consolas"/>
              </a:rPr>
              <a:t>    "command": "</a:t>
            </a:r>
            <a:r>
              <a:rPr lang="en-US" sz="1600" dirty="0" err="1">
                <a:latin typeface="Consolas"/>
              </a:rPr>
              <a:t>extension.multiCommand.execute</a:t>
            </a:r>
            <a:r>
              <a:rPr lang="en-US" sz="1600" dirty="0">
                <a:latin typeface="Consolas"/>
              </a:rPr>
              <a:t>",</a:t>
            </a:r>
          </a:p>
          <a:p>
            <a:pPr>
              <a:buNone/>
            </a:pPr>
            <a:r>
              <a:rPr lang="en-US" sz="1600" dirty="0">
                <a:latin typeface="Consolas"/>
              </a:rPr>
              <a:t>    "sequence": [</a:t>
            </a:r>
          </a:p>
          <a:p>
            <a:pPr>
              <a:buNone/>
            </a:pPr>
            <a:r>
              <a:rPr lang="en-US" sz="1600" dirty="0">
                <a:latin typeface="Consolas"/>
              </a:rPr>
              <a:t>      "</a:t>
            </a:r>
            <a:r>
              <a:rPr lang="en-US" sz="1600" dirty="0" err="1">
                <a:latin typeface="Consolas"/>
              </a:rPr>
              <a:t>markdown.showPreviewToSide</a:t>
            </a:r>
            <a:r>
              <a:rPr lang="en-US" sz="1600" dirty="0">
                <a:latin typeface="Consolas"/>
              </a:rPr>
              <a:t>",</a:t>
            </a:r>
          </a:p>
          <a:p>
            <a:pPr>
              <a:buNone/>
            </a:pPr>
            <a:r>
              <a:rPr lang="en-US" sz="1600" dirty="0">
                <a:latin typeface="Consolas"/>
              </a:rPr>
              <a:t>      "</a:t>
            </a:r>
            <a:r>
              <a:rPr lang="en-US" sz="1600" dirty="0" err="1">
                <a:latin typeface="Consolas"/>
              </a:rPr>
              <a:t>workbench.action.copyEditorToNewWindow</a:t>
            </a:r>
            <a:r>
              <a:rPr lang="en-US" sz="1600" dirty="0">
                <a:latin typeface="Consolas"/>
              </a:rPr>
              <a:t>"</a:t>
            </a:r>
          </a:p>
          <a:p>
            <a:pPr>
              <a:buNone/>
            </a:pPr>
            <a:r>
              <a:rPr lang="en-US" sz="1600" dirty="0">
                <a:latin typeface="Consolas"/>
              </a:rPr>
              <a:t>    ]</a:t>
            </a:r>
          </a:p>
          <a:p>
            <a:pPr>
              <a:buNone/>
            </a:pPr>
            <a:r>
              <a:rPr lang="en-US" sz="1600" dirty="0">
                <a:latin typeface="Consolas"/>
              </a:rPr>
              <a:t>  }</a:t>
            </a:r>
          </a:p>
          <a:p>
            <a:pPr>
              <a:buNone/>
            </a:pPr>
            <a:r>
              <a:rPr lang="en-US" sz="1600" dirty="0">
                <a:latin typeface="Consolas"/>
              </a:rPr>
              <a:t>]</a:t>
            </a:r>
          </a:p>
          <a:p>
            <a:pPr>
              <a:buNone/>
            </a:pPr>
            <a:endParaRPr lang="en-US" sz="1600" dirty="0">
              <a:latin typeface="Consolas"/>
            </a:endParaRPr>
          </a:p>
          <a:p>
            <a:pPr>
              <a:buNone/>
            </a:pPr>
            <a:r>
              <a:rPr lang="en-US" sz="1600" dirty="0">
                <a:latin typeface="Consolas"/>
              </a:rPr>
              <a:t>{</a:t>
            </a:r>
          </a:p>
          <a:p>
            <a:pPr>
              <a:buNone/>
            </a:pPr>
            <a:r>
              <a:rPr lang="en-US" sz="1600" dirty="0">
                <a:latin typeface="Consolas"/>
              </a:rPr>
              <a:t>  "key": "</a:t>
            </a:r>
            <a:r>
              <a:rPr lang="en-US" sz="1600" dirty="0" err="1">
                <a:latin typeface="Consolas"/>
              </a:rPr>
              <a:t>ctrl+shift+alt+x</a:t>
            </a:r>
            <a:r>
              <a:rPr lang="en-US" sz="1600" dirty="0">
                <a:latin typeface="Consolas"/>
              </a:rPr>
              <a:t>",</a:t>
            </a:r>
          </a:p>
          <a:p>
            <a:pPr>
              <a:buNone/>
            </a:pPr>
            <a:r>
              <a:rPr lang="en-US" sz="1600" dirty="0">
                <a:latin typeface="Consolas"/>
              </a:rPr>
              <a:t>  "command": "</a:t>
            </a:r>
            <a:r>
              <a:rPr lang="en-US" sz="1600" dirty="0" err="1">
                <a:latin typeface="Consolas"/>
              </a:rPr>
              <a:t>extension.multiCommand.execute</a:t>
            </a:r>
            <a:r>
              <a:rPr lang="en-US" sz="1600" dirty="0">
                <a:latin typeface="Consolas"/>
              </a:rPr>
              <a:t>",</a:t>
            </a:r>
          </a:p>
          <a:p>
            <a:pPr>
              <a:buNone/>
            </a:pPr>
            <a:r>
              <a:rPr lang="en-US" sz="1600" dirty="0">
                <a:latin typeface="Consolas"/>
              </a:rPr>
              <a:t>  "</a:t>
            </a:r>
            <a:r>
              <a:rPr lang="en-US" sz="1600" dirty="0" err="1">
                <a:latin typeface="Consolas"/>
              </a:rPr>
              <a:t>args</a:t>
            </a:r>
            <a:r>
              <a:rPr lang="en-US" sz="1600" dirty="0">
                <a:latin typeface="Consolas"/>
              </a:rPr>
              <a:t>": {</a:t>
            </a:r>
          </a:p>
          <a:p>
            <a:pPr>
              <a:buNone/>
            </a:pPr>
            <a:r>
              <a:rPr lang="en-US" sz="1600" dirty="0">
                <a:latin typeface="Consolas"/>
              </a:rPr>
              <a:t>    "sequence": [</a:t>
            </a:r>
          </a:p>
          <a:p>
            <a:pPr>
              <a:buNone/>
            </a:pPr>
            <a:r>
              <a:rPr lang="en-US" sz="1600" dirty="0">
                <a:latin typeface="Consolas"/>
              </a:rPr>
              <a:t>      "</a:t>
            </a:r>
            <a:r>
              <a:rPr lang="en-US" sz="1600" dirty="0" err="1">
                <a:latin typeface="Consolas"/>
              </a:rPr>
              <a:t>markdown.showPreviewToSide</a:t>
            </a:r>
            <a:r>
              <a:rPr lang="en-US" sz="1600" dirty="0">
                <a:latin typeface="Consolas"/>
              </a:rPr>
              <a:t>",</a:t>
            </a:r>
          </a:p>
          <a:p>
            <a:pPr>
              <a:buNone/>
            </a:pPr>
            <a:r>
              <a:rPr lang="en-US" sz="1600" dirty="0">
                <a:latin typeface="Consolas"/>
              </a:rPr>
              <a:t>      "</a:t>
            </a:r>
            <a:r>
              <a:rPr lang="en-US" sz="1600" dirty="0" err="1">
                <a:latin typeface="Consolas"/>
              </a:rPr>
              <a:t>workbench.action.copyEditorToNewWindow</a:t>
            </a:r>
            <a:r>
              <a:rPr lang="en-US" sz="1600" dirty="0">
                <a:latin typeface="Consolas"/>
              </a:rPr>
              <a:t>"</a:t>
            </a:r>
          </a:p>
          <a:p>
            <a:pPr>
              <a:buNone/>
            </a:pPr>
            <a:r>
              <a:rPr lang="en-US" sz="1600" dirty="0">
                <a:latin typeface="Consolas"/>
              </a:rPr>
              <a:t>    ]</a:t>
            </a:r>
          </a:p>
          <a:p>
            <a:pPr>
              <a:buNone/>
            </a:pPr>
            <a:r>
              <a:rPr lang="en-US" sz="1600" dirty="0">
                <a:latin typeface="Consolas"/>
              </a:rPr>
              <a:t>  },</a:t>
            </a:r>
          </a:p>
          <a:p>
            <a:pPr>
              <a:buNone/>
            </a:pPr>
            <a:r>
              <a:rPr lang="en-US" sz="1600" dirty="0">
                <a:latin typeface="Consolas"/>
              </a:rPr>
              <a:t>  "when": "</a:t>
            </a:r>
            <a:r>
              <a:rPr lang="en-US" sz="1600" dirty="0" err="1">
                <a:latin typeface="Consolas"/>
              </a:rPr>
              <a:t>editorLangId</a:t>
            </a:r>
            <a:r>
              <a:rPr lang="en-US" sz="1600" dirty="0">
                <a:latin typeface="Consolas"/>
              </a:rPr>
              <a:t> == markdown || </a:t>
            </a:r>
            <a:r>
              <a:rPr lang="en-US" sz="1600" dirty="0" err="1">
                <a:latin typeface="Consolas"/>
              </a:rPr>
              <a:t>resourceExtname</a:t>
            </a:r>
            <a:r>
              <a:rPr lang="en-US" sz="1600" dirty="0">
                <a:latin typeface="Consolas"/>
              </a:rPr>
              <a:t> == .mdc"</a:t>
            </a:r>
          </a:p>
          <a:p>
            <a:pPr>
              <a:buNone/>
            </a:pPr>
            <a:r>
              <a:rPr lang="en-US" sz="1600" dirty="0">
                <a:latin typeface="Consolas"/>
              </a:rPr>
              <a:t>}</a:t>
            </a:r>
          </a:p>
          <a:p>
            <a:pPr>
              <a:buNone/>
            </a:pPr>
            <a:endParaRPr lang="en-US" sz="1600" dirty="0">
              <a:latin typeface="Consolas"/>
            </a:endParaRPr>
          </a:p>
          <a:p>
            <a:endParaRPr dirty="0"/>
          </a:p>
          <a:p>
            <a:r>
              <a:rPr dirty="0"/>
              <a:t>---</a:t>
            </a:r>
          </a:p>
          <a:p>
            <a:endParaRPr dirty="0"/>
          </a:p>
          <a:p>
            <a:r>
              <a:rPr dirty="0"/>
              <a:t>Source: slides\marp\exercise-tool-installation.deck.md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4">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5"/>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2"/>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normAutofit/>
          </a:bodyPr>
          <a:lstStyle/>
          <a:p>
            <a:r>
              <a:t>Welcome to AI-Assisted Software Development</a:t>
            </a:r>
          </a:p>
        </p:txBody>
      </p:sp>
      <p:sp>
        <p:nvSpPr>
          <p:cNvPr id="3" name="Subtitle 2"/>
          <p:cNvSpPr>
            <a:spLocks noGrp="1"/>
          </p:cNvSpPr>
          <p:nvPr>
            <p:ph type="subTitle" idx="1"/>
          </p:nvPr>
        </p:nvSpPr>
        <p:spPr/>
        <p:txBody>
          <a:bodyPr wrap="square">
            <a:normAutofit/>
          </a:bodyPr>
          <a:lstStyle/>
          <a:p>
            <a:pPr>
              <a:buNone/>
            </a:pPr>
            <a:r>
              <a:rPr sz="2800" b="0" i="0" u="none"/>
              <a:t>From Code to Copilot</a:t>
            </a:r>
            <a:endParaRPr sz="2800" b="0" i="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563C3D8-8C59-F7CE-EACA-05FA675FB223}"/>
              </a:ext>
            </a:extLst>
          </p:cNvPr>
          <p:cNvSpPr txBox="1"/>
          <p:nvPr/>
        </p:nvSpPr>
        <p:spPr>
          <a:xfrm>
            <a:off x="1162822" y="4522463"/>
            <a:ext cx="9866357" cy="1200329"/>
          </a:xfrm>
          <a:prstGeom prst="rect">
            <a:avLst/>
          </a:prstGeom>
          <a:noFill/>
        </p:spPr>
        <p:txBody>
          <a:bodyPr wrap="square">
            <a:spAutoFit/>
          </a:bodyPr>
          <a:lstStyle/>
          <a:p>
            <a:pPr algn="ctr" defTabSz="914377">
              <a:spcBef>
                <a:spcPts val="1000"/>
              </a:spcBef>
              <a:defRPr/>
            </a:pPr>
            <a:r>
              <a:rPr lang="en-US" sz="3200" b="1" dirty="0">
                <a:solidFill>
                  <a:schemeClr val="bg1"/>
                </a:solidFill>
                <a:latin typeface="Noto Sans" panose="020B0502040504020204" pitchFamily="34" charset="0"/>
                <a:ea typeface="Noto Sans" panose="020B0502040504020204" pitchFamily="34" charset="0"/>
                <a:cs typeface="Noto Sans" panose="020B0502040504020204" pitchFamily="34" charset="0"/>
              </a:rPr>
              <a:t>30 years of</a:t>
            </a:r>
            <a:br>
              <a:rPr lang="en-US" sz="3200" b="1" dirty="0">
                <a:solidFill>
                  <a:schemeClr val="bg1"/>
                </a:solidFill>
                <a:latin typeface="Noto Sans" panose="020B0502040504020204" pitchFamily="34" charset="0"/>
                <a:ea typeface="Noto Sans" panose="020B0502040504020204" pitchFamily="34" charset="0"/>
                <a:cs typeface="Noto Sans" panose="020B0502040504020204" pitchFamily="34" charset="0"/>
              </a:rPr>
            </a:br>
            <a:r>
              <a:rPr lang="en-US" sz="4000" b="1" i="1" dirty="0">
                <a:solidFill>
                  <a:schemeClr val="bg1"/>
                </a:solidFill>
                <a:latin typeface="Noto Sans" panose="020B0502040504020204" pitchFamily="34" charset="0"/>
                <a:ea typeface="Noto Sans" panose="020B0502040504020204" pitchFamily="34" charset="0"/>
                <a:cs typeface="Noto Sans" panose="020B0502040504020204" pitchFamily="34" charset="0"/>
              </a:rPr>
              <a:t>“Helping People Build Better Software” </a:t>
            </a:r>
          </a:p>
        </p:txBody>
      </p:sp>
      <p:grpSp>
        <p:nvGrpSpPr>
          <p:cNvPr id="2" name="Group 1">
            <a:extLst>
              <a:ext uri="{FF2B5EF4-FFF2-40B4-BE49-F238E27FC236}">
                <a16:creationId xmlns:a16="http://schemas.microsoft.com/office/drawing/2014/main" id="{21B6B861-B80F-C477-CF48-A326D6C71CC8}"/>
              </a:ext>
            </a:extLst>
          </p:cNvPr>
          <p:cNvGrpSpPr/>
          <p:nvPr/>
        </p:nvGrpSpPr>
        <p:grpSpPr>
          <a:xfrm>
            <a:off x="1859228" y="2539587"/>
            <a:ext cx="8473541" cy="1702628"/>
            <a:chOff x="1754518" y="2775029"/>
            <a:chExt cx="8473541" cy="1702628"/>
          </a:xfrm>
        </p:grpSpPr>
        <p:pic>
          <p:nvPicPr>
            <p:cNvPr id="8" name="Picture 7">
              <a:extLst>
                <a:ext uri="{FF2B5EF4-FFF2-40B4-BE49-F238E27FC236}">
                  <a16:creationId xmlns:a16="http://schemas.microsoft.com/office/drawing/2014/main" id="{01B0AE49-D889-DA43-76EC-052FA8D3C8A9}"/>
                </a:ext>
              </a:extLst>
            </p:cNvPr>
            <p:cNvPicPr>
              <a:picLocks noChangeAspect="1"/>
            </p:cNvPicPr>
            <p:nvPr/>
          </p:nvPicPr>
          <p:blipFill>
            <a:blip r:embed="rId3"/>
            <a:srcRect/>
            <a:stretch/>
          </p:blipFill>
          <p:spPr>
            <a:xfrm>
              <a:off x="1754518" y="2775029"/>
              <a:ext cx="1702628" cy="1702628"/>
            </a:xfrm>
            <a:prstGeom prst="rect">
              <a:avLst/>
            </a:prstGeom>
          </p:spPr>
        </p:pic>
        <p:pic>
          <p:nvPicPr>
            <p:cNvPr id="9" name="Picture 8">
              <a:extLst>
                <a:ext uri="{FF2B5EF4-FFF2-40B4-BE49-F238E27FC236}">
                  <a16:creationId xmlns:a16="http://schemas.microsoft.com/office/drawing/2014/main" id="{3C5B3F80-9858-338B-857D-9BCC67BD1329}"/>
                </a:ext>
              </a:extLst>
            </p:cNvPr>
            <p:cNvPicPr>
              <a:picLocks noChangeAspect="1"/>
            </p:cNvPicPr>
            <p:nvPr/>
          </p:nvPicPr>
          <p:blipFill>
            <a:blip r:embed="rId4"/>
            <a:srcRect/>
            <a:stretch/>
          </p:blipFill>
          <p:spPr>
            <a:xfrm>
              <a:off x="4011489" y="2775029"/>
              <a:ext cx="1702628" cy="1702628"/>
            </a:xfrm>
            <a:prstGeom prst="rect">
              <a:avLst/>
            </a:prstGeom>
          </p:spPr>
        </p:pic>
        <p:pic>
          <p:nvPicPr>
            <p:cNvPr id="6" name="Picture 5">
              <a:extLst>
                <a:ext uri="{FF2B5EF4-FFF2-40B4-BE49-F238E27FC236}">
                  <a16:creationId xmlns:a16="http://schemas.microsoft.com/office/drawing/2014/main" id="{C2950F5A-0F27-D695-C877-3746FF6463C4}"/>
                </a:ext>
              </a:extLst>
            </p:cNvPr>
            <p:cNvPicPr>
              <a:picLocks noChangeAspect="1"/>
            </p:cNvPicPr>
            <p:nvPr/>
          </p:nvPicPr>
          <p:blipFill>
            <a:blip r:embed="rId5"/>
            <a:srcRect/>
            <a:stretch/>
          </p:blipFill>
          <p:spPr>
            <a:xfrm>
              <a:off x="6268460" y="2775029"/>
              <a:ext cx="1702628" cy="1702628"/>
            </a:xfrm>
            <a:prstGeom prst="rect">
              <a:avLst/>
            </a:prstGeom>
          </p:spPr>
        </p:pic>
        <p:pic>
          <p:nvPicPr>
            <p:cNvPr id="7" name="Picture 6">
              <a:extLst>
                <a:ext uri="{FF2B5EF4-FFF2-40B4-BE49-F238E27FC236}">
                  <a16:creationId xmlns:a16="http://schemas.microsoft.com/office/drawing/2014/main" id="{8A9C37BE-12E3-7FD3-C1C2-B43C773EB0C1}"/>
                </a:ext>
              </a:extLst>
            </p:cNvPr>
            <p:cNvPicPr>
              <a:picLocks noChangeAspect="1"/>
            </p:cNvPicPr>
            <p:nvPr/>
          </p:nvPicPr>
          <p:blipFill>
            <a:blip r:embed="rId6"/>
            <a:srcRect/>
            <a:stretch/>
          </p:blipFill>
          <p:spPr>
            <a:xfrm>
              <a:off x="8525431" y="2775029"/>
              <a:ext cx="1702628" cy="1702628"/>
            </a:xfrm>
            <a:prstGeom prst="rect">
              <a:avLst/>
            </a:prstGeom>
          </p:spPr>
        </p:pic>
      </p:grpSp>
      <p:pic>
        <p:nvPicPr>
          <p:cNvPr id="3" name="Picture 2">
            <a:extLst>
              <a:ext uri="{FF2B5EF4-FFF2-40B4-BE49-F238E27FC236}">
                <a16:creationId xmlns:a16="http://schemas.microsoft.com/office/drawing/2014/main" id="{BC9242A6-5FE7-F8DF-D678-174A54FC556B}"/>
              </a:ext>
            </a:extLst>
          </p:cNvPr>
          <p:cNvPicPr>
            <a:picLocks noChangeAspect="1"/>
          </p:cNvPicPr>
          <p:nvPr/>
        </p:nvPicPr>
        <p:blipFill>
          <a:blip r:embed="rId7"/>
          <a:srcRect/>
          <a:stretch/>
        </p:blipFill>
        <p:spPr>
          <a:xfrm>
            <a:off x="3561857" y="1243627"/>
            <a:ext cx="5081523" cy="151175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1460760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sz="4350"/>
              <a:t>Thirty Years and Still Compiling</a:t>
            </a:r>
          </a:p>
        </p:txBody>
      </p:sp>
      <p:sp>
        <p:nvSpPr>
          <p:cNvPr id="3" name="Content Placeholder 2"/>
          <p:cNvSpPr>
            <a:spLocks noGrp="1"/>
          </p:cNvSpPr>
          <p:nvPr>
            <p:ph idx="1"/>
          </p:nvPr>
        </p:nvSpPr>
        <p:spPr/>
        <p:txBody>
          <a:bodyPr wrap="square">
            <a:normAutofit/>
          </a:bodyPr>
          <a:lstStyle/>
          <a:p>
            <a:pPr>
              <a:buNone/>
            </a:pPr>
            <a:r>
              <a:rPr sz="2800" b="0" i="0" u="none"/>
              <a:t>&lt;img src="images/CODE-30.jpg" style="width: 100%;" /&gt;</a:t>
            </a:r>
            <a:endParaRPr sz="2800" b="0" i="0">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1" i="0" u="none"/>
              <a:t>▶ Repository</a:t>
            </a:r>
          </a:p>
          <a:p>
            <a:r>
              <a:rPr b="0" i="0" u="none"/>
              <a:t>Tools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sz="4000"/>
              <a:t>Forking and Cloning Course Repositories</a:t>
            </a:r>
          </a:p>
        </p:txBody>
      </p:sp>
      <p:sp>
        <p:nvSpPr>
          <p:cNvPr id="3" name="Subtitle 2"/>
          <p:cNvSpPr>
            <a:spLocks noGrp="1"/>
          </p:cNvSpPr>
          <p:nvPr>
            <p:ph type="subTitle" idx="1"/>
          </p:nvPr>
        </p:nvSpPr>
        <p:spPr/>
        <p:txBody>
          <a:bodyPr wrap="square">
            <a:normAutofit/>
          </a:bodyPr>
          <a:lstStyle/>
          <a:p>
            <a:pPr marL="0" indent="0">
              <a:buNone/>
            </a:pPr>
            <a:r>
              <a:rPr dirty="0"/>
              <a:t>Three Repos Walk Into a GitHub...</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sz="3350"/>
              <a:t>Forking the AIASD Brownfield Repository</a:t>
            </a:r>
          </a:p>
        </p:txBody>
      </p:sp>
      <p:sp>
        <p:nvSpPr>
          <p:cNvPr id="3" name="Content Placeholder 2"/>
          <p:cNvSpPr>
            <a:spLocks noGrp="1"/>
          </p:cNvSpPr>
          <p:nvPr>
            <p:ph type="subTitle" idx="1"/>
          </p:nvPr>
        </p:nvSpPr>
        <p:spPr/>
        <p:txBody>
          <a:bodyPr wrap="square">
            <a:normAutofit/>
          </a:bodyPr>
          <a:lstStyle/>
          <a:p>
            <a:pPr>
              <a:buNone/>
            </a:pPr>
            <a:r>
              <a:rPr sz="2800" b="0" i="0" u="none" dirty="0"/>
              <a:t>Getting Your Own Copy to Work With</a:t>
            </a:r>
            <a:endParaRPr sz="2800" b="0" i="0" dirty="0">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Why Fork Instead of Clone?</a:t>
            </a:r>
          </a:p>
        </p:txBody>
      </p:sp>
      <p:sp>
        <p:nvSpPr>
          <p:cNvPr id="3" name="Content Placeholder 2"/>
          <p:cNvSpPr>
            <a:spLocks noGrp="1"/>
          </p:cNvSpPr>
          <p:nvPr>
            <p:ph sz="half" idx="1"/>
          </p:nvPr>
        </p:nvSpPr>
        <p:spPr/>
        <p:txBody>
          <a:bodyPr wrap="square">
            <a:noAutofit/>
          </a:bodyPr>
          <a:lstStyle/>
          <a:p>
            <a:pPr>
              <a:buNone/>
            </a:pPr>
            <a:r>
              <a:rPr sz="2350" b="0" i="0" u="none" dirty="0"/>
              <a:t>Forking Benefits</a:t>
            </a:r>
            <a:endParaRPr sz="2350" b="0" i="0" dirty="0">
              <a:latin typeface="Arial"/>
            </a:endParaRPr>
          </a:p>
          <a:p>
            <a:pPr marL="457200" lvl="1" indent="0">
              <a:buNone/>
            </a:pPr>
            <a:r>
              <a:rPr sz="2350" b="0" i="0" u="none" dirty="0"/>
              <a:t>✅ Your own GitHub repository</a:t>
            </a:r>
            <a:endParaRPr sz="2350" b="0" i="0" dirty="0">
              <a:latin typeface="Arial"/>
            </a:endParaRPr>
          </a:p>
          <a:p>
            <a:pPr marL="457200" lvl="1" indent="0">
              <a:buNone/>
            </a:pPr>
            <a:r>
              <a:rPr sz="2350" b="0" i="0" u="none" dirty="0"/>
              <a:t>✅ Safe to experiment and break things</a:t>
            </a:r>
            <a:endParaRPr sz="2350" b="0" i="0" dirty="0">
              <a:latin typeface="Arial"/>
            </a:endParaRPr>
          </a:p>
          <a:p>
            <a:pPr marL="457200" lvl="1" indent="0">
              <a:buNone/>
            </a:pPr>
            <a:r>
              <a:rPr sz="2350" b="0" i="0" u="none" dirty="0"/>
              <a:t>✅ Can create pull requests back to original</a:t>
            </a:r>
            <a:endParaRPr sz="2350" b="0" i="0" dirty="0">
              <a:latin typeface="Arial"/>
            </a:endParaRPr>
          </a:p>
          <a:p>
            <a:pPr marL="457200" lvl="1" indent="0">
              <a:buNone/>
            </a:pPr>
            <a:r>
              <a:rPr sz="2350" b="0" i="0" u="none" dirty="0"/>
              <a:t>✅ Easy to sync updates from upstream</a:t>
            </a:r>
            <a:endParaRPr sz="2350" b="0" i="0" dirty="0">
              <a:latin typeface="Arial"/>
            </a:endParaRPr>
          </a:p>
          <a:p>
            <a:pPr marL="457200" lvl="1" indent="0">
              <a:buNone/>
            </a:pPr>
            <a:r>
              <a:rPr sz="2350" b="0" i="0" u="none" dirty="0"/>
              <a:t>✅ Visible in your GitHub profile</a:t>
            </a:r>
            <a:endParaRPr sz="2350" b="0" i="0" dirty="0">
              <a:latin typeface="Arial"/>
            </a:endParaRPr>
          </a:p>
        </p:txBody>
      </p:sp>
      <p:sp>
        <p:nvSpPr>
          <p:cNvPr id="4" name="Content Placeholder 3"/>
          <p:cNvSpPr>
            <a:spLocks noGrp="1"/>
          </p:cNvSpPr>
          <p:nvPr>
            <p:ph sz="half" idx="2"/>
          </p:nvPr>
        </p:nvSpPr>
        <p:spPr/>
        <p:txBody>
          <a:bodyPr wrap="square">
            <a:normAutofit/>
          </a:bodyPr>
          <a:lstStyle/>
          <a:p>
            <a:pPr>
              <a:buNone/>
            </a:pPr>
            <a:r>
              <a:rPr sz="2800" b="0" i="0" u="none" dirty="0"/>
              <a:t>Direct Cloning</a:t>
            </a:r>
            <a:endParaRPr sz="2800" b="0" i="0" dirty="0">
              <a:latin typeface="Arial"/>
            </a:endParaRPr>
          </a:p>
          <a:p>
            <a:pPr marL="457200" lvl="1" indent="0">
              <a:buNone/>
            </a:pPr>
            <a:r>
              <a:rPr sz="2800" b="0" i="0" u="none" dirty="0"/>
              <a:t>❌ No push permissions to original repo</a:t>
            </a:r>
            <a:endParaRPr sz="2800" b="0" i="0" dirty="0">
              <a:latin typeface="Arial"/>
            </a:endParaRPr>
          </a:p>
          <a:p>
            <a:pPr marL="457200" lvl="1" indent="0">
              <a:buNone/>
            </a:pPr>
            <a:r>
              <a:rPr sz="2800" b="0" i="0" u="none" dirty="0"/>
              <a:t>❌ Changes stay local only</a:t>
            </a:r>
            <a:endParaRPr sz="2800" b="0" i="0" dirty="0">
              <a:latin typeface="Arial"/>
            </a:endParaRPr>
          </a:p>
          <a:p>
            <a:pPr marL="457200" lvl="1" indent="0">
              <a:buNone/>
            </a:pPr>
            <a:r>
              <a:rPr sz="2800" b="0" i="0" u="none" dirty="0"/>
              <a:t>❌ No practice with PR workflow</a:t>
            </a:r>
            <a:endParaRPr sz="2800" b="0" i="0" dirty="0">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Forking Via GitHub UI</a:t>
            </a:r>
          </a:p>
        </p:txBody>
      </p:sp>
      <p:sp>
        <p:nvSpPr>
          <p:cNvPr id="3" name="Content Placeholder 2"/>
          <p:cNvSpPr>
            <a:spLocks noGrp="1"/>
          </p:cNvSpPr>
          <p:nvPr>
            <p:ph idx="1"/>
          </p:nvPr>
        </p:nvSpPr>
        <p:spPr/>
        <p:txBody>
          <a:bodyPr wrap="square">
            <a:normAutofit/>
          </a:bodyPr>
          <a:lstStyle/>
          <a:p>
            <a:pPr>
              <a:buNone/>
            </a:pPr>
            <a:r>
              <a:rPr sz="1800" b="0" i="0" u="none" dirty="0"/>
              <a:t>Method 1: Web Interface 1.</a:t>
            </a:r>
            <a:endParaRPr sz="1800" b="0" i="0" dirty="0">
              <a:latin typeface="Consolas"/>
            </a:endParaRPr>
          </a:p>
          <a:p>
            <a:pPr>
              <a:buNone/>
            </a:pPr>
            <a:endParaRPr sz="1800" b="0" i="0" dirty="0">
              <a:latin typeface="Consolas"/>
            </a:endParaRPr>
          </a:p>
          <a:p>
            <a:pPr marL="342900" indent="-342900">
              <a:buFont typeface="+mj-lt"/>
              <a:buAutoNum type="arabicPeriod"/>
            </a:pPr>
            <a:r>
              <a:rPr sz="1800" b="0" i="0" u="none" dirty="0"/>
              <a:t>Navigate to https://github.com/j0hnnymiller/AIASD-Brownfield-Example</a:t>
            </a:r>
            <a:endParaRPr sz="1800" b="0" i="0" dirty="0">
              <a:latin typeface="Consolas"/>
            </a:endParaRPr>
          </a:p>
          <a:p>
            <a:pPr marL="342900" indent="-342900">
              <a:buFont typeface="+mj-lt"/>
              <a:buAutoNum type="arabicPeriod"/>
            </a:pPr>
            <a:r>
              <a:rPr sz="1800" b="0" i="0" u="none" dirty="0"/>
              <a:t>Click the Fork button (top-right corner)</a:t>
            </a:r>
            <a:endParaRPr sz="1800" b="0" i="0" dirty="0">
              <a:latin typeface="Consolas"/>
            </a:endParaRPr>
          </a:p>
          <a:p>
            <a:pPr marL="342900" indent="-342900">
              <a:buFont typeface="+mj-lt"/>
              <a:buAutoNum type="arabicPeriod"/>
            </a:pPr>
            <a:r>
              <a:rPr sz="1800" b="0" i="0" u="none" dirty="0"/>
              <a:t>Select your GitHub account as the destination</a:t>
            </a:r>
            <a:endParaRPr sz="1800" b="0" i="0" dirty="0">
              <a:latin typeface="Consolas"/>
            </a:endParaRPr>
          </a:p>
          <a:p>
            <a:pPr marL="342900" indent="-342900">
              <a:buFont typeface="+mj-lt"/>
              <a:buAutoNum type="arabicPeriod"/>
            </a:pPr>
            <a:r>
              <a:rPr sz="1800" b="0" i="0" u="none" dirty="0"/>
              <a:t>Optionally rename your fork</a:t>
            </a:r>
            <a:endParaRPr sz="1800" b="0" i="0" dirty="0">
              <a:latin typeface="Consolas"/>
            </a:endParaRPr>
          </a:p>
          <a:p>
            <a:pPr marL="342900" indent="-342900">
              <a:buFont typeface="+mj-lt"/>
              <a:buAutoNum type="arabicPeriod"/>
            </a:pPr>
            <a:r>
              <a:rPr sz="1800" b="0" i="0" u="none" dirty="0"/>
              <a:t>Choose to copy the main branch only (recommended)</a:t>
            </a:r>
            <a:endParaRPr sz="1800" b="0" i="0" dirty="0">
              <a:latin typeface="Consolas"/>
            </a:endParaRPr>
          </a:p>
          <a:p>
            <a:pPr marL="342900" indent="-342900">
              <a:buFont typeface="+mj-lt"/>
              <a:buAutoNum type="arabicPeriod"/>
            </a:pPr>
            <a:r>
              <a:rPr sz="1800" b="0" i="0" u="none" dirty="0"/>
              <a:t>Click "Create Fork"</a:t>
            </a:r>
            <a:endParaRPr sz="1800" b="0" i="0" dirty="0">
              <a:latin typeface="Consolas"/>
            </a:endParaRPr>
          </a:p>
          <a:p>
            <a:pPr>
              <a:buNone/>
            </a:pPr>
            <a:endParaRPr lang="en-US" sz="1800" b="0" i="0" u="none" dirty="0"/>
          </a:p>
          <a:p>
            <a:pPr>
              <a:buNone/>
            </a:pPr>
            <a:r>
              <a:rPr sz="1800" b="0" i="0" u="none" dirty="0"/>
              <a:t>Result Repository now exists at </a:t>
            </a:r>
            <a:r>
              <a:rPr sz="1800" b="0" i="0" u="none" dirty="0">
                <a:latin typeface="Consolas"/>
              </a:rPr>
              <a:t>https://github.com/YOUR_USERNAME/AIASD-Brownfield-Example</a:t>
            </a:r>
            <a:endParaRPr sz="1800" b="0" i="0" dirty="0">
              <a:latin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Forking Via GitHub CLI</a:t>
            </a:r>
          </a:p>
        </p:txBody>
      </p:sp>
      <p:sp>
        <p:nvSpPr>
          <p:cNvPr id="3" name="Content Placeholder 2"/>
          <p:cNvSpPr>
            <a:spLocks noGrp="1"/>
          </p:cNvSpPr>
          <p:nvPr>
            <p:ph idx="1"/>
          </p:nvPr>
        </p:nvSpPr>
        <p:spPr/>
        <p:txBody>
          <a:bodyPr wrap="square">
            <a:noAutofit/>
          </a:bodyPr>
          <a:lstStyle/>
          <a:p>
            <a:pPr>
              <a:buNone/>
            </a:pPr>
            <a:r>
              <a:rPr sz="1750" b="0" i="0" u="none" dirty="0"/>
              <a:t>Method 2: Command Line (</a:t>
            </a:r>
            <a:r>
              <a:rPr sz="1750" b="0" i="0" u="none" dirty="0" err="1"/>
              <a:t>gh</a:t>
            </a:r>
            <a:r>
              <a:rPr sz="1750" b="0" i="0" u="none" dirty="0"/>
              <a:t> CLI)</a:t>
            </a:r>
            <a:endParaRPr sz="1750" b="0" i="0" dirty="0">
              <a:latin typeface="Consolas"/>
            </a:endParaRPr>
          </a:p>
          <a:p>
            <a:pPr>
              <a:buNone/>
            </a:pPr>
            <a:endParaRPr sz="1750" b="0" i="0" dirty="0">
              <a:latin typeface="Consolas"/>
            </a:endParaRPr>
          </a:p>
          <a:p>
            <a:pPr>
              <a:buNone/>
            </a:pPr>
            <a:r>
              <a:rPr sz="1750" b="0" i="0" dirty="0">
                <a:latin typeface="Consolas"/>
              </a:rPr>
              <a:t># Forking and Cloning Course Repositories || Three Repos Walk Into a GitHub...</a:t>
            </a:r>
          </a:p>
          <a:p>
            <a:pPr>
              <a:buNone/>
            </a:pPr>
            <a:r>
              <a:rPr sz="1750" b="0" i="0" dirty="0" err="1">
                <a:latin typeface="Consolas"/>
              </a:rPr>
              <a:t>gh</a:t>
            </a:r>
            <a:r>
              <a:rPr sz="1750" b="0" i="0" dirty="0">
                <a:latin typeface="Consolas"/>
              </a:rPr>
              <a:t> repo fork j0hnnymiller/AIASD-Brownfield-Example # Fork and clone in one step</a:t>
            </a:r>
          </a:p>
          <a:p>
            <a:pPr>
              <a:buNone/>
            </a:pPr>
            <a:r>
              <a:rPr sz="1750" b="0" i="0" dirty="0" err="1">
                <a:latin typeface="Consolas"/>
              </a:rPr>
              <a:t>gh</a:t>
            </a:r>
            <a:r>
              <a:rPr sz="1750" b="0" i="0" dirty="0">
                <a:latin typeface="Consolas"/>
              </a:rPr>
              <a:t> repo fork j0hnnymiller/AIASD-Brownfield-Example --clone # Fork with a custom name</a:t>
            </a:r>
          </a:p>
          <a:p>
            <a:pPr>
              <a:buNone/>
            </a:pPr>
            <a:r>
              <a:rPr sz="1750" b="0" i="0" dirty="0" err="1">
                <a:latin typeface="Consolas"/>
              </a:rPr>
              <a:t>gh</a:t>
            </a:r>
            <a:r>
              <a:rPr sz="1750" b="0" i="0" dirty="0">
                <a:latin typeface="Consolas"/>
              </a:rPr>
              <a:t> repo fork j0hnnymiller/AIASD-Brownfield-Example \ --fork-name my-brownfield-example</a:t>
            </a:r>
          </a:p>
          <a:p>
            <a:pPr>
              <a:buNone/>
            </a:pPr>
            <a:endParaRPr sz="1750" b="0" i="0" dirty="0">
              <a:latin typeface="Consolas"/>
            </a:endParaRPr>
          </a:p>
          <a:p>
            <a:pPr>
              <a:buNone/>
            </a:pPr>
            <a:r>
              <a:rPr sz="1750" b="0" i="0" u="none" dirty="0"/>
              <a:t>Prerequisites GitHub CLI installed and authenticated</a:t>
            </a:r>
            <a:endParaRPr sz="1750" b="0" i="0" dirty="0">
              <a:latin typeface="Consolas"/>
            </a:endParaRPr>
          </a:p>
          <a:p>
            <a:pPr lvl="1"/>
            <a:r>
              <a:rPr sz="1750" b="0" i="0" u="none" dirty="0"/>
              <a:t>Install: </a:t>
            </a:r>
            <a:r>
              <a:rPr sz="1750" b="0" i="0" u="none" dirty="0" err="1">
                <a:latin typeface="Consolas"/>
              </a:rPr>
              <a:t>winget</a:t>
            </a:r>
            <a:r>
              <a:rPr sz="1750" b="0" i="0" u="none" dirty="0">
                <a:latin typeface="Consolas"/>
              </a:rPr>
              <a:t> install </a:t>
            </a:r>
            <a:r>
              <a:rPr sz="1750" b="0" i="0" u="none" dirty="0" err="1">
                <a:latin typeface="Consolas"/>
              </a:rPr>
              <a:t>GitHub.cli</a:t>
            </a:r>
            <a:r>
              <a:rPr sz="1750" b="0" i="0" u="none" dirty="0"/>
              <a:t> (Windows)</a:t>
            </a:r>
            <a:endParaRPr sz="1750" b="0" i="0" dirty="0">
              <a:latin typeface="Consolas"/>
            </a:endParaRPr>
          </a:p>
          <a:p>
            <a:pPr lvl="1"/>
            <a:r>
              <a:rPr sz="1750" b="0" i="0" u="none" dirty="0"/>
              <a:t>Auth: </a:t>
            </a:r>
            <a:r>
              <a:rPr sz="1750" b="0" i="0" u="none" dirty="0" err="1">
                <a:latin typeface="Consolas"/>
              </a:rPr>
              <a:t>gh</a:t>
            </a:r>
            <a:r>
              <a:rPr sz="1750" b="0" i="0" u="none" dirty="0">
                <a:latin typeface="Consolas"/>
              </a:rPr>
              <a:t> auth login</a:t>
            </a:r>
            <a:endParaRPr sz="1750" b="0" i="0" dirty="0">
              <a:latin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Cloning Your Fork</a:t>
            </a:r>
          </a:p>
        </p:txBody>
      </p:sp>
      <p:sp>
        <p:nvSpPr>
          <p:cNvPr id="3" name="Content Placeholder 2"/>
          <p:cNvSpPr>
            <a:spLocks noGrp="1"/>
          </p:cNvSpPr>
          <p:nvPr>
            <p:ph idx="1"/>
          </p:nvPr>
        </p:nvSpPr>
        <p:spPr/>
        <p:txBody>
          <a:bodyPr wrap="square">
            <a:noAutofit/>
          </a:bodyPr>
          <a:lstStyle/>
          <a:p>
            <a:pPr>
              <a:buNone/>
            </a:pPr>
            <a:r>
              <a:rPr sz="1400" b="0" i="0" u="none" dirty="0"/>
              <a:t>Getting the Code on Your Machine</a:t>
            </a:r>
            <a:endParaRPr sz="1400" b="0" i="0" dirty="0">
              <a:latin typeface="Consolas"/>
            </a:endParaRPr>
          </a:p>
          <a:p>
            <a:pPr>
              <a:buNone/>
            </a:pPr>
            <a:endParaRPr sz="1400" b="0" i="0" dirty="0">
              <a:latin typeface="Consolas"/>
            </a:endParaRPr>
          </a:p>
          <a:p>
            <a:pPr>
              <a:buNone/>
            </a:pPr>
            <a:r>
              <a:rPr sz="1400" b="0" i="0" dirty="0">
                <a:latin typeface="Consolas"/>
              </a:rPr>
              <a:t># Forking and Cloning Course Repositories || Three Repos Walk Into a GitHub...</a:t>
            </a:r>
          </a:p>
          <a:p>
            <a:pPr>
              <a:buNone/>
            </a:pPr>
            <a:r>
              <a:rPr sz="1400" b="0" i="0" dirty="0">
                <a:latin typeface="Consolas"/>
              </a:rPr>
              <a:t>git clone https://github.com/YOUR_USERNAME/AIASD-Brownfield-Example.git</a:t>
            </a:r>
          </a:p>
          <a:p>
            <a:pPr>
              <a:buNone/>
            </a:pPr>
            <a:r>
              <a:rPr sz="1400" b="0" i="0" dirty="0">
                <a:latin typeface="Consolas"/>
              </a:rPr>
              <a:t># Or use SSH</a:t>
            </a:r>
          </a:p>
          <a:p>
            <a:pPr>
              <a:buNone/>
            </a:pPr>
            <a:r>
              <a:rPr sz="1400" b="0" i="0" dirty="0">
                <a:latin typeface="Consolas"/>
              </a:rPr>
              <a:t>git clone </a:t>
            </a:r>
            <a:r>
              <a:rPr sz="1400" b="0" i="0" dirty="0" err="1">
                <a:latin typeface="Consolas"/>
              </a:rPr>
              <a:t>git@github.com:YOUR_USERNAME</a:t>
            </a:r>
            <a:r>
              <a:rPr sz="1400" b="0" i="0" dirty="0">
                <a:latin typeface="Consolas"/>
              </a:rPr>
              <a:t>/AIASD-Brownfield-</a:t>
            </a:r>
            <a:r>
              <a:rPr sz="1400" b="0" i="0" dirty="0" err="1">
                <a:latin typeface="Consolas"/>
              </a:rPr>
              <a:t>Example.git</a:t>
            </a:r>
            <a:endParaRPr sz="1400" b="0" i="0" dirty="0">
              <a:latin typeface="Consolas"/>
            </a:endParaRPr>
          </a:p>
          <a:p>
            <a:pPr>
              <a:buNone/>
            </a:pPr>
            <a:r>
              <a:rPr sz="1400" b="0" i="0" dirty="0">
                <a:latin typeface="Consolas"/>
              </a:rPr>
              <a:t># Navigate into the directory</a:t>
            </a:r>
          </a:p>
          <a:p>
            <a:pPr>
              <a:buNone/>
            </a:pPr>
            <a:r>
              <a:rPr sz="1400" b="0" i="0" dirty="0">
                <a:latin typeface="Consolas"/>
              </a:rPr>
              <a:t>cd AIASD-Brownfield-Example</a:t>
            </a:r>
          </a:p>
          <a:p>
            <a:pPr>
              <a:buNone/>
            </a:pPr>
            <a:endParaRPr sz="1400" b="0" i="0" dirty="0">
              <a:latin typeface="Consolas"/>
            </a:endParaRPr>
          </a:p>
          <a:p>
            <a:pPr>
              <a:buNone/>
            </a:pPr>
            <a:r>
              <a:rPr sz="1400" b="0" i="0" u="none" dirty="0"/>
              <a:t>Verify your setup</a:t>
            </a:r>
            <a:endParaRPr sz="1400" b="0" i="0" dirty="0">
              <a:latin typeface="Consolas"/>
            </a:endParaRPr>
          </a:p>
          <a:p>
            <a:pPr>
              <a:buNone/>
            </a:pPr>
            <a:endParaRPr sz="1400" b="0" i="0" dirty="0">
              <a:latin typeface="Consolas"/>
            </a:endParaRPr>
          </a:p>
          <a:p>
            <a:pPr>
              <a:buNone/>
            </a:pPr>
            <a:r>
              <a:rPr sz="1400" b="0" i="0" dirty="0">
                <a:latin typeface="Consolas"/>
              </a:rPr>
              <a:t># Forking and Cloning Course Repositories || Three Repos Walk Into a GitHub...</a:t>
            </a:r>
          </a:p>
          <a:p>
            <a:pPr>
              <a:buNone/>
            </a:pPr>
            <a:r>
              <a:rPr sz="1400" b="0" i="0" dirty="0">
                <a:latin typeface="Consolas"/>
              </a:rPr>
              <a:t>git remote -v</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Setting Up Upstream Remote</a:t>
            </a:r>
          </a:p>
        </p:txBody>
      </p:sp>
      <p:sp>
        <p:nvSpPr>
          <p:cNvPr id="3" name="Content Placeholder 2"/>
          <p:cNvSpPr>
            <a:spLocks noGrp="1"/>
          </p:cNvSpPr>
          <p:nvPr>
            <p:ph idx="1"/>
          </p:nvPr>
        </p:nvSpPr>
        <p:spPr/>
        <p:txBody>
          <a:bodyPr wrap="square">
            <a:noAutofit/>
          </a:bodyPr>
          <a:lstStyle/>
          <a:p>
            <a:pPr>
              <a:buNone/>
            </a:pPr>
            <a:r>
              <a:rPr sz="1550" b="0" i="0" u="none" dirty="0"/>
              <a:t>Staying Connected to the Original</a:t>
            </a:r>
            <a:endParaRPr sz="1550" b="0" i="0" dirty="0">
              <a:latin typeface="Consolas"/>
            </a:endParaRPr>
          </a:p>
          <a:p>
            <a:pPr>
              <a:buNone/>
            </a:pPr>
            <a:endParaRPr sz="1550" b="0" i="0" dirty="0">
              <a:latin typeface="Consolas"/>
            </a:endParaRPr>
          </a:p>
          <a:p>
            <a:pPr>
              <a:buNone/>
            </a:pPr>
            <a:r>
              <a:rPr sz="1550" b="0" i="0" dirty="0">
                <a:latin typeface="Consolas"/>
              </a:rPr>
              <a:t># Forking and Cloning Course Repositories || Three Repos Walk Into a GitHub...</a:t>
            </a:r>
          </a:p>
          <a:p>
            <a:pPr>
              <a:buNone/>
            </a:pPr>
            <a:r>
              <a:rPr sz="1550" b="0" i="0" dirty="0">
                <a:latin typeface="Consolas"/>
              </a:rPr>
              <a:t>git remote add upstream https://github.com/j0hnnymiller/AIASD-Brownfield-Example.git</a:t>
            </a:r>
          </a:p>
          <a:p>
            <a:pPr>
              <a:buNone/>
            </a:pPr>
            <a:r>
              <a:rPr sz="1550" b="0" i="0" dirty="0">
                <a:latin typeface="Consolas"/>
              </a:rPr>
              <a:t># Verify both remotes are configured</a:t>
            </a:r>
          </a:p>
          <a:p>
            <a:pPr>
              <a:buNone/>
            </a:pPr>
            <a:r>
              <a:rPr sz="1550" b="0" i="0" dirty="0">
                <a:latin typeface="Consolas"/>
              </a:rPr>
              <a:t>git remote -v # Should show:</a:t>
            </a:r>
          </a:p>
          <a:p>
            <a:pPr>
              <a:buNone/>
            </a:pPr>
            <a:r>
              <a:rPr sz="1550" b="0" i="0" dirty="0">
                <a:latin typeface="Consolas"/>
              </a:rPr>
              <a:t># origin  https://github.com/YOUR_USERNAME/AIASD-Brownfield-Example.git (fetch)</a:t>
            </a:r>
          </a:p>
          <a:p>
            <a:pPr>
              <a:buNone/>
            </a:pPr>
            <a:r>
              <a:rPr sz="1550" b="0" i="0" dirty="0">
                <a:latin typeface="Consolas"/>
              </a:rPr>
              <a:t># origin  https://github.com/YOUR_USERNAME/AIASD-Brownfield-Example.git (push)</a:t>
            </a:r>
          </a:p>
          <a:p>
            <a:pPr>
              <a:buNone/>
            </a:pPr>
            <a:r>
              <a:rPr sz="1550" b="0" i="0" dirty="0">
                <a:latin typeface="Consolas"/>
              </a:rPr>
              <a:t># upstream  https://github.com/j0hnnymiller/AIASD-Brownfield-Example.git (fetch)</a:t>
            </a:r>
          </a:p>
          <a:p>
            <a:pPr>
              <a:buNone/>
            </a:pPr>
            <a:r>
              <a:rPr sz="1550" b="0" i="0" dirty="0">
                <a:latin typeface="Consolas"/>
              </a:rPr>
              <a:t># upstream  https://github.com/j0hnnymiller/AIASD-Brownfield-Example.git (push)</a:t>
            </a:r>
          </a:p>
          <a:p>
            <a:pPr>
              <a:buNone/>
            </a:pPr>
            <a:endParaRPr sz="1550" b="0" i="0" dirty="0">
              <a:latin typeface="Consolas"/>
            </a:endParaRPr>
          </a:p>
          <a:p>
            <a:pPr>
              <a:buNone/>
            </a:pPr>
            <a:r>
              <a:rPr sz="1550" b="0" i="0" u="none" dirty="0"/>
              <a:t>Why? This lets you pull updates from the original repository while working in your fork.</a:t>
            </a:r>
            <a:endParaRPr sz="1550" b="0" i="0" dirty="0">
              <a:latin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Your Fork Workflow</a:t>
            </a:r>
          </a:p>
        </p:txBody>
      </p:sp>
      <p:sp>
        <p:nvSpPr>
          <p:cNvPr id="3" name="Content Placeholder 2"/>
          <p:cNvSpPr>
            <a:spLocks noGrp="1"/>
          </p:cNvSpPr>
          <p:nvPr>
            <p:ph idx="1"/>
          </p:nvPr>
        </p:nvSpPr>
        <p:spPr/>
        <p:txBody>
          <a:bodyPr wrap="square">
            <a:noAutofit/>
          </a:bodyPr>
          <a:lstStyle/>
          <a:p>
            <a:pPr>
              <a:buNone/>
            </a:pPr>
            <a:r>
              <a:rPr sz="1400" b="0" i="0" u="none"/>
              <a:t>### Making Changes and Staying Updated</a:t>
            </a:r>
            <a:endParaRPr sz="1400" b="0" i="0">
              <a:latin typeface="Consolas"/>
            </a:endParaRPr>
          </a:p>
          <a:p>
            <a:pPr>
              <a:buNone/>
            </a:pPr>
            <a:endParaRPr sz="1400" b="0" i="0">
              <a:latin typeface="Consolas"/>
            </a:endParaRPr>
          </a:p>
          <a:p>
            <a:pPr>
              <a:buNone/>
            </a:pPr>
            <a:r>
              <a:rPr sz="1400" b="0" i="0">
                <a:latin typeface="Consolas"/>
              </a:rPr>
              <a:t># Forking and Cloning Course Repositories || Three Repos Walk Into a GitHub...</a:t>
            </a:r>
          </a:p>
          <a:p>
            <a:pPr>
              <a:buNone/>
            </a:pPr>
            <a:r>
              <a:rPr sz="1400" b="0" i="0">
                <a:latin typeface="Consolas"/>
              </a:rPr>
              <a:t>git fetch upstream</a:t>
            </a:r>
          </a:p>
          <a:p>
            <a:pPr>
              <a:buNone/>
            </a:pPr>
            <a:r>
              <a:rPr sz="1400" b="0" i="0">
                <a:latin typeface="Consolas"/>
              </a:rPr>
              <a:t># 2. Merge upstream changes into your main</a:t>
            </a:r>
          </a:p>
          <a:p>
            <a:pPr>
              <a:buNone/>
            </a:pPr>
            <a:r>
              <a:rPr sz="1400" b="0" i="0">
                <a:latin typeface="Consolas"/>
              </a:rPr>
              <a:t>git checkout main</a:t>
            </a:r>
          </a:p>
          <a:p>
            <a:pPr>
              <a:buNone/>
            </a:pPr>
            <a:r>
              <a:rPr sz="1400" b="0" i="0">
                <a:latin typeface="Consolas"/>
              </a:rPr>
              <a:t>git merge upstream/main</a:t>
            </a:r>
          </a:p>
          <a:p>
            <a:pPr>
              <a:buNone/>
            </a:pPr>
            <a:r>
              <a:rPr sz="1400" b="0" i="0">
                <a:latin typeface="Consolas"/>
              </a:rPr>
              <a:t># 3. Create a feature branch for your work</a:t>
            </a:r>
          </a:p>
          <a:p>
            <a:pPr>
              <a:buNone/>
            </a:pPr>
            <a:r>
              <a:rPr sz="1400" b="0" i="0">
                <a:latin typeface="Consolas"/>
              </a:rPr>
              <a:t>git checkout -b feature/my-changes</a:t>
            </a:r>
          </a:p>
          <a:p>
            <a:pPr>
              <a:buNone/>
            </a:pPr>
            <a:r>
              <a:rPr sz="1400" b="0" i="0">
                <a:latin typeface="Consolas"/>
              </a:rPr>
              <a:t># 4. Make changes, commit, and push to YOUR fork</a:t>
            </a:r>
          </a:p>
          <a:p>
            <a:pPr>
              <a:buNone/>
            </a:pPr>
            <a:r>
              <a:rPr sz="1400" b="0" i="0">
                <a:latin typeface="Consolas"/>
              </a:rPr>
              <a:t>git add .</a:t>
            </a:r>
          </a:p>
          <a:p>
            <a:pPr>
              <a:buNone/>
            </a:pPr>
            <a:r>
              <a:rPr sz="1400" b="0" i="0">
                <a:latin typeface="Consolas"/>
              </a:rPr>
              <a:t>git commit -m "Your changes"</a:t>
            </a:r>
          </a:p>
          <a:p>
            <a:pPr>
              <a:buNone/>
            </a:pPr>
            <a:r>
              <a:rPr sz="1400" b="0" i="0">
                <a:latin typeface="Consolas"/>
              </a:rPr>
              <a:t>git push origin feature/my-changes</a:t>
            </a:r>
          </a:p>
          <a:p>
            <a:pPr>
              <a:buNone/>
            </a:pPr>
            <a:r>
              <a:rPr sz="1400" b="0" i="0">
                <a:latin typeface="Consolas"/>
              </a:rPr>
              <a:t># 5. Create a Pull Request on GitHub (optional)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sz="4300"/>
              <a:t>Syncing Your Fork with Updates</a:t>
            </a:r>
          </a:p>
        </p:txBody>
      </p:sp>
      <p:sp>
        <p:nvSpPr>
          <p:cNvPr id="3" name="Content Placeholder 2"/>
          <p:cNvSpPr>
            <a:spLocks noGrp="1"/>
          </p:cNvSpPr>
          <p:nvPr>
            <p:ph idx="1"/>
          </p:nvPr>
        </p:nvSpPr>
        <p:spPr/>
        <p:txBody>
          <a:bodyPr wrap="square">
            <a:normAutofit fontScale="85000" lnSpcReduction="20000"/>
          </a:bodyPr>
          <a:lstStyle/>
          <a:p>
            <a:pPr>
              <a:buNone/>
            </a:pPr>
            <a:r>
              <a:rPr sz="1400" b="0" i="0" u="none" dirty="0"/>
              <a:t>Keeping Your Fork Current</a:t>
            </a:r>
            <a:endParaRPr sz="1400" b="0" i="0" dirty="0">
              <a:latin typeface="Consolas"/>
            </a:endParaRPr>
          </a:p>
          <a:p>
            <a:pPr>
              <a:buNone/>
            </a:pPr>
            <a:endParaRPr sz="1400" b="0" i="0" dirty="0">
              <a:latin typeface="Consolas"/>
            </a:endParaRPr>
          </a:p>
          <a:p>
            <a:pPr>
              <a:buNone/>
            </a:pPr>
            <a:r>
              <a:rPr sz="1400" b="0" i="0" u="none" dirty="0"/>
              <a:t>When the original repository gets updates</a:t>
            </a:r>
            <a:endParaRPr sz="1400" b="0" i="0" dirty="0">
              <a:latin typeface="Consolas"/>
            </a:endParaRPr>
          </a:p>
          <a:p>
            <a:pPr>
              <a:buNone/>
            </a:pPr>
            <a:endParaRPr sz="1400" b="0" i="0" dirty="0">
              <a:latin typeface="Consolas"/>
            </a:endParaRPr>
          </a:p>
          <a:p>
            <a:pPr>
              <a:buNone/>
            </a:pPr>
            <a:r>
              <a:rPr sz="1400" b="0" i="0" dirty="0">
                <a:latin typeface="Consolas"/>
              </a:rPr>
              <a:t># Forking and Cloning Course Repositories || Three Repos Walk Into a GitHub...</a:t>
            </a:r>
          </a:p>
          <a:p>
            <a:pPr>
              <a:buNone/>
            </a:pPr>
            <a:r>
              <a:rPr sz="1400" b="0" i="0" dirty="0">
                <a:latin typeface="Consolas"/>
              </a:rPr>
              <a:t>git fetch upstream</a:t>
            </a:r>
          </a:p>
          <a:p>
            <a:pPr>
              <a:buNone/>
            </a:pPr>
            <a:r>
              <a:rPr sz="1400" b="0" i="0" dirty="0">
                <a:latin typeface="Consolas"/>
              </a:rPr>
              <a:t># Switch to your main branch</a:t>
            </a:r>
          </a:p>
          <a:p>
            <a:pPr>
              <a:buNone/>
            </a:pPr>
            <a:r>
              <a:rPr sz="1400" b="0" i="0" dirty="0">
                <a:latin typeface="Consolas"/>
              </a:rPr>
              <a:t>git checkout main</a:t>
            </a:r>
          </a:p>
          <a:p>
            <a:pPr>
              <a:buNone/>
            </a:pPr>
            <a:r>
              <a:rPr sz="1400" b="0" i="0" dirty="0">
                <a:latin typeface="Consolas"/>
              </a:rPr>
              <a:t># Merge upstream changes</a:t>
            </a:r>
          </a:p>
          <a:p>
            <a:pPr>
              <a:buNone/>
            </a:pPr>
            <a:r>
              <a:rPr sz="1400" b="0" i="0" dirty="0">
                <a:latin typeface="Consolas"/>
              </a:rPr>
              <a:t>git merge upstream/main</a:t>
            </a:r>
          </a:p>
          <a:p>
            <a:pPr>
              <a:buNone/>
            </a:pPr>
            <a:r>
              <a:rPr sz="1400" b="0" i="0" dirty="0">
                <a:latin typeface="Consolas"/>
              </a:rPr>
              <a:t># Push updates to your fork on GitHub</a:t>
            </a:r>
          </a:p>
          <a:p>
            <a:pPr>
              <a:buNone/>
            </a:pPr>
            <a:r>
              <a:rPr sz="1400" b="0" i="0" dirty="0">
                <a:latin typeface="Consolas"/>
              </a:rPr>
              <a:t>git push origin main</a:t>
            </a:r>
          </a:p>
          <a:p>
            <a:pPr>
              <a:buNone/>
            </a:pPr>
            <a:endParaRPr sz="1400" b="0" i="0" dirty="0">
              <a:latin typeface="Consolas"/>
            </a:endParaRPr>
          </a:p>
          <a:p>
            <a:pPr>
              <a:buNone/>
            </a:pPr>
            <a:r>
              <a:rPr sz="1400" b="0" i="0" u="none" dirty="0"/>
              <a:t>Alternative: GitHub UI Method</a:t>
            </a:r>
            <a:endParaRPr sz="1400" b="0" i="0" dirty="0">
              <a:latin typeface="Consolas"/>
            </a:endParaRPr>
          </a:p>
          <a:p>
            <a:pPr lvl="1"/>
            <a:r>
              <a:rPr sz="1400" b="0" i="0" u="none" dirty="0"/>
              <a:t>Click "Sync fork" button on your fork's GitHub page</a:t>
            </a:r>
            <a:endParaRPr sz="1400" b="0" i="0" dirty="0">
              <a:latin typeface="Consolas"/>
            </a:endParaRPr>
          </a:p>
          <a:p>
            <a:pPr lvl="1"/>
            <a:r>
              <a:rPr sz="1400" b="0" i="0" u="none" dirty="0"/>
              <a:t>Click "Update branch" to sync</a:t>
            </a:r>
            <a:endParaRPr sz="1400" b="0" i="0" dirty="0">
              <a:latin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Verification Checklist</a:t>
            </a:r>
          </a:p>
        </p:txBody>
      </p:sp>
      <p:sp>
        <p:nvSpPr>
          <p:cNvPr id="3" name="Content Placeholder 2"/>
          <p:cNvSpPr>
            <a:spLocks noGrp="1"/>
          </p:cNvSpPr>
          <p:nvPr>
            <p:ph idx="1"/>
          </p:nvPr>
        </p:nvSpPr>
        <p:spPr/>
        <p:txBody>
          <a:bodyPr wrap="square">
            <a:noAutofit/>
          </a:bodyPr>
          <a:lstStyle/>
          <a:p>
            <a:pPr>
              <a:buNone/>
            </a:pPr>
            <a:r>
              <a:rPr sz="1450" b="0" i="0" u="none"/>
              <a:t>### Confirm Your Setup</a:t>
            </a:r>
            <a:endParaRPr sz="1450" b="0" i="0">
              <a:latin typeface="Consolas"/>
            </a:endParaRPr>
          </a:p>
          <a:p>
            <a:pPr lvl="1">
              <a:buNone/>
            </a:pPr>
            <a:r>
              <a:rPr sz="1450" b="0" i="0" u="none"/>
              <a:t>[ ] Repository forked to your GitHub account</a:t>
            </a:r>
            <a:endParaRPr sz="1450" b="0" i="0">
              <a:latin typeface="Consolas"/>
            </a:endParaRPr>
          </a:p>
          <a:p>
            <a:pPr lvl="1">
              <a:buNone/>
            </a:pPr>
            <a:r>
              <a:rPr sz="1450" b="0" i="0" u="none"/>
              <a:t>[ ] Fork cloned to your local machine</a:t>
            </a:r>
            <a:endParaRPr sz="1450" b="0" i="0">
              <a:latin typeface="Consolas"/>
            </a:endParaRPr>
          </a:p>
          <a:p>
            <a:pPr lvl="1">
              <a:buNone/>
            </a:pPr>
            <a:r>
              <a:rPr sz="1450" b="0" i="0" u="none"/>
              <a:t>[ ] </a:t>
            </a:r>
            <a:r>
              <a:rPr sz="1450" b="0" i="0" u="none">
                <a:latin typeface="Consolas"/>
              </a:rPr>
              <a:t>origin</a:t>
            </a:r>
            <a:r>
              <a:rPr sz="1450" b="0" i="0" u="none"/>
              <a:t> remote points to YOUR fork</a:t>
            </a:r>
            <a:endParaRPr sz="1450" b="0" i="0">
              <a:latin typeface="Consolas"/>
            </a:endParaRPr>
          </a:p>
          <a:p>
            <a:pPr lvl="1">
              <a:buNone/>
            </a:pPr>
            <a:r>
              <a:rPr sz="1450" b="0" i="0" u="none"/>
              <a:t>[ ] </a:t>
            </a:r>
            <a:r>
              <a:rPr sz="1450" b="0" i="0" u="none">
                <a:latin typeface="Consolas"/>
              </a:rPr>
              <a:t>upstream</a:t>
            </a:r>
            <a:r>
              <a:rPr sz="1450" b="0" i="0" u="none"/>
              <a:t> remote points to original repository</a:t>
            </a:r>
            <a:endParaRPr sz="1450" b="0" i="0">
              <a:latin typeface="Consolas"/>
            </a:endParaRPr>
          </a:p>
          <a:p>
            <a:pPr lvl="1">
              <a:buNone/>
            </a:pPr>
            <a:r>
              <a:rPr sz="1450" b="0" i="0" u="none"/>
              <a:t>[ ] Can successfully run </a:t>
            </a:r>
            <a:r>
              <a:rPr sz="1450" b="0" i="0" u="none">
                <a:latin typeface="Consolas"/>
              </a:rPr>
              <a:t>git fetch upstream</a:t>
            </a:r>
            <a:endParaRPr sz="1450" b="0" i="0">
              <a:latin typeface="Consolas"/>
            </a:endParaRPr>
          </a:p>
          <a:p>
            <a:pPr lvl="1">
              <a:buNone/>
            </a:pPr>
            <a:r>
              <a:rPr sz="1450" b="0" i="0" u="none"/>
              <a:t>[ ] Repository builds/runs locally (we'll test this next)</a:t>
            </a:r>
            <a:endParaRPr sz="1450" b="0" i="0">
              <a:latin typeface="Consolas"/>
            </a:endParaRPr>
          </a:p>
          <a:p>
            <a:pPr>
              <a:buNone/>
            </a:pPr>
            <a:endParaRPr sz="1450" b="0" i="0">
              <a:latin typeface="Consolas"/>
            </a:endParaRPr>
          </a:p>
          <a:p>
            <a:pPr>
              <a:buNone/>
            </a:pPr>
            <a:r>
              <a:rPr sz="1450" b="0" i="0" u="none"/>
              <a:t>Quick Test</a:t>
            </a:r>
            <a:endParaRPr sz="1450" b="0" i="0">
              <a:latin typeface="Consolas"/>
            </a:endParaRPr>
          </a:p>
          <a:p>
            <a:pPr>
              <a:buNone/>
            </a:pPr>
            <a:r>
              <a:rPr sz="1450" b="0" i="0">
                <a:latin typeface="Consolas"/>
              </a:rPr>
              <a:t>git remote -v | grep -E '(origin|upstream)'</a:t>
            </a:r>
          </a:p>
          <a:p>
            <a:pPr>
              <a:buNone/>
            </a:pPr>
            <a:endParaRPr sz="1450" b="0" i="0">
              <a:latin typeface="Consolas"/>
            </a:endParaRPr>
          </a:p>
          <a:p>
            <a:pPr>
              <a:buNone/>
            </a:pPr>
            <a:r>
              <a:rPr sz="1450" b="0" i="0" u="none"/>
              <a:t>Expected Output</a:t>
            </a:r>
            <a:endParaRPr sz="1450" b="0" i="0">
              <a:latin typeface="Consolas"/>
            </a:endParaRPr>
          </a:p>
          <a:p>
            <a:pPr lvl="1"/>
            <a:r>
              <a:rPr sz="1450" b="0" i="0" u="none">
                <a:latin typeface="Consolas"/>
              </a:rPr>
              <a:t>origin</a:t>
            </a:r>
            <a:r>
              <a:rPr sz="1450" b="0" i="0" u="none"/>
              <a:t>: your username</a:t>
            </a:r>
            <a:endParaRPr sz="1450" b="0" i="0">
              <a:latin typeface="Consolas"/>
            </a:endParaRPr>
          </a:p>
          <a:p>
            <a:pPr lvl="1"/>
            <a:r>
              <a:rPr sz="1450" b="0" i="0" u="none">
                <a:latin typeface="Consolas"/>
              </a:rPr>
              <a:t>upstream</a:t>
            </a:r>
            <a:r>
              <a:rPr sz="1450" b="0" i="0" u="none"/>
              <a:t>: j0hnnymiller</a:t>
            </a:r>
            <a:endParaRPr sz="1450" b="0" i="0">
              <a:latin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sz="3400"/>
              <a:t>Forking the Course Materials Repository</a:t>
            </a:r>
          </a:p>
        </p:txBody>
      </p:sp>
      <p:sp>
        <p:nvSpPr>
          <p:cNvPr id="3" name="Content Placeholder 2"/>
          <p:cNvSpPr>
            <a:spLocks noGrp="1"/>
          </p:cNvSpPr>
          <p:nvPr>
            <p:ph idx="1"/>
          </p:nvPr>
        </p:nvSpPr>
        <p:spPr/>
        <p:txBody>
          <a:bodyPr wrap="square">
            <a:noAutofit/>
          </a:bodyPr>
          <a:lstStyle/>
          <a:p>
            <a:pPr>
              <a:buNone/>
            </a:pPr>
            <a:r>
              <a:rPr sz="1400" b="0" i="0" u="none"/>
              <a:t>### Getting Your Own Copy of AI-Assisted-Software-Development</a:t>
            </a:r>
            <a:endParaRPr sz="1400" b="0" i="0">
              <a:latin typeface="Consolas"/>
            </a:endParaRPr>
          </a:p>
          <a:p>
            <a:pPr>
              <a:buNone/>
            </a:pPr>
            <a:endParaRPr sz="1400" b="0" i="0">
              <a:latin typeface="Consolas"/>
            </a:endParaRPr>
          </a:p>
          <a:p>
            <a:pPr>
              <a:buNone/>
            </a:pPr>
            <a:r>
              <a:rPr sz="1400" b="0" i="0" u="none"/>
              <a:t>Now let's fork the course materials repository</a:t>
            </a:r>
            <a:endParaRPr sz="1400" b="0" i="0">
              <a:latin typeface="Consolas"/>
            </a:endParaRPr>
          </a:p>
          <a:p>
            <a:pPr>
              <a:buNone/>
            </a:pPr>
            <a:endParaRPr sz="1400" b="0" i="0">
              <a:latin typeface="Consolas"/>
            </a:endParaRPr>
          </a:p>
          <a:p>
            <a:pPr>
              <a:buNone/>
            </a:pPr>
            <a:r>
              <a:rPr sz="1400" b="0" i="0" u="none"/>
              <a:t>Repository: </a:t>
            </a:r>
            <a:r>
              <a:rPr sz="1400" b="0" i="0" u="none">
                <a:latin typeface="Consolas"/>
              </a:rPr>
              <a:t>https://github.com/johnmillerATcodemag-com/AI-Assisted-Software-Development.git</a:t>
            </a:r>
            <a:endParaRPr sz="1400" b="0" i="0">
              <a:latin typeface="Consolas"/>
            </a:endParaRPr>
          </a:p>
          <a:p>
            <a:pPr>
              <a:buNone/>
            </a:pPr>
            <a:endParaRPr sz="1400" b="0" i="0">
              <a:latin typeface="Consolas"/>
            </a:endParaRPr>
          </a:p>
          <a:p>
            <a:pPr>
              <a:buNone/>
            </a:pPr>
            <a:r>
              <a:rPr sz="1400" b="0" i="0" u="none"/>
              <a:t>This repository contains</a:t>
            </a:r>
            <a:endParaRPr sz="1400" b="0" i="0">
              <a:latin typeface="Consolas"/>
            </a:endParaRPr>
          </a:p>
          <a:p>
            <a:pPr lvl="1"/>
            <a:r>
              <a:rPr sz="1400" b="0" i="0" u="none"/>
              <a:t>Complete curriculum and slides</a:t>
            </a:r>
            <a:endParaRPr sz="1400" b="0" i="0">
              <a:latin typeface="Consolas"/>
            </a:endParaRPr>
          </a:p>
          <a:p>
            <a:pPr lvl="1"/>
            <a:r>
              <a:rPr sz="1400" b="0" i="0" u="none"/>
              <a:t>Course labs and exercises</a:t>
            </a:r>
            <a:endParaRPr sz="1400" b="0" i="0">
              <a:latin typeface="Consolas"/>
            </a:endParaRPr>
          </a:p>
          <a:p>
            <a:pPr lvl="1"/>
            <a:r>
              <a:rPr sz="1400" b="0" i="0" u="none"/>
              <a:t>Reference documentation</a:t>
            </a:r>
            <a:endParaRPr sz="1400" b="0" i="0">
              <a:latin typeface="Consolas"/>
            </a:endParaRPr>
          </a:p>
          <a:p>
            <a:pPr lvl="1"/>
            <a:r>
              <a:rPr sz="1400" b="0" i="0" u="none"/>
              <a:t>AI-assisted development instructions</a:t>
            </a:r>
            <a:endParaRPr sz="1400" b="0" i="0">
              <a:latin typeface="Consolas"/>
            </a:endParaRPr>
          </a:p>
          <a:p>
            <a:pPr lvl="1"/>
            <a:r>
              <a:rPr sz="1400" b="0" i="0" u="none"/>
              <a:t>Workshop materials and examples</a:t>
            </a:r>
            <a:endParaRPr sz="1400" b="0" i="0">
              <a:latin typeface="Consolas"/>
            </a:endParaRPr>
          </a:p>
          <a:p>
            <a:pPr>
              <a:buNone/>
            </a:pPr>
            <a:endParaRPr sz="1400" b="0" i="0">
              <a:latin typeface="Consolas"/>
            </a:endParaRPr>
          </a:p>
          <a:p>
            <a:pPr>
              <a:buNone/>
            </a:pPr>
            <a:r>
              <a:rPr sz="1400" b="0" i="0" u="none"/>
              <a:t>Why fork this one too? You can customize content, add notes, and keep your version even after the course.</a:t>
            </a:r>
            <a:endParaRPr sz="1400" b="0" i="0">
              <a:latin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sz="3150"/>
              <a:t>Forking AI-Assisted-Software-Development</a:t>
            </a:r>
          </a:p>
        </p:txBody>
      </p:sp>
      <p:sp>
        <p:nvSpPr>
          <p:cNvPr id="3" name="Content Placeholder 2"/>
          <p:cNvSpPr>
            <a:spLocks noGrp="1"/>
          </p:cNvSpPr>
          <p:nvPr>
            <p:ph idx="1"/>
          </p:nvPr>
        </p:nvSpPr>
        <p:spPr/>
        <p:txBody>
          <a:bodyPr wrap="square">
            <a:normAutofit fontScale="92500" lnSpcReduction="10000"/>
          </a:bodyPr>
          <a:lstStyle/>
          <a:p>
            <a:pPr>
              <a:buNone/>
            </a:pPr>
            <a:r>
              <a:rPr sz="1400" b="0" i="0" u="none" dirty="0"/>
              <a:t>Method 1: GitHub UI</a:t>
            </a:r>
            <a:endParaRPr sz="1400" b="0" i="0" dirty="0">
              <a:latin typeface="Consolas"/>
            </a:endParaRPr>
          </a:p>
          <a:p>
            <a:pPr lvl="1">
              <a:buNone/>
            </a:pPr>
            <a:r>
              <a:rPr sz="1400" b="0" i="0" u="none" dirty="0"/>
              <a:t>  1. Navigate to https://github.com/johnmillerATcodemag-com/AI-Assisted-Software-Development</a:t>
            </a:r>
            <a:endParaRPr sz="1400" b="0" i="0" dirty="0">
              <a:latin typeface="Consolas"/>
            </a:endParaRPr>
          </a:p>
          <a:p>
            <a:pPr lvl="1">
              <a:buNone/>
            </a:pPr>
            <a:r>
              <a:rPr sz="1400" b="0" i="0" u="none" dirty="0"/>
              <a:t>  2. Click the Fork button (top-right corner)</a:t>
            </a:r>
            <a:endParaRPr sz="1400" b="0" i="0" dirty="0">
              <a:latin typeface="Consolas"/>
            </a:endParaRPr>
          </a:p>
          <a:p>
            <a:pPr lvl="1">
              <a:buNone/>
            </a:pPr>
            <a:r>
              <a:rPr sz="1400" b="0" i="0" u="none" dirty="0"/>
              <a:t>  3. Select your GitHub account as destination</a:t>
            </a:r>
            <a:endParaRPr sz="1400" b="0" i="0" dirty="0">
              <a:latin typeface="Consolas"/>
            </a:endParaRPr>
          </a:p>
          <a:p>
            <a:pPr lvl="1">
              <a:buNone/>
            </a:pPr>
            <a:r>
              <a:rPr sz="1400" b="0" i="0" u="none" dirty="0"/>
              <a:t>  4. Optionally rename (e.g., </a:t>
            </a:r>
            <a:r>
              <a:rPr sz="1400" b="0" i="0" u="none" dirty="0">
                <a:latin typeface="Consolas"/>
              </a:rPr>
              <a:t>my-</a:t>
            </a:r>
            <a:r>
              <a:rPr sz="1400" b="0" i="0" u="none" dirty="0" err="1">
                <a:latin typeface="Consolas"/>
              </a:rPr>
              <a:t>aiasd</a:t>
            </a:r>
            <a:r>
              <a:rPr sz="1400" b="0" i="0" u="none" dirty="0">
                <a:latin typeface="Consolas"/>
              </a:rPr>
              <a:t>-course</a:t>
            </a:r>
            <a:r>
              <a:rPr sz="1400" b="0" i="0" u="none" dirty="0"/>
              <a:t>)</a:t>
            </a:r>
            <a:endParaRPr sz="1400" b="0" i="0" dirty="0">
              <a:latin typeface="Consolas"/>
            </a:endParaRPr>
          </a:p>
          <a:p>
            <a:pPr lvl="1">
              <a:buNone/>
            </a:pPr>
            <a:r>
              <a:rPr sz="1400" b="0" i="0" u="none" dirty="0"/>
              <a:t>  5. Choose to copy the main branch only (recommended)</a:t>
            </a:r>
            <a:endParaRPr sz="1400" b="0" i="0" dirty="0">
              <a:latin typeface="Consolas"/>
            </a:endParaRPr>
          </a:p>
          <a:p>
            <a:pPr lvl="1">
              <a:buNone/>
            </a:pPr>
            <a:r>
              <a:rPr sz="1400" b="0" i="0" u="none" dirty="0"/>
              <a:t>  6. Click "Create Fork"</a:t>
            </a:r>
            <a:endParaRPr sz="1400" b="0" i="0" dirty="0">
              <a:latin typeface="Consolas"/>
            </a:endParaRPr>
          </a:p>
          <a:p>
            <a:pPr>
              <a:buNone/>
            </a:pPr>
            <a:endParaRPr sz="1400" b="0" i="0" dirty="0">
              <a:latin typeface="Consolas"/>
            </a:endParaRPr>
          </a:p>
          <a:p>
            <a:pPr>
              <a:buNone/>
            </a:pPr>
            <a:r>
              <a:rPr sz="1400" b="0" i="0" u="none" dirty="0"/>
              <a:t>Result Repository at </a:t>
            </a:r>
            <a:r>
              <a:rPr sz="1400" b="0" i="0" u="none" dirty="0">
                <a:latin typeface="Consolas"/>
              </a:rPr>
              <a:t>https://github.com/YOUR_USERNAME/AI-Assisted-Software-Development</a:t>
            </a:r>
            <a:endParaRPr sz="1400" b="0" i="0" dirty="0">
              <a:latin typeface="Consolas"/>
            </a:endParaRPr>
          </a:p>
          <a:p>
            <a:pPr>
              <a:buNone/>
            </a:pPr>
            <a:endParaRPr sz="1400" b="0" i="0" dirty="0">
              <a:latin typeface="Consolas"/>
            </a:endParaRPr>
          </a:p>
          <a:p>
            <a:pPr>
              <a:buNone/>
            </a:pPr>
            <a:r>
              <a:rPr sz="1400" b="0" i="0" u="none" dirty="0"/>
              <a:t>Or via GitHub CLI</a:t>
            </a:r>
            <a:endParaRPr sz="1400" b="0" i="0" dirty="0">
              <a:latin typeface="Consolas"/>
            </a:endParaRPr>
          </a:p>
          <a:p>
            <a:pPr>
              <a:buNone/>
            </a:pPr>
            <a:r>
              <a:rPr sz="1400" b="0" i="0" dirty="0">
                <a:latin typeface="Consolas"/>
              </a:rPr>
              <a:t># Forking and Cloning Course Repositories || Three Repos Walk Into a GitHub...</a:t>
            </a:r>
          </a:p>
          <a:p>
            <a:pPr>
              <a:buNone/>
            </a:pPr>
            <a:r>
              <a:rPr sz="1400" b="0" i="0" dirty="0" err="1">
                <a:latin typeface="Consolas"/>
              </a:rPr>
              <a:t>gh</a:t>
            </a:r>
            <a:r>
              <a:rPr sz="1400" b="0" i="0" dirty="0">
                <a:latin typeface="Consolas"/>
              </a:rPr>
              <a:t> repo fork </a:t>
            </a:r>
            <a:r>
              <a:rPr sz="1400" b="0" i="0" dirty="0" err="1">
                <a:latin typeface="Consolas"/>
              </a:rPr>
              <a:t>johnmillerATcodemag</a:t>
            </a:r>
            <a:r>
              <a:rPr sz="1400" b="0" i="0" dirty="0">
                <a:latin typeface="Consolas"/>
              </a:rPr>
              <a:t>-com/AI-Assisted-Software-Development</a:t>
            </a:r>
          </a:p>
          <a:p>
            <a:pPr>
              <a:buNone/>
            </a:pPr>
            <a:r>
              <a:rPr sz="1400" b="0" i="0" dirty="0">
                <a:latin typeface="Consolas"/>
              </a:rPr>
              <a:t># Fork and clone in one step</a:t>
            </a:r>
          </a:p>
          <a:p>
            <a:pPr>
              <a:buNone/>
            </a:pPr>
            <a:r>
              <a:rPr sz="1400" b="0" i="0" dirty="0" err="1">
                <a:latin typeface="Consolas"/>
              </a:rPr>
              <a:t>gh</a:t>
            </a:r>
            <a:r>
              <a:rPr sz="1400" b="0" i="0" dirty="0">
                <a:latin typeface="Consolas"/>
              </a:rPr>
              <a:t> repo fork </a:t>
            </a:r>
            <a:r>
              <a:rPr sz="1400" b="0" i="0" dirty="0" err="1">
                <a:latin typeface="Consolas"/>
              </a:rPr>
              <a:t>johnmillerATcodemag</a:t>
            </a:r>
            <a:r>
              <a:rPr sz="1400" b="0" i="0" dirty="0">
                <a:latin typeface="Consolas"/>
              </a:rPr>
              <a:t>-com/AI-Assisted-Software-Development --clone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sz="3400"/>
              <a:t>Cloning and Setting Up Course Materials</a:t>
            </a:r>
          </a:p>
        </p:txBody>
      </p:sp>
      <p:sp>
        <p:nvSpPr>
          <p:cNvPr id="3" name="Content Placeholder 2"/>
          <p:cNvSpPr>
            <a:spLocks noGrp="1"/>
          </p:cNvSpPr>
          <p:nvPr>
            <p:ph idx="1"/>
          </p:nvPr>
        </p:nvSpPr>
        <p:spPr/>
        <p:txBody>
          <a:bodyPr wrap="square">
            <a:normAutofit fontScale="85000" lnSpcReduction="20000"/>
          </a:bodyPr>
          <a:lstStyle/>
          <a:p>
            <a:pPr>
              <a:buNone/>
            </a:pPr>
            <a:r>
              <a:rPr sz="1400" b="0" i="0" u="none" dirty="0"/>
              <a:t>Getting the Repository Locally</a:t>
            </a:r>
            <a:endParaRPr sz="1400" b="0" i="0" dirty="0">
              <a:latin typeface="Consolas"/>
            </a:endParaRPr>
          </a:p>
          <a:p>
            <a:pPr>
              <a:buNone/>
            </a:pPr>
            <a:endParaRPr sz="1400" b="0" i="0" dirty="0">
              <a:latin typeface="Consolas"/>
            </a:endParaRPr>
          </a:p>
          <a:p>
            <a:pPr>
              <a:buNone/>
            </a:pPr>
            <a:r>
              <a:rPr sz="1400" b="0" i="0" dirty="0">
                <a:latin typeface="Consolas"/>
              </a:rPr>
              <a:t># Forking and Cloning Course Repositories || Three Repos Walk Into a GitHub...</a:t>
            </a:r>
          </a:p>
          <a:p>
            <a:pPr>
              <a:buNone/>
            </a:pPr>
            <a:r>
              <a:rPr sz="1400" b="0" i="0" dirty="0">
                <a:latin typeface="Consolas"/>
              </a:rPr>
              <a:t>git clone https://github.com/YOUR_USERNAME/AI-Assisted-Software-Development.git</a:t>
            </a:r>
          </a:p>
          <a:p>
            <a:pPr>
              <a:buNone/>
            </a:pPr>
            <a:r>
              <a:rPr sz="1400" b="0" i="0" dirty="0">
                <a:latin typeface="Consolas"/>
              </a:rPr>
              <a:t># Or use SSH</a:t>
            </a:r>
          </a:p>
          <a:p>
            <a:pPr>
              <a:buNone/>
            </a:pPr>
            <a:r>
              <a:rPr sz="1400" b="0" i="0" dirty="0">
                <a:latin typeface="Consolas"/>
              </a:rPr>
              <a:t>git clone </a:t>
            </a:r>
            <a:r>
              <a:rPr sz="1400" b="0" i="0" dirty="0" err="1">
                <a:latin typeface="Consolas"/>
              </a:rPr>
              <a:t>git@github.com:YOUR_USERNAME</a:t>
            </a:r>
            <a:r>
              <a:rPr sz="1400" b="0" i="0" dirty="0">
                <a:latin typeface="Consolas"/>
              </a:rPr>
              <a:t>/AI-Assisted-Software-</a:t>
            </a:r>
            <a:r>
              <a:rPr sz="1400" b="0" i="0" dirty="0" err="1">
                <a:latin typeface="Consolas"/>
              </a:rPr>
              <a:t>Development.git</a:t>
            </a:r>
            <a:endParaRPr sz="1400" b="0" i="0" dirty="0">
              <a:latin typeface="Consolas"/>
            </a:endParaRPr>
          </a:p>
          <a:p>
            <a:pPr>
              <a:buNone/>
            </a:pPr>
            <a:r>
              <a:rPr sz="1400" b="0" i="0" dirty="0">
                <a:latin typeface="Consolas"/>
              </a:rPr>
              <a:t># Navigate into the directory</a:t>
            </a:r>
          </a:p>
          <a:p>
            <a:pPr>
              <a:buNone/>
            </a:pPr>
            <a:r>
              <a:rPr sz="1400" b="0" i="0" dirty="0">
                <a:latin typeface="Consolas"/>
              </a:rPr>
              <a:t>cd AI-Assisted-Software-Development</a:t>
            </a:r>
          </a:p>
          <a:p>
            <a:pPr>
              <a:buNone/>
            </a:pPr>
            <a:r>
              <a:rPr sz="1400" b="0" i="0" dirty="0">
                <a:latin typeface="Consolas"/>
              </a:rPr>
              <a:t># Add upstream remote</a:t>
            </a:r>
          </a:p>
          <a:p>
            <a:pPr>
              <a:buNone/>
            </a:pPr>
            <a:r>
              <a:rPr sz="1400" b="0" i="0" dirty="0">
                <a:latin typeface="Consolas"/>
              </a:rPr>
              <a:t>git remote add upstream https://github.com/johnmillerATcodemag-com/AI-Assisted-Software-Development.git</a:t>
            </a:r>
          </a:p>
          <a:p>
            <a:pPr>
              <a:buNone/>
            </a:pPr>
            <a:r>
              <a:rPr sz="1400" b="0" i="0" dirty="0">
                <a:latin typeface="Consolas"/>
              </a:rPr>
              <a:t># Verify remotes</a:t>
            </a:r>
          </a:p>
          <a:p>
            <a:pPr>
              <a:buNone/>
            </a:pPr>
            <a:r>
              <a:rPr sz="1400" b="0" i="0" dirty="0">
                <a:latin typeface="Consolas"/>
              </a:rPr>
              <a:t>git remote -v</a:t>
            </a:r>
          </a:p>
          <a:p>
            <a:pPr>
              <a:buNone/>
            </a:pPr>
            <a:endParaRPr sz="1400" b="0" i="0" dirty="0">
              <a:latin typeface="Consolas"/>
            </a:endParaRPr>
          </a:p>
          <a:p>
            <a:pPr>
              <a:buNone/>
            </a:pPr>
            <a:r>
              <a:rPr sz="1400" b="0" i="0" u="none" dirty="0"/>
              <a:t>Expected output</a:t>
            </a:r>
            <a:endParaRPr sz="1400" b="0" i="0" dirty="0">
              <a:latin typeface="Consolas"/>
            </a:endParaRPr>
          </a:p>
          <a:p>
            <a:pPr>
              <a:buNone/>
            </a:pPr>
            <a:r>
              <a:rPr sz="1400" b="0" i="0" dirty="0">
                <a:latin typeface="Consolas"/>
              </a:rPr>
              <a:t>origin https://github.com/YOUR_USERNAME/AI-Assisted-Software-Development.git</a:t>
            </a:r>
          </a:p>
          <a:p>
            <a:pPr>
              <a:buNone/>
            </a:pPr>
            <a:r>
              <a:rPr sz="1400" b="0" i="0" dirty="0">
                <a:latin typeface="Consolas"/>
              </a:rPr>
              <a:t>upstream https://github.com/johnmillerATcodemag-com/AI-Assisted-Software-Development.git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sz="3250"/>
              <a:t>Exploring the Course Materials Repository</a:t>
            </a:r>
          </a:p>
        </p:txBody>
      </p:sp>
      <p:sp>
        <p:nvSpPr>
          <p:cNvPr id="3" name="Content Placeholder 2"/>
          <p:cNvSpPr>
            <a:spLocks noGrp="1"/>
          </p:cNvSpPr>
          <p:nvPr>
            <p:ph idx="1"/>
          </p:nvPr>
        </p:nvSpPr>
        <p:spPr/>
        <p:txBody>
          <a:bodyPr wrap="square">
            <a:noAutofit/>
          </a:bodyPr>
          <a:lstStyle/>
          <a:p>
            <a:pPr>
              <a:buNone/>
            </a:pPr>
            <a:r>
              <a:rPr sz="1400" b="0" i="0" u="none" dirty="0"/>
              <a:t>What's Inside</a:t>
            </a:r>
            <a:endParaRPr sz="1400" b="0" i="0" dirty="0">
              <a:latin typeface="Consolas"/>
            </a:endParaRPr>
          </a:p>
          <a:p>
            <a:pPr>
              <a:buNone/>
            </a:pPr>
            <a:r>
              <a:rPr sz="1400" b="0" i="0" dirty="0">
                <a:latin typeface="Consolas"/>
              </a:rPr>
              <a:t>AI-Assisted-Software-Development/</a:t>
            </a:r>
          </a:p>
          <a:p>
            <a:pPr>
              <a:buNone/>
            </a:pPr>
            <a:r>
              <a:rPr sz="1400" b="0" i="0" dirty="0">
                <a:latin typeface="Consolas"/>
              </a:rPr>
              <a:t>├── .</a:t>
            </a:r>
            <a:r>
              <a:rPr sz="1400" b="0" i="0" dirty="0" err="1">
                <a:latin typeface="Consolas"/>
              </a:rPr>
              <a:t>github</a:t>
            </a:r>
            <a:r>
              <a:rPr sz="1400" b="0" i="0" dirty="0">
                <a:latin typeface="Consolas"/>
              </a:rPr>
              <a:t>/</a:t>
            </a:r>
          </a:p>
          <a:p>
            <a:pPr>
              <a:buNone/>
            </a:pPr>
            <a:r>
              <a:rPr sz="1400" b="0" i="0" dirty="0">
                <a:latin typeface="Consolas"/>
              </a:rPr>
              <a:t>│ └── instructions/ # AI assistant instructions</a:t>
            </a:r>
          </a:p>
          <a:p>
            <a:pPr>
              <a:buNone/>
            </a:pPr>
            <a:r>
              <a:rPr sz="1400" b="0" i="0" dirty="0">
                <a:latin typeface="Consolas"/>
              </a:rPr>
              <a:t>├── ai-logs/ # AI conversation logs</a:t>
            </a:r>
          </a:p>
          <a:p>
            <a:pPr>
              <a:buNone/>
            </a:pPr>
            <a:r>
              <a:rPr sz="1400" b="0" i="0" dirty="0">
                <a:latin typeface="Consolas"/>
              </a:rPr>
              <a:t>└── README.md # Repository overview</a:t>
            </a:r>
          </a:p>
          <a:p>
            <a:pPr>
              <a:buNone/>
            </a:pPr>
            <a:endParaRPr sz="1400" b="0" i="0" dirty="0">
              <a:latin typeface="Consolas"/>
            </a:endParaRPr>
          </a:p>
          <a:p>
            <a:pPr>
              <a:buNone/>
            </a:pPr>
            <a:r>
              <a:rPr sz="1400" b="0" i="0" u="none" dirty="0"/>
              <a:t>Key Directories</a:t>
            </a:r>
            <a:endParaRPr sz="1400" b="0" i="0" dirty="0">
              <a:latin typeface="Consolas"/>
            </a:endParaRPr>
          </a:p>
          <a:p>
            <a:pPr lvl="1"/>
            <a:r>
              <a:rPr sz="1400" b="0" i="0" u="none" dirty="0"/>
              <a:t>.</a:t>
            </a:r>
            <a:r>
              <a:rPr sz="1400" b="0" i="0" u="none" dirty="0" err="1"/>
              <a:t>github</a:t>
            </a:r>
            <a:r>
              <a:rPr sz="1400" b="0" i="0" u="none" dirty="0"/>
              <a:t>/ Rules for AI assistants</a:t>
            </a:r>
            <a:endParaRPr sz="1400" b="0" i="0" dirty="0">
              <a:latin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Cloning the Course Repository</a:t>
            </a:r>
          </a:p>
        </p:txBody>
      </p:sp>
      <p:sp>
        <p:nvSpPr>
          <p:cNvPr id="3" name="Content Placeholder 2"/>
          <p:cNvSpPr>
            <a:spLocks noGrp="1"/>
          </p:cNvSpPr>
          <p:nvPr>
            <p:ph idx="1"/>
          </p:nvPr>
        </p:nvSpPr>
        <p:spPr/>
        <p:txBody>
          <a:bodyPr wrap="square">
            <a:noAutofit/>
          </a:bodyPr>
          <a:lstStyle/>
          <a:p>
            <a:pPr>
              <a:buNone/>
            </a:pPr>
            <a:r>
              <a:rPr sz="1500" b="0" i="0" u="none" dirty="0"/>
              <a:t>Working with the </a:t>
            </a:r>
            <a:r>
              <a:rPr lang="en-US" sz="1500" b="0" i="0" u="none" dirty="0"/>
              <a:t>20260330-aiasd-ge</a:t>
            </a:r>
            <a:r>
              <a:rPr sz="1500" b="0" i="0" u="none" dirty="0"/>
              <a:t> Repository</a:t>
            </a:r>
            <a:endParaRPr sz="1500" b="0" i="0" dirty="0">
              <a:latin typeface="Consolas"/>
            </a:endParaRPr>
          </a:p>
          <a:p>
            <a:pPr>
              <a:buNone/>
            </a:pPr>
            <a:endParaRPr sz="1500" b="0" i="0" dirty="0">
              <a:latin typeface="Consolas"/>
            </a:endParaRPr>
          </a:p>
          <a:p>
            <a:pPr>
              <a:buNone/>
            </a:pPr>
            <a:r>
              <a:rPr sz="1500" b="0" i="0" u="none" dirty="0"/>
              <a:t>For this </a:t>
            </a:r>
            <a:r>
              <a:rPr lang="en-US" sz="1500" b="0" i="0" u="none" dirty="0"/>
              <a:t>course</a:t>
            </a:r>
            <a:r>
              <a:rPr sz="1500" b="0" i="0" u="none" dirty="0"/>
              <a:t>, we'll also use a dedicated course repository</a:t>
            </a:r>
            <a:endParaRPr sz="1500" b="0" i="0" dirty="0">
              <a:latin typeface="Consolas"/>
            </a:endParaRPr>
          </a:p>
          <a:p>
            <a:pPr>
              <a:buNone/>
            </a:pPr>
            <a:endParaRPr sz="1500" b="0" i="0" dirty="0">
              <a:latin typeface="Consolas"/>
            </a:endParaRPr>
          </a:p>
          <a:p>
            <a:pPr>
              <a:buNone/>
            </a:pPr>
            <a:r>
              <a:rPr sz="1500" b="0" i="0" u="none" dirty="0"/>
              <a:t>Repository: </a:t>
            </a:r>
            <a:r>
              <a:rPr sz="1500" b="0" i="0" u="none" dirty="0">
                <a:latin typeface="Consolas"/>
              </a:rPr>
              <a:t>https://github.com/j0hnnymiller/</a:t>
            </a:r>
            <a:r>
              <a:rPr lang="en-US" sz="1500" b="0" i="0" u="none" dirty="0">
                <a:latin typeface="Consolas"/>
              </a:rPr>
              <a:t>20260330-aiasd-ge</a:t>
            </a:r>
            <a:r>
              <a:rPr sz="1500" b="0" i="0" u="none" dirty="0">
                <a:latin typeface="Consolas"/>
              </a:rPr>
              <a:t>.git</a:t>
            </a:r>
            <a:endParaRPr sz="1500" b="0" i="0" dirty="0">
              <a:latin typeface="Consolas"/>
            </a:endParaRPr>
          </a:p>
          <a:p>
            <a:pPr>
              <a:buNone/>
            </a:pPr>
            <a:endParaRPr sz="1500" b="0" i="0" dirty="0">
              <a:latin typeface="Consolas"/>
            </a:endParaRPr>
          </a:p>
          <a:p>
            <a:pPr>
              <a:buNone/>
            </a:pPr>
            <a:r>
              <a:rPr sz="1500" b="0" i="0" u="none" dirty="0"/>
              <a:t>This repository </a:t>
            </a:r>
            <a:r>
              <a:rPr lang="en-US" sz="1500" b="0" i="0" u="none" dirty="0"/>
              <a:t>will </a:t>
            </a:r>
            <a:r>
              <a:rPr sz="1500" b="0" i="0" u="none" dirty="0"/>
              <a:t>contain</a:t>
            </a:r>
            <a:endParaRPr sz="1500" b="0" i="0" dirty="0">
              <a:latin typeface="Consolas"/>
            </a:endParaRPr>
          </a:p>
          <a:p>
            <a:pPr lvl="1"/>
            <a:r>
              <a:rPr sz="1500" b="0" i="0" u="none" dirty="0"/>
              <a:t>Course-specific examples</a:t>
            </a:r>
            <a:endParaRPr sz="1500" b="0" i="0" dirty="0">
              <a:latin typeface="Consolas"/>
            </a:endParaRPr>
          </a:p>
          <a:p>
            <a:pPr lvl="1"/>
            <a:r>
              <a:rPr sz="1500" b="0" i="0" u="none" dirty="0"/>
              <a:t>Hands-on exercises</a:t>
            </a:r>
            <a:endParaRPr sz="1500" b="0" i="0" dirty="0">
              <a:latin typeface="Consolas"/>
            </a:endParaRPr>
          </a:p>
          <a:p>
            <a:pPr lvl="1"/>
            <a:r>
              <a:rPr sz="1500" b="0" i="0" u="none" dirty="0"/>
              <a:t>Session materials</a:t>
            </a:r>
            <a:endParaRPr sz="1500" b="0" i="0" dirty="0">
              <a:latin typeface="Consolas"/>
            </a:endParaRPr>
          </a:p>
          <a:p>
            <a:pPr lvl="1"/>
            <a:r>
              <a:rPr sz="1500" b="0" i="0" u="none" dirty="0"/>
              <a:t>Starting templates</a:t>
            </a:r>
            <a:endParaRPr sz="1500" b="0" i="0" dirty="0">
              <a:latin typeface="Consolas"/>
            </a:endParaRPr>
          </a:p>
          <a:p>
            <a:pPr>
              <a:buNone/>
            </a:pPr>
            <a:endParaRPr sz="1500" b="0" i="0" dirty="0">
              <a:latin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sz="3500" dirty="0"/>
              <a:t>Cloning the </a:t>
            </a:r>
            <a:r>
              <a:rPr lang="en-US" sz="3500" dirty="0"/>
              <a:t>20260330-aiasd-ge</a:t>
            </a:r>
            <a:r>
              <a:rPr sz="3500" dirty="0"/>
              <a:t> Repository</a:t>
            </a:r>
          </a:p>
        </p:txBody>
      </p:sp>
      <p:sp>
        <p:nvSpPr>
          <p:cNvPr id="3" name="Content Placeholder 2"/>
          <p:cNvSpPr>
            <a:spLocks noGrp="1"/>
          </p:cNvSpPr>
          <p:nvPr>
            <p:ph idx="1"/>
          </p:nvPr>
        </p:nvSpPr>
        <p:spPr/>
        <p:txBody>
          <a:bodyPr wrap="square">
            <a:normAutofit fontScale="92500" lnSpcReduction="20000"/>
          </a:bodyPr>
          <a:lstStyle/>
          <a:p>
            <a:pPr>
              <a:buNone/>
            </a:pPr>
            <a:r>
              <a:rPr sz="1400" b="0" i="0" u="none" dirty="0"/>
              <a:t>Getting Started</a:t>
            </a:r>
            <a:endParaRPr sz="1400" b="0" i="0" dirty="0">
              <a:latin typeface="Consolas"/>
            </a:endParaRPr>
          </a:p>
          <a:p>
            <a:pPr>
              <a:buNone/>
            </a:pPr>
            <a:endParaRPr sz="1400" b="0" i="0" dirty="0">
              <a:latin typeface="Consolas"/>
            </a:endParaRPr>
          </a:p>
          <a:p>
            <a:pPr>
              <a:buNone/>
            </a:pPr>
            <a:r>
              <a:rPr sz="1400" b="0" i="0" dirty="0">
                <a:latin typeface="Consolas"/>
              </a:rPr>
              <a:t># Forking and Cloning Course Repositories || Three Repos Walk Into a GitHub...</a:t>
            </a:r>
          </a:p>
          <a:p>
            <a:pPr>
              <a:buNone/>
            </a:pPr>
            <a:r>
              <a:rPr sz="1400" b="0" i="0" dirty="0">
                <a:latin typeface="Consolas"/>
              </a:rPr>
              <a:t>git clone https://github.com/j0hnnymiller/</a:t>
            </a:r>
            <a:r>
              <a:rPr lang="en-US" sz="1400" b="0" i="0" dirty="0">
                <a:latin typeface="Consolas"/>
              </a:rPr>
              <a:t>20260330-aiasd-ge</a:t>
            </a:r>
            <a:r>
              <a:rPr sz="1400" b="0" i="0" dirty="0">
                <a:latin typeface="Consolas"/>
              </a:rPr>
              <a:t>.git # Navigate into the directory</a:t>
            </a:r>
          </a:p>
          <a:p>
            <a:pPr>
              <a:buNone/>
            </a:pPr>
            <a:r>
              <a:rPr sz="1400" b="0" i="0" dirty="0">
                <a:latin typeface="Consolas"/>
              </a:rPr>
              <a:t>cd </a:t>
            </a:r>
            <a:r>
              <a:rPr lang="en-US" sz="1400" b="0" i="0" dirty="0">
                <a:latin typeface="Consolas"/>
              </a:rPr>
              <a:t>20260330-aiasd-ge</a:t>
            </a:r>
            <a:r>
              <a:rPr sz="1400" b="0" i="0" dirty="0">
                <a:latin typeface="Consolas"/>
              </a:rPr>
              <a:t> # Check current branch</a:t>
            </a:r>
          </a:p>
          <a:p>
            <a:pPr>
              <a:buNone/>
            </a:pPr>
            <a:r>
              <a:rPr sz="1400" b="0" i="0" dirty="0">
                <a:latin typeface="Consolas"/>
              </a:rPr>
              <a:t>git branch</a:t>
            </a:r>
          </a:p>
          <a:p>
            <a:pPr>
              <a:buNone/>
            </a:pPr>
            <a:r>
              <a:rPr sz="1400" b="0" i="0" u="none" dirty="0"/>
              <a:t>Or using SSH</a:t>
            </a:r>
            <a:endParaRPr sz="1400" b="0" i="0" dirty="0">
              <a:latin typeface="Consolas"/>
            </a:endParaRPr>
          </a:p>
          <a:p>
            <a:pPr>
              <a:buNone/>
            </a:pPr>
            <a:r>
              <a:rPr sz="1400" b="0" i="0" dirty="0">
                <a:latin typeface="Consolas"/>
              </a:rPr>
              <a:t>git clone git@github.com:j0hnnymiller/</a:t>
            </a:r>
            <a:r>
              <a:rPr lang="en-US" sz="1400" b="0" i="0" dirty="0">
                <a:latin typeface="Consolas"/>
              </a:rPr>
              <a:t>20260330-aiasd-ge</a:t>
            </a:r>
            <a:r>
              <a:rPr sz="1400" b="0" i="0" dirty="0">
                <a:latin typeface="Consolas"/>
              </a:rPr>
              <a:t>.git</a:t>
            </a:r>
          </a:p>
          <a:p>
            <a:pPr>
              <a:buNone/>
            </a:pPr>
            <a:r>
              <a:rPr sz="1400" b="0" i="0" dirty="0">
                <a:latin typeface="Consolas"/>
              </a:rPr>
              <a:t>cd </a:t>
            </a:r>
            <a:r>
              <a:rPr lang="en-US" sz="1400" b="0" i="0" dirty="0">
                <a:latin typeface="Consolas"/>
              </a:rPr>
              <a:t>20260330-aiasd-ge</a:t>
            </a:r>
            <a:endParaRPr sz="1400" b="0" i="0" dirty="0">
              <a:latin typeface="Consolas"/>
            </a:endParaRPr>
          </a:p>
          <a:p>
            <a:pPr>
              <a:buNone/>
            </a:pPr>
            <a:endParaRPr sz="1400" b="0" i="0" dirty="0">
              <a:latin typeface="Consolas"/>
            </a:endParaRPr>
          </a:p>
          <a:p>
            <a:pPr>
              <a:buNone/>
            </a:pPr>
            <a:r>
              <a:rPr sz="1400" b="0" i="0" u="none" dirty="0"/>
              <a:t>Verify the clone</a:t>
            </a:r>
            <a:endParaRPr sz="1400" b="0" i="0" dirty="0">
              <a:latin typeface="Consolas"/>
            </a:endParaRPr>
          </a:p>
          <a:p>
            <a:pPr>
              <a:buNone/>
            </a:pPr>
            <a:r>
              <a:rPr sz="1400" b="0" i="0" dirty="0">
                <a:latin typeface="Consolas"/>
              </a:rPr>
              <a:t># Forking and Cloning Course Repositories || Three Repos Walk Into a GitHub...</a:t>
            </a:r>
          </a:p>
          <a:p>
            <a:pPr>
              <a:buNone/>
            </a:pPr>
            <a:r>
              <a:rPr sz="1400" b="0" i="0" dirty="0">
                <a:latin typeface="Consolas"/>
              </a:rPr>
              <a:t>git remote -v # Should show:</a:t>
            </a:r>
          </a:p>
          <a:p>
            <a:pPr>
              <a:buNone/>
            </a:pPr>
            <a:r>
              <a:rPr sz="1400" b="0" i="0" dirty="0">
                <a:latin typeface="Consolas"/>
              </a:rPr>
              <a:t># Forking and Cloning Course Repositories || Three Repos Walk Into a GitHub...</a:t>
            </a:r>
          </a:p>
          <a:p>
            <a:pPr>
              <a:buNone/>
            </a:pPr>
            <a:r>
              <a:rPr sz="1400" b="0" i="0" dirty="0">
                <a:latin typeface="Consolas"/>
              </a:rPr>
              <a:t># Forking and Cloning Course Repositories || Three Repos Walk Into a GitHub...</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Creating Your Personal Branch</a:t>
            </a:r>
          </a:p>
        </p:txBody>
      </p:sp>
      <p:sp>
        <p:nvSpPr>
          <p:cNvPr id="3" name="Content Placeholder 2"/>
          <p:cNvSpPr>
            <a:spLocks noGrp="1"/>
          </p:cNvSpPr>
          <p:nvPr>
            <p:ph idx="1"/>
          </p:nvPr>
        </p:nvSpPr>
        <p:spPr/>
        <p:txBody>
          <a:bodyPr wrap="square">
            <a:noAutofit/>
          </a:bodyPr>
          <a:lstStyle/>
          <a:p>
            <a:pPr>
              <a:buNone/>
            </a:pPr>
            <a:r>
              <a:rPr sz="1550" b="0" i="0" u="none" dirty="0"/>
              <a:t>Setting Up Your Workspace</a:t>
            </a:r>
            <a:endParaRPr sz="1550" b="0" i="0" dirty="0">
              <a:latin typeface="Consolas"/>
            </a:endParaRPr>
          </a:p>
          <a:p>
            <a:pPr>
              <a:buNone/>
            </a:pPr>
            <a:endParaRPr sz="1550" b="0" i="0" dirty="0">
              <a:latin typeface="Consolas"/>
            </a:endParaRPr>
          </a:p>
          <a:p>
            <a:pPr>
              <a:buNone/>
            </a:pPr>
            <a:r>
              <a:rPr sz="1550" b="0" i="0" u="none" dirty="0"/>
              <a:t>Create a branch with your name or identifier</a:t>
            </a:r>
            <a:endParaRPr sz="1550" b="0" i="0" dirty="0">
              <a:latin typeface="Consolas"/>
            </a:endParaRPr>
          </a:p>
          <a:p>
            <a:pPr>
              <a:buNone/>
            </a:pPr>
            <a:r>
              <a:rPr sz="1550" b="0" i="0" dirty="0">
                <a:latin typeface="Consolas"/>
              </a:rPr>
              <a:t># Forking and Cloning Course Repositories || Three Repos Walk Into a GitHub...</a:t>
            </a:r>
          </a:p>
          <a:p>
            <a:pPr>
              <a:buNone/>
            </a:pPr>
            <a:r>
              <a:rPr sz="1550" b="0" i="0" dirty="0">
                <a:latin typeface="Consolas"/>
              </a:rPr>
              <a:t>git checkout -b </a:t>
            </a:r>
            <a:r>
              <a:rPr sz="1550" b="0" i="0" dirty="0" err="1">
                <a:latin typeface="Consolas"/>
              </a:rPr>
              <a:t>yourname</a:t>
            </a:r>
            <a:r>
              <a:rPr sz="1550" b="0" i="0" dirty="0">
                <a:latin typeface="Consolas"/>
              </a:rPr>
              <a:t>-workspace # Example with actual name:</a:t>
            </a:r>
          </a:p>
          <a:p>
            <a:pPr>
              <a:buNone/>
            </a:pPr>
            <a:r>
              <a:rPr sz="1550" b="0" i="0" dirty="0">
                <a:latin typeface="Consolas"/>
              </a:rPr>
              <a:t>git checkout -b john-miller-workspace # Or use a convention like </a:t>
            </a:r>
            <a:r>
              <a:rPr sz="1550" b="0" i="0" dirty="0" err="1">
                <a:latin typeface="Consolas"/>
              </a:rPr>
              <a:t>firstname-lastname</a:t>
            </a:r>
            <a:r>
              <a:rPr sz="1550" b="0" i="0" dirty="0">
                <a:latin typeface="Consolas"/>
              </a:rPr>
              <a:t>:</a:t>
            </a:r>
          </a:p>
          <a:p>
            <a:pPr>
              <a:buNone/>
            </a:pPr>
            <a:r>
              <a:rPr sz="1550" b="0" i="0" dirty="0">
                <a:latin typeface="Consolas"/>
              </a:rPr>
              <a:t>git checkout -b jane-doe-workspace</a:t>
            </a:r>
          </a:p>
          <a:p>
            <a:pPr>
              <a:buNone/>
            </a:pPr>
            <a:endParaRPr sz="1550" b="0" i="0" dirty="0">
              <a:latin typeface="Consolas"/>
            </a:endParaRPr>
          </a:p>
          <a:p>
            <a:pPr>
              <a:buNone/>
            </a:pPr>
            <a:r>
              <a:rPr sz="1550" b="0" i="0" u="none" dirty="0"/>
              <a:t>Verify your branch</a:t>
            </a:r>
            <a:endParaRPr sz="1550" b="0" i="0" dirty="0">
              <a:latin typeface="Consolas"/>
            </a:endParaRPr>
          </a:p>
          <a:p>
            <a:pPr>
              <a:buNone/>
            </a:pPr>
            <a:r>
              <a:rPr sz="1550" b="0" i="0" dirty="0">
                <a:latin typeface="Consolas"/>
              </a:rPr>
              <a:t># Forking and Cloning Course Repositories || Three Repos Walk Into a GitHub...</a:t>
            </a:r>
          </a:p>
          <a:p>
            <a:pPr>
              <a:buNone/>
            </a:pPr>
            <a:r>
              <a:rPr sz="1550" b="0" i="0" dirty="0">
                <a:latin typeface="Consolas"/>
              </a:rPr>
              <a:t>git branch # Or see current branch in prompt</a:t>
            </a:r>
          </a:p>
          <a:p>
            <a:pPr>
              <a:buNone/>
            </a:pPr>
            <a:r>
              <a:rPr sz="1550" b="0" i="0" dirty="0">
                <a:latin typeface="Consolas"/>
              </a:rPr>
              <a:t>git status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Pushing Your Personal Branch</a:t>
            </a:r>
          </a:p>
        </p:txBody>
      </p:sp>
      <p:sp>
        <p:nvSpPr>
          <p:cNvPr id="3" name="Content Placeholder 2"/>
          <p:cNvSpPr>
            <a:spLocks noGrp="1"/>
          </p:cNvSpPr>
          <p:nvPr>
            <p:ph idx="1"/>
          </p:nvPr>
        </p:nvSpPr>
        <p:spPr/>
        <p:txBody>
          <a:bodyPr wrap="square">
            <a:noAutofit/>
          </a:bodyPr>
          <a:lstStyle/>
          <a:p>
            <a:pPr>
              <a:buNone/>
            </a:pPr>
            <a:r>
              <a:rPr sz="1550" b="0" i="0" u="none" dirty="0"/>
              <a:t>Making Your Branch Available</a:t>
            </a:r>
            <a:endParaRPr sz="1550" b="0" i="0" dirty="0">
              <a:latin typeface="Consolas"/>
            </a:endParaRPr>
          </a:p>
          <a:p>
            <a:pPr>
              <a:buNone/>
            </a:pPr>
            <a:endParaRPr sz="1550" b="0" i="0" dirty="0">
              <a:latin typeface="Consolas"/>
            </a:endParaRPr>
          </a:p>
          <a:p>
            <a:pPr>
              <a:buNone/>
            </a:pPr>
            <a:r>
              <a:rPr sz="1550" b="0" i="0" dirty="0">
                <a:latin typeface="Consolas"/>
              </a:rPr>
              <a:t># Forking and Cloning Course Repositories || Three Repos Walk Into a GitHub...</a:t>
            </a:r>
          </a:p>
          <a:p>
            <a:pPr>
              <a:buNone/>
            </a:pPr>
            <a:r>
              <a:rPr sz="1550" b="0" i="0" dirty="0">
                <a:latin typeface="Consolas"/>
              </a:rPr>
              <a:t>git push -u origin </a:t>
            </a:r>
            <a:r>
              <a:rPr sz="1550" b="0" i="0" dirty="0" err="1">
                <a:latin typeface="Consolas"/>
              </a:rPr>
              <a:t>yourname</a:t>
            </a:r>
            <a:r>
              <a:rPr sz="1550" b="0" i="0" dirty="0">
                <a:latin typeface="Consolas"/>
              </a:rPr>
              <a:t>-workspace # The -u flag sets up tracking</a:t>
            </a:r>
          </a:p>
          <a:p>
            <a:pPr>
              <a:buNone/>
            </a:pPr>
            <a:r>
              <a:rPr sz="1550" b="0" i="0" dirty="0">
                <a:latin typeface="Consolas"/>
              </a:rPr>
              <a:t># Forking and Cloning Course Repositories || Three Repos Walk Into a GitHub...</a:t>
            </a:r>
          </a:p>
          <a:p>
            <a:pPr>
              <a:buNone/>
            </a:pPr>
            <a:r>
              <a:rPr sz="1550" b="0" i="0" u="none" dirty="0"/>
              <a:t># Forking and Cloning Course Repositories || Three Repos Walk Into a GitHub...</a:t>
            </a:r>
            <a:endParaRPr sz="1550" b="0" i="0" dirty="0">
              <a:latin typeface="Consolas"/>
            </a:endParaRPr>
          </a:p>
          <a:p>
            <a:pPr>
              <a:buNone/>
            </a:pPr>
            <a:r>
              <a:rPr sz="1550" b="0" i="0" u="none" dirty="0"/>
              <a:t>git branch -</a:t>
            </a:r>
            <a:r>
              <a:rPr sz="1550" b="0" i="0" u="none" dirty="0" err="1"/>
              <a:t>vv</a:t>
            </a:r>
            <a:r>
              <a:rPr sz="1550" b="0" i="0" u="none" dirty="0"/>
              <a:t> # Should show your branch tracking origin/</a:t>
            </a:r>
            <a:r>
              <a:rPr sz="1550" b="0" i="0" u="none" dirty="0" err="1"/>
              <a:t>yourname</a:t>
            </a:r>
            <a:r>
              <a:rPr sz="1550" b="0" i="0" u="none" dirty="0"/>
              <a:t>-workspace</a:t>
            </a:r>
            <a:endParaRPr sz="1550" b="0" i="0" dirty="0">
              <a:latin typeface="Consolas"/>
            </a:endParaRPr>
          </a:p>
          <a:p>
            <a:pPr>
              <a:buNone/>
            </a:pPr>
            <a:r>
              <a:rPr sz="1550" b="0" i="0" dirty="0">
                <a:latin typeface="Consolas"/>
              </a:rPr>
              <a:t># Forking and Cloning Course Repositories || Three Repos Walk Into a GitHub...</a:t>
            </a:r>
          </a:p>
          <a:p>
            <a:pPr>
              <a:buNone/>
            </a:pPr>
            <a:r>
              <a:rPr sz="1550" b="0" i="0" dirty="0">
                <a:latin typeface="Consolas"/>
              </a:rPr>
              <a:t>echo "# My Workspace" &gt; README-yourname.md</a:t>
            </a:r>
          </a:p>
          <a:p>
            <a:pPr>
              <a:buNone/>
            </a:pPr>
            <a:r>
              <a:rPr sz="1550" b="0" i="0" dirty="0">
                <a:latin typeface="Consolas"/>
              </a:rPr>
              <a:t>git add README-yourname.md</a:t>
            </a:r>
          </a:p>
          <a:p>
            <a:pPr>
              <a:buNone/>
            </a:pPr>
            <a:r>
              <a:rPr sz="1550" b="0" i="0" dirty="0">
                <a:latin typeface="Consolas"/>
              </a:rPr>
              <a:t>git commit -m "Initial workspace setup"</a:t>
            </a:r>
          </a:p>
          <a:p>
            <a:pPr>
              <a:buNone/>
            </a:pPr>
            <a:r>
              <a:rPr sz="1550" b="0" i="0" dirty="0">
                <a:latin typeface="Consolas"/>
              </a:rPr>
              <a:t>git push</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Three-Repository Workflow</a:t>
            </a:r>
          </a:p>
        </p:txBody>
      </p:sp>
      <p:sp>
        <p:nvSpPr>
          <p:cNvPr id="3" name="Content Placeholder 2"/>
          <p:cNvSpPr>
            <a:spLocks noGrp="1"/>
          </p:cNvSpPr>
          <p:nvPr>
            <p:ph sz="half" idx="1"/>
          </p:nvPr>
        </p:nvSpPr>
        <p:spPr/>
        <p:txBody>
          <a:bodyPr wrap="square">
            <a:noAutofit/>
          </a:bodyPr>
          <a:lstStyle/>
          <a:p>
            <a:pPr>
              <a:buNone/>
            </a:pPr>
            <a:r>
              <a:rPr sz="1400" b="0" i="0" u="none"/>
              <a:t>### Understanding Your Setup</a:t>
            </a:r>
            <a:endParaRPr sz="1400" b="0" i="0">
              <a:latin typeface="Arial"/>
            </a:endParaRPr>
          </a:p>
          <a:p>
            <a:pPr>
              <a:buNone/>
            </a:pPr>
            <a:endParaRPr sz="1400" b="0" i="0">
              <a:latin typeface="Arial"/>
            </a:endParaRPr>
          </a:p>
          <a:p>
            <a:pPr>
              <a:buNone/>
            </a:pPr>
            <a:r>
              <a:rPr sz="1400" b="0" i="0" u="none"/>
              <a:t>AIASD-Brownfield-Example (Forked)</a:t>
            </a:r>
            <a:endParaRPr sz="1400" b="0" i="0">
              <a:latin typeface="Arial"/>
            </a:endParaRPr>
          </a:p>
          <a:p>
            <a:pPr>
              <a:buNone/>
            </a:pPr>
            <a:endParaRPr sz="1400" b="0" i="0">
              <a:latin typeface="Arial"/>
            </a:endParaRPr>
          </a:p>
          <a:p>
            <a:pPr>
              <a:buNone/>
            </a:pPr>
            <a:r>
              <a:rPr sz="1400" b="0" i="0" u="none"/>
              <a:t>This is a real-world codebase from GitHub - not a toy example! It contains actual production-style code with technical debt, legacy patterns, and opportunities for improvement. Perfect for practicing AI-assisted refactoring and modernization techniques.</a:t>
            </a:r>
            <a:endParaRPr sz="1400" b="0" i="0">
              <a:latin typeface="Arial"/>
            </a:endParaRPr>
          </a:p>
          <a:p>
            <a:pPr>
              <a:buNone/>
            </a:pPr>
            <a:endParaRPr sz="1400" b="0" i="0">
              <a:latin typeface="Arial"/>
            </a:endParaRPr>
          </a:p>
          <a:p>
            <a:pPr lvl="1"/>
            <a:r>
              <a:rPr sz="1400" b="0" i="0" u="none"/>
              <a:t>✅ Your own copy on GitHub</a:t>
            </a:r>
            <a:endParaRPr sz="1400" b="0" i="0">
              <a:latin typeface="Arial"/>
            </a:endParaRPr>
          </a:p>
          <a:p>
            <a:pPr lvl="1"/>
            <a:r>
              <a:rPr sz="1400" b="0" i="0" u="none"/>
              <a:t>✅ Full control and experimentation</a:t>
            </a:r>
            <a:endParaRPr sz="1400" b="0" i="0">
              <a:latin typeface="Arial"/>
            </a:endParaRPr>
          </a:p>
          <a:p>
            <a:pPr lvl="1"/>
            <a:r>
              <a:rPr sz="1400" b="0" i="0" u="none"/>
              <a:t>✅ Practice ground for techniques</a:t>
            </a:r>
            <a:endParaRPr sz="1400" b="0" i="0">
              <a:latin typeface="Arial"/>
            </a:endParaRPr>
          </a:p>
          <a:p>
            <a:pPr lvl="1"/>
            <a:r>
              <a:rPr sz="1400" b="0" i="0" u="none"/>
              <a:t>✅ Realistic brownfield codebase with typical challenges</a:t>
            </a:r>
            <a:endParaRPr sz="1400" b="0" i="0">
              <a:latin typeface="Arial"/>
            </a:endParaRPr>
          </a:p>
          <a:p>
            <a:pPr lvl="1"/>
            <a:r>
              <a:rPr sz="1400" b="0" i="0" u="none"/>
              <a:t>✅ Can create PRs to original</a:t>
            </a:r>
            <a:endParaRPr sz="1400" b="0" i="0">
              <a:latin typeface="Arial"/>
            </a:endParaRPr>
          </a:p>
        </p:txBody>
      </p:sp>
      <p:sp>
        <p:nvSpPr>
          <p:cNvPr id="4" name="Content Placeholder 3"/>
          <p:cNvSpPr>
            <a:spLocks noGrp="1"/>
          </p:cNvSpPr>
          <p:nvPr>
            <p:ph sz="half" idx="2"/>
          </p:nvPr>
        </p:nvSpPr>
        <p:spPr/>
        <p:txBody>
          <a:bodyPr wrap="square">
            <a:normAutofit fontScale="40000" lnSpcReduction="20000"/>
          </a:bodyPr>
          <a:lstStyle/>
          <a:p>
            <a:pPr>
              <a:buNone/>
            </a:pPr>
            <a:r>
              <a:rPr sz="1300" b="0" i="0" u="none" dirty="0"/>
              <a:t>AI-Assisted-Software-Development (Forked)</a:t>
            </a:r>
            <a:endParaRPr sz="1300" b="0" i="0" dirty="0">
              <a:latin typeface="Consolas"/>
            </a:endParaRPr>
          </a:p>
          <a:p>
            <a:pPr>
              <a:buNone/>
            </a:pPr>
            <a:endParaRPr sz="1300" b="0" i="0" dirty="0">
              <a:latin typeface="Consolas"/>
            </a:endParaRPr>
          </a:p>
          <a:p>
            <a:pPr>
              <a:buNone/>
            </a:pPr>
            <a:r>
              <a:rPr sz="1300" b="0" i="0" u="none" dirty="0"/>
              <a:t>This repository is your complete AI development toolkit! It contains example </a:t>
            </a:r>
            <a:r>
              <a:rPr sz="1300" b="0" i="0" u="none" dirty="0">
                <a:latin typeface="Consolas"/>
              </a:rPr>
              <a:t>.instructions.md</a:t>
            </a:r>
            <a:r>
              <a:rPr sz="1300" b="0" i="0" u="none" dirty="0"/>
              <a:t> files for configuring AI assistants, </a:t>
            </a:r>
            <a:r>
              <a:rPr sz="1300" b="0" i="0" u="none" dirty="0">
                <a:latin typeface="Consolas"/>
              </a:rPr>
              <a:t>.prompt.md</a:t>
            </a:r>
            <a:r>
              <a:rPr sz="1300" b="0" i="0" u="none" dirty="0"/>
              <a:t> files for reusable workflows, </a:t>
            </a:r>
            <a:r>
              <a:rPr sz="1300" b="0" i="0" u="none" dirty="0">
                <a:latin typeface="Consolas"/>
              </a:rPr>
              <a:t>.agent.md</a:t>
            </a:r>
            <a:r>
              <a:rPr sz="1300" b="0" i="0" u="none" dirty="0"/>
              <a:t> configurations, and code samples demonstrating best practices. You can copy these patterns directly into your own projects.</a:t>
            </a:r>
            <a:endParaRPr sz="1300" b="0" i="0" dirty="0">
              <a:latin typeface="Consolas"/>
            </a:endParaRPr>
          </a:p>
          <a:p>
            <a:pPr>
              <a:buNone/>
            </a:pPr>
            <a:endParaRPr sz="1300" b="0" i="0" dirty="0">
              <a:latin typeface="Consolas"/>
            </a:endParaRPr>
          </a:p>
          <a:p>
            <a:pPr lvl="1"/>
            <a:r>
              <a:rPr sz="1300" b="0" i="0" u="none" dirty="0"/>
              <a:t>✅ Your personal course materials copy</a:t>
            </a:r>
            <a:endParaRPr sz="1300" b="0" i="0" dirty="0">
              <a:latin typeface="Consolas"/>
            </a:endParaRPr>
          </a:p>
          <a:p>
            <a:pPr lvl="1"/>
            <a:r>
              <a:rPr sz="1300" b="0" i="0" u="none" dirty="0"/>
              <a:t>✅ Example instruction files for GitHub Copilot</a:t>
            </a:r>
            <a:endParaRPr sz="1300" b="0" i="0" dirty="0">
              <a:latin typeface="Consolas"/>
            </a:endParaRPr>
          </a:p>
          <a:p>
            <a:pPr lvl="1"/>
            <a:r>
              <a:rPr sz="1300" b="0" i="0" u="none" dirty="0"/>
              <a:t>✅ Reusable prompt templates and agent configurations</a:t>
            </a:r>
            <a:endParaRPr sz="1300" b="0" i="0" dirty="0">
              <a:latin typeface="Consolas"/>
            </a:endParaRPr>
          </a:p>
          <a:p>
            <a:pPr lvl="1"/>
            <a:r>
              <a:rPr sz="1300" b="0" i="0" u="none" dirty="0"/>
              <a:t>✅ Reference code samples and implementations</a:t>
            </a:r>
            <a:endParaRPr sz="1300" b="0" i="0" dirty="0">
              <a:latin typeface="Consolas"/>
            </a:endParaRPr>
          </a:p>
          <a:p>
            <a:pPr lvl="1"/>
            <a:r>
              <a:rPr sz="1300" b="0" i="0" u="none" dirty="0"/>
              <a:t>✅ Add notes and customizations</a:t>
            </a:r>
            <a:endParaRPr sz="1300" b="0" i="0" dirty="0">
              <a:latin typeface="Consolas"/>
            </a:endParaRPr>
          </a:p>
          <a:p>
            <a:pPr lvl="1"/>
            <a:r>
              <a:rPr sz="1300" b="0" i="0" u="none" dirty="0"/>
              <a:t>✅ Reference materials and curriculum</a:t>
            </a:r>
            <a:endParaRPr sz="1300" b="0" i="0" dirty="0">
              <a:latin typeface="Consolas"/>
            </a:endParaRPr>
          </a:p>
          <a:p>
            <a:pPr lvl="1"/>
            <a:r>
              <a:rPr sz="1300" b="0" i="0" u="none" dirty="0"/>
              <a:t>✅ Keep access after course ends</a:t>
            </a:r>
            <a:endParaRPr sz="1300" b="0" i="0" dirty="0">
              <a:latin typeface="Consolas"/>
            </a:endParaRPr>
          </a:p>
          <a:p>
            <a:pPr>
              <a:buNone/>
            </a:pPr>
            <a:endParaRPr sz="1300" b="0" i="0" dirty="0">
              <a:latin typeface="Consolas"/>
            </a:endParaRPr>
          </a:p>
          <a:p>
            <a:pPr>
              <a:buNone/>
            </a:pPr>
            <a:r>
              <a:rPr lang="en-US" sz="1300" b="0" i="0" u="none" dirty="0"/>
              <a:t>20260330-aiasd-ge</a:t>
            </a:r>
            <a:r>
              <a:rPr sz="1300" b="0" i="0" u="none" dirty="0"/>
              <a:t> (Cloned with Personal Branch)</a:t>
            </a:r>
            <a:endParaRPr sz="1300" b="0" i="0" dirty="0">
              <a:latin typeface="Consolas"/>
            </a:endParaRPr>
          </a:p>
          <a:p>
            <a:pPr>
              <a:buNone/>
            </a:pPr>
            <a:endParaRPr sz="1300" b="0" i="0" dirty="0">
              <a:latin typeface="Consolas"/>
            </a:endParaRPr>
          </a:p>
          <a:p>
            <a:pPr>
              <a:buNone/>
            </a:pPr>
            <a:r>
              <a:rPr sz="1300" b="0" i="0" u="none" dirty="0"/>
              <a:t>This is our collaborative workspace for the course session. All the code, documentation, and artifacts you create during class exercises will be pushed here on your personal branch. The instructor can review your work, and you can see the collective progress of the class.</a:t>
            </a:r>
            <a:endParaRPr sz="1300" b="0" i="0" dirty="0">
              <a:latin typeface="Consolas"/>
            </a:endParaRPr>
          </a:p>
          <a:p>
            <a:pPr>
              <a:buNone/>
            </a:pPr>
            <a:endParaRPr sz="1300" b="0" i="0" dirty="0">
              <a:latin typeface="Consolas"/>
            </a:endParaRPr>
          </a:p>
          <a:p>
            <a:pPr lvl="1"/>
            <a:r>
              <a:rPr sz="1300" b="0" i="0" u="none" dirty="0"/>
              <a:t>✅ Shared course repository</a:t>
            </a:r>
            <a:endParaRPr sz="1300" b="0" i="0" dirty="0">
              <a:latin typeface="Consolas"/>
            </a:endParaRPr>
          </a:p>
          <a:p>
            <a:pPr lvl="1"/>
            <a:r>
              <a:rPr sz="1300" b="0" i="0" u="none" dirty="0"/>
              <a:t>✅ Work on your named branch</a:t>
            </a:r>
            <a:endParaRPr sz="1300" b="0" i="0" dirty="0">
              <a:latin typeface="Consolas"/>
            </a:endParaRPr>
          </a:p>
          <a:p>
            <a:pPr lvl="1"/>
            <a:r>
              <a:rPr sz="1300" b="0" i="0" u="none" dirty="0"/>
              <a:t>✅ Push all exercise solutions and practice code here</a:t>
            </a:r>
            <a:endParaRPr sz="1300" b="0" i="0" dirty="0">
              <a:latin typeface="Consolas"/>
            </a:endParaRPr>
          </a:p>
          <a:p>
            <a:pPr lvl="1"/>
            <a:r>
              <a:rPr sz="1300" b="0" i="0" u="none" dirty="0"/>
              <a:t>✅ Files created during live coding sessions</a:t>
            </a:r>
            <a:endParaRPr sz="1300" b="0" i="0" dirty="0">
              <a:latin typeface="Consolas"/>
            </a:endParaRPr>
          </a:p>
          <a:p>
            <a:pPr lvl="1"/>
            <a:r>
              <a:rPr sz="1300" b="0" i="0" u="none" dirty="0"/>
              <a:t>✅ Session-specific exercises</a:t>
            </a:r>
            <a:endParaRPr sz="1300" b="0" i="0" dirty="0">
              <a:latin typeface="Consolas"/>
            </a:endParaRPr>
          </a:p>
          <a:p>
            <a:pPr lvl="1"/>
            <a:r>
              <a:rPr sz="1300" b="0" i="0" u="none" dirty="0"/>
              <a:t>✅ Instructor can review and provide feedback</a:t>
            </a:r>
            <a:endParaRPr sz="1300" b="0" i="0" dirty="0">
              <a:latin typeface="Consolas"/>
            </a:endParaRPr>
          </a:p>
          <a:p>
            <a:pPr lvl="1"/>
            <a:r>
              <a:rPr sz="1300" b="0" i="0" u="none" dirty="0"/>
              <a:t>✅ Collaborative environment</a:t>
            </a:r>
            <a:endParaRPr sz="1300" b="0" i="0" dirty="0">
              <a:latin typeface="Consolas"/>
            </a:endParaRPr>
          </a:p>
          <a:p>
            <a:pPr>
              <a:buNone/>
            </a:pPr>
            <a:endParaRPr sz="1300" b="0" i="0" dirty="0">
              <a:latin typeface="Consolas"/>
            </a:endParaRPr>
          </a:p>
          <a:p>
            <a:pPr>
              <a:buNone/>
            </a:pPr>
            <a:r>
              <a:rPr sz="1300" b="0" i="0" dirty="0">
                <a:latin typeface="Consolas"/>
              </a:rPr>
              <a:t># Forking and Cloning Course Repositories || Three Repos Walk Into a GitHub...</a:t>
            </a:r>
          </a:p>
          <a:p>
            <a:pPr>
              <a:buNone/>
            </a:pPr>
            <a:r>
              <a:rPr sz="1300" b="0" i="0" dirty="0">
                <a:latin typeface="Consolas"/>
              </a:rPr>
              <a:t>git remote get-</a:t>
            </a:r>
            <a:r>
              <a:rPr sz="1300" b="0" i="0" dirty="0" err="1">
                <a:latin typeface="Consolas"/>
              </a:rPr>
              <a:t>url</a:t>
            </a:r>
            <a:r>
              <a:rPr sz="1300" b="0" i="0" dirty="0">
                <a:latin typeface="Consolas"/>
              </a:rPr>
              <a:t> origin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Repository</a:t>
            </a:r>
          </a:p>
          <a:p>
            <a:r>
              <a:rPr b="1" i="0" u="none"/>
              <a:t>▶ Tools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Exercise: Workstation Setup</a:t>
            </a:r>
          </a:p>
        </p:txBody>
      </p:sp>
      <p:sp>
        <p:nvSpPr>
          <p:cNvPr id="3" name="Content Placeholder 2"/>
          <p:cNvSpPr>
            <a:spLocks noGrp="1"/>
          </p:cNvSpPr>
          <p:nvPr>
            <p:ph sz="half" idx="1"/>
          </p:nvPr>
        </p:nvSpPr>
        <p:spPr/>
        <p:txBody>
          <a:bodyPr wrap="square">
            <a:normAutofit fontScale="77500" lnSpcReduction="20000"/>
          </a:bodyPr>
          <a:lstStyle/>
          <a:p>
            <a:pPr>
              <a:buNone/>
            </a:pPr>
            <a:r>
              <a:rPr sz="1400" b="0" i="0" u="none" dirty="0"/>
              <a:t>Setup and Objectives</a:t>
            </a:r>
            <a:endParaRPr sz="1400" b="0" i="0" dirty="0">
              <a:latin typeface="Arial"/>
            </a:endParaRPr>
          </a:p>
          <a:p>
            <a:pPr>
              <a:buNone/>
            </a:pPr>
            <a:endParaRPr sz="1400" b="0" i="0" dirty="0">
              <a:latin typeface="Arial"/>
            </a:endParaRPr>
          </a:p>
          <a:p>
            <a:pPr>
              <a:buNone/>
            </a:pPr>
            <a:r>
              <a:rPr sz="1400" b="0" i="0" u="none" dirty="0"/>
              <a:t>Prerequisites</a:t>
            </a:r>
            <a:endParaRPr sz="1400" b="0" i="0" dirty="0">
              <a:latin typeface="Arial"/>
            </a:endParaRPr>
          </a:p>
          <a:p>
            <a:pPr>
              <a:buNone/>
            </a:pPr>
            <a:endParaRPr sz="1400" b="0" i="0" dirty="0">
              <a:latin typeface="Arial"/>
            </a:endParaRPr>
          </a:p>
          <a:p>
            <a:r>
              <a:rPr sz="1400" b="0" i="0" u="none" dirty="0"/>
              <a:t>Local admin rights or permission to install software</a:t>
            </a:r>
            <a:endParaRPr sz="1400" b="0" i="0" dirty="0">
              <a:latin typeface="Arial"/>
            </a:endParaRPr>
          </a:p>
          <a:p>
            <a:r>
              <a:rPr sz="1400" b="0" i="0" u="none" dirty="0"/>
              <a:t>A terminal you can reopen after installs</a:t>
            </a:r>
            <a:endParaRPr sz="1400" b="0" i="0" dirty="0">
              <a:latin typeface="Arial"/>
            </a:endParaRPr>
          </a:p>
          <a:p>
            <a:r>
              <a:rPr sz="1400" b="0" i="0" u="none" dirty="0"/>
              <a:t>Internet access for downloads or package managers</a:t>
            </a:r>
            <a:endParaRPr sz="1400" b="0" i="0" dirty="0">
              <a:latin typeface="Arial"/>
            </a:endParaRPr>
          </a:p>
          <a:p>
            <a:pPr>
              <a:buNone/>
            </a:pPr>
            <a:endParaRPr sz="1400" b="0" i="0" dirty="0">
              <a:latin typeface="Arial"/>
            </a:endParaRPr>
          </a:p>
          <a:p>
            <a:pPr>
              <a:buNone/>
            </a:pPr>
            <a:r>
              <a:rPr sz="1400" b="0" i="0" u="none" dirty="0"/>
              <a:t>Objectives</a:t>
            </a:r>
            <a:endParaRPr sz="1400" b="0" i="0" dirty="0">
              <a:latin typeface="Arial"/>
            </a:endParaRPr>
          </a:p>
          <a:p>
            <a:pPr>
              <a:buNone/>
            </a:pPr>
            <a:endParaRPr sz="1400" b="0" i="0" dirty="0">
              <a:latin typeface="Arial"/>
            </a:endParaRPr>
          </a:p>
          <a:p>
            <a:r>
              <a:rPr sz="1400" b="0" i="0" u="none" dirty="0"/>
              <a:t>Install Git using the method that fits your platform</a:t>
            </a:r>
            <a:endParaRPr sz="1400" b="0" i="0" dirty="0">
              <a:latin typeface="Arial"/>
            </a:endParaRPr>
          </a:p>
          <a:p>
            <a:r>
              <a:rPr sz="1400" b="0" i="0" u="none" dirty="0"/>
              <a:t>Confirm Git is available from the terminal</a:t>
            </a:r>
            <a:endParaRPr sz="1400" b="0" i="0" dirty="0">
              <a:latin typeface="Arial"/>
            </a:endParaRPr>
          </a:p>
          <a:p>
            <a:r>
              <a:rPr sz="1400" b="0" i="0" u="none" dirty="0"/>
              <a:t>Understand why Git is the dependency for later course steps</a:t>
            </a:r>
            <a:endParaRPr sz="1400" b="0" i="0" dirty="0">
              <a:latin typeface="Arial"/>
            </a:endParaRPr>
          </a:p>
        </p:txBody>
      </p:sp>
      <p:sp>
        <p:nvSpPr>
          <p:cNvPr id="4" name="Content Placeholder 3"/>
          <p:cNvSpPr>
            <a:spLocks noGrp="1"/>
          </p:cNvSpPr>
          <p:nvPr>
            <p:ph sz="half" idx="2"/>
          </p:nvPr>
        </p:nvSpPr>
        <p:spPr/>
        <p:txBody>
          <a:bodyPr wrap="square">
            <a:normAutofit fontScale="77500" lnSpcReduction="20000"/>
          </a:bodyPr>
          <a:lstStyle/>
          <a:p>
            <a:pPr>
              <a:buNone/>
            </a:pPr>
            <a:r>
              <a:rPr sz="1400" b="0" i="0" u="none" dirty="0"/>
              <a:t>Activities</a:t>
            </a:r>
            <a:endParaRPr sz="1400" b="0" i="0" dirty="0">
              <a:latin typeface="Consolas"/>
            </a:endParaRPr>
          </a:p>
          <a:p>
            <a:pPr>
              <a:buNone/>
            </a:pPr>
            <a:endParaRPr sz="1400" b="0" i="0" dirty="0">
              <a:latin typeface="Consolas"/>
            </a:endParaRPr>
          </a:p>
          <a:p>
            <a:pPr>
              <a:buNone/>
            </a:pPr>
            <a:r>
              <a:rPr sz="1400" b="0" i="0" u="none" dirty="0"/>
              <a:t>1. Choose one install path for your platform: direct download, package manager, or Homebrew.</a:t>
            </a:r>
            <a:endParaRPr sz="1400" b="0" i="0" dirty="0">
              <a:latin typeface="Consolas"/>
            </a:endParaRPr>
          </a:p>
          <a:p>
            <a:pPr>
              <a:buNone/>
            </a:pPr>
            <a:r>
              <a:rPr sz="1400" b="0" i="0" u="none" dirty="0"/>
              <a:t>2. Install Git and close the installer completely.</a:t>
            </a:r>
            <a:endParaRPr sz="1400" b="0" i="0" dirty="0">
              <a:latin typeface="Consolas"/>
            </a:endParaRPr>
          </a:p>
          <a:p>
            <a:pPr>
              <a:buNone/>
            </a:pPr>
            <a:r>
              <a:rPr sz="1400" b="0" i="0" u="none" dirty="0"/>
              <a:t>3. Reopen your terminal so PATH changes are picked up.</a:t>
            </a:r>
            <a:endParaRPr sz="1400" b="0" i="0" dirty="0">
              <a:latin typeface="Consolas"/>
            </a:endParaRPr>
          </a:p>
          <a:p>
            <a:pPr>
              <a:buNone/>
            </a:pPr>
            <a:r>
              <a:rPr sz="1400" b="0" i="0" u="none" dirty="0"/>
              <a:t>4. Run a version check and confirm Git responds.</a:t>
            </a:r>
            <a:endParaRPr sz="1400" b="0" i="0" dirty="0">
              <a:latin typeface="Consolas"/>
            </a:endParaRPr>
          </a:p>
          <a:p>
            <a:pPr>
              <a:buNone/>
            </a:pPr>
            <a:r>
              <a:rPr sz="1400" b="0" i="0" u="none" dirty="0"/>
              <a:t>5. If Git is still missing, switch terminals or restart the shell before troubleshooting further.</a:t>
            </a:r>
            <a:endParaRPr sz="1400" b="0" i="0" dirty="0">
              <a:latin typeface="Consolas"/>
            </a:endParaRPr>
          </a:p>
          <a:p>
            <a:pPr>
              <a:buNone/>
            </a:pPr>
            <a:endParaRPr sz="1400" b="0" i="0" dirty="0">
              <a:latin typeface="Consolas"/>
            </a:endParaRPr>
          </a:p>
          <a:p>
            <a:pPr>
              <a:buNone/>
            </a:pPr>
            <a:r>
              <a:rPr sz="1400" b="0" i="0" dirty="0">
                <a:latin typeface="Consolas"/>
              </a:rPr>
              <a:t>git --version</a:t>
            </a:r>
          </a:p>
          <a:p>
            <a:pPr>
              <a:buNone/>
            </a:pPr>
            <a:endParaRPr sz="1400" b="0" i="0" dirty="0">
              <a:latin typeface="Consolas"/>
            </a:endParaRPr>
          </a:p>
          <a:p>
            <a:pPr>
              <a:buNone/>
            </a:pPr>
            <a:r>
              <a:rPr sz="1400" b="0" i="0" u="none" dirty="0"/>
              <a:t>Success Criteria</a:t>
            </a:r>
            <a:endParaRPr sz="1400" b="0" i="0" dirty="0">
              <a:latin typeface="Consolas"/>
            </a:endParaRPr>
          </a:p>
          <a:p>
            <a:pPr>
              <a:buNone/>
            </a:pPr>
            <a:endParaRPr sz="1400" b="0" i="0" dirty="0">
              <a:latin typeface="Consolas"/>
            </a:endParaRPr>
          </a:p>
          <a:p>
            <a:r>
              <a:rPr sz="1400" b="0" i="0" u="none" dirty="0">
                <a:latin typeface="Consolas"/>
              </a:rPr>
              <a:t>git --version</a:t>
            </a:r>
            <a:r>
              <a:rPr sz="1400" b="0" i="0" u="none" dirty="0"/>
              <a:t> returns a version string</a:t>
            </a:r>
            <a:endParaRPr sz="1400" b="0" i="0" dirty="0">
              <a:latin typeface="Consolas"/>
            </a:endParaRPr>
          </a:p>
          <a:p>
            <a:r>
              <a:rPr sz="1400" b="0" i="0" u="none" dirty="0"/>
              <a:t>You can explain why Git must be installed before GitHub CLI and repository labs</a:t>
            </a:r>
            <a:endParaRPr sz="1400" b="0" i="0" dirty="0">
              <a:latin typeface="Consolas"/>
            </a:endParaRPr>
          </a:p>
          <a:p>
            <a:r>
              <a:rPr sz="1400" b="0" i="0" u="none" dirty="0"/>
              <a:t>You know which install path you used on your machine</a:t>
            </a:r>
            <a:endParaRPr sz="1400" b="0" i="0" dirty="0">
              <a:latin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sz="2200"/>
              <a:t>Exercise: Create a GitHub Account and Authenticate GitHub CLI</a:t>
            </a:r>
          </a:p>
        </p:txBody>
      </p:sp>
      <p:sp>
        <p:nvSpPr>
          <p:cNvPr id="3" name="Content Placeholder 2"/>
          <p:cNvSpPr>
            <a:spLocks noGrp="1"/>
          </p:cNvSpPr>
          <p:nvPr>
            <p:ph sz="half" idx="1"/>
          </p:nvPr>
        </p:nvSpPr>
        <p:spPr/>
        <p:txBody>
          <a:bodyPr wrap="square">
            <a:normAutofit fontScale="70000" lnSpcReduction="20000"/>
          </a:bodyPr>
          <a:lstStyle/>
          <a:p>
            <a:pPr>
              <a:buNone/>
            </a:pPr>
            <a:r>
              <a:rPr sz="1400" b="0" i="0" u="none" dirty="0"/>
              <a:t>Setup and Objectives</a:t>
            </a:r>
            <a:endParaRPr sz="1400" b="0" i="0" dirty="0">
              <a:latin typeface="Consolas"/>
            </a:endParaRPr>
          </a:p>
          <a:p>
            <a:pPr>
              <a:buNone/>
            </a:pPr>
            <a:endParaRPr sz="1400" b="0" i="0" dirty="0">
              <a:latin typeface="Consolas"/>
            </a:endParaRPr>
          </a:p>
          <a:p>
            <a:pPr>
              <a:buNone/>
            </a:pPr>
            <a:r>
              <a:rPr sz="1400" b="0" i="0" u="none" dirty="0"/>
              <a:t>Prerequisites</a:t>
            </a:r>
            <a:endParaRPr sz="1400" b="0" i="0" dirty="0">
              <a:latin typeface="Consolas"/>
            </a:endParaRPr>
          </a:p>
          <a:p>
            <a:pPr>
              <a:buNone/>
            </a:pPr>
            <a:endParaRPr sz="1400" b="0" i="0" dirty="0">
              <a:latin typeface="Consolas"/>
            </a:endParaRPr>
          </a:p>
          <a:p>
            <a:r>
              <a:rPr sz="1400" b="0" i="0" u="none" dirty="0"/>
              <a:t>Git installed successfully</a:t>
            </a:r>
            <a:endParaRPr sz="1400" b="0" i="0" dirty="0">
              <a:latin typeface="Consolas"/>
            </a:endParaRPr>
          </a:p>
          <a:p>
            <a:r>
              <a:rPr sz="1400" b="0" i="0" u="none" dirty="0"/>
              <a:t>Browser access and a working email account</a:t>
            </a:r>
            <a:endParaRPr sz="1400" b="0" i="0" dirty="0">
              <a:latin typeface="Consolas"/>
            </a:endParaRPr>
          </a:p>
          <a:p>
            <a:r>
              <a:rPr sz="1400" b="0" i="0" u="none" dirty="0"/>
              <a:t>Permission to sign in through the browser on this machine</a:t>
            </a:r>
            <a:endParaRPr sz="1400" b="0" i="0" dirty="0">
              <a:latin typeface="Consolas"/>
            </a:endParaRPr>
          </a:p>
          <a:p>
            <a:pPr>
              <a:buNone/>
            </a:pPr>
            <a:endParaRPr sz="1400" b="0" i="0" dirty="0">
              <a:latin typeface="Consolas"/>
            </a:endParaRPr>
          </a:p>
          <a:p>
            <a:pPr>
              <a:buNone/>
            </a:pPr>
            <a:r>
              <a:rPr sz="1400" b="0" i="0" u="none" dirty="0"/>
              <a:t>Objectives</a:t>
            </a:r>
            <a:endParaRPr sz="1400" b="0" i="0" dirty="0">
              <a:latin typeface="Consolas"/>
            </a:endParaRPr>
          </a:p>
          <a:p>
            <a:pPr>
              <a:buNone/>
            </a:pPr>
            <a:endParaRPr sz="1400" b="0" i="0" dirty="0">
              <a:latin typeface="Consolas"/>
            </a:endParaRPr>
          </a:p>
          <a:p>
            <a:r>
              <a:rPr sz="1400" b="0" i="0" u="none" dirty="0"/>
              <a:t>Create or verify a GitHub account for the course</a:t>
            </a:r>
            <a:endParaRPr sz="1400" b="0" i="0" dirty="0">
              <a:latin typeface="Consolas"/>
            </a:endParaRPr>
          </a:p>
          <a:p>
            <a:r>
              <a:rPr sz="1400" b="0" i="0" u="none" dirty="0"/>
              <a:t>Install GitHub CLI locally</a:t>
            </a:r>
            <a:endParaRPr sz="1400" b="0" i="0" dirty="0">
              <a:latin typeface="Consolas"/>
            </a:endParaRPr>
          </a:p>
          <a:p>
            <a:r>
              <a:rPr sz="1400" b="0" i="0" u="none" dirty="0"/>
              <a:t>Authenticate </a:t>
            </a:r>
            <a:r>
              <a:rPr sz="1400" b="0" i="0" u="none" dirty="0" err="1">
                <a:latin typeface="Consolas"/>
              </a:rPr>
              <a:t>gh</a:t>
            </a:r>
            <a:r>
              <a:rPr sz="1400" b="0" i="0" u="none" dirty="0"/>
              <a:t> so later repository and PR exercises work from the terminal</a:t>
            </a:r>
            <a:endParaRPr sz="1400" b="0" i="0" dirty="0">
              <a:latin typeface="Consolas"/>
            </a:endParaRPr>
          </a:p>
        </p:txBody>
      </p:sp>
      <p:sp>
        <p:nvSpPr>
          <p:cNvPr id="4" name="Content Placeholder 3"/>
          <p:cNvSpPr>
            <a:spLocks noGrp="1"/>
          </p:cNvSpPr>
          <p:nvPr>
            <p:ph sz="half" idx="2"/>
          </p:nvPr>
        </p:nvSpPr>
        <p:spPr/>
        <p:txBody>
          <a:bodyPr wrap="square">
            <a:normAutofit fontScale="70000" lnSpcReduction="20000"/>
          </a:bodyPr>
          <a:lstStyle/>
          <a:p>
            <a:pPr>
              <a:buNone/>
            </a:pPr>
            <a:r>
              <a:rPr sz="1400" b="0" i="0" u="none" dirty="0"/>
              <a:t>Activities</a:t>
            </a:r>
            <a:endParaRPr sz="1400" b="0" i="0" dirty="0">
              <a:latin typeface="Consolas"/>
            </a:endParaRPr>
          </a:p>
          <a:p>
            <a:pPr>
              <a:buNone/>
            </a:pPr>
            <a:endParaRPr sz="1400" b="0" i="0" dirty="0">
              <a:latin typeface="Consolas"/>
            </a:endParaRPr>
          </a:p>
          <a:p>
            <a:pPr>
              <a:buNone/>
            </a:pPr>
            <a:r>
              <a:rPr sz="1400" b="0" i="0" u="none" dirty="0"/>
              <a:t>1. Sign in to GitHub or create a new account at </a:t>
            </a:r>
            <a:r>
              <a:rPr sz="1400" b="0" i="0" u="none" dirty="0">
                <a:latin typeface="Consolas"/>
              </a:rPr>
              <a:t>https://github.com/signup</a:t>
            </a:r>
            <a:r>
              <a:rPr sz="1400" b="0" i="0" u="none" dirty="0"/>
              <a:t>.</a:t>
            </a:r>
            <a:endParaRPr sz="1400" b="0" i="0" dirty="0">
              <a:latin typeface="Consolas"/>
            </a:endParaRPr>
          </a:p>
          <a:p>
            <a:pPr>
              <a:buNone/>
            </a:pPr>
            <a:r>
              <a:rPr sz="1400" b="0" i="0" u="none" dirty="0"/>
              <a:t>2. Install GitHub CLI using direct download, Chocolatey, Winget, or Homebrew.</a:t>
            </a:r>
            <a:endParaRPr sz="1400" b="0" i="0" dirty="0">
              <a:latin typeface="Consolas"/>
            </a:endParaRPr>
          </a:p>
          <a:p>
            <a:pPr>
              <a:buNone/>
            </a:pPr>
            <a:r>
              <a:rPr sz="1400" b="0" i="0" u="none" dirty="0"/>
              <a:t>3. Run the CLI version check.</a:t>
            </a:r>
            <a:endParaRPr sz="1400" b="0" i="0" dirty="0">
              <a:latin typeface="Consolas"/>
            </a:endParaRPr>
          </a:p>
          <a:p>
            <a:pPr>
              <a:buNone/>
            </a:pPr>
            <a:r>
              <a:rPr sz="1400" b="0" i="0" u="none" dirty="0"/>
              <a:t>4. Authenticate with the browser flow and choose </a:t>
            </a:r>
            <a:r>
              <a:rPr sz="1400" b="0" i="0" u="none" dirty="0">
                <a:latin typeface="Consolas"/>
              </a:rPr>
              <a:t>GitHub.com</a:t>
            </a:r>
            <a:r>
              <a:rPr sz="1400" b="0" i="0" u="none" dirty="0"/>
              <a:t> plus </a:t>
            </a:r>
            <a:r>
              <a:rPr sz="1400" b="0" i="0" u="none" dirty="0">
                <a:latin typeface="Consolas"/>
              </a:rPr>
              <a:t>HTTPS</a:t>
            </a:r>
            <a:r>
              <a:rPr sz="1400" b="0" i="0" u="none" dirty="0"/>
              <a:t> when prompted.</a:t>
            </a:r>
            <a:endParaRPr sz="1400" b="0" i="0" dirty="0">
              <a:latin typeface="Consolas"/>
            </a:endParaRPr>
          </a:p>
          <a:p>
            <a:pPr>
              <a:buNone/>
            </a:pPr>
            <a:r>
              <a:rPr sz="1400" b="0" i="0" u="none" dirty="0"/>
              <a:t>5. Validate access by listing repositories from the terminal.</a:t>
            </a:r>
            <a:endParaRPr sz="1400" b="0" i="0" dirty="0">
              <a:latin typeface="Consolas"/>
            </a:endParaRPr>
          </a:p>
          <a:p>
            <a:pPr>
              <a:buNone/>
            </a:pPr>
            <a:endParaRPr sz="1400" b="0" i="0" dirty="0">
              <a:latin typeface="Consolas"/>
            </a:endParaRPr>
          </a:p>
          <a:p>
            <a:pPr>
              <a:buNone/>
            </a:pPr>
            <a:r>
              <a:rPr sz="1400" b="0" i="0" dirty="0" err="1">
                <a:latin typeface="Consolas"/>
              </a:rPr>
              <a:t>gh</a:t>
            </a:r>
            <a:r>
              <a:rPr sz="1400" b="0" i="0" dirty="0">
                <a:latin typeface="Consolas"/>
              </a:rPr>
              <a:t> --version</a:t>
            </a:r>
          </a:p>
          <a:p>
            <a:pPr>
              <a:buNone/>
            </a:pPr>
            <a:r>
              <a:rPr sz="1400" b="0" i="0" dirty="0" err="1">
                <a:latin typeface="Consolas"/>
              </a:rPr>
              <a:t>gh</a:t>
            </a:r>
            <a:r>
              <a:rPr sz="1400" b="0" i="0" dirty="0">
                <a:latin typeface="Consolas"/>
              </a:rPr>
              <a:t> auth login</a:t>
            </a:r>
          </a:p>
          <a:p>
            <a:pPr>
              <a:buNone/>
            </a:pPr>
            <a:r>
              <a:rPr sz="1400" b="0" i="0" dirty="0" err="1">
                <a:latin typeface="Consolas"/>
              </a:rPr>
              <a:t>gh</a:t>
            </a:r>
            <a:r>
              <a:rPr sz="1400" b="0" i="0" dirty="0">
                <a:latin typeface="Consolas"/>
              </a:rPr>
              <a:t> repo list</a:t>
            </a:r>
          </a:p>
          <a:p>
            <a:pPr>
              <a:buNone/>
            </a:pPr>
            <a:endParaRPr sz="1400" b="0" i="0" dirty="0">
              <a:latin typeface="Consolas"/>
            </a:endParaRPr>
          </a:p>
          <a:p>
            <a:pPr>
              <a:buNone/>
            </a:pPr>
            <a:r>
              <a:rPr sz="1400" b="0" i="0" u="none" dirty="0"/>
              <a:t>Success Criteria</a:t>
            </a:r>
            <a:endParaRPr sz="1400" b="0" i="0" dirty="0">
              <a:latin typeface="Consolas"/>
            </a:endParaRPr>
          </a:p>
          <a:p>
            <a:pPr>
              <a:buNone/>
            </a:pPr>
            <a:endParaRPr sz="1400" b="0" i="0" dirty="0">
              <a:latin typeface="Consolas"/>
            </a:endParaRPr>
          </a:p>
          <a:p>
            <a:r>
              <a:rPr sz="1400" b="0" i="0" u="none" dirty="0" err="1">
                <a:latin typeface="Consolas"/>
              </a:rPr>
              <a:t>gh</a:t>
            </a:r>
            <a:r>
              <a:rPr sz="1400" b="0" i="0" u="none" dirty="0">
                <a:latin typeface="Consolas"/>
              </a:rPr>
              <a:t> --version</a:t>
            </a:r>
            <a:r>
              <a:rPr sz="1400" b="0" i="0" u="none" dirty="0"/>
              <a:t> returns installed version details</a:t>
            </a:r>
            <a:endParaRPr sz="1400" b="0" i="0" dirty="0">
              <a:latin typeface="Consolas"/>
            </a:endParaRPr>
          </a:p>
          <a:p>
            <a:r>
              <a:rPr sz="1400" b="0" i="0" u="none" dirty="0" err="1">
                <a:latin typeface="Consolas"/>
              </a:rPr>
              <a:t>gh</a:t>
            </a:r>
            <a:r>
              <a:rPr sz="1400" b="0" i="0" u="none" dirty="0">
                <a:latin typeface="Consolas"/>
              </a:rPr>
              <a:t> auth status</a:t>
            </a:r>
            <a:r>
              <a:rPr sz="1400" b="0" i="0" u="none" dirty="0"/>
              <a:t> or </a:t>
            </a:r>
            <a:r>
              <a:rPr sz="1400" b="0" i="0" u="none" dirty="0" err="1">
                <a:latin typeface="Consolas"/>
              </a:rPr>
              <a:t>gh</a:t>
            </a:r>
            <a:r>
              <a:rPr sz="1400" b="0" i="0" u="none" dirty="0">
                <a:latin typeface="Consolas"/>
              </a:rPr>
              <a:t> repo list</a:t>
            </a:r>
            <a:r>
              <a:rPr sz="1400" b="0" i="0" u="none" dirty="0"/>
              <a:t> works without an authentication error</a:t>
            </a:r>
            <a:endParaRPr sz="1400" b="0" i="0" dirty="0">
              <a:latin typeface="Consolas"/>
            </a:endParaRPr>
          </a:p>
          <a:p>
            <a:r>
              <a:rPr sz="1400" b="0" i="0" u="none" dirty="0"/>
              <a:t>Your GitHub account is ready for later fork, clone, issue, and PR workflows</a:t>
            </a:r>
            <a:endParaRPr sz="1400" b="0" i="0" dirty="0">
              <a:latin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sz="2450"/>
              <a:t>Exercise: Install VS Code and the Core Course Extensions</a:t>
            </a:r>
          </a:p>
        </p:txBody>
      </p:sp>
      <p:sp>
        <p:nvSpPr>
          <p:cNvPr id="3" name="Content Placeholder 2"/>
          <p:cNvSpPr>
            <a:spLocks noGrp="1"/>
          </p:cNvSpPr>
          <p:nvPr>
            <p:ph sz="half" idx="1"/>
          </p:nvPr>
        </p:nvSpPr>
        <p:spPr/>
        <p:txBody>
          <a:bodyPr wrap="square">
            <a:normAutofit fontScale="62500" lnSpcReduction="20000"/>
          </a:bodyPr>
          <a:lstStyle/>
          <a:p>
            <a:pPr>
              <a:buNone/>
            </a:pPr>
            <a:r>
              <a:rPr sz="1400" b="0" i="0" u="none" dirty="0"/>
              <a:t>Setup and Objectives</a:t>
            </a:r>
            <a:endParaRPr sz="1400" b="0" i="0" dirty="0">
              <a:latin typeface="Consolas"/>
            </a:endParaRPr>
          </a:p>
          <a:p>
            <a:pPr>
              <a:buNone/>
            </a:pPr>
            <a:endParaRPr sz="1400" b="0" i="0" dirty="0">
              <a:latin typeface="Consolas"/>
            </a:endParaRPr>
          </a:p>
          <a:p>
            <a:pPr>
              <a:buNone/>
            </a:pPr>
            <a:r>
              <a:rPr sz="1400" b="0" i="0" u="none" dirty="0"/>
              <a:t>Prerequisites</a:t>
            </a:r>
            <a:endParaRPr sz="1400" b="0" i="0" dirty="0">
              <a:latin typeface="Consolas"/>
            </a:endParaRPr>
          </a:p>
          <a:p>
            <a:pPr>
              <a:buNone/>
            </a:pPr>
            <a:endParaRPr sz="1400" b="0" i="0" dirty="0">
              <a:latin typeface="Consolas"/>
            </a:endParaRPr>
          </a:p>
          <a:p>
            <a:r>
              <a:rPr sz="1400" b="0" i="0" u="none" dirty="0"/>
              <a:t>GitHub account available for Copilot sign-in</a:t>
            </a:r>
            <a:endParaRPr sz="1400" b="0" i="0" dirty="0">
              <a:latin typeface="Consolas"/>
            </a:endParaRPr>
          </a:p>
          <a:p>
            <a:r>
              <a:rPr sz="1400" b="0" i="0" u="none" dirty="0"/>
              <a:t>GitHub CLI already installed is helpful but not required</a:t>
            </a:r>
            <a:endParaRPr sz="1400" b="0" i="0" dirty="0">
              <a:latin typeface="Consolas"/>
            </a:endParaRPr>
          </a:p>
          <a:p>
            <a:r>
              <a:rPr sz="1400" b="0" i="0" u="none" dirty="0"/>
              <a:t>VS Code not yet installed, or an existing install you can update</a:t>
            </a:r>
            <a:endParaRPr sz="1400" b="0" i="0" dirty="0">
              <a:latin typeface="Consolas"/>
            </a:endParaRPr>
          </a:p>
          <a:p>
            <a:pPr>
              <a:buNone/>
            </a:pPr>
            <a:endParaRPr sz="1400" b="0" i="0" dirty="0">
              <a:latin typeface="Consolas"/>
            </a:endParaRPr>
          </a:p>
          <a:p>
            <a:pPr>
              <a:buNone/>
            </a:pPr>
            <a:r>
              <a:rPr sz="1400" b="0" i="0" u="none" dirty="0"/>
              <a:t>Objectives</a:t>
            </a:r>
            <a:endParaRPr sz="1400" b="0" i="0" dirty="0">
              <a:latin typeface="Consolas"/>
            </a:endParaRPr>
          </a:p>
          <a:p>
            <a:pPr>
              <a:buNone/>
            </a:pPr>
            <a:endParaRPr sz="1400" b="0" i="0" dirty="0">
              <a:latin typeface="Consolas"/>
            </a:endParaRPr>
          </a:p>
          <a:p>
            <a:r>
              <a:rPr sz="1400" b="0" i="0" u="none" dirty="0"/>
              <a:t>Install Visual Studio Code and confirm the </a:t>
            </a:r>
            <a:r>
              <a:rPr sz="1400" b="0" i="0" u="none" dirty="0">
                <a:latin typeface="Consolas"/>
              </a:rPr>
              <a:t>code</a:t>
            </a:r>
            <a:r>
              <a:rPr sz="1400" b="0" i="0" u="none" dirty="0"/>
              <a:t> command works</a:t>
            </a:r>
            <a:endParaRPr sz="1400" b="0" i="0" dirty="0">
              <a:latin typeface="Consolas"/>
            </a:endParaRPr>
          </a:p>
          <a:p>
            <a:r>
              <a:rPr sz="1400" b="0" i="0" u="none" dirty="0"/>
              <a:t>Add the extensions used throughout the course</a:t>
            </a:r>
            <a:endParaRPr sz="1400" b="0" i="0" dirty="0">
              <a:latin typeface="Consolas"/>
            </a:endParaRPr>
          </a:p>
          <a:p>
            <a:r>
              <a:rPr sz="1400" b="0" i="0" u="none" dirty="0"/>
              <a:t>Prepare the editor for Copilot, Mermaid preview, and markdown workflows</a:t>
            </a:r>
            <a:endParaRPr sz="1400" b="0" i="0" dirty="0">
              <a:latin typeface="Consolas"/>
            </a:endParaRPr>
          </a:p>
        </p:txBody>
      </p:sp>
      <p:sp>
        <p:nvSpPr>
          <p:cNvPr id="4" name="Content Placeholder 3"/>
          <p:cNvSpPr>
            <a:spLocks noGrp="1"/>
          </p:cNvSpPr>
          <p:nvPr>
            <p:ph sz="half" idx="2"/>
          </p:nvPr>
        </p:nvSpPr>
        <p:spPr/>
        <p:txBody>
          <a:bodyPr wrap="square">
            <a:normAutofit fontScale="62500" lnSpcReduction="20000"/>
          </a:bodyPr>
          <a:lstStyle/>
          <a:p>
            <a:pPr>
              <a:buNone/>
            </a:pPr>
            <a:r>
              <a:rPr sz="1400" b="0" i="0" u="none" dirty="0"/>
              <a:t>Activities</a:t>
            </a:r>
            <a:endParaRPr sz="1400" b="0" i="0" dirty="0">
              <a:latin typeface="Consolas"/>
            </a:endParaRPr>
          </a:p>
          <a:p>
            <a:pPr>
              <a:buNone/>
            </a:pPr>
            <a:endParaRPr sz="1400" b="0" i="0" dirty="0">
              <a:latin typeface="Consolas"/>
            </a:endParaRPr>
          </a:p>
          <a:p>
            <a:pPr>
              <a:buNone/>
            </a:pPr>
            <a:r>
              <a:rPr sz="1400" b="0" i="0" u="none" dirty="0"/>
              <a:t>1. Install Visual Studio Code and ensure the </a:t>
            </a:r>
            <a:r>
              <a:rPr sz="1400" b="0" i="0" u="none" dirty="0">
                <a:latin typeface="Consolas"/>
              </a:rPr>
              <a:t>code</a:t>
            </a:r>
            <a:r>
              <a:rPr sz="1400" b="0" i="0" u="none" dirty="0"/>
              <a:t> command is available in PATH.</a:t>
            </a:r>
            <a:endParaRPr sz="1400" b="0" i="0" dirty="0">
              <a:latin typeface="Consolas"/>
            </a:endParaRPr>
          </a:p>
          <a:p>
            <a:pPr>
              <a:buNone/>
            </a:pPr>
            <a:r>
              <a:rPr sz="1400" b="0" i="0" u="none" dirty="0"/>
              <a:t>2. Open VS Code and verify the integrated terminal works.</a:t>
            </a:r>
            <a:endParaRPr sz="1400" b="0" i="0" dirty="0">
              <a:latin typeface="Consolas"/>
            </a:endParaRPr>
          </a:p>
          <a:p>
            <a:pPr>
              <a:buNone/>
            </a:pPr>
            <a:r>
              <a:rPr sz="1400" b="0" i="0" u="none" dirty="0"/>
              <a:t>3. Install the following extensions from the Extensions view or the command line.</a:t>
            </a:r>
            <a:endParaRPr sz="1400" b="0" i="0" dirty="0">
              <a:latin typeface="Consolas"/>
            </a:endParaRPr>
          </a:p>
          <a:p>
            <a:pPr>
              <a:buNone/>
            </a:pPr>
            <a:r>
              <a:rPr sz="1400" b="0" i="0" u="none" dirty="0"/>
              <a:t>4. Restart VS Code if extension activation or sign-in prompts do not appear immediately.</a:t>
            </a:r>
            <a:endParaRPr sz="1400" b="0" i="0" dirty="0">
              <a:latin typeface="Consolas"/>
            </a:endParaRPr>
          </a:p>
          <a:p>
            <a:pPr>
              <a:buNone/>
            </a:pPr>
            <a:endParaRPr sz="1400" b="0" i="0" dirty="0">
              <a:latin typeface="Consolas"/>
            </a:endParaRPr>
          </a:p>
          <a:p>
            <a:pPr>
              <a:buNone/>
            </a:pPr>
            <a:r>
              <a:rPr sz="1400" b="0" i="0" dirty="0">
                <a:latin typeface="Consolas"/>
              </a:rPr>
              <a:t>code --version</a:t>
            </a:r>
          </a:p>
          <a:p>
            <a:pPr>
              <a:buNone/>
            </a:pPr>
            <a:r>
              <a:rPr sz="1400" b="0" i="0" dirty="0">
                <a:latin typeface="Consolas"/>
              </a:rPr>
              <a:t>code --install-extension </a:t>
            </a:r>
            <a:r>
              <a:rPr sz="1400" b="0" i="0" dirty="0" err="1">
                <a:latin typeface="Consolas"/>
              </a:rPr>
              <a:t>GitHub.copilot</a:t>
            </a:r>
            <a:endParaRPr sz="1400" b="0" i="0" dirty="0">
              <a:latin typeface="Consolas"/>
            </a:endParaRPr>
          </a:p>
          <a:p>
            <a:pPr>
              <a:buNone/>
            </a:pPr>
            <a:r>
              <a:rPr sz="1400" b="0" i="0" dirty="0">
                <a:latin typeface="Consolas"/>
              </a:rPr>
              <a:t>code --install-extension </a:t>
            </a:r>
            <a:r>
              <a:rPr sz="1400" b="0" i="0" dirty="0" err="1">
                <a:latin typeface="Consolas"/>
              </a:rPr>
              <a:t>GitHub.copilot</a:t>
            </a:r>
            <a:r>
              <a:rPr sz="1400" b="0" i="0" dirty="0">
                <a:latin typeface="Consolas"/>
              </a:rPr>
              <a:t>-chat</a:t>
            </a:r>
          </a:p>
          <a:p>
            <a:pPr>
              <a:buNone/>
            </a:pPr>
            <a:r>
              <a:rPr sz="1400" b="0" i="0" dirty="0">
                <a:latin typeface="Consolas"/>
              </a:rPr>
              <a:t>code --install-extension </a:t>
            </a:r>
            <a:r>
              <a:rPr sz="1400" b="0" i="0" dirty="0" err="1">
                <a:latin typeface="Consolas"/>
              </a:rPr>
              <a:t>vstirbu.vscode</a:t>
            </a:r>
            <a:r>
              <a:rPr sz="1400" b="0" i="0" dirty="0">
                <a:latin typeface="Consolas"/>
              </a:rPr>
              <a:t>-mermaid-preview</a:t>
            </a:r>
          </a:p>
          <a:p>
            <a:pPr>
              <a:buNone/>
            </a:pPr>
            <a:r>
              <a:rPr sz="1400" b="0" i="0" dirty="0">
                <a:latin typeface="Consolas"/>
              </a:rPr>
              <a:t>code --install-extension ryuta46.multi-command</a:t>
            </a:r>
          </a:p>
          <a:p>
            <a:pPr>
              <a:buNone/>
            </a:pPr>
            <a:endParaRPr sz="1400" b="0" i="0" dirty="0">
              <a:latin typeface="Consolas"/>
            </a:endParaRPr>
          </a:p>
          <a:p>
            <a:pPr>
              <a:buNone/>
            </a:pPr>
            <a:r>
              <a:rPr sz="1400" b="0" i="0" u="none" dirty="0"/>
              <a:t>Success Criteria</a:t>
            </a:r>
            <a:endParaRPr sz="1400" b="0" i="0" dirty="0">
              <a:latin typeface="Consolas"/>
            </a:endParaRPr>
          </a:p>
          <a:p>
            <a:pPr>
              <a:buNone/>
            </a:pPr>
            <a:endParaRPr sz="1400" b="0" i="0" dirty="0">
              <a:latin typeface="Consolas"/>
            </a:endParaRPr>
          </a:p>
          <a:p>
            <a:r>
              <a:rPr sz="1400" b="0" i="0" u="none" dirty="0">
                <a:latin typeface="Consolas"/>
              </a:rPr>
              <a:t>code --version</a:t>
            </a:r>
            <a:r>
              <a:rPr sz="1400" b="0" i="0" u="none" dirty="0"/>
              <a:t> works from a terminal</a:t>
            </a:r>
            <a:endParaRPr sz="1400" b="0" i="0" dirty="0">
              <a:latin typeface="Consolas"/>
            </a:endParaRPr>
          </a:p>
          <a:p>
            <a:r>
              <a:rPr sz="1400" b="0" i="0" u="none" dirty="0"/>
              <a:t>VS Code opens successfully and shows the installed extensions</a:t>
            </a:r>
            <a:endParaRPr sz="1400" b="0" i="0" dirty="0">
              <a:latin typeface="Consolas"/>
            </a:endParaRPr>
          </a:p>
          <a:p>
            <a:r>
              <a:rPr sz="1400" b="0" i="0" u="none" dirty="0"/>
              <a:t>Copilot, Copilot Chat, Mermaid Preview, and multi-command are all present in the editor</a:t>
            </a:r>
            <a:endParaRPr sz="1400" b="0" i="0" dirty="0">
              <a:latin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sz="2950"/>
              <a:t>Exercise: Enable Copilot and Install Copilot CLI</a:t>
            </a:r>
          </a:p>
        </p:txBody>
      </p:sp>
      <p:sp>
        <p:nvSpPr>
          <p:cNvPr id="3" name="Content Placeholder 2"/>
          <p:cNvSpPr>
            <a:spLocks noGrp="1"/>
          </p:cNvSpPr>
          <p:nvPr>
            <p:ph sz="half" idx="1"/>
          </p:nvPr>
        </p:nvSpPr>
        <p:spPr/>
        <p:txBody>
          <a:bodyPr wrap="square">
            <a:normAutofit fontScale="77500" lnSpcReduction="20000"/>
          </a:bodyPr>
          <a:lstStyle/>
          <a:p>
            <a:pPr>
              <a:buNone/>
            </a:pPr>
            <a:r>
              <a:rPr sz="1400" b="0" i="0" u="none" dirty="0"/>
              <a:t>Setup and Objectives</a:t>
            </a:r>
            <a:endParaRPr sz="1400" b="0" i="0" dirty="0">
              <a:latin typeface="Consolas"/>
            </a:endParaRPr>
          </a:p>
          <a:p>
            <a:pPr>
              <a:buNone/>
            </a:pPr>
            <a:endParaRPr sz="1400" b="0" i="0" dirty="0">
              <a:latin typeface="Consolas"/>
            </a:endParaRPr>
          </a:p>
          <a:p>
            <a:pPr>
              <a:buNone/>
            </a:pPr>
            <a:r>
              <a:rPr sz="1400" b="0" i="0" u="none" dirty="0"/>
              <a:t>Prerequisites</a:t>
            </a:r>
            <a:endParaRPr sz="1400" b="0" i="0" dirty="0">
              <a:latin typeface="Consolas"/>
            </a:endParaRPr>
          </a:p>
          <a:p>
            <a:pPr>
              <a:buNone/>
            </a:pPr>
            <a:endParaRPr sz="1400" b="0" i="0" dirty="0">
              <a:latin typeface="Consolas"/>
            </a:endParaRPr>
          </a:p>
          <a:p>
            <a:r>
              <a:rPr sz="1400" b="0" i="0" u="none" dirty="0"/>
              <a:t>VS Code installed with GitHub Copilot extensions</a:t>
            </a:r>
            <a:endParaRPr sz="1400" b="0" i="0" dirty="0">
              <a:latin typeface="Consolas"/>
            </a:endParaRPr>
          </a:p>
          <a:p>
            <a:r>
              <a:rPr sz="1400" b="0" i="0" u="none" dirty="0"/>
              <a:t>GitHub account with Copilot access or trial enabled</a:t>
            </a:r>
            <a:endParaRPr sz="1400" b="0" i="0" dirty="0">
              <a:latin typeface="Consolas"/>
            </a:endParaRPr>
          </a:p>
          <a:p>
            <a:r>
              <a:rPr sz="1400" b="0" i="0" u="none" dirty="0"/>
              <a:t>GitHub CLI authenticated on the local machine</a:t>
            </a:r>
            <a:endParaRPr sz="1400" b="0" i="0" dirty="0">
              <a:latin typeface="Consolas"/>
            </a:endParaRPr>
          </a:p>
          <a:p>
            <a:pPr>
              <a:buNone/>
            </a:pPr>
            <a:endParaRPr sz="1400" b="0" i="0" dirty="0">
              <a:latin typeface="Consolas"/>
            </a:endParaRPr>
          </a:p>
          <a:p>
            <a:pPr>
              <a:buNone/>
            </a:pPr>
            <a:r>
              <a:rPr sz="1400" b="0" i="0" u="none" dirty="0"/>
              <a:t>Objectives</a:t>
            </a:r>
            <a:endParaRPr sz="1400" b="0" i="0" dirty="0">
              <a:latin typeface="Consolas"/>
            </a:endParaRPr>
          </a:p>
          <a:p>
            <a:pPr>
              <a:buNone/>
            </a:pPr>
            <a:endParaRPr sz="1400" b="0" i="0" dirty="0">
              <a:latin typeface="Consolas"/>
            </a:endParaRPr>
          </a:p>
          <a:p>
            <a:r>
              <a:rPr sz="1400" b="0" i="0" u="none" dirty="0"/>
              <a:t>Sign in to Copilot inside VS Code</a:t>
            </a:r>
            <a:endParaRPr sz="1400" b="0" i="0" dirty="0">
              <a:latin typeface="Consolas"/>
            </a:endParaRPr>
          </a:p>
          <a:p>
            <a:r>
              <a:rPr sz="1400" b="0" i="0" u="none" dirty="0"/>
              <a:t>Verify inline suggestions or chat access work</a:t>
            </a:r>
            <a:endParaRPr sz="1400" b="0" i="0" dirty="0">
              <a:latin typeface="Consolas"/>
            </a:endParaRPr>
          </a:p>
          <a:p>
            <a:r>
              <a:rPr sz="1400" b="0" i="0" u="none" dirty="0"/>
              <a:t>Install the </a:t>
            </a:r>
            <a:r>
              <a:rPr sz="1400" b="0" i="0" u="none" dirty="0" err="1">
                <a:latin typeface="Consolas"/>
              </a:rPr>
              <a:t>gh</a:t>
            </a:r>
            <a:r>
              <a:rPr sz="1400" b="0" i="0" u="none" dirty="0">
                <a:latin typeface="Consolas"/>
              </a:rPr>
              <a:t>-copilot</a:t>
            </a:r>
            <a:r>
              <a:rPr sz="1400" b="0" i="0" u="none" dirty="0"/>
              <a:t> extension for terminal assistance</a:t>
            </a:r>
            <a:endParaRPr sz="1400" b="0" i="0" dirty="0">
              <a:latin typeface="Consolas"/>
            </a:endParaRPr>
          </a:p>
        </p:txBody>
      </p:sp>
      <p:sp>
        <p:nvSpPr>
          <p:cNvPr id="4" name="Content Placeholder 3"/>
          <p:cNvSpPr>
            <a:spLocks noGrp="1"/>
          </p:cNvSpPr>
          <p:nvPr>
            <p:ph sz="half" idx="2"/>
          </p:nvPr>
        </p:nvSpPr>
        <p:spPr/>
        <p:txBody>
          <a:bodyPr wrap="square">
            <a:normAutofit fontScale="77500" lnSpcReduction="20000"/>
          </a:bodyPr>
          <a:lstStyle/>
          <a:p>
            <a:pPr>
              <a:buNone/>
            </a:pPr>
            <a:r>
              <a:rPr sz="1400" b="0" i="0" u="none" dirty="0"/>
              <a:t>Activities</a:t>
            </a:r>
            <a:endParaRPr sz="1400" b="0" i="0" dirty="0">
              <a:latin typeface="Consolas"/>
            </a:endParaRPr>
          </a:p>
          <a:p>
            <a:pPr>
              <a:buNone/>
            </a:pPr>
            <a:endParaRPr sz="1400" b="0" i="0" dirty="0">
              <a:latin typeface="Consolas"/>
            </a:endParaRPr>
          </a:p>
          <a:p>
            <a:pPr>
              <a:buNone/>
            </a:pPr>
            <a:r>
              <a:rPr sz="1400" b="0" i="0" u="none" dirty="0"/>
              <a:t>1. Sign in to GitHub from VS Code and authorize Copilot.</a:t>
            </a:r>
            <a:endParaRPr sz="1400" b="0" i="0" dirty="0">
              <a:latin typeface="Consolas"/>
            </a:endParaRPr>
          </a:p>
          <a:p>
            <a:pPr>
              <a:buNone/>
            </a:pPr>
            <a:r>
              <a:rPr sz="1400" b="0" i="0" u="none" dirty="0"/>
              <a:t>2. Create a small test file and verify suggestions or Copilot Chat respond.</a:t>
            </a:r>
            <a:endParaRPr sz="1400" b="0" i="0" dirty="0">
              <a:latin typeface="Consolas"/>
            </a:endParaRPr>
          </a:p>
          <a:p>
            <a:pPr>
              <a:buNone/>
            </a:pPr>
            <a:r>
              <a:rPr sz="1400" b="0" i="0" u="none" dirty="0"/>
              <a:t>3. Install the GitHub Copilot CLI extension.</a:t>
            </a:r>
            <a:endParaRPr sz="1400" b="0" i="0" dirty="0">
              <a:latin typeface="Consolas"/>
            </a:endParaRPr>
          </a:p>
          <a:p>
            <a:pPr>
              <a:buNone/>
            </a:pPr>
            <a:r>
              <a:rPr sz="1400" b="0" i="0" u="none" dirty="0"/>
              <a:t>4. Run one </a:t>
            </a:r>
            <a:r>
              <a:rPr sz="1400" b="0" i="0" u="none" dirty="0">
                <a:latin typeface="Consolas"/>
              </a:rPr>
              <a:t>suggest</a:t>
            </a:r>
            <a:r>
              <a:rPr sz="1400" b="0" i="0" u="none" dirty="0"/>
              <a:t> command and one </a:t>
            </a:r>
            <a:r>
              <a:rPr sz="1400" b="0" i="0" u="none" dirty="0">
                <a:latin typeface="Consolas"/>
              </a:rPr>
              <a:t>explain</a:t>
            </a:r>
            <a:r>
              <a:rPr sz="1400" b="0" i="0" u="none" dirty="0"/>
              <a:t> command to validate the terminal workflow.</a:t>
            </a:r>
            <a:endParaRPr sz="1400" b="0" i="0" dirty="0">
              <a:latin typeface="Consolas"/>
            </a:endParaRPr>
          </a:p>
          <a:p>
            <a:pPr>
              <a:buNone/>
            </a:pPr>
            <a:endParaRPr sz="1400" b="0" i="0" dirty="0">
              <a:latin typeface="Consolas"/>
            </a:endParaRPr>
          </a:p>
          <a:p>
            <a:pPr>
              <a:buNone/>
            </a:pPr>
            <a:r>
              <a:rPr sz="1400" b="0" i="0" dirty="0" err="1">
                <a:latin typeface="Consolas"/>
              </a:rPr>
              <a:t>gh</a:t>
            </a:r>
            <a:r>
              <a:rPr sz="1400" b="0" i="0" dirty="0">
                <a:latin typeface="Consolas"/>
              </a:rPr>
              <a:t> extension install </a:t>
            </a:r>
            <a:r>
              <a:rPr sz="1400" b="0" i="0" dirty="0" err="1">
                <a:latin typeface="Consolas"/>
              </a:rPr>
              <a:t>github</a:t>
            </a:r>
            <a:r>
              <a:rPr sz="1400" b="0" i="0" dirty="0">
                <a:latin typeface="Consolas"/>
              </a:rPr>
              <a:t>/</a:t>
            </a:r>
            <a:r>
              <a:rPr sz="1400" b="0" i="0" dirty="0" err="1">
                <a:latin typeface="Consolas"/>
              </a:rPr>
              <a:t>gh</a:t>
            </a:r>
            <a:r>
              <a:rPr sz="1400" b="0" i="0" dirty="0">
                <a:latin typeface="Consolas"/>
              </a:rPr>
              <a:t>-copilot</a:t>
            </a:r>
          </a:p>
          <a:p>
            <a:pPr>
              <a:buNone/>
            </a:pPr>
            <a:r>
              <a:rPr sz="1400" b="0" i="0" dirty="0" err="1">
                <a:latin typeface="Consolas"/>
              </a:rPr>
              <a:t>gh</a:t>
            </a:r>
            <a:r>
              <a:rPr sz="1400" b="0" i="0" dirty="0">
                <a:latin typeface="Consolas"/>
              </a:rPr>
              <a:t> copilot suggest "create a new git branch"</a:t>
            </a:r>
          </a:p>
          <a:p>
            <a:pPr>
              <a:buNone/>
            </a:pPr>
            <a:r>
              <a:rPr sz="1400" b="0" i="0" dirty="0" err="1">
                <a:latin typeface="Consolas"/>
              </a:rPr>
              <a:t>gh</a:t>
            </a:r>
            <a:r>
              <a:rPr sz="1400" b="0" i="0" dirty="0">
                <a:latin typeface="Consolas"/>
              </a:rPr>
              <a:t> copilot explain "git rebase -</a:t>
            </a:r>
            <a:r>
              <a:rPr sz="1400" b="0" i="0" dirty="0" err="1">
                <a:latin typeface="Consolas"/>
              </a:rPr>
              <a:t>i</a:t>
            </a:r>
            <a:r>
              <a:rPr sz="1400" b="0" i="0" dirty="0">
                <a:latin typeface="Consolas"/>
              </a:rPr>
              <a:t> HEAD~3"</a:t>
            </a:r>
          </a:p>
          <a:p>
            <a:pPr>
              <a:buNone/>
            </a:pPr>
            <a:endParaRPr sz="1400" b="0" i="0" dirty="0">
              <a:latin typeface="Consolas"/>
            </a:endParaRPr>
          </a:p>
          <a:p>
            <a:pPr>
              <a:buNone/>
            </a:pPr>
            <a:r>
              <a:rPr sz="1400" b="0" i="0" u="none" dirty="0"/>
              <a:t>Success Criteria</a:t>
            </a:r>
            <a:endParaRPr sz="1400" b="0" i="0" dirty="0">
              <a:latin typeface="Consolas"/>
            </a:endParaRPr>
          </a:p>
          <a:p>
            <a:pPr>
              <a:buNone/>
            </a:pPr>
            <a:endParaRPr sz="1400" b="0" i="0" dirty="0">
              <a:latin typeface="Consolas"/>
            </a:endParaRPr>
          </a:p>
          <a:p>
            <a:r>
              <a:rPr sz="1400" b="0" i="0" u="none" dirty="0"/>
              <a:t>Copilot works inside VS Code for chat or inline assistance</a:t>
            </a:r>
            <a:endParaRPr sz="1400" b="0" i="0" dirty="0">
              <a:latin typeface="Consolas"/>
            </a:endParaRPr>
          </a:p>
          <a:p>
            <a:r>
              <a:rPr sz="1400" b="0" i="0" u="none" dirty="0" err="1">
                <a:latin typeface="Consolas"/>
              </a:rPr>
              <a:t>gh</a:t>
            </a:r>
            <a:r>
              <a:rPr sz="1400" b="0" i="0" u="none" dirty="0">
                <a:latin typeface="Consolas"/>
              </a:rPr>
              <a:t> copilot suggest</a:t>
            </a:r>
            <a:r>
              <a:rPr sz="1400" b="0" i="0" u="none" dirty="0"/>
              <a:t> returns a usable command suggestion</a:t>
            </a:r>
            <a:endParaRPr sz="1400" b="0" i="0" dirty="0">
              <a:latin typeface="Consolas"/>
            </a:endParaRPr>
          </a:p>
          <a:p>
            <a:r>
              <a:rPr sz="1400" b="0" i="0" u="none" dirty="0" err="1">
                <a:latin typeface="Consolas"/>
              </a:rPr>
              <a:t>gh</a:t>
            </a:r>
            <a:r>
              <a:rPr sz="1400" b="0" i="0" u="none" dirty="0">
                <a:latin typeface="Consolas"/>
              </a:rPr>
              <a:t> copilot explain</a:t>
            </a:r>
            <a:r>
              <a:rPr sz="1400" b="0" i="0" u="none" dirty="0"/>
              <a:t> returns a readable explanation of a CLI command</a:t>
            </a:r>
            <a:endParaRPr sz="1400" b="0" i="0" dirty="0">
              <a:latin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sz="2250"/>
              <a:t>Exercise: Finish the Markdown and Diagram Workflow Setup</a:t>
            </a:r>
          </a:p>
        </p:txBody>
      </p:sp>
      <p:sp>
        <p:nvSpPr>
          <p:cNvPr id="3" name="Content Placeholder 2"/>
          <p:cNvSpPr>
            <a:spLocks noGrp="1"/>
          </p:cNvSpPr>
          <p:nvPr>
            <p:ph sz="half" idx="1"/>
          </p:nvPr>
        </p:nvSpPr>
        <p:spPr/>
        <p:txBody>
          <a:bodyPr wrap="square">
            <a:normAutofit fontScale="92500" lnSpcReduction="20000"/>
          </a:bodyPr>
          <a:lstStyle/>
          <a:p>
            <a:pPr>
              <a:buNone/>
            </a:pPr>
            <a:r>
              <a:rPr sz="1400" b="0" i="0" u="none" dirty="0"/>
              <a:t>Setup and Objectives</a:t>
            </a:r>
            <a:endParaRPr sz="1400" b="0" i="0" dirty="0">
              <a:latin typeface="Arial"/>
            </a:endParaRPr>
          </a:p>
          <a:p>
            <a:pPr>
              <a:buNone/>
            </a:pPr>
            <a:endParaRPr sz="1400" b="0" i="0" dirty="0">
              <a:latin typeface="Arial"/>
            </a:endParaRPr>
          </a:p>
          <a:p>
            <a:pPr>
              <a:buNone/>
            </a:pPr>
            <a:r>
              <a:rPr sz="1400" b="0" i="0" u="none" dirty="0"/>
              <a:t>Prerequisites</a:t>
            </a:r>
            <a:endParaRPr sz="1400" b="0" i="0" dirty="0">
              <a:latin typeface="Arial"/>
            </a:endParaRPr>
          </a:p>
          <a:p>
            <a:pPr>
              <a:buNone/>
            </a:pPr>
            <a:endParaRPr sz="1400" b="0" i="0" dirty="0">
              <a:latin typeface="Arial"/>
            </a:endParaRPr>
          </a:p>
          <a:p>
            <a:r>
              <a:rPr sz="1400" b="0" i="0" u="none" dirty="0"/>
              <a:t>VS Code running with the required extensions installed</a:t>
            </a:r>
            <a:endParaRPr sz="1400" b="0" i="0" dirty="0">
              <a:latin typeface="Arial"/>
            </a:endParaRPr>
          </a:p>
          <a:p>
            <a:r>
              <a:rPr sz="1400" b="0" i="0" u="none" dirty="0"/>
              <a:t>A writable user settings file and </a:t>
            </a:r>
            <a:r>
              <a:rPr sz="1400" b="0" i="0" u="none" dirty="0" err="1"/>
              <a:t>keybindings</a:t>
            </a:r>
            <a:r>
              <a:rPr sz="1400" b="0" i="0" u="none" dirty="0"/>
              <a:t> file</a:t>
            </a:r>
            <a:endParaRPr sz="1400" b="0" i="0" dirty="0">
              <a:latin typeface="Arial"/>
            </a:endParaRPr>
          </a:p>
          <a:p>
            <a:r>
              <a:rPr sz="1400" b="0" i="0" u="none" dirty="0"/>
              <a:t>Basic familiarity with the Command Palette and Extensions view</a:t>
            </a:r>
            <a:endParaRPr sz="1400" b="0" i="0" dirty="0">
              <a:latin typeface="Arial"/>
            </a:endParaRPr>
          </a:p>
          <a:p>
            <a:pPr>
              <a:buNone/>
            </a:pPr>
            <a:endParaRPr sz="1400" b="0" i="0" dirty="0">
              <a:latin typeface="Arial"/>
            </a:endParaRPr>
          </a:p>
          <a:p>
            <a:pPr>
              <a:buNone/>
            </a:pPr>
            <a:r>
              <a:rPr sz="1400" b="0" i="0" u="none" dirty="0"/>
              <a:t>Objectives</a:t>
            </a:r>
            <a:endParaRPr sz="1400" b="0" i="0" dirty="0">
              <a:latin typeface="Arial"/>
            </a:endParaRPr>
          </a:p>
          <a:p>
            <a:pPr>
              <a:buNone/>
            </a:pPr>
            <a:endParaRPr sz="1400" b="0" i="0" dirty="0">
              <a:latin typeface="Arial"/>
            </a:endParaRPr>
          </a:p>
          <a:p>
            <a:r>
              <a:rPr sz="1400" b="0" i="0" u="none" dirty="0"/>
              <a:t>Verify Mermaid Preview works in the editor</a:t>
            </a:r>
            <a:endParaRPr sz="1400" b="0" i="0" dirty="0">
              <a:latin typeface="Arial"/>
            </a:endParaRPr>
          </a:p>
          <a:p>
            <a:r>
              <a:rPr sz="1400" b="0" i="0" u="none" dirty="0"/>
              <a:t>Configure the multi-command workflow for markdown review</a:t>
            </a:r>
            <a:endParaRPr sz="1400" b="0" i="0" dirty="0">
              <a:latin typeface="Arial"/>
            </a:endParaRPr>
          </a:p>
          <a:p>
            <a:r>
              <a:rPr sz="1400" b="0" i="0" u="none" dirty="0"/>
              <a:t>Confirm the full environment is ready for course labs</a:t>
            </a:r>
            <a:endParaRPr sz="1400" b="0" i="0" dirty="0">
              <a:latin typeface="Arial"/>
            </a:endParaRPr>
          </a:p>
        </p:txBody>
      </p:sp>
      <p:sp>
        <p:nvSpPr>
          <p:cNvPr id="4" name="Content Placeholder 3"/>
          <p:cNvSpPr>
            <a:spLocks noGrp="1"/>
          </p:cNvSpPr>
          <p:nvPr>
            <p:ph sz="half" idx="2"/>
          </p:nvPr>
        </p:nvSpPr>
        <p:spPr/>
        <p:txBody>
          <a:bodyPr wrap="square">
            <a:normAutofit fontScale="92500" lnSpcReduction="20000"/>
          </a:bodyPr>
          <a:lstStyle/>
          <a:p>
            <a:pPr>
              <a:buNone/>
            </a:pPr>
            <a:r>
              <a:rPr sz="1400" b="0" i="0" u="none" dirty="0"/>
              <a:t>Activities</a:t>
            </a:r>
          </a:p>
          <a:p>
            <a:pPr>
              <a:buNone/>
            </a:pPr>
            <a:endParaRPr sz="1400" b="0" i="0" u="none" dirty="0"/>
          </a:p>
          <a:p>
            <a:pPr>
              <a:buNone/>
            </a:pPr>
            <a:r>
              <a:rPr sz="1400" b="0" i="0" u="none" dirty="0"/>
              <a:t>1. Create a small Mermaid file and preview it inside VS Code.</a:t>
            </a:r>
          </a:p>
          <a:p>
            <a:pPr>
              <a:buNone/>
            </a:pPr>
            <a:r>
              <a:rPr sz="1400" b="0" i="0" u="none" dirty="0"/>
              <a:t>2. Add the </a:t>
            </a:r>
            <a:r>
              <a:rPr sz="1400" b="0" i="0" u="none" dirty="0" err="1">
                <a:latin typeface="Consolas"/>
              </a:rPr>
              <a:t>multiCommand.commands</a:t>
            </a:r>
            <a:r>
              <a:rPr sz="1400" b="0" i="0" u="none" dirty="0"/>
              <a:t> configuration to your settings.</a:t>
            </a:r>
          </a:p>
          <a:p>
            <a:pPr>
              <a:buNone/>
            </a:pPr>
            <a:r>
              <a:rPr sz="1400" b="0" i="0" u="none" dirty="0"/>
              <a:t>3. Add the markdown preview </a:t>
            </a:r>
            <a:r>
              <a:rPr sz="1400" b="0" i="0" u="none" dirty="0" err="1"/>
              <a:t>keybinding</a:t>
            </a:r>
            <a:r>
              <a:rPr sz="1400" b="0" i="0" u="none" dirty="0"/>
              <a:t> to </a:t>
            </a:r>
            <a:r>
              <a:rPr sz="1400" b="0" i="0" u="none" dirty="0" err="1">
                <a:latin typeface="Consolas"/>
              </a:rPr>
              <a:t>keybindings.json</a:t>
            </a:r>
            <a:r>
              <a:rPr sz="1400" b="0" i="0" u="none" dirty="0"/>
              <a:t>.</a:t>
            </a:r>
          </a:p>
          <a:p>
            <a:pPr>
              <a:buNone/>
            </a:pPr>
            <a:r>
              <a:rPr sz="1400" b="0" i="0" u="none" dirty="0"/>
              <a:t>4. Test the shortcut in a markdown or Marp file.</a:t>
            </a:r>
          </a:p>
          <a:p>
            <a:pPr>
              <a:buNone/>
            </a:pPr>
            <a:r>
              <a:rPr sz="1400" b="0" i="0" u="none" dirty="0"/>
              <a:t>5. Run a final workstation verification pass.</a:t>
            </a:r>
          </a:p>
          <a:p>
            <a:pPr>
              <a:buNone/>
            </a:pPr>
            <a:endParaRPr sz="1400" b="0" i="0" u="none" dirty="0"/>
          </a:p>
          <a:p>
            <a:pPr>
              <a:buNone/>
            </a:pPr>
            <a:r>
              <a:rPr sz="1400" b="0" i="0" u="none" dirty="0"/>
              <a:t>Success Criteria</a:t>
            </a:r>
          </a:p>
          <a:p>
            <a:pPr>
              <a:buNone/>
            </a:pPr>
            <a:endParaRPr sz="1400" b="0" i="0" u="none" dirty="0"/>
          </a:p>
          <a:p>
            <a:r>
              <a:rPr sz="1400" b="0" i="0" u="none" dirty="0"/>
              <a:t>Mermaid Preview renders a simple diagram successfully</a:t>
            </a:r>
          </a:p>
          <a:p>
            <a:r>
              <a:rPr sz="1400" b="0" i="0" u="none" dirty="0"/>
              <a:t>The multi-command shortcut works in a markdown or Marp file</a:t>
            </a:r>
          </a:p>
          <a:p>
            <a:r>
              <a:rPr sz="1400" b="0" i="0" u="none" dirty="0"/>
              <a:t>Your machine is ready for repository, Copilot, and slide-authoring labs</a:t>
            </a:r>
          </a:p>
        </p:txBody>
      </p:sp>
    </p:spTree>
  </p:cSld>
  <p:clrMapOvr>
    <a:masterClrMapping/>
  </p:clrMapOvr>
</p:sld>
</file>

<file path=ppt/theme/theme1.xml><?xml version="1.0" encoding="utf-8"?>
<a:theme xmlns:a="http://schemas.openxmlformats.org/drawingml/2006/main" name="CODE Train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TotalTime>
  <Words>7155</Words>
  <Application>Microsoft Office PowerPoint</Application>
  <PresentationFormat>Widescreen</PresentationFormat>
  <Paragraphs>1104</Paragraphs>
  <Slides>29</Slides>
  <Notes>29</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Consolas</vt:lpstr>
      <vt:lpstr>Noto Sans</vt:lpstr>
      <vt:lpstr>Victor Mono</vt:lpstr>
      <vt:lpstr>CODE Training</vt:lpstr>
      <vt:lpstr>Welcome to AI-Assisted Software Development</vt:lpstr>
      <vt:lpstr>PowerPoint Presentation</vt:lpstr>
      <vt:lpstr>Thirty Years and Still Compiling</vt:lpstr>
      <vt:lpstr>Course Modules</vt:lpstr>
      <vt:lpstr>Forking and Cloning Course Repositories</vt:lpstr>
      <vt:lpstr>Forking the AIASD Brownfield Repository</vt:lpstr>
      <vt:lpstr>Why Fork Instead of Clone?</vt:lpstr>
      <vt:lpstr>Forking Via GitHub UI</vt:lpstr>
      <vt:lpstr>Forking Via GitHub CLI</vt:lpstr>
      <vt:lpstr>Cloning Your Fork</vt:lpstr>
      <vt:lpstr>Setting Up Upstream Remote</vt:lpstr>
      <vt:lpstr>Your Fork Workflow</vt:lpstr>
      <vt:lpstr>Syncing Your Fork with Updates</vt:lpstr>
      <vt:lpstr>Verification Checklist</vt:lpstr>
      <vt:lpstr>Forking the Course Materials Repository</vt:lpstr>
      <vt:lpstr>Forking AI-Assisted-Software-Development</vt:lpstr>
      <vt:lpstr>Cloning and Setting Up Course Materials</vt:lpstr>
      <vt:lpstr>Exploring the Course Materials Repository</vt:lpstr>
      <vt:lpstr>Cloning the Course Repository</vt:lpstr>
      <vt:lpstr>Cloning the 20260330-aiasd-ge Repository</vt:lpstr>
      <vt:lpstr>Creating Your Personal Branch</vt:lpstr>
      <vt:lpstr>Pushing Your Personal Branch</vt:lpstr>
      <vt:lpstr>Three-Repository Workflow</vt:lpstr>
      <vt:lpstr>Course Modules</vt:lpstr>
      <vt:lpstr>Exercise: Workstation Setup</vt:lpstr>
      <vt:lpstr>Exercise: Create a GitHub Account and Authenticate GitHub CLI</vt:lpstr>
      <vt:lpstr>Exercise: Install VS Code and the Core Course Extensions</vt:lpstr>
      <vt:lpstr>Exercise: Enable Copilot and Install Copilot CLI</vt:lpstr>
      <vt:lpstr>Exercise: Finish the Markdown and Diagram Workflow Setup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6</cp:revision>
  <dcterms:created xsi:type="dcterms:W3CDTF">2025-10-19T18:09:53Z</dcterms:created>
  <dcterms:modified xsi:type="dcterms:W3CDTF">2026-03-30T01:34:45Z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